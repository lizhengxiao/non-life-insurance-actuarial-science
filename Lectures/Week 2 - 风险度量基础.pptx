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741" r:id="rId1"/>
    <p:sldMasterId id="2147483756" r:id="rId2"/>
    <p:sldMasterId id="2147483771" r:id="rId3"/>
    <p:sldMasterId id="2147483786" r:id="rId4"/>
    <p:sldMasterId id="2147483801" r:id="rId5"/>
  </p:sldMasterIdLst>
  <p:notesMasterIdLst>
    <p:notesMasterId r:id="rId57"/>
  </p:notesMasterIdLst>
  <p:handoutMasterIdLst>
    <p:handoutMasterId r:id="rId58"/>
  </p:handoutMasterIdLst>
  <p:sldIdLst>
    <p:sldId id="1321" r:id="rId6"/>
    <p:sldId id="1432" r:id="rId7"/>
    <p:sldId id="1433" r:id="rId8"/>
    <p:sldId id="1434" r:id="rId9"/>
    <p:sldId id="1442" r:id="rId10"/>
    <p:sldId id="1435" r:id="rId11"/>
    <p:sldId id="1436" r:id="rId12"/>
    <p:sldId id="1437" r:id="rId13"/>
    <p:sldId id="1326" r:id="rId14"/>
    <p:sldId id="1439" r:id="rId15"/>
    <p:sldId id="1327" r:id="rId16"/>
    <p:sldId id="1328" r:id="rId17"/>
    <p:sldId id="1329" r:id="rId18"/>
    <p:sldId id="1330" r:id="rId19"/>
    <p:sldId id="1405" r:id="rId20"/>
    <p:sldId id="1331" r:id="rId21"/>
    <p:sldId id="1332" r:id="rId22"/>
    <p:sldId id="1333" r:id="rId23"/>
    <p:sldId id="1334" r:id="rId24"/>
    <p:sldId id="1335" r:id="rId25"/>
    <p:sldId id="1337" r:id="rId26"/>
    <p:sldId id="1338" r:id="rId27"/>
    <p:sldId id="1340" r:id="rId28"/>
    <p:sldId id="1341" r:id="rId29"/>
    <p:sldId id="1412" r:id="rId30"/>
    <p:sldId id="1413" r:id="rId31"/>
    <p:sldId id="1406" r:id="rId32"/>
    <p:sldId id="1342" r:id="rId33"/>
    <p:sldId id="1407" r:id="rId34"/>
    <p:sldId id="1345" r:id="rId35"/>
    <p:sldId id="1408" r:id="rId36"/>
    <p:sldId id="1353" r:id="rId37"/>
    <p:sldId id="1354" r:id="rId38"/>
    <p:sldId id="1355" r:id="rId39"/>
    <p:sldId id="1356" r:id="rId40"/>
    <p:sldId id="1357" r:id="rId41"/>
    <p:sldId id="1358" r:id="rId42"/>
    <p:sldId id="1359" r:id="rId43"/>
    <p:sldId id="1360" r:id="rId44"/>
    <p:sldId id="1370" r:id="rId45"/>
    <p:sldId id="1443" r:id="rId46"/>
    <p:sldId id="1444" r:id="rId47"/>
    <p:sldId id="1445" r:id="rId48"/>
    <p:sldId id="1446" r:id="rId49"/>
    <p:sldId id="1447" r:id="rId50"/>
    <p:sldId id="1449" r:id="rId51"/>
    <p:sldId id="1450" r:id="rId52"/>
    <p:sldId id="1451" r:id="rId53"/>
    <p:sldId id="1452" r:id="rId54"/>
    <p:sldId id="1453" r:id="rId55"/>
    <p:sldId id="1454" r:id="rId56"/>
  </p:sldIdLst>
  <p:sldSz cx="9144000" cy="6858000" type="screen4x3"/>
  <p:notesSz cx="6797675" cy="9874250"/>
  <p:defaultTextStyle>
    <a:defPPr>
      <a:defRPr lang="zh-CN"/>
    </a:defPPr>
    <a:lvl1pPr algn="l" rtl="0" fontAlgn="base">
      <a:lnSpc>
        <a:spcPct val="14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lnSpc>
        <a:spcPct val="14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lnSpc>
        <a:spcPct val="14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lnSpc>
        <a:spcPct val="14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lnSpc>
        <a:spcPct val="14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ulu li" initials="" lastIdx="17" clrIdx="0"/>
  <p:cmAuthor id="1" name="LiLulu" initials="L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66"/>
    <a:srgbClr val="911720"/>
    <a:srgbClr val="9F1923"/>
    <a:srgbClr val="A61A24"/>
    <a:srgbClr val="000099"/>
    <a:srgbClr val="666699"/>
    <a:srgbClr val="000066"/>
    <a:srgbClr val="FF0000"/>
    <a:srgbClr val="EBF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0000" autoAdjust="0"/>
  </p:normalViewPr>
  <p:slideViewPr>
    <p:cSldViewPr snapToGrid="0">
      <p:cViewPr varScale="1">
        <p:scale>
          <a:sx n="103" d="100"/>
          <a:sy n="103" d="100"/>
        </p:scale>
        <p:origin x="1812" y="108"/>
      </p:cViewPr>
      <p:guideLst>
        <p:guide orient="horz" pos="2160"/>
        <p:guide pos="38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8400"/>
    </p:cViewPr>
  </p:sorterViewPr>
  <p:notesViewPr>
    <p:cSldViewPr snapToGrid="0">
      <p:cViewPr varScale="1">
        <p:scale>
          <a:sx n="53" d="100"/>
          <a:sy n="53" d="100"/>
        </p:scale>
        <p:origin x="-2658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6.wmf"/><Relationship Id="rId4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1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1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1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9F45C87-7387-4316-82D2-999E0F1E2D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98654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1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1"/>
            <a:ext cx="2946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80A520B-1857-41B1-97D3-DA3A336EC4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78744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0A520B-1857-41B1-97D3-DA3A336EC44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264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0A520B-1857-41B1-97D3-DA3A336EC44E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2032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15907" indent="-275349"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01395" indent="-220279"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541953" indent="-220279"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982511" indent="-220279"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423069" indent="-220279" defTabSz="95454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863626" indent="-220279" defTabSz="95454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304184" indent="-220279" defTabSz="95454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744742" indent="-220279" defTabSz="95454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B74D54DB-386E-462E-856F-932801D911C5}" type="slidenum">
              <a:rPr lang="en-US" altLang="zh-CN" sz="1300">
                <a:latin typeface="Arial" charset="0"/>
              </a:rPr>
              <a:pPr eaLnBrk="1" hangingPunct="1"/>
              <a:t>25</a:t>
            </a:fld>
            <a:endParaRPr lang="en-US" altLang="zh-CN" sz="1300">
              <a:latin typeface="Arial" charset="0"/>
            </a:endParaRPr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52" y="4689771"/>
            <a:ext cx="4985773" cy="4443183"/>
          </a:xfrm>
          <a:noFill/>
        </p:spPr>
        <p:txBody>
          <a:bodyPr lIns="92303" tIns="46152" rIns="92303" bIns="46152"/>
          <a:lstStyle/>
          <a:p>
            <a:pPr eaLnBrk="1" hangingPunct="1"/>
            <a:endParaRPr lang="en-CA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15907" indent="-275349"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01395" indent="-220279"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541953" indent="-220279"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982511" indent="-220279" defTabSz="954542" eaLnBrk="0" hangingPunct="0"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423069" indent="-220279" defTabSz="95454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863626" indent="-220279" defTabSz="95454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304184" indent="-220279" defTabSz="95454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744742" indent="-220279" defTabSz="95454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1A415020-EBD9-445A-9DBA-AC488744ED18}" type="slidenum">
              <a:rPr lang="en-US" altLang="zh-CN" sz="1300">
                <a:latin typeface="Arial" charset="0"/>
              </a:rPr>
              <a:pPr eaLnBrk="1" hangingPunct="1"/>
              <a:t>26</a:t>
            </a:fld>
            <a:endParaRPr lang="en-US" altLang="zh-CN" sz="1300">
              <a:latin typeface="Arial" charset="0"/>
            </a:endParaRPr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52" y="4689771"/>
            <a:ext cx="4985773" cy="4443183"/>
          </a:xfrm>
          <a:noFill/>
        </p:spPr>
        <p:txBody>
          <a:bodyPr lIns="92303" tIns="46152" rIns="92303" bIns="46152"/>
          <a:lstStyle/>
          <a:p>
            <a:pPr eaLnBrk="1" hangingPunct="1"/>
            <a:endParaRPr lang="en-CA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 userDrawn="1"/>
        </p:nvSpPr>
        <p:spPr bwMode="auto">
          <a:xfrm>
            <a:off x="5724525" y="212726"/>
            <a:ext cx="3455988" cy="5847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FFFFFF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770401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46508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1315759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3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4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53625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57552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2052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54984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4414019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4750084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96501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62714" y="404813"/>
            <a:ext cx="2070100" cy="56880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6" y="404813"/>
            <a:ext cx="6059488" cy="56880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0990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6" y="404815"/>
            <a:ext cx="6626225" cy="7524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3213" y="1700213"/>
            <a:ext cx="8229600" cy="4392612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2398099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FBF9AB59-BEC3-4625-9A55-9E57F1D394F5}" type="datetime1">
              <a:rPr lang="zh-CN" altLang="en-US" smtClean="0"/>
              <a:pPr>
                <a:buFontTx/>
                <a:buNone/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B765765F-A95D-4680-8E91-37BC2C404936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009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11797"/>
            <a:ext cx="8229600" cy="78914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84255"/>
            <a:ext cx="8229600" cy="4382717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2411E7B0-A2B7-4742-A41D-25E4B9BCF84B}" type="datetime1">
              <a:rPr lang="zh-CN" altLang="en-US" smtClean="0"/>
              <a:pPr>
                <a:buFontTx/>
                <a:buNone/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62276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28E4D08C-431F-4BD1-878D-9BF294FE8703}" type="datetime1">
              <a:rPr lang="zh-CN" altLang="en-US" smtClean="0"/>
              <a:pPr>
                <a:buFontTx/>
                <a:buNone/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547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B1F74-6003-405E-BBDF-A077AD9DFAF5}" type="datetime1">
              <a:rPr lang="zh-CN" altLang="en-US" smtClean="0"/>
              <a:pPr>
                <a:defRPr/>
              </a:pPr>
              <a:t>2018/9/19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pPr>
              <a:buFontTx/>
              <a:buNone/>
            </a:pPr>
            <a:fld id="{D8F76D13-C729-4B8F-B6CA-FD324BF34F27}" type="slidenum">
              <a:rPr lang="en-US" altLang="zh-CN" smtClean="0"/>
              <a:pPr>
                <a:buFontTx/>
                <a:buNone/>
              </a:pPr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19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E7B73-644F-4ABA-9B08-45D6A1502684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41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91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30672-E6D3-469A-91E5-3BE97731462B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161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6A6CC9-7E25-4CA4-8BD1-8E218075AACA}" type="datetime1">
              <a:rPr lang="zh-CN" altLang="en-US" smtClean="0"/>
              <a:pPr/>
              <a:t>2018/9/19 Wednesday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pPr>
              <a:buFontTx/>
              <a:buNone/>
            </a:pPr>
            <a:fld id="{E7128283-1589-4972-82BE-045635513151}" type="slidenum">
              <a:rPr lang="en-US" altLang="zh-CN" smtClean="0"/>
              <a:pPr>
                <a:buFontTx/>
                <a:buNone/>
              </a:pPr>
              <a:t>‹#›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3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625D28-3E65-45F8-B554-203226C392CA}" type="datetime1">
              <a:rPr lang="zh-CN" altLang="en-US" smtClean="0"/>
              <a:pPr/>
              <a:t>2018/9/19 Wednesday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D150E68F-F507-451A-9D67-67B52CEB2145}" type="slidenum">
              <a:rPr lang="en-US" altLang="zh-CN" smtClean="0"/>
              <a:pPr>
                <a:buFontTx/>
                <a:buNone/>
              </a:pPr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41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5B3B6-0CE9-41AF-8C08-C00F12DE3106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32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4348A-96B1-4517-BB67-3B1581B8E309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85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24629-BB37-4738-868A-694567712E05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20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( </a:t>
            </a:r>
            <a:fld id="{3B9A9A36-B939-4FE5-9469-3F8FDAFDD748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852042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( </a:t>
            </a:r>
            <a:fld id="{CE103320-4602-4EE8-9A02-281BFF16F59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8254062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0170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724525" y="212726"/>
            <a:ext cx="3455988" cy="5847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FFFFFF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103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6678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59715662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3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4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5051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7976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75722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510242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2988200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67887132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642449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62714" y="404813"/>
            <a:ext cx="2070100" cy="56880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6" y="404813"/>
            <a:ext cx="6059488" cy="568801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291856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6" y="404815"/>
            <a:ext cx="6626225" cy="7524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3213" y="1700213"/>
            <a:ext cx="8229600" cy="439261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80192851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( </a:t>
            </a:r>
            <a:fld id="{3B9A9A36-B939-4FE5-9469-3F8FDAFDD748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5804204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( </a:t>
            </a:r>
            <a:fld id="{CE103320-4602-4EE8-9A02-281BFF16F59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5791989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FBF9AB59-BEC3-4625-9A55-9E57F1D394F5}" type="datetime1">
              <a:rPr lang="zh-CN" altLang="en-US" smtClean="0"/>
              <a:pPr>
                <a:buFontTx/>
                <a:buNone/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B765765F-A95D-4680-8E91-37BC2C404936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9193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11797"/>
            <a:ext cx="8229600" cy="78914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84255"/>
            <a:ext cx="8229600" cy="4382717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2411E7B0-A2B7-4742-A41D-25E4B9BCF84B}" type="datetime1">
              <a:rPr lang="zh-CN" altLang="en-US" smtClean="0"/>
              <a:pPr>
                <a:buFontTx/>
                <a:buNone/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89704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28E4D08C-431F-4BD1-878D-9BF294FE8703}" type="datetime1">
              <a:rPr lang="zh-CN" altLang="en-US" smtClean="0"/>
              <a:pPr>
                <a:buFontTx/>
                <a:buNone/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235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B1F74-6003-405E-BBDF-A077AD9DFAF5}" type="datetime1">
              <a:rPr lang="zh-CN" altLang="en-US" smtClean="0"/>
              <a:pPr>
                <a:defRPr/>
              </a:pPr>
              <a:t>2018/9/19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pPr>
              <a:buFontTx/>
              <a:buNone/>
            </a:pPr>
            <a:fld id="{D8F76D13-C729-4B8F-B6CA-FD324BF34F27}" type="slidenum">
              <a:rPr lang="en-US" altLang="zh-CN" smtClean="0"/>
              <a:pPr>
                <a:buFontTx/>
                <a:buNone/>
              </a:pPr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253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E7B73-644F-4ABA-9B08-45D6A1502684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368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44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30672-E6D3-469A-91E5-3BE97731462B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489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6A6CC9-7E25-4CA4-8BD1-8E218075AACA}" type="datetime1">
              <a:rPr lang="zh-CN" altLang="en-US" smtClean="0"/>
              <a:pPr/>
              <a:t>2018/9/19 Wednesday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pPr>
              <a:buFontTx/>
              <a:buNone/>
            </a:pPr>
            <a:fld id="{E7128283-1589-4972-82BE-045635513151}" type="slidenum">
              <a:rPr lang="en-US" altLang="zh-CN" smtClean="0"/>
              <a:pPr>
                <a:buFontTx/>
                <a:buNone/>
              </a:pPr>
              <a:t>‹#›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099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625D28-3E65-45F8-B554-203226C392CA}" type="datetime1">
              <a:rPr lang="zh-CN" altLang="en-US" smtClean="0"/>
              <a:pPr/>
              <a:t>2018/9/19 Wednesday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D150E68F-F507-451A-9D67-67B52CEB2145}" type="slidenum">
              <a:rPr lang="en-US" altLang="zh-CN" smtClean="0"/>
              <a:pPr>
                <a:buFontTx/>
                <a:buNone/>
              </a:pPr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126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5B3B6-0CE9-41AF-8C08-C00F12DE3106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220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4348A-96B1-4517-BB67-3B1581B8E309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63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24629-BB37-4738-868A-694567712E05}" type="datetime1">
              <a:rPr lang="zh-CN" altLang="en-US" smtClean="0"/>
              <a:pPr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78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( </a:t>
            </a:r>
            <a:fld id="{3B9A9A36-B939-4FE5-9469-3F8FDAFDD748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9153029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( </a:t>
            </a:r>
            <a:fld id="{CE103320-4602-4EE8-9A02-281BFF16F59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6532853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724525" y="212726"/>
            <a:ext cx="3455988" cy="5847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FFFFFF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52313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7307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88232153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3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4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746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8183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787493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560523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53393909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84405244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218459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62714" y="404813"/>
            <a:ext cx="2070100" cy="56880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6" y="404813"/>
            <a:ext cx="6059488" cy="568801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248507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6" y="404815"/>
            <a:ext cx="6626225" cy="7524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3213" y="1700213"/>
            <a:ext cx="8229600" cy="439261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178142411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43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6" y="404815"/>
            <a:ext cx="66262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3213" y="1700213"/>
            <a:ext cx="8229600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Text Box 6"/>
          <p:cNvSpPr txBox="1">
            <a:spLocks noChangeArrowheads="1"/>
          </p:cNvSpPr>
          <p:nvPr userDrawn="1"/>
        </p:nvSpPr>
        <p:spPr bwMode="auto">
          <a:xfrm>
            <a:off x="5580063" y="6332538"/>
            <a:ext cx="3600450" cy="33655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000000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30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3000" b="1">
          <a:solidFill>
            <a:srgbClr val="000000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600" b="1">
          <a:solidFill>
            <a:srgbClr val="000000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2300" b="1">
          <a:solidFill>
            <a:srgbClr val="000000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000" b="1">
          <a:solidFill>
            <a:srgbClr val="000000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buFontTx/>
              <a:buNone/>
              <a:defRPr/>
            </a:pPr>
            <a:fld id="{D867D3BC-E722-4E8E-8D82-B9550D6C128A}" type="datetime1">
              <a:rPr lang="zh-CN" altLang="en-US" smtClean="0"/>
              <a:pPr>
                <a:buFontTx/>
                <a:buNone/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None/>
              <a:defRPr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ea"/>
                <a:ea typeface="+mn-ea"/>
              </a:defRPr>
            </a:lvl1pPr>
          </a:lstStyle>
          <a:p>
            <a:pPr>
              <a:buFontTx/>
              <a:buNone/>
              <a:defRPr/>
            </a:pPr>
            <a:fld id="{62BE8675-7E1E-4F0D-99E8-4CEF8F868FF2}" type="slidenum">
              <a:rPr lang="en-US" altLang="zh-CN" smtClean="0"/>
              <a:pPr>
                <a:buFontTx/>
                <a:buNone/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7" name="Picture 5" descr="08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9" t="33676" r="7799" b="55194"/>
          <a:stretch>
            <a:fillRect/>
          </a:stretch>
        </p:blipFill>
        <p:spPr bwMode="auto">
          <a:xfrm>
            <a:off x="6446839" y="-26988"/>
            <a:ext cx="2733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08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6" t="33676" r="9175" b="55194"/>
          <a:stretch>
            <a:fillRect/>
          </a:stretch>
        </p:blipFill>
        <p:spPr bwMode="auto">
          <a:xfrm>
            <a:off x="0" y="-26988"/>
            <a:ext cx="64658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  <p:pic>
        <p:nvPicPr>
          <p:cNvPr id="12" name="Picture 5" descr="082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9" t="33676" r="7799" b="55194"/>
          <a:stretch>
            <a:fillRect/>
          </a:stretch>
        </p:blipFill>
        <p:spPr bwMode="auto">
          <a:xfrm>
            <a:off x="6446839" y="-26988"/>
            <a:ext cx="2733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 descr="082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6" t="33676" r="9175" b="55194"/>
          <a:stretch>
            <a:fillRect/>
          </a:stretch>
        </p:blipFill>
        <p:spPr bwMode="auto">
          <a:xfrm>
            <a:off x="0" y="-26988"/>
            <a:ext cx="64658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238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40" r:id="rId1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楷体" pitchFamily="49" charset="-122"/>
          <a:ea typeface="楷体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6" y="404815"/>
            <a:ext cx="66262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3213" y="1700213"/>
            <a:ext cx="8229600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Text Box 6"/>
          <p:cNvSpPr txBox="1">
            <a:spLocks noChangeArrowheads="1"/>
          </p:cNvSpPr>
          <p:nvPr/>
        </p:nvSpPr>
        <p:spPr bwMode="auto">
          <a:xfrm>
            <a:off x="5580063" y="6332538"/>
            <a:ext cx="3600450" cy="33655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000000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3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3000" b="1">
          <a:solidFill>
            <a:srgbClr val="000000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600" b="1">
          <a:solidFill>
            <a:srgbClr val="000000"/>
          </a:solidFill>
          <a:latin typeface="+mn-lt"/>
          <a:ea typeface="+mn-ea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2300" b="1">
          <a:solidFill>
            <a:srgbClr val="000000"/>
          </a:solidFill>
          <a:latin typeface="+mn-lt"/>
          <a:ea typeface="+mn-ea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000" b="1">
          <a:solidFill>
            <a:srgbClr val="000000"/>
          </a:solidFill>
          <a:latin typeface="+mn-lt"/>
          <a:ea typeface="+mn-ea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buFontTx/>
              <a:buNone/>
              <a:defRPr/>
            </a:pPr>
            <a:fld id="{D867D3BC-E722-4E8E-8D82-B9550D6C128A}" type="datetime1">
              <a:rPr lang="zh-CN" altLang="en-US" smtClean="0"/>
              <a:pPr>
                <a:buFontTx/>
                <a:buNone/>
                <a:defRPr/>
              </a:pPr>
              <a:t>2018/9/19 Wednesday</a:t>
            </a:fld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None/>
              <a:defRPr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ea"/>
                <a:ea typeface="+mn-ea"/>
              </a:defRPr>
            </a:lvl1pPr>
          </a:lstStyle>
          <a:p>
            <a:pPr>
              <a:buFontTx/>
              <a:buNone/>
              <a:defRPr/>
            </a:pPr>
            <a:fld id="{62BE8675-7E1E-4F0D-99E8-4CEF8F868FF2}" type="slidenum">
              <a:rPr lang="en-US" altLang="zh-CN" smtClean="0"/>
              <a:pPr>
                <a:buFontTx/>
                <a:buNone/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7" name="Picture 5" descr="08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9" t="33676" r="7799" b="55194"/>
          <a:stretch>
            <a:fillRect/>
          </a:stretch>
        </p:blipFill>
        <p:spPr bwMode="auto">
          <a:xfrm>
            <a:off x="6446839" y="-26988"/>
            <a:ext cx="2733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08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6" t="33676" r="9175" b="55194"/>
          <a:stretch>
            <a:fillRect/>
          </a:stretch>
        </p:blipFill>
        <p:spPr bwMode="auto">
          <a:xfrm>
            <a:off x="0" y="-26988"/>
            <a:ext cx="64658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1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楷体" pitchFamily="49" charset="-122"/>
          <a:ea typeface="楷体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6" y="404815"/>
            <a:ext cx="66262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3213" y="1700213"/>
            <a:ext cx="8229600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Text Box 6"/>
          <p:cNvSpPr txBox="1">
            <a:spLocks noChangeArrowheads="1"/>
          </p:cNvSpPr>
          <p:nvPr/>
        </p:nvSpPr>
        <p:spPr bwMode="auto">
          <a:xfrm>
            <a:off x="5580063" y="6332538"/>
            <a:ext cx="3600450" cy="33655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000000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8134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3000" b="1">
          <a:solidFill>
            <a:srgbClr val="000000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600" b="1">
          <a:solidFill>
            <a:srgbClr val="000000"/>
          </a:solidFill>
          <a:latin typeface="+mn-lt"/>
          <a:ea typeface="+mn-ea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2300" b="1">
          <a:solidFill>
            <a:srgbClr val="000000"/>
          </a:solidFill>
          <a:latin typeface="+mn-lt"/>
          <a:ea typeface="+mn-ea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000" b="1">
          <a:solidFill>
            <a:srgbClr val="000000"/>
          </a:solidFill>
          <a:latin typeface="+mn-lt"/>
          <a:ea typeface="+mn-ea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hyperlink" Target="https://baike.baidu.com/item/%E7%A6%BB%E6%95%A3%E7%A8%8B%E5%BA%A6/6775049" TargetMode="Externa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5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5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0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7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2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5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0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9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2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5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5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57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58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60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52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54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49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65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9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15696" y="1756089"/>
            <a:ext cx="7772400" cy="1362456"/>
          </a:xfrm>
        </p:spPr>
        <p:txBody>
          <a:bodyPr/>
          <a:lstStyle/>
          <a:p>
            <a:pPr algn="ctr"/>
            <a:r>
              <a:rPr lang="zh-CN" altLang="en-US" sz="6000" b="0" dirty="0" smtClean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风险度量</a:t>
            </a:r>
            <a:r>
              <a:rPr lang="zh-CN" altLang="en-US" sz="6000" b="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基础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3400" y="4010258"/>
            <a:ext cx="7854696" cy="1752600"/>
          </a:xfrm>
          <a:prstGeom prst="rect">
            <a:avLst/>
          </a:prstGeom>
        </p:spPr>
        <p:txBody>
          <a:bodyPr vert="horz" lIns="45720" rIns="45720" anchor="t">
            <a:norm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</a:pPr>
            <a:r>
              <a:rPr lang="zh-CN" altLang="en-US" sz="3200" b="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李政宵</a:t>
            </a:r>
          </a:p>
          <a:p>
            <a:pPr algn="ctr" fontAlgn="auto">
              <a:spcAft>
                <a:spcPts val="0"/>
              </a:spcAft>
            </a:pPr>
            <a:r>
              <a:rPr lang="zh-CN" altLang="en-US" sz="3200" b="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    对外经济贸易大学保险学院</a:t>
            </a:r>
          </a:p>
        </p:txBody>
      </p:sp>
    </p:spTree>
    <p:extLst>
      <p:ext uri="{BB962C8B-B14F-4D97-AF65-F5344CB8AC3E}">
        <p14:creationId xmlns:p14="http://schemas.microsoft.com/office/powerpoint/2010/main" val="12364147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54563" y="1094874"/>
            <a:ext cx="8229600" cy="789140"/>
          </a:xfrm>
        </p:spPr>
        <p:txBody>
          <a:bodyPr/>
          <a:lstStyle/>
          <a:p>
            <a:r>
              <a:rPr lang="zh-CN" altLang="en-US" dirty="0" smtClean="0"/>
              <a:t>什么是风险？如何度量？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44645" y="2209832"/>
            <a:ext cx="8229600" cy="32403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保险损失的不确定性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保险事故发生与否的不确定性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事故发生的时间的不确定性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事故发生的地点的不确定性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损失金额的不确定性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2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8362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3111" y="762070"/>
            <a:ext cx="8229600" cy="789140"/>
          </a:xfrm>
        </p:spPr>
        <p:txBody>
          <a:bodyPr/>
          <a:lstStyle/>
          <a:p>
            <a:r>
              <a:rPr lang="zh-CN" altLang="en-US" dirty="0" smtClean="0"/>
              <a:t>随机变量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04912" y="1947579"/>
            <a:ext cx="8229600" cy="32403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随机变量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(random variable)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指取值依赖于随机现象的观察结果的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损失次数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- 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离散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型随机变量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损失金额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连续型随机变量</a:t>
            </a:r>
            <a:endParaRPr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累积损失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3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3786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0" y="583455"/>
            <a:ext cx="8229600" cy="789140"/>
          </a:xfrm>
        </p:spPr>
        <p:txBody>
          <a:bodyPr/>
          <a:lstStyle/>
          <a:p>
            <a:r>
              <a:rPr lang="zh-CN" altLang="en-US" dirty="0" smtClean="0"/>
              <a:t>随机变量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71600" y="1340768"/>
            <a:ext cx="8229600" cy="32403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取值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是随机的，取值特征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通过损失分布来描述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随机变量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 其分布函数为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离散型随机变量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取有限个或可列个值。如保单的索赔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次数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lvl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连续型随机变量：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取值布满一个区间。如损失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金额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取值范围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4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380925"/>
              </p:ext>
            </p:extLst>
          </p:nvPr>
        </p:nvGraphicFramePr>
        <p:xfrm>
          <a:off x="2705149" y="2642122"/>
          <a:ext cx="2514534" cy="504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54" name="Equation" r:id="rId3" imgW="1130040" imgH="228600" progId="Equation.DSMT4">
                  <p:embed/>
                </p:oleObj>
              </mc:Choice>
              <mc:Fallback>
                <p:oleObj name="Equation" r:id="rId3" imgW="1130040" imgH="228600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49" y="2642122"/>
                        <a:ext cx="2514534" cy="504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061387"/>
              </p:ext>
            </p:extLst>
          </p:nvPr>
        </p:nvGraphicFramePr>
        <p:xfrm>
          <a:off x="2917841" y="4849223"/>
          <a:ext cx="10445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55" name="Equation" r:id="rId5" imgW="469800" imgH="203040" progId="Equation.DSMT4">
                  <p:embed/>
                </p:oleObj>
              </mc:Choice>
              <mc:Fallback>
                <p:oleObj name="Equation" r:id="rId5" imgW="469800" imgH="20304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41" y="4849223"/>
                        <a:ext cx="104457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33969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28714" y="685872"/>
            <a:ext cx="8229600" cy="789140"/>
          </a:xfrm>
        </p:spPr>
        <p:txBody>
          <a:bodyPr/>
          <a:lstStyle/>
          <a:p>
            <a:r>
              <a:rPr lang="zh-CN" altLang="en-US" dirty="0" smtClean="0"/>
              <a:t>随机变量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71600" y="1340768"/>
            <a:ext cx="8229600" cy="324036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密度函数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(probability density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function, pdf)</a:t>
            </a:r>
          </a:p>
          <a:p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分布函数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(cumulative distribution function,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cdf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分位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函数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(quantile function)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5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264613"/>
              </p:ext>
            </p:extLst>
          </p:nvPr>
        </p:nvGraphicFramePr>
        <p:xfrm>
          <a:off x="2959785" y="3355826"/>
          <a:ext cx="2514534" cy="504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9" name="Equation" r:id="rId3" imgW="1130040" imgH="228600" progId="Equation.DSMT4">
                  <p:embed/>
                </p:oleObj>
              </mc:Choice>
              <mc:Fallback>
                <p:oleObj name="Equation" r:id="rId3" imgW="1130040" imgH="228600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785" y="3355826"/>
                        <a:ext cx="2514534" cy="504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948734"/>
              </p:ext>
            </p:extLst>
          </p:nvPr>
        </p:nvGraphicFramePr>
        <p:xfrm>
          <a:off x="2818464" y="2163800"/>
          <a:ext cx="27971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0" name="Equation" r:id="rId5" imgW="1257120" imgH="228600" progId="Equation.DSMT4">
                  <p:embed/>
                </p:oleObj>
              </mc:Choice>
              <mc:Fallback>
                <p:oleObj name="Equation" r:id="rId5" imgW="1257120" imgH="228600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8464" y="2163800"/>
                        <a:ext cx="27971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336428"/>
              </p:ext>
            </p:extLst>
          </p:nvPr>
        </p:nvGraphicFramePr>
        <p:xfrm>
          <a:off x="3461009" y="4675726"/>
          <a:ext cx="1016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11" name="Equation" r:id="rId7" imgW="457200" imgH="241200" progId="Equation.DSMT4">
                  <p:embed/>
                </p:oleObj>
              </mc:Choice>
              <mc:Fallback>
                <p:oleObj name="Equation" r:id="rId7" imgW="457200" imgH="241200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009" y="4675726"/>
                        <a:ext cx="10160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25484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1600" y="578800"/>
            <a:ext cx="8229600" cy="789140"/>
          </a:xfrm>
        </p:spPr>
        <p:txBody>
          <a:bodyPr/>
          <a:lstStyle/>
          <a:p>
            <a:r>
              <a:rPr lang="zh-CN" altLang="en-US" dirty="0"/>
              <a:t>方差、标准差和变异系数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71600" y="1340768"/>
            <a:ext cx="8229600" cy="3240360"/>
          </a:xfrm>
        </p:spPr>
        <p:txBody>
          <a:bodyPr/>
          <a:lstStyle/>
          <a:p>
            <a:r>
              <a:rPr lang="zh-CN" altLang="en-US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方差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描述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了随机变量取值的分散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程度</a:t>
            </a:r>
            <a:endParaRPr lang="en-US" altLang="zh-CN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标准差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方差的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平方根，</a:t>
            </a:r>
            <a:endParaRPr lang="en-US" altLang="zh-C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变异系数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标准差和均值的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比率，</a:t>
            </a:r>
            <a:r>
              <a:rPr lang="zh-CN" altLang="en-US" b="0" dirty="0">
                <a:hlinkClick r:id="rId3"/>
              </a:rPr>
              <a:t>离散程度</a:t>
            </a:r>
            <a:r>
              <a:rPr lang="zh-CN" altLang="en-US" b="0" dirty="0" smtClean="0"/>
              <a:t>大小，消除量纲</a:t>
            </a:r>
            <a:endParaRPr lang="en-US" altLang="zh-CN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6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47881" y="2438426"/>
            <a:ext cx="939775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387052"/>
              </p:ext>
            </p:extLst>
          </p:nvPr>
        </p:nvGraphicFramePr>
        <p:xfrm>
          <a:off x="1626679" y="2074227"/>
          <a:ext cx="5738245" cy="591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9" name="Equation" r:id="rId4" imgW="2743200" imgH="279400" progId="Equation.DSMT4">
                  <p:embed/>
                </p:oleObj>
              </mc:Choice>
              <mc:Fallback>
                <p:oleObj name="Equation" r:id="rId4" imgW="2743200" imgH="2794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679" y="2074227"/>
                        <a:ext cx="5738245" cy="5910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5638532" y="3657594"/>
            <a:ext cx="2001500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002144"/>
              </p:ext>
            </p:extLst>
          </p:nvPr>
        </p:nvGraphicFramePr>
        <p:xfrm>
          <a:off x="2743248" y="3383082"/>
          <a:ext cx="2133544" cy="549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0" name="Equation" r:id="rId6" imgW="977476" imgH="253890" progId="Equation.DSMT4">
                  <p:embed/>
                </p:oleObj>
              </mc:Choice>
              <mc:Fallback>
                <p:oleObj name="Equation" r:id="rId6" imgW="977476" imgH="25389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48" y="3383082"/>
                        <a:ext cx="2133544" cy="5490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743248" y="5517221"/>
            <a:ext cx="1557825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142271"/>
              </p:ext>
            </p:extLst>
          </p:nvPr>
        </p:nvGraphicFramePr>
        <p:xfrm>
          <a:off x="2743248" y="5316181"/>
          <a:ext cx="1951263" cy="867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1" name="Equation" r:id="rId8" imgW="1028700" imgH="457200" progId="Equation.DSMT4">
                  <p:embed/>
                </p:oleObj>
              </mc:Choice>
              <mc:Fallback>
                <p:oleObj name="Equation" r:id="rId8" imgW="1028700" imgH="4572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48" y="5316181"/>
                        <a:ext cx="1951263" cy="8672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45206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8489" y="824689"/>
            <a:ext cx="8229600" cy="789140"/>
          </a:xfrm>
        </p:spPr>
        <p:txBody>
          <a:bodyPr/>
          <a:lstStyle/>
          <a:p>
            <a:r>
              <a:rPr lang="zh-CN" altLang="en-US" dirty="0" smtClean="0"/>
              <a:t>两个概念 </a:t>
            </a:r>
            <a:r>
              <a:rPr lang="en-US" altLang="zh-CN" dirty="0" smtClean="0"/>
              <a:t>- </a:t>
            </a:r>
            <a:r>
              <a:rPr lang="zh-CN" altLang="en-US" dirty="0" smtClean="0"/>
              <a:t>次数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52516" y="1714458"/>
            <a:ext cx="8229600" cy="324036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损失次数（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loss)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发生保险事故给被保险人造成经济损害的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次数</a:t>
            </a:r>
            <a:endParaRPr lang="en-US" altLang="zh-CN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索赔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次数（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claim)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被保险人根据保险合同向保险人提出索赔请求的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次数</a:t>
            </a:r>
            <a:endParaRPr lang="en-US" altLang="zh-CN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描述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两者的理论分布模型是类似的，下面对两个概念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不作区分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7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47881" y="2438426"/>
            <a:ext cx="939775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5638532" y="3657594"/>
            <a:ext cx="2001500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743248" y="5517221"/>
            <a:ext cx="1557825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3170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8489" y="824689"/>
            <a:ext cx="8229600" cy="789140"/>
          </a:xfrm>
        </p:spPr>
        <p:txBody>
          <a:bodyPr/>
          <a:lstStyle/>
          <a:p>
            <a:r>
              <a:rPr lang="zh-CN" altLang="en-US" dirty="0" smtClean="0"/>
              <a:t>两个概念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金额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52516" y="1714458"/>
            <a:ext cx="8229600" cy="324036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损失额：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保险标的实际遭受的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损失</a:t>
            </a:r>
            <a:endParaRPr lang="en-US" altLang="zh-C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赔款额：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保险公司根据合同规定对保单持有人的赔款，要扣除免赔额和赔偿限额。赔款的大小和次数取决于损失和大小和次数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注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：如果没有特别说明，我们把赔款和损失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等同看待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，即认为没有免赔额和赔偿</a:t>
            </a:r>
            <a:r>
              <a:rPr lang="zh-CN" alt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限额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8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47881" y="2438426"/>
            <a:ext cx="939775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5638532" y="3657594"/>
            <a:ext cx="2001500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743248" y="5517221"/>
            <a:ext cx="1557825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4740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859971" y="2780882"/>
            <a:ext cx="7543800" cy="685800"/>
          </a:xfrm>
        </p:spPr>
        <p:txBody>
          <a:bodyPr/>
          <a:lstStyle/>
          <a:p>
            <a:pPr eaLnBrk="1" hangingPunct="1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如何进行风险度量？</a:t>
            </a:r>
            <a:endParaRPr lang="en-US" altLang="zh-CN" sz="32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FB5D8D59-65B3-4384-896F-EE249C929C52}" type="slidenum">
              <a:rPr lang="en-US" altLang="zh-CN"/>
              <a:pPr>
                <a:defRPr/>
              </a:pPr>
              <a:t>9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4042255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10</a:t>
            </a:fld>
            <a:endParaRPr lang="zh-CN" altLang="en-US" dirty="0"/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8299"/>
            <a:ext cx="7620000" cy="525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523870" y="3724980"/>
            <a:ext cx="4567276" cy="1791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dirty="0" smtClean="0">
                <a:latin typeface="+mj-lt"/>
              </a:rPr>
              <a:t>例：哪个风险大？</a:t>
            </a:r>
            <a:endParaRPr lang="en-US" altLang="zh-CN" dirty="0" smtClean="0">
              <a:latin typeface="+mj-lt"/>
            </a:endParaRPr>
          </a:p>
          <a:p>
            <a:pPr>
              <a:buNone/>
            </a:pPr>
            <a:r>
              <a:rPr lang="en-US" altLang="zh-CN" dirty="0" smtClean="0">
                <a:latin typeface="+mj-lt"/>
              </a:rPr>
              <a:t>Gamma(shape=2</a:t>
            </a:r>
            <a:r>
              <a:rPr lang="en-US" altLang="zh-CN" dirty="0">
                <a:latin typeface="+mj-lt"/>
              </a:rPr>
              <a:t>, scale=1000)</a:t>
            </a:r>
            <a:endParaRPr lang="en-US" altLang="zh-CN" dirty="0" smtClean="0">
              <a:latin typeface="+mj-lt"/>
            </a:endParaRPr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  <a:latin typeface="+mj-lt"/>
              </a:rPr>
              <a:t>Gamma(shape=4, scale=500</a:t>
            </a:r>
            <a:r>
              <a:rPr lang="en-US" altLang="zh-CN" dirty="0">
                <a:solidFill>
                  <a:srgbClr val="FF0000"/>
                </a:solidFill>
                <a:latin typeface="+mj-lt"/>
              </a:rPr>
              <a:t>)</a:t>
            </a:r>
            <a:endParaRPr lang="zh-CN" altLang="en-US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530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81297"/>
            <a:ext cx="8229600" cy="789140"/>
          </a:xfrm>
        </p:spPr>
        <p:txBody>
          <a:bodyPr/>
          <a:lstStyle/>
          <a:p>
            <a:pPr eaLnBrk="1" hangingPunct="1"/>
            <a:r>
              <a:rPr lang="zh-CN" altLang="en-US" sz="3200" dirty="0" smtClean="0"/>
              <a:t>风险度量</a:t>
            </a:r>
            <a:endParaRPr lang="en-US" altLang="zh-CN" sz="3200" dirty="0" smtClean="0"/>
          </a:p>
        </p:txBody>
      </p:sp>
      <p:sp>
        <p:nvSpPr>
          <p:cNvPr id="94212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1905630"/>
            <a:ext cx="8229600" cy="4382717"/>
          </a:xfrm>
        </p:spPr>
        <p:txBody>
          <a:bodyPr/>
          <a:lstStyle/>
          <a:p>
            <a:pPr eaLnBrk="1" hangingPunct="1"/>
            <a:r>
              <a:rPr lang="zh-CN" altLang="en-US" sz="2400" b="1" dirty="0" smtClean="0"/>
              <a:t>风险度量：</a:t>
            </a:r>
            <a:r>
              <a:rPr lang="zh-CN" altLang="en-US" sz="2400" b="1" dirty="0" smtClean="0">
                <a:latin typeface="Times New Roman" pitchFamily="18" charset="0"/>
              </a:rPr>
              <a:t>把一个代表风险的随机变量转化为一个实值的过程。</a:t>
            </a:r>
          </a:p>
          <a:p>
            <a:pPr eaLnBrk="1" hangingPunct="1"/>
            <a:endParaRPr lang="zh-CN" altLang="en-US" sz="2400" b="1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 smtClean="0">
                <a:latin typeface="Times New Roman" pitchFamily="18" charset="0"/>
              </a:rPr>
              <a:t>　　　假设 </a:t>
            </a:r>
            <a:r>
              <a:rPr lang="en-US" altLang="zh-CN" sz="2400" b="1" i="1" dirty="0" smtClean="0">
                <a:latin typeface="Times New Roman" pitchFamily="18" charset="0"/>
              </a:rPr>
              <a:t>X </a:t>
            </a:r>
            <a:r>
              <a:rPr lang="zh-CN" altLang="en-US" sz="2400" b="1" dirty="0" smtClean="0">
                <a:latin typeface="Times New Roman" pitchFamily="18" charset="0"/>
              </a:rPr>
              <a:t>表示随机风险，</a:t>
            </a:r>
            <a:r>
              <a:rPr lang="en-US" altLang="zh-CN" sz="2400" b="1" i="1" dirty="0" smtClean="0">
                <a:latin typeface="Symbol" pitchFamily="18" charset="2"/>
              </a:rPr>
              <a:t>r  </a:t>
            </a:r>
            <a:r>
              <a:rPr lang="zh-CN" altLang="en-US" sz="2400" b="1" dirty="0" smtClean="0">
                <a:latin typeface="Times New Roman" pitchFamily="18" charset="0"/>
              </a:rPr>
              <a:t>为风险度量方法，</a:t>
            </a:r>
            <a:r>
              <a:rPr lang="en-US" altLang="zh-CN" sz="2400" b="1" i="1" dirty="0" smtClean="0">
                <a:latin typeface="Times New Roman" pitchFamily="18" charset="0"/>
              </a:rPr>
              <a:t>r</a:t>
            </a:r>
            <a:r>
              <a:rPr lang="zh-CN" altLang="en-US" sz="2400" b="1" dirty="0" smtClean="0">
                <a:latin typeface="Times New Roman" pitchFamily="18" charset="0"/>
              </a:rPr>
              <a:t>为风险度量值，则风险度量过程可以表示为：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400" b="1" i="1" dirty="0" smtClean="0">
              <a:latin typeface="Times New Roman" pitchFamily="18" charset="0"/>
            </a:endParaRPr>
          </a:p>
          <a:p>
            <a:pPr lvl="1" algn="ctr" eaLnBrk="1" hangingPunct="1">
              <a:buFont typeface="Wingdings" pitchFamily="2" charset="2"/>
              <a:buNone/>
            </a:pPr>
            <a:r>
              <a:rPr lang="en-US" altLang="zh-CN" sz="2400" b="1" i="1" dirty="0" smtClean="0">
                <a:latin typeface="Times New Roman" pitchFamily="18" charset="0"/>
              </a:rPr>
              <a:t>r</a:t>
            </a:r>
            <a:r>
              <a:rPr lang="en-US" altLang="zh-CN" sz="2400" b="1" dirty="0" smtClean="0">
                <a:latin typeface="Times New Roman" pitchFamily="18" charset="0"/>
              </a:rPr>
              <a:t> = </a:t>
            </a:r>
            <a:r>
              <a:rPr lang="en-US" altLang="zh-CN" sz="2400" b="1" i="1" dirty="0" smtClean="0">
                <a:latin typeface="Symbol" pitchFamily="18" charset="2"/>
              </a:rPr>
              <a:t>r </a:t>
            </a:r>
            <a:r>
              <a:rPr lang="en-US" altLang="zh-CN" sz="2400" b="1" dirty="0" smtClean="0">
                <a:latin typeface="Times New Roman" pitchFamily="18" charset="0"/>
              </a:rPr>
              <a:t>(</a:t>
            </a:r>
            <a:r>
              <a:rPr lang="en-US" altLang="zh-CN" sz="2400" b="1" i="1" dirty="0" smtClean="0">
                <a:latin typeface="Times New Roman" pitchFamily="18" charset="0"/>
              </a:rPr>
              <a:t>X</a:t>
            </a:r>
            <a:r>
              <a:rPr lang="en-US" altLang="zh-CN" sz="2400" b="1" dirty="0" smtClean="0">
                <a:latin typeface="Times New Roman" pitchFamily="18" charset="0"/>
              </a:rPr>
              <a:t>)</a:t>
            </a:r>
            <a:endParaRPr lang="en-US" altLang="zh-CN" sz="2400" b="1" dirty="0" smtClean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1D74D38E-871C-4775-A1DB-7998EA898785}" type="slidenum">
              <a:rPr lang="en-US" altLang="zh-CN"/>
              <a:pPr>
                <a:defRPr/>
              </a:pPr>
              <a:t>11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9408418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</a:rPr>
              <a:t>风险度量的一致性要求</a:t>
            </a:r>
            <a:endParaRPr lang="en-US" altLang="zh-CN" sz="2800" b="1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pPr marL="0" indent="0" algn="just">
              <a:spcBef>
                <a:spcPts val="900"/>
              </a:spcBef>
              <a:spcAft>
                <a:spcPts val="0"/>
              </a:spcAft>
              <a:buNone/>
            </a:pP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（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1</a:t>
            </a: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）次可加性：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 ρ(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X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 + 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Y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)  ≤ ρ (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X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) + ρ(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Y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)</a:t>
            </a:r>
            <a:endParaRPr lang="zh-CN" altLang="zh-CN" sz="3600" dirty="0">
              <a:latin typeface="Cambria"/>
              <a:ea typeface="宋体"/>
              <a:cs typeface="Times New Roman"/>
            </a:endParaRPr>
          </a:p>
          <a:p>
            <a:pPr marL="0" indent="0" algn="just">
              <a:spcBef>
                <a:spcPts val="900"/>
              </a:spcBef>
              <a:spcAft>
                <a:spcPts val="0"/>
              </a:spcAft>
              <a:buNone/>
            </a:pP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（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2</a:t>
            </a: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）单调性：若</a:t>
            </a:r>
            <a:r>
              <a:rPr lang="zh-CN" altLang="zh-CN" kern="100" dirty="0">
                <a:latin typeface="Cambria"/>
                <a:ea typeface="Times New Roman"/>
                <a:cs typeface="Times New Roman"/>
              </a:rPr>
              <a:t> </a:t>
            </a:r>
            <a:r>
              <a:rPr lang="en-US" altLang="zh-CN" i="1" kern="100" dirty="0">
                <a:latin typeface="Cambria"/>
                <a:ea typeface="Times New Roman"/>
                <a:cs typeface="Times New Roman"/>
              </a:rPr>
              <a:t>X </a:t>
            </a:r>
            <a:r>
              <a:rPr lang="en-US" altLang="zh-CN" kern="100" dirty="0">
                <a:latin typeface="Cambria"/>
                <a:ea typeface="Times New Roman"/>
                <a:cs typeface="Times New Roman"/>
              </a:rPr>
              <a:t>≤ </a:t>
            </a:r>
            <a:r>
              <a:rPr lang="en-US" altLang="zh-CN" i="1" kern="100" dirty="0" smtClean="0">
                <a:latin typeface="Cambria"/>
                <a:ea typeface="Times New Roman"/>
                <a:cs typeface="Times New Roman"/>
              </a:rPr>
              <a:t>Y</a:t>
            </a:r>
            <a:r>
              <a:rPr lang="en-US" altLang="zh-CN" kern="100" dirty="0" smtClean="0">
                <a:latin typeface="Cambria"/>
                <a:ea typeface="Times New Roman"/>
                <a:cs typeface="Times New Roman"/>
              </a:rPr>
              <a:t>,  </a:t>
            </a:r>
            <a:r>
              <a:rPr lang="zh-CN" altLang="zh-CN" kern="100" dirty="0" smtClean="0">
                <a:latin typeface="Times New Roman"/>
                <a:ea typeface="宋体"/>
                <a:cs typeface="Times New Roman"/>
              </a:rPr>
              <a:t>则</a:t>
            </a:r>
            <a:r>
              <a:rPr lang="en-US" altLang="zh-CN" kern="100" dirty="0" smtClean="0">
                <a:latin typeface="Times New Roman"/>
                <a:ea typeface="宋体"/>
                <a:cs typeface="Times New Roman"/>
              </a:rPr>
              <a:t> ρ(</a:t>
            </a:r>
            <a:r>
              <a:rPr lang="en-US" altLang="zh-CN" i="1" kern="100" dirty="0" smtClean="0">
                <a:latin typeface="Times New Roman"/>
                <a:ea typeface="宋体"/>
                <a:cs typeface="Times New Roman"/>
              </a:rPr>
              <a:t>X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)  ≤  ρ (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Y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)</a:t>
            </a:r>
            <a:endParaRPr lang="zh-CN" altLang="zh-CN" sz="3600" dirty="0">
              <a:latin typeface="Cambria"/>
              <a:ea typeface="宋体"/>
              <a:cs typeface="Times New Roman"/>
            </a:endParaRPr>
          </a:p>
          <a:p>
            <a:pPr marL="0" indent="0" algn="just">
              <a:spcBef>
                <a:spcPts val="900"/>
              </a:spcBef>
              <a:spcAft>
                <a:spcPts val="0"/>
              </a:spcAft>
              <a:buNone/>
            </a:pP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（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3</a:t>
            </a: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）正齐次性：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ρ (</a:t>
            </a:r>
            <a:r>
              <a:rPr lang="en-US" altLang="zh-CN" i="1" kern="100" dirty="0" err="1">
                <a:latin typeface="Times New Roman"/>
                <a:ea typeface="宋体"/>
                <a:cs typeface="Times New Roman"/>
              </a:rPr>
              <a:t>cX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)  = 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c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 ρ (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X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)</a:t>
            </a: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，</a:t>
            </a:r>
            <a:r>
              <a:rPr lang="zh-CN" altLang="zh-CN" kern="100" dirty="0">
                <a:latin typeface="Cambria"/>
                <a:ea typeface="Times New Roman"/>
                <a:cs typeface="Times New Roman"/>
              </a:rPr>
              <a:t> </a:t>
            </a:r>
            <a:r>
              <a:rPr lang="en-US" altLang="zh-CN" i="1" kern="100" dirty="0">
                <a:latin typeface="Cambria"/>
                <a:ea typeface="Times New Roman"/>
                <a:cs typeface="Times New Roman"/>
              </a:rPr>
              <a:t>c</a:t>
            </a:r>
            <a:r>
              <a:rPr lang="en-US" altLang="zh-CN" kern="100" dirty="0">
                <a:latin typeface="Cambria"/>
                <a:ea typeface="Times New Roman"/>
                <a:cs typeface="Times New Roman"/>
              </a:rPr>
              <a:t> &gt; 0</a:t>
            </a: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为常数</a:t>
            </a:r>
            <a:endParaRPr lang="zh-CN" altLang="zh-CN" sz="3600" dirty="0">
              <a:latin typeface="Cambria"/>
              <a:ea typeface="宋体"/>
              <a:cs typeface="Times New Roman"/>
            </a:endParaRPr>
          </a:p>
          <a:p>
            <a:pPr marL="0" indent="0" algn="just">
              <a:spcBef>
                <a:spcPts val="900"/>
              </a:spcBef>
              <a:spcAft>
                <a:spcPts val="0"/>
              </a:spcAft>
              <a:buNone/>
              <a:tabLst>
                <a:tab pos="3657600" algn="l"/>
              </a:tabLst>
            </a:pP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（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4</a:t>
            </a: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）平移不变性：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ρ(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X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 + 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c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) = ρ (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X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) + </a:t>
            </a:r>
            <a:r>
              <a:rPr lang="en-US" altLang="zh-CN" i="1" kern="100" dirty="0">
                <a:latin typeface="Times New Roman"/>
                <a:ea typeface="宋体"/>
                <a:cs typeface="Times New Roman"/>
              </a:rPr>
              <a:t>c</a:t>
            </a: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，</a:t>
            </a:r>
            <a:r>
              <a:rPr lang="zh-CN" altLang="zh-CN" kern="100" dirty="0">
                <a:latin typeface="Cambria"/>
                <a:ea typeface="Times New Roman"/>
                <a:cs typeface="Times New Roman"/>
              </a:rPr>
              <a:t> </a:t>
            </a:r>
            <a:r>
              <a:rPr lang="en-US" altLang="zh-CN" i="1" kern="100" dirty="0">
                <a:latin typeface="Cambria"/>
                <a:ea typeface="Times New Roman"/>
                <a:cs typeface="Times New Roman"/>
              </a:rPr>
              <a:t>c</a:t>
            </a:r>
            <a:r>
              <a:rPr lang="zh-CN" altLang="zh-CN" kern="100" dirty="0">
                <a:latin typeface="Times New Roman"/>
                <a:ea typeface="宋体"/>
                <a:cs typeface="Times New Roman"/>
              </a:rPr>
              <a:t>为常数</a:t>
            </a:r>
            <a:r>
              <a:rPr lang="en-US" altLang="zh-CN" kern="100" dirty="0">
                <a:latin typeface="Times New Roman"/>
                <a:ea typeface="宋体"/>
                <a:cs typeface="Times New Roman"/>
              </a:rPr>
              <a:t>	</a:t>
            </a:r>
            <a:endParaRPr lang="zh-CN" altLang="zh-CN" sz="3600" dirty="0">
              <a:latin typeface="Cambria"/>
              <a:ea typeface="宋体"/>
              <a:cs typeface="Times New Roman"/>
            </a:endParaRPr>
          </a:p>
          <a:p>
            <a:pPr lvl="1">
              <a:lnSpc>
                <a:spcPct val="200000"/>
              </a:lnSpc>
            </a:pPr>
            <a:endParaRPr lang="en-US" altLang="zh-CN" sz="2400" b="1" dirty="0" smtClean="0">
              <a:latin typeface="Times New Roman" pitchFamily="18" charset="0"/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6761F3D5-0A6F-4618-A0BA-C8488CD8103A}" type="slidenum">
              <a:rPr lang="en-US" altLang="zh-CN"/>
              <a:pPr>
                <a:defRPr/>
              </a:pPr>
              <a:t>12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0834123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2400" b="1" dirty="0" smtClean="0">
                <a:latin typeface="Times New Roman" pitchFamily="18" charset="0"/>
              </a:rPr>
              <a:t>常用的风险度量方法：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zh-CN" sz="2400" b="1" dirty="0" err="1" smtClean="0">
                <a:solidFill>
                  <a:srgbClr val="FF0000"/>
                </a:solidFill>
                <a:latin typeface="+mj-lt"/>
              </a:rPr>
              <a:t>VaR</a:t>
            </a:r>
            <a:r>
              <a:rPr lang="en-US" altLang="zh-CN" sz="2400" b="1" dirty="0" smtClean="0">
                <a:solidFill>
                  <a:srgbClr val="FF0000"/>
                </a:solidFill>
                <a:latin typeface="+mj-lt"/>
              </a:rPr>
              <a:t>: </a:t>
            </a:r>
            <a:r>
              <a:rPr lang="en-US" altLang="zh-CN" sz="2400" b="1" dirty="0" smtClean="0">
                <a:latin typeface="+mj-lt"/>
              </a:rPr>
              <a:t>Value at Risk</a:t>
            </a:r>
          </a:p>
          <a:p>
            <a:pPr lvl="1">
              <a:lnSpc>
                <a:spcPct val="200000"/>
              </a:lnSpc>
            </a:pPr>
            <a:r>
              <a:rPr lang="en-US" altLang="zh-CN" sz="2400" b="1" dirty="0" err="1" smtClean="0">
                <a:solidFill>
                  <a:srgbClr val="FF0000"/>
                </a:solidFill>
                <a:latin typeface="+mj-lt"/>
              </a:rPr>
              <a:t>TVaR</a:t>
            </a:r>
            <a:r>
              <a:rPr lang="en-US" altLang="zh-CN" sz="2400" b="1" dirty="0" smtClean="0">
                <a:solidFill>
                  <a:srgbClr val="FF0000"/>
                </a:solidFill>
                <a:latin typeface="+mj-lt"/>
              </a:rPr>
              <a:t>: </a:t>
            </a:r>
            <a:r>
              <a:rPr lang="en-US" altLang="zh-CN" sz="2400" b="1" dirty="0" smtClean="0">
                <a:latin typeface="+mj-lt"/>
              </a:rPr>
              <a:t>Tail-Value-at-Risk 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zh-CN" altLang="en-US" sz="2400" b="1" dirty="0" smtClean="0">
                <a:latin typeface="+mj-lt"/>
              </a:rPr>
              <a:t>（也</a:t>
            </a:r>
            <a:r>
              <a:rPr lang="zh-CN" altLang="en-US" b="1" dirty="0" smtClean="0">
                <a:latin typeface="+mj-lt"/>
              </a:rPr>
              <a:t>称</a:t>
            </a:r>
            <a:r>
              <a:rPr lang="zh-CN" altLang="en-US" sz="2400" b="1" dirty="0" smtClean="0">
                <a:latin typeface="+mj-lt"/>
              </a:rPr>
              <a:t>为 </a:t>
            </a:r>
            <a:r>
              <a:rPr lang="en-US" altLang="zh-CN" b="1" dirty="0" err="1" smtClean="0">
                <a:solidFill>
                  <a:srgbClr val="FF0000"/>
                </a:solidFill>
                <a:latin typeface="+mj-lt"/>
              </a:rPr>
              <a:t>CVaR</a:t>
            </a:r>
            <a:r>
              <a:rPr lang="zh-CN" altLang="en-US" b="1" dirty="0" smtClean="0">
                <a:solidFill>
                  <a:srgbClr val="FF0000"/>
                </a:solidFill>
                <a:latin typeface="+mj-lt"/>
              </a:rPr>
              <a:t>：</a:t>
            </a:r>
            <a:r>
              <a:rPr lang="zh-CN" altLang="en-US" b="1" dirty="0" smtClean="0">
                <a:latin typeface="+mj-lt"/>
              </a:rPr>
              <a:t> </a:t>
            </a:r>
            <a:r>
              <a:rPr lang="en-US" altLang="zh-CN" b="1" dirty="0" smtClean="0">
                <a:latin typeface="+mj-lt"/>
              </a:rPr>
              <a:t>Conditional Value </a:t>
            </a:r>
            <a:r>
              <a:rPr lang="en-US" altLang="zh-CN" b="1" dirty="0">
                <a:latin typeface="+mj-lt"/>
              </a:rPr>
              <a:t>at R</a:t>
            </a:r>
            <a:r>
              <a:rPr lang="en-US" altLang="zh-CN" b="1" dirty="0" smtClean="0">
                <a:latin typeface="+mj-lt"/>
              </a:rPr>
              <a:t>isk</a:t>
            </a:r>
            <a:r>
              <a:rPr lang="zh-CN" altLang="en-US" b="1" dirty="0" smtClean="0">
                <a:latin typeface="+mj-lt"/>
              </a:rPr>
              <a:t>）</a:t>
            </a:r>
            <a:endParaRPr lang="en-US" altLang="zh-CN" sz="2400" b="1" dirty="0" smtClean="0">
              <a:latin typeface="+mj-lt"/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6761F3D5-0A6F-4618-A0BA-C8488CD8103A}" type="slidenum">
              <a:rPr lang="en-US" altLang="zh-CN"/>
              <a:pPr>
                <a:defRPr/>
              </a:pPr>
              <a:t>13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2228651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75" y="688323"/>
            <a:ext cx="8229600" cy="789140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+mj-lt"/>
              </a:rPr>
              <a:t>　</a:t>
            </a:r>
            <a:r>
              <a:rPr lang="en-US" altLang="zh-CN" sz="2400" dirty="0" err="1" smtClean="0">
                <a:latin typeface="+mj-lt"/>
              </a:rPr>
              <a:t>VaR</a:t>
            </a:r>
            <a:r>
              <a:rPr lang="en-US" altLang="zh-CN" sz="2400" dirty="0" smtClean="0">
                <a:latin typeface="+mj-lt"/>
              </a:rPr>
              <a:t> </a:t>
            </a:r>
            <a:r>
              <a:rPr lang="zh-CN" altLang="en-US" sz="2400" dirty="0" smtClean="0">
                <a:latin typeface="+mj-lt"/>
              </a:rPr>
              <a:t>（</a:t>
            </a:r>
            <a:r>
              <a:rPr lang="en-US" altLang="zh-CN" sz="2400" dirty="0" smtClean="0">
                <a:latin typeface="+mj-lt"/>
              </a:rPr>
              <a:t>Value at Risk</a:t>
            </a:r>
            <a:r>
              <a:rPr lang="zh-CN" altLang="en-US" sz="2400" dirty="0" smtClean="0">
                <a:latin typeface="+mj-lt"/>
              </a:rPr>
              <a:t>）</a:t>
            </a:r>
            <a:endParaRPr lang="en-US" altLang="zh-CN" sz="2400" dirty="0" smtClean="0">
              <a:latin typeface="+mj-lt"/>
            </a:endParaRP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44082"/>
            <a:ext cx="8540750" cy="4256088"/>
          </a:xfrm>
        </p:spPr>
        <p:txBody>
          <a:bodyPr/>
          <a:lstStyle/>
          <a:p>
            <a:pPr eaLnBrk="1" hangingPunct="1"/>
            <a:r>
              <a:rPr lang="en-US" altLang="zh-CN" sz="2400" dirty="0" smtClean="0">
                <a:latin typeface="Times New Roman" pitchFamily="18" charset="0"/>
              </a:rPr>
              <a:t> </a:t>
            </a:r>
            <a:r>
              <a:rPr lang="zh-CN" altLang="en-US" sz="2400" b="1" dirty="0" smtClean="0">
                <a:latin typeface="Times New Roman" pitchFamily="18" charset="0"/>
              </a:rPr>
              <a:t>定义：</a:t>
            </a:r>
            <a:endParaRPr lang="zh-CN" altLang="en-US" sz="2400" dirty="0" smtClean="0">
              <a:latin typeface="Times New Roman" pitchFamily="18" charset="0"/>
            </a:endParaRPr>
          </a:p>
          <a:p>
            <a:pPr eaLnBrk="1" hangingPunct="1"/>
            <a:endParaRPr lang="zh-CN" altLang="en-US" sz="2400" dirty="0" smtClean="0">
              <a:latin typeface="Times New Roman" pitchFamily="18" charset="0"/>
            </a:endParaRPr>
          </a:p>
          <a:p>
            <a:pPr algn="ctr" eaLnBrk="1" hangingPunct="1">
              <a:buNone/>
            </a:pPr>
            <a:r>
              <a:rPr lang="en-US" altLang="zh-CN" sz="2400" dirty="0" err="1" smtClean="0">
                <a:latin typeface="+mj-lt"/>
              </a:rPr>
              <a:t>VaR</a:t>
            </a:r>
            <a:r>
              <a:rPr lang="en-US" altLang="zh-CN" sz="2400" i="1" baseline="-25000" dirty="0" err="1" smtClean="0">
                <a:latin typeface="Times New Roman" pitchFamily="18" charset="0"/>
              </a:rPr>
              <a:t>p</a:t>
            </a:r>
            <a:r>
              <a:rPr lang="en-US" altLang="zh-CN" sz="2400" dirty="0" smtClean="0">
                <a:latin typeface="Times New Roman" pitchFamily="18" charset="0"/>
              </a:rPr>
              <a:t>= </a:t>
            </a:r>
            <a:r>
              <a:rPr lang="en-US" altLang="zh-CN" sz="2400" dirty="0" err="1" smtClean="0">
                <a:latin typeface="+mj-lt"/>
              </a:rPr>
              <a:t>inf</a:t>
            </a:r>
            <a:r>
              <a:rPr lang="en-US" altLang="zh-CN" sz="2400" dirty="0" smtClean="0">
                <a:latin typeface="Times New Roman" pitchFamily="18" charset="0"/>
              </a:rPr>
              <a:t>{</a:t>
            </a:r>
            <a:r>
              <a:rPr lang="en-US" altLang="zh-CN" sz="2400" i="1" dirty="0" smtClean="0">
                <a:latin typeface="Times New Roman" pitchFamily="18" charset="0"/>
              </a:rPr>
              <a:t>x</a:t>
            </a:r>
            <a:r>
              <a:rPr lang="zh-CN" altLang="en-US" sz="2400" dirty="0" smtClean="0">
                <a:latin typeface="Times New Roman" pitchFamily="18" charset="0"/>
              </a:rPr>
              <a:t>｜</a:t>
            </a:r>
            <a:r>
              <a:rPr lang="en-US" altLang="zh-CN" sz="2400" i="1" dirty="0" smtClean="0">
                <a:latin typeface="Times New Roman" pitchFamily="18" charset="0"/>
              </a:rPr>
              <a:t>F</a:t>
            </a:r>
            <a:r>
              <a:rPr lang="en-US" altLang="zh-CN" sz="2400" dirty="0" smtClean="0">
                <a:latin typeface="Times New Roman" pitchFamily="18" charset="0"/>
              </a:rPr>
              <a:t>(</a:t>
            </a:r>
            <a:r>
              <a:rPr lang="en-US" altLang="zh-CN" sz="2400" i="1" dirty="0" smtClean="0">
                <a:latin typeface="Times New Roman" pitchFamily="18" charset="0"/>
              </a:rPr>
              <a:t>x</a:t>
            </a:r>
            <a:r>
              <a:rPr lang="en-US" altLang="zh-CN" sz="2400" dirty="0" smtClean="0">
                <a:latin typeface="Times New Roman" pitchFamily="18" charset="0"/>
              </a:rPr>
              <a:t>) ≥  </a:t>
            </a:r>
            <a:r>
              <a:rPr lang="en-US" altLang="zh-CN" sz="2400" i="1" dirty="0" smtClean="0">
                <a:latin typeface="Times New Roman" pitchFamily="18" charset="0"/>
              </a:rPr>
              <a:t>p</a:t>
            </a:r>
            <a:r>
              <a:rPr lang="en-US" altLang="zh-CN" sz="2400" dirty="0" smtClean="0">
                <a:latin typeface="Times New Roman" pitchFamily="18" charset="0"/>
              </a:rPr>
              <a:t>}</a:t>
            </a:r>
            <a:endParaRPr lang="zh-CN" altLang="en-US" sz="2400" dirty="0" smtClean="0">
              <a:latin typeface="Times New Roman" pitchFamily="18" charset="0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altLang="zh-CN" sz="2400" dirty="0" smtClean="0">
              <a:latin typeface="Times New Roman" pitchFamily="18" charset="0"/>
            </a:endParaRPr>
          </a:p>
          <a:p>
            <a:pPr eaLnBrk="1" hangingPunct="1"/>
            <a:r>
              <a:rPr lang="en-US" altLang="zh-CN" sz="2400" i="1" dirty="0" smtClean="0">
                <a:latin typeface="Times New Roman" pitchFamily="18" charset="0"/>
              </a:rPr>
              <a:t>p </a:t>
            </a:r>
            <a:r>
              <a:rPr lang="zh-CN" altLang="en-US" sz="2400" dirty="0" smtClean="0">
                <a:latin typeface="Symbol" pitchFamily="18" charset="2"/>
              </a:rPr>
              <a:t>的通常取值：</a:t>
            </a:r>
            <a:r>
              <a:rPr lang="en-US" altLang="zh-CN" sz="2400" dirty="0" smtClean="0">
                <a:latin typeface="Symbol" pitchFamily="18" charset="2"/>
              </a:rPr>
              <a:t>90</a:t>
            </a:r>
            <a:r>
              <a:rPr lang="zh-CN" altLang="en-US" sz="2400" dirty="0" smtClean="0">
                <a:latin typeface="Symbol" pitchFamily="18" charset="2"/>
              </a:rPr>
              <a:t>％，</a:t>
            </a:r>
            <a:r>
              <a:rPr lang="en-US" altLang="zh-CN" sz="2400" dirty="0" smtClean="0">
                <a:latin typeface="Symbol" pitchFamily="18" charset="2"/>
              </a:rPr>
              <a:t>95</a:t>
            </a:r>
            <a:r>
              <a:rPr lang="zh-CN" altLang="en-US" sz="2400" dirty="0" smtClean="0">
                <a:latin typeface="Symbol" pitchFamily="18" charset="2"/>
              </a:rPr>
              <a:t>％，</a:t>
            </a:r>
            <a:r>
              <a:rPr lang="en-US" altLang="zh-CN" sz="2400" dirty="0" smtClean="0">
                <a:latin typeface="Symbol" pitchFamily="18" charset="2"/>
              </a:rPr>
              <a:t>99</a:t>
            </a:r>
            <a:r>
              <a:rPr lang="zh-CN" altLang="en-US" sz="2400" dirty="0" smtClean="0">
                <a:latin typeface="Symbol" pitchFamily="18" charset="2"/>
              </a:rPr>
              <a:t>％</a:t>
            </a:r>
            <a:r>
              <a:rPr lang="en-US" altLang="zh-CN" sz="2400" dirty="0" smtClean="0">
                <a:latin typeface="Symbol" pitchFamily="18" charset="2"/>
              </a:rPr>
              <a:t>,   99.95%</a:t>
            </a:r>
          </a:p>
          <a:p>
            <a:r>
              <a:rPr lang="zh-CN" altLang="en-US" sz="2400" b="0" dirty="0"/>
              <a:t>在险价值是指在一定的置信水平下</a:t>
            </a:r>
            <a:r>
              <a:rPr lang="zh-CN" altLang="en-US" sz="2400" b="0" dirty="0" smtClean="0"/>
              <a:t>，在</a:t>
            </a:r>
            <a:r>
              <a:rPr lang="zh-CN" altLang="en-US" sz="2400" b="0" dirty="0"/>
              <a:t>未来特定的一段时间内的最大可能</a:t>
            </a:r>
            <a:r>
              <a:rPr lang="zh-CN" altLang="en-US" sz="2400" b="0" dirty="0" smtClean="0"/>
              <a:t>损失</a:t>
            </a:r>
            <a:endParaRPr lang="en-US" altLang="zh-CN" sz="2400" b="0" dirty="0" smtClean="0"/>
          </a:p>
          <a:p>
            <a:r>
              <a:rPr lang="zh-CN" altLang="en-US" sz="2400" b="0" dirty="0"/>
              <a:t>至少</a:t>
            </a:r>
            <a:r>
              <a:rPr lang="zh-CN" altLang="en-US" sz="2400" b="0" dirty="0" smtClean="0"/>
              <a:t>有 </a:t>
            </a:r>
            <a:r>
              <a:rPr lang="en-US" altLang="zh-CN" sz="2400" b="0" dirty="0" smtClean="0"/>
              <a:t>95% </a:t>
            </a:r>
            <a:r>
              <a:rPr lang="zh-CN" altLang="en-US" sz="2400" b="0" dirty="0" smtClean="0"/>
              <a:t>的</a:t>
            </a:r>
            <a:r>
              <a:rPr lang="zh-CN" altLang="en-US" sz="2400" b="0" dirty="0"/>
              <a:t>把握</a:t>
            </a:r>
            <a:r>
              <a:rPr lang="zh-CN" altLang="en-US" sz="2400" b="0" dirty="0" smtClean="0"/>
              <a:t>保证</a:t>
            </a:r>
            <a:r>
              <a:rPr lang="zh-CN" altLang="en-US" sz="2400" b="0" dirty="0"/>
              <a:t>最大损失不</a:t>
            </a:r>
            <a:r>
              <a:rPr lang="zh-CN" altLang="en-US" sz="2400" b="0" dirty="0" smtClean="0"/>
              <a:t>超过 </a:t>
            </a:r>
            <a:r>
              <a:rPr lang="en-US" altLang="zh-CN" sz="2400" b="0" dirty="0" smtClean="0"/>
              <a:t>x</a:t>
            </a:r>
            <a:endParaRPr lang="en-US" altLang="zh-CN" sz="2400" dirty="0" smtClean="0">
              <a:latin typeface="Symbol" pitchFamily="18" charset="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3C000501-4F64-4812-A375-FF9DF4D766C6}" type="slidenum">
              <a:rPr lang="en-US" altLang="zh-CN"/>
              <a:pPr>
                <a:defRPr/>
              </a:pPr>
              <a:t>14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9643959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1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1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/>
              <a:pPr>
                <a:buFontTx/>
                <a:buNone/>
              </a:pPr>
              <a:t>15</a:t>
            </a:fld>
            <a:endParaRPr lang="zh-CN" altLang="en-US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02" y="1311140"/>
            <a:ext cx="8393665" cy="456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554314" y="1006441"/>
            <a:ext cx="4992072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dirty="0" smtClean="0">
                <a:latin typeface="+mj-lt"/>
              </a:rPr>
              <a:t>Gamma(shape = 2</a:t>
            </a:r>
            <a:r>
              <a:rPr lang="en-US" altLang="zh-CN" dirty="0">
                <a:latin typeface="+mj-lt"/>
              </a:rPr>
              <a:t>, </a:t>
            </a:r>
            <a:r>
              <a:rPr lang="en-US" altLang="zh-CN" dirty="0" smtClean="0">
                <a:latin typeface="+mj-lt"/>
              </a:rPr>
              <a:t> scale = 1000</a:t>
            </a:r>
            <a:r>
              <a:rPr lang="en-US" altLang="zh-CN" dirty="0">
                <a:latin typeface="+mj-lt"/>
              </a:rPr>
              <a:t>)</a:t>
            </a:r>
          </a:p>
        </p:txBody>
      </p:sp>
      <p:sp>
        <p:nvSpPr>
          <p:cNvPr id="7" name="矩形 6"/>
          <p:cNvSpPr/>
          <p:nvPr/>
        </p:nvSpPr>
        <p:spPr>
          <a:xfrm>
            <a:off x="721676" y="5940526"/>
            <a:ext cx="7892716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dirty="0" smtClean="0">
                <a:latin typeface="+mj-lt"/>
              </a:rPr>
              <a:t>VaR = </a:t>
            </a:r>
            <a:r>
              <a:rPr lang="en-US" altLang="zh-CN" dirty="0" err="1" smtClean="0">
                <a:solidFill>
                  <a:srgbClr val="0000CC"/>
                </a:solidFill>
                <a:latin typeface="+mj-lt"/>
              </a:rPr>
              <a:t>qgamma</a:t>
            </a:r>
            <a:r>
              <a:rPr lang="en-US" altLang="zh-CN" dirty="0" smtClean="0">
                <a:solidFill>
                  <a:srgbClr val="0000CC"/>
                </a:solidFill>
                <a:latin typeface="+mj-lt"/>
              </a:rPr>
              <a:t>(0.90,  shape=2</a:t>
            </a:r>
            <a:r>
              <a:rPr lang="en-US" altLang="zh-CN" dirty="0">
                <a:solidFill>
                  <a:srgbClr val="0000CC"/>
                </a:solidFill>
                <a:latin typeface="+mj-lt"/>
              </a:rPr>
              <a:t>, </a:t>
            </a:r>
            <a:r>
              <a:rPr lang="en-US" altLang="zh-CN" dirty="0" smtClean="0">
                <a:solidFill>
                  <a:srgbClr val="0000CC"/>
                </a:solidFill>
                <a:latin typeface="+mj-lt"/>
              </a:rPr>
              <a:t> scale=1000</a:t>
            </a:r>
            <a:r>
              <a:rPr lang="en-US" altLang="zh-CN" dirty="0">
                <a:solidFill>
                  <a:srgbClr val="0000CC"/>
                </a:solidFill>
                <a:latin typeface="+mj-lt"/>
              </a:rPr>
              <a:t>) </a:t>
            </a:r>
            <a:r>
              <a:rPr lang="en-US" altLang="zh-CN" dirty="0" smtClean="0">
                <a:solidFill>
                  <a:srgbClr val="0000CC"/>
                </a:solidFill>
                <a:latin typeface="+mj-lt"/>
              </a:rPr>
              <a:t> </a:t>
            </a:r>
            <a:r>
              <a:rPr lang="en-US" altLang="zh-CN" dirty="0" smtClean="0">
                <a:latin typeface="+mj-lt"/>
              </a:rPr>
              <a:t>=  3890</a:t>
            </a:r>
            <a:endParaRPr lang="zh-CN" altLang="en-US" dirty="0">
              <a:latin typeface="+mj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5303520" y="2338939"/>
            <a:ext cx="1568918" cy="9625"/>
          </a:xfrm>
          <a:prstGeom prst="line">
            <a:avLst/>
          </a:prstGeom>
          <a:ln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6872438" y="2348564"/>
            <a:ext cx="0" cy="2743200"/>
          </a:xfrm>
          <a:prstGeom prst="straightConnector1">
            <a:avLst/>
          </a:prstGeom>
          <a:ln>
            <a:solidFill>
              <a:srgbClr val="CC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675823" y="4523874"/>
            <a:ext cx="0" cy="567890"/>
          </a:xfrm>
          <a:prstGeom prst="line">
            <a:avLst/>
          </a:prstGeom>
          <a:ln w="38100">
            <a:solidFill>
              <a:srgbClr val="CC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2290" y="4138863"/>
            <a:ext cx="704039" cy="45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000" dirty="0" smtClean="0"/>
              <a:t>0.90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678804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35975" y="6408738"/>
            <a:ext cx="7080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mtClean="0"/>
              <a:t>( </a:t>
            </a:r>
            <a:fld id="{6F4965D5-0B8C-4940-A118-ACA2133EA7E7}" type="slidenum">
              <a:rPr lang="en-US" altLang="zh-CN" smtClean="0"/>
              <a:pPr>
                <a:defRPr/>
              </a:pPr>
              <a:t>16</a:t>
            </a:fld>
            <a:r>
              <a:rPr lang="en-US" altLang="zh-CN" smtClean="0"/>
              <a:t> )</a:t>
            </a:r>
            <a:endParaRPr lang="en-US" altLang="zh-CN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833655" y="914400"/>
            <a:ext cx="7675078" cy="538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6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199" y="1905000"/>
            <a:ext cx="8436543" cy="4225925"/>
          </a:xfrm>
        </p:spPr>
        <p:txBody>
          <a:bodyPr/>
          <a:lstStyle/>
          <a:p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对于随机变量 </a:t>
            </a:r>
            <a:r>
              <a:rPr lang="en-US" altLang="zh-CN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如果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是非减的连续函数，则有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               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EC43E5-33DC-4B91-9A11-095DFB174AC9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258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219" y="3471862"/>
            <a:ext cx="337185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306215"/>
              </p:ext>
            </p:extLst>
          </p:nvPr>
        </p:nvGraphicFramePr>
        <p:xfrm>
          <a:off x="1140054" y="5011436"/>
          <a:ext cx="6791939" cy="600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1" name="Equation" r:id="rId4" imgW="3162240" imgH="279360" progId="Equation.DSMT4">
                  <p:embed/>
                </p:oleObj>
              </mc:Choice>
              <mc:Fallback>
                <p:oleObj name="Equation" r:id="rId4" imgW="31622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0054" y="5011436"/>
                        <a:ext cx="6791939" cy="600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-83976" y="832411"/>
            <a:ext cx="8229600" cy="789140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solidFill>
                  <a:srgbClr val="0000CC"/>
                </a:solidFill>
                <a:latin typeface="+mj-lt"/>
              </a:rPr>
              <a:t>　</a:t>
            </a:r>
            <a:r>
              <a:rPr lang="en-US" altLang="zh-CN" sz="2400" dirty="0" smtClean="0">
                <a:solidFill>
                  <a:srgbClr val="0000CC"/>
                </a:solidFill>
                <a:latin typeface="+mj-lt"/>
              </a:rPr>
              <a:t>VaR </a:t>
            </a:r>
            <a:r>
              <a:rPr lang="zh-CN" altLang="en-US" sz="2400" dirty="0" smtClean="0">
                <a:solidFill>
                  <a:srgbClr val="0000CC"/>
                </a:solidFill>
                <a:latin typeface="+mj-lt"/>
              </a:rPr>
              <a:t>的性质</a:t>
            </a:r>
            <a:endParaRPr lang="en-US" altLang="zh-CN" sz="2400" dirty="0" smtClean="0">
              <a:solidFill>
                <a:srgbClr val="0000C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10894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620713"/>
            <a:ext cx="7920038" cy="720725"/>
          </a:xfrm>
        </p:spPr>
        <p:txBody>
          <a:bodyPr/>
          <a:lstStyle/>
          <a:p>
            <a:pPr eaLnBrk="1" hangingPunct="1"/>
            <a:r>
              <a:rPr lang="zh-CN" altLang="en-US" sz="2600" b="1" dirty="0" smtClean="0"/>
              <a:t>例</a:t>
            </a:r>
            <a:r>
              <a:rPr lang="zh-CN" altLang="en-US" sz="2600" dirty="0" smtClean="0"/>
              <a:t>：损失 </a:t>
            </a:r>
            <a:r>
              <a:rPr lang="en-US" altLang="zh-CN" sz="2600" i="1" dirty="0" smtClean="0">
                <a:latin typeface="Times New Roman" pitchFamily="18" charset="0"/>
              </a:rPr>
              <a:t>X </a:t>
            </a:r>
            <a:r>
              <a:rPr lang="zh-CN" altLang="en-US" sz="2600" dirty="0" smtClean="0"/>
              <a:t>的分布如下，计算</a:t>
            </a:r>
            <a:r>
              <a:rPr lang="en-US" altLang="zh-CN" sz="2600" dirty="0" err="1" smtClean="0">
                <a:latin typeface="Times New Roman" pitchFamily="18" charset="0"/>
              </a:rPr>
              <a:t>VaR</a:t>
            </a:r>
            <a:r>
              <a:rPr lang="en-US" altLang="zh-CN" sz="2600" baseline="-25000" dirty="0" err="1" smtClean="0"/>
              <a:t>99</a:t>
            </a:r>
            <a:r>
              <a:rPr lang="zh-CN" altLang="en-US" sz="2600" baseline="-25000" dirty="0" smtClean="0"/>
              <a:t>％</a:t>
            </a:r>
            <a:r>
              <a:rPr lang="zh-CN" altLang="en-US" sz="2600" dirty="0" smtClean="0"/>
              <a:t>和</a:t>
            </a:r>
            <a:r>
              <a:rPr lang="zh-CN" altLang="en-US" sz="2600" baseline="-25000" dirty="0" smtClean="0"/>
              <a:t> </a:t>
            </a:r>
            <a:r>
              <a:rPr lang="en-US" altLang="zh-CN" sz="2600" dirty="0" err="1" smtClean="0">
                <a:latin typeface="Times New Roman" pitchFamily="18" charset="0"/>
              </a:rPr>
              <a:t>VaR</a:t>
            </a:r>
            <a:r>
              <a:rPr lang="en-US" altLang="zh-CN" sz="2600" baseline="-25000" dirty="0" err="1" smtClean="0"/>
              <a:t>95</a:t>
            </a:r>
            <a:r>
              <a:rPr lang="zh-CN" altLang="en-US" sz="2600" baseline="-25000" dirty="0" smtClean="0"/>
              <a:t>％</a:t>
            </a:r>
            <a:endParaRPr lang="zh-CN" altLang="en-US" sz="2600" dirty="0" smtClean="0"/>
          </a:p>
        </p:txBody>
      </p:sp>
      <p:sp>
        <p:nvSpPr>
          <p:cNvPr id="2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zh-CN" dirty="0"/>
              <a:t>( </a:t>
            </a:r>
            <a:fld id="{395570A4-4F32-45DD-9F2C-690F32727B36}" type="slidenum">
              <a:rPr lang="en-US" altLang="zh-CN"/>
              <a:pPr>
                <a:buNone/>
                <a:defRPr/>
              </a:pPr>
              <a:t>18</a:t>
            </a:fld>
            <a:r>
              <a:rPr lang="en-US" altLang="zh-CN" dirty="0"/>
              <a:t> )</a:t>
            </a:r>
          </a:p>
        </p:txBody>
      </p:sp>
      <p:sp>
        <p:nvSpPr>
          <p:cNvPr id="97284" name="Rectangle 3"/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728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842775"/>
              </p:ext>
            </p:extLst>
          </p:nvPr>
        </p:nvGraphicFramePr>
        <p:xfrm>
          <a:off x="728663" y="1628775"/>
          <a:ext cx="4591050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6" name="Equation" r:id="rId3" imgW="2171520" imgH="876240" progId="Equation.DSMT4">
                  <p:embed/>
                </p:oleObj>
              </mc:Choice>
              <mc:Fallback>
                <p:oleObj name="Equation" r:id="rId3" imgW="217152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1628775"/>
                        <a:ext cx="4591050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167333"/>
              </p:ext>
            </p:extLst>
          </p:nvPr>
        </p:nvGraphicFramePr>
        <p:xfrm>
          <a:off x="6019800" y="1278654"/>
          <a:ext cx="1826491" cy="2861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7" name="Equation" r:id="rId5" imgW="850680" imgH="1333440" progId="Equation.DSMT4">
                  <p:embed/>
                </p:oleObj>
              </mc:Choice>
              <mc:Fallback>
                <p:oleObj name="Equation" r:id="rId5" imgW="850680" imgH="1333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278654"/>
                        <a:ext cx="1826491" cy="2861546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7640" name="Picture 36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691" y="4114800"/>
            <a:ext cx="6858000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689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908050"/>
            <a:ext cx="8540750" cy="1368425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例</a:t>
            </a:r>
            <a:r>
              <a:rPr lang="en-US" altLang="zh-CN" sz="2400" b="1" dirty="0" err="1" smtClean="0">
                <a:solidFill>
                  <a:srgbClr val="0000CC"/>
                </a:solidFill>
                <a:latin typeface="Times New Roman" pitchFamily="18" charset="0"/>
              </a:rPr>
              <a:t>1：</a:t>
            </a:r>
            <a:r>
              <a:rPr lang="en-US" altLang="zh-CN" sz="2400" b="1" dirty="0" err="1" smtClean="0">
                <a:solidFill>
                  <a:srgbClr val="0000CC"/>
                </a:solidFill>
                <a:latin typeface="+mj-lt"/>
              </a:rPr>
              <a:t>VaR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itchFamily="18" charset="0"/>
              </a:rPr>
              <a:t>不满足</a:t>
            </a:r>
            <a:r>
              <a:rPr lang="zh-CN" altLang="en-US" sz="2400" dirty="0">
                <a:solidFill>
                  <a:srgbClr val="0000CC"/>
                </a:solidFill>
                <a:latin typeface="Times New Roman" pitchFamily="18" charset="0"/>
              </a:rPr>
              <a:t>次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itchFamily="18" charset="0"/>
              </a:rPr>
              <a:t>可加性</a:t>
            </a:r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</a:rPr>
              <a:t>。</a:t>
            </a:r>
            <a:endParaRPr lang="en-US" altLang="zh-CN" sz="2400" b="1" dirty="0" smtClean="0">
              <a:solidFill>
                <a:srgbClr val="0000CC"/>
              </a:solidFill>
              <a:latin typeface="Times New Roman" pitchFamily="18" charset="0"/>
            </a:endParaRPr>
          </a:p>
          <a:p>
            <a:pPr eaLnBrk="1" hangingPunct="1"/>
            <a:r>
              <a:rPr lang="zh-CN" altLang="en-US" sz="2400" dirty="0" smtClean="0">
                <a:solidFill>
                  <a:srgbClr val="0D0410"/>
                </a:solidFill>
                <a:latin typeface="Times New Roman" pitchFamily="18" charset="0"/>
              </a:rPr>
              <a:t>假设 </a:t>
            </a:r>
            <a:r>
              <a:rPr lang="en-US" altLang="zh-CN" sz="2400" i="1" dirty="0" smtClean="0">
                <a:solidFill>
                  <a:srgbClr val="0D0410"/>
                </a:solidFill>
                <a:latin typeface="Times New Roman" pitchFamily="18" charset="0"/>
              </a:rPr>
              <a:t>X </a:t>
            </a:r>
            <a:r>
              <a:rPr lang="zh-CN" altLang="en-US" sz="2400" dirty="0" smtClean="0">
                <a:solidFill>
                  <a:srgbClr val="0D0410"/>
                </a:solidFill>
                <a:latin typeface="Times New Roman" pitchFamily="18" charset="0"/>
              </a:rPr>
              <a:t>和 </a:t>
            </a:r>
            <a:r>
              <a:rPr lang="en-US" altLang="zh-CN" sz="2400" i="1" dirty="0" smtClean="0">
                <a:solidFill>
                  <a:srgbClr val="0D0410"/>
                </a:solidFill>
                <a:latin typeface="Times New Roman" pitchFamily="18" charset="0"/>
              </a:rPr>
              <a:t>Y </a:t>
            </a:r>
            <a:r>
              <a:rPr lang="zh-CN" altLang="en-US" sz="2400" dirty="0" smtClean="0">
                <a:solidFill>
                  <a:srgbClr val="0D0410"/>
                </a:solidFill>
                <a:latin typeface="Times New Roman" pitchFamily="18" charset="0"/>
              </a:rPr>
              <a:t>都依赖于 </a:t>
            </a:r>
            <a:r>
              <a:rPr lang="en-US" altLang="zh-CN" sz="2400" dirty="0" smtClean="0">
                <a:solidFill>
                  <a:srgbClr val="0D0410"/>
                </a:solidFill>
                <a:latin typeface="Times New Roman" pitchFamily="18" charset="0"/>
              </a:rPr>
              <a:t>(0, 1)</a:t>
            </a:r>
            <a:r>
              <a:rPr lang="zh-CN" altLang="en-US" sz="2400" dirty="0" smtClean="0">
                <a:solidFill>
                  <a:srgbClr val="0D0410"/>
                </a:solidFill>
                <a:latin typeface="Times New Roman" pitchFamily="18" charset="0"/>
              </a:rPr>
              <a:t>上均匀分布的随机变量 </a:t>
            </a:r>
            <a:r>
              <a:rPr lang="en-US" altLang="zh-CN" sz="2400" i="1" dirty="0" smtClean="0">
                <a:solidFill>
                  <a:srgbClr val="0D0410"/>
                </a:solidFill>
                <a:latin typeface="Times New Roman" pitchFamily="18" charset="0"/>
              </a:rPr>
              <a:t>U</a:t>
            </a:r>
          </a:p>
          <a:p>
            <a:pPr eaLnBrk="1" hangingPunct="1"/>
            <a:endParaRPr lang="en-US" altLang="zh-CN" sz="2400" i="1" dirty="0" smtClean="0">
              <a:solidFill>
                <a:srgbClr val="0D0410"/>
              </a:solidFill>
              <a:latin typeface="Times New Roman" pitchFamily="18" charset="0"/>
            </a:endParaRPr>
          </a:p>
          <a:p>
            <a:pPr eaLnBrk="1" hangingPunct="1"/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r>
              <a:rPr lang="en-US" altLang="zh-CN" dirty="0"/>
              <a:t>( </a:t>
            </a:r>
            <a:fld id="{DB65A50F-DC75-4669-A63E-9CC8C4962CFB}" type="slidenum">
              <a:rPr lang="en-US" altLang="zh-CN"/>
              <a:pPr>
                <a:buNone/>
                <a:defRPr/>
              </a:pPr>
              <a:t>19</a:t>
            </a:fld>
            <a:r>
              <a:rPr lang="en-US" altLang="zh-CN" dirty="0"/>
              <a:t> )</a:t>
            </a:r>
          </a:p>
        </p:txBody>
      </p:sp>
      <p:sp>
        <p:nvSpPr>
          <p:cNvPr id="98308" name="Rectangle 3"/>
          <p:cNvSpPr>
            <a:spLocks noChangeArrowheads="1"/>
          </p:cNvSpPr>
          <p:nvPr/>
        </p:nvSpPr>
        <p:spPr bwMode="auto">
          <a:xfrm>
            <a:off x="0" y="2933801"/>
            <a:ext cx="184731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None/>
            </a:pPr>
            <a:endParaRPr lang="zh-CN" altLang="en-US"/>
          </a:p>
        </p:txBody>
      </p:sp>
      <p:graphicFrame>
        <p:nvGraphicFramePr>
          <p:cNvPr id="98309" name="Object 4"/>
          <p:cNvGraphicFramePr>
            <a:graphicFrameLocks noChangeAspect="1"/>
          </p:cNvGraphicFramePr>
          <p:nvPr/>
        </p:nvGraphicFramePr>
        <p:xfrm>
          <a:off x="755650" y="2506663"/>
          <a:ext cx="365283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" name="Equation" r:id="rId3" imgW="2184400" imgH="381000" progId="Equation.DSMT4">
                  <p:embed/>
                </p:oleObj>
              </mc:Choice>
              <mc:Fallback>
                <p:oleObj name="Equation" r:id="rId3" imgW="2184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506663"/>
                        <a:ext cx="3652838" cy="635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0" name="Rectangle 5"/>
          <p:cNvSpPr>
            <a:spLocks noChangeArrowheads="1"/>
          </p:cNvSpPr>
          <p:nvPr/>
        </p:nvSpPr>
        <p:spPr bwMode="auto">
          <a:xfrm>
            <a:off x="0" y="2933801"/>
            <a:ext cx="184731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None/>
            </a:pPr>
            <a:endParaRPr lang="zh-CN" altLang="en-US"/>
          </a:p>
        </p:txBody>
      </p:sp>
      <p:graphicFrame>
        <p:nvGraphicFramePr>
          <p:cNvPr id="983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020812"/>
              </p:ext>
            </p:extLst>
          </p:nvPr>
        </p:nvGraphicFramePr>
        <p:xfrm>
          <a:off x="4932363" y="2465388"/>
          <a:ext cx="38877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" name="Equation" r:id="rId5" imgW="2184120" imgH="380880" progId="Equation.DSMT4">
                  <p:embed/>
                </p:oleObj>
              </mc:Choice>
              <mc:Fallback>
                <p:oleObj name="Equation" r:id="rId5" imgW="2184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465388"/>
                        <a:ext cx="3887787" cy="676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2" name="Line 7"/>
          <p:cNvSpPr>
            <a:spLocks noChangeShapeType="1"/>
          </p:cNvSpPr>
          <p:nvPr/>
        </p:nvSpPr>
        <p:spPr bwMode="auto">
          <a:xfrm>
            <a:off x="1258888" y="4437063"/>
            <a:ext cx="6049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98313" name="Text Box 8"/>
          <p:cNvSpPr txBox="1">
            <a:spLocks noChangeArrowheads="1"/>
          </p:cNvSpPr>
          <p:nvPr/>
        </p:nvSpPr>
        <p:spPr bwMode="auto">
          <a:xfrm>
            <a:off x="1166813" y="4508500"/>
            <a:ext cx="312906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</a:t>
            </a:r>
          </a:p>
        </p:txBody>
      </p:sp>
      <p:sp>
        <p:nvSpPr>
          <p:cNvPr id="98314" name="Text Box 9"/>
          <p:cNvSpPr txBox="1">
            <a:spLocks noChangeArrowheads="1"/>
          </p:cNvSpPr>
          <p:nvPr/>
        </p:nvSpPr>
        <p:spPr bwMode="auto">
          <a:xfrm>
            <a:off x="1835150" y="4529138"/>
            <a:ext cx="63350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0.04</a:t>
            </a:r>
          </a:p>
        </p:txBody>
      </p:sp>
      <p:sp>
        <p:nvSpPr>
          <p:cNvPr id="98315" name="Text Box 10"/>
          <p:cNvSpPr txBox="1">
            <a:spLocks noChangeArrowheads="1"/>
          </p:cNvSpPr>
          <p:nvPr/>
        </p:nvSpPr>
        <p:spPr bwMode="auto">
          <a:xfrm>
            <a:off x="6103938" y="4529138"/>
            <a:ext cx="633507" cy="43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0.96</a:t>
            </a:r>
          </a:p>
        </p:txBody>
      </p:sp>
      <p:sp>
        <p:nvSpPr>
          <p:cNvPr id="98316" name="Text Box 11"/>
          <p:cNvSpPr txBox="1">
            <a:spLocks noChangeArrowheads="1"/>
          </p:cNvSpPr>
          <p:nvPr/>
        </p:nvSpPr>
        <p:spPr bwMode="auto">
          <a:xfrm>
            <a:off x="7143750" y="4529138"/>
            <a:ext cx="312906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1</a:t>
            </a:r>
          </a:p>
        </p:txBody>
      </p:sp>
      <p:sp>
        <p:nvSpPr>
          <p:cNvPr id="98317" name="AutoShape 12"/>
          <p:cNvSpPr>
            <a:spLocks/>
          </p:cNvSpPr>
          <p:nvPr/>
        </p:nvSpPr>
        <p:spPr bwMode="auto">
          <a:xfrm rot="5400000">
            <a:off x="1475582" y="3788569"/>
            <a:ext cx="431800" cy="865187"/>
          </a:xfrm>
          <a:prstGeom prst="leftBrace">
            <a:avLst>
              <a:gd name="adj1" fmla="val 1669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None/>
            </a:pPr>
            <a:endParaRPr lang="zh-CN" altLang="en-US"/>
          </a:p>
        </p:txBody>
      </p:sp>
      <p:sp>
        <p:nvSpPr>
          <p:cNvPr id="98318" name="AutoShape 13"/>
          <p:cNvSpPr>
            <a:spLocks/>
          </p:cNvSpPr>
          <p:nvPr/>
        </p:nvSpPr>
        <p:spPr bwMode="auto">
          <a:xfrm rot="5400000">
            <a:off x="6660357" y="3788569"/>
            <a:ext cx="431800" cy="865187"/>
          </a:xfrm>
          <a:prstGeom prst="leftBrace">
            <a:avLst>
              <a:gd name="adj1" fmla="val 1669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None/>
            </a:pPr>
            <a:endParaRPr lang="zh-CN" altLang="en-US"/>
          </a:p>
        </p:txBody>
      </p:sp>
      <p:sp>
        <p:nvSpPr>
          <p:cNvPr id="98319" name="Text Box 14"/>
          <p:cNvSpPr txBox="1">
            <a:spLocks noChangeArrowheads="1"/>
          </p:cNvSpPr>
          <p:nvPr/>
        </p:nvSpPr>
        <p:spPr bwMode="auto">
          <a:xfrm>
            <a:off x="1258888" y="3573463"/>
            <a:ext cx="989373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 i="1"/>
              <a:t>X</a:t>
            </a:r>
            <a:r>
              <a:rPr lang="en-US" altLang="zh-CN" sz="1800"/>
              <a:t> =1000</a:t>
            </a:r>
          </a:p>
        </p:txBody>
      </p:sp>
      <p:sp>
        <p:nvSpPr>
          <p:cNvPr id="98320" name="Text Box 15"/>
          <p:cNvSpPr txBox="1">
            <a:spLocks noChangeArrowheads="1"/>
          </p:cNvSpPr>
          <p:nvPr/>
        </p:nvSpPr>
        <p:spPr bwMode="auto">
          <a:xfrm>
            <a:off x="6443663" y="3644900"/>
            <a:ext cx="1025665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 i="1"/>
              <a:t>Y </a:t>
            </a:r>
            <a:r>
              <a:rPr lang="en-US" altLang="zh-CN" sz="1800"/>
              <a:t> =1000</a:t>
            </a:r>
          </a:p>
        </p:txBody>
      </p:sp>
      <p:sp>
        <p:nvSpPr>
          <p:cNvPr id="98321" name="Text Box 16"/>
          <p:cNvSpPr txBox="1">
            <a:spLocks noChangeArrowheads="1"/>
          </p:cNvSpPr>
          <p:nvPr/>
        </p:nvSpPr>
        <p:spPr bwMode="auto">
          <a:xfrm>
            <a:off x="395288" y="4508500"/>
            <a:ext cx="5838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 i="1"/>
              <a:t>U</a:t>
            </a:r>
            <a:r>
              <a:rPr lang="zh-CN" altLang="en-US" sz="1800"/>
              <a:t>：</a:t>
            </a:r>
          </a:p>
        </p:txBody>
      </p:sp>
      <p:sp>
        <p:nvSpPr>
          <p:cNvPr id="98322" name="Text Box 17"/>
          <p:cNvSpPr txBox="1">
            <a:spLocks noChangeArrowheads="1"/>
          </p:cNvSpPr>
          <p:nvPr/>
        </p:nvSpPr>
        <p:spPr bwMode="auto">
          <a:xfrm>
            <a:off x="755650" y="5467350"/>
            <a:ext cx="5189241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dirty="0">
                <a:latin typeface="Arial" charset="0"/>
              </a:rPr>
              <a:t>令 </a:t>
            </a:r>
            <a:r>
              <a:rPr lang="en-US" altLang="zh-CN" i="1" dirty="0">
                <a:latin typeface="Symbol" pitchFamily="18" charset="2"/>
              </a:rPr>
              <a:t>r</a:t>
            </a:r>
            <a:r>
              <a:rPr lang="en-US" altLang="zh-CN" dirty="0">
                <a:latin typeface="Symbol" pitchFamily="18" charset="2"/>
              </a:rPr>
              <a:t> </a:t>
            </a:r>
            <a:r>
              <a:rPr lang="zh-CN" altLang="en-US" dirty="0">
                <a:latin typeface="Arial" charset="0"/>
              </a:rPr>
              <a:t>表示</a:t>
            </a:r>
            <a:r>
              <a:rPr lang="en-US" altLang="zh-CN" dirty="0">
                <a:latin typeface="Arial" charset="0"/>
              </a:rPr>
              <a:t>95</a:t>
            </a:r>
            <a:r>
              <a:rPr lang="zh-CN" altLang="en-US" dirty="0">
                <a:latin typeface="Arial" charset="0"/>
              </a:rPr>
              <a:t>％的分位数风险度量，则</a:t>
            </a:r>
          </a:p>
        </p:txBody>
      </p:sp>
      <p:graphicFrame>
        <p:nvGraphicFramePr>
          <p:cNvPr id="9832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919274"/>
              </p:ext>
            </p:extLst>
          </p:nvPr>
        </p:nvGraphicFramePr>
        <p:xfrm>
          <a:off x="6050803" y="5530733"/>
          <a:ext cx="23050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" name="Equation" r:id="rId7" imgW="1066337" imgH="203112" progId="Equation.DSMT4">
                  <p:embed/>
                </p:oleObj>
              </mc:Choice>
              <mc:Fallback>
                <p:oleObj name="Equation" r:id="rId7" imgW="1066337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0803" y="5530733"/>
                        <a:ext cx="23050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24" name="Line 19"/>
          <p:cNvSpPr>
            <a:spLocks noChangeShapeType="1"/>
          </p:cNvSpPr>
          <p:nvPr/>
        </p:nvSpPr>
        <p:spPr bwMode="auto">
          <a:xfrm flipV="1">
            <a:off x="6022975" y="4437063"/>
            <a:ext cx="0" cy="4318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98325" name="Text Box 20"/>
          <p:cNvSpPr txBox="1">
            <a:spLocks noChangeArrowheads="1"/>
          </p:cNvSpPr>
          <p:nvPr/>
        </p:nvSpPr>
        <p:spPr bwMode="auto">
          <a:xfrm>
            <a:off x="5734050" y="4868863"/>
            <a:ext cx="633507" cy="480131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solidFill>
                  <a:srgbClr val="FF0066"/>
                </a:solidFill>
                <a:latin typeface="Arial" charset="0"/>
              </a:rPr>
              <a:t>0.95</a:t>
            </a:r>
          </a:p>
        </p:txBody>
      </p:sp>
    </p:spTree>
    <p:extLst>
      <p:ext uri="{BB962C8B-B14F-4D97-AF65-F5344CB8AC3E}">
        <p14:creationId xmlns:p14="http://schemas.microsoft.com/office/powerpoint/2010/main" val="21857224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9" name="Object 12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80925981"/>
              </p:ext>
            </p:extLst>
          </p:nvPr>
        </p:nvGraphicFramePr>
        <p:xfrm>
          <a:off x="1506538" y="4398963"/>
          <a:ext cx="5695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4" name="Equation" r:id="rId3" imgW="2222500" imgH="203200" progId="Equation.DSMT4">
                  <p:embed/>
                </p:oleObj>
              </mc:Choice>
              <mc:Fallback>
                <p:oleObj name="Equation" r:id="rId3" imgW="22225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4398963"/>
                        <a:ext cx="56959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E15D0A76-9E96-44B3-8662-56D272E4931F}" type="slidenum">
              <a:rPr lang="en-US" altLang="zh-CN"/>
              <a:pPr>
                <a:defRPr/>
              </a:pPr>
              <a:t>20</a:t>
            </a:fld>
            <a:r>
              <a:rPr lang="en-US" altLang="zh-CN"/>
              <a:t> )</a:t>
            </a:r>
          </a:p>
        </p:txBody>
      </p:sp>
      <p:sp>
        <p:nvSpPr>
          <p:cNvPr id="99331" name="Rectangle 2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9332" name="Rectangle 3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9333" name="Text Box 4"/>
          <p:cNvSpPr txBox="1">
            <a:spLocks noChangeArrowheads="1"/>
          </p:cNvSpPr>
          <p:nvPr/>
        </p:nvSpPr>
        <p:spPr bwMode="auto">
          <a:xfrm>
            <a:off x="827088" y="3308350"/>
            <a:ext cx="5118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Arial" charset="0"/>
              </a:rPr>
              <a:t>令 </a:t>
            </a:r>
            <a:r>
              <a:rPr lang="en-US" altLang="zh-CN" i="1">
                <a:latin typeface="Symbol" pitchFamily="18" charset="2"/>
              </a:rPr>
              <a:t>r</a:t>
            </a:r>
            <a:r>
              <a:rPr lang="en-US" altLang="zh-CN">
                <a:latin typeface="Symbol" pitchFamily="18" charset="2"/>
              </a:rPr>
              <a:t> </a:t>
            </a:r>
            <a:r>
              <a:rPr lang="zh-CN" altLang="en-US">
                <a:latin typeface="Arial" charset="0"/>
              </a:rPr>
              <a:t>表示</a:t>
            </a:r>
            <a:r>
              <a:rPr lang="en-US" altLang="zh-CN">
                <a:latin typeface="Arial" charset="0"/>
              </a:rPr>
              <a:t>95</a:t>
            </a:r>
            <a:r>
              <a:rPr lang="zh-CN" altLang="en-US">
                <a:latin typeface="Arial" charset="0"/>
              </a:rPr>
              <a:t>％的分位数风险度量，则</a:t>
            </a:r>
          </a:p>
        </p:txBody>
      </p:sp>
      <p:graphicFrame>
        <p:nvGraphicFramePr>
          <p:cNvPr id="9933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289112"/>
              </p:ext>
            </p:extLst>
          </p:nvPr>
        </p:nvGraphicFramePr>
        <p:xfrm>
          <a:off x="6146699" y="3407291"/>
          <a:ext cx="22780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5" name="Equation" r:id="rId5" imgW="1054100" imgH="203200" progId="Equation.DSMT4">
                  <p:embed/>
                </p:oleObj>
              </mc:Choice>
              <mc:Fallback>
                <p:oleObj name="Equation" r:id="rId5" imgW="10541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699" y="3407291"/>
                        <a:ext cx="227806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404077"/>
              </p:ext>
            </p:extLst>
          </p:nvPr>
        </p:nvGraphicFramePr>
        <p:xfrm>
          <a:off x="827088" y="2335647"/>
          <a:ext cx="71278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6" name="Equation" r:id="rId7" imgW="3390900" imgH="381000" progId="Equation.DSMT4">
                  <p:embed/>
                </p:oleObj>
              </mc:Choice>
              <mc:Fallback>
                <p:oleObj name="Equation" r:id="rId7" imgW="3390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335647"/>
                        <a:ext cx="712787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6" name="Object 8"/>
          <p:cNvGraphicFramePr>
            <a:graphicFrameLocks noChangeAspect="1"/>
          </p:cNvGraphicFramePr>
          <p:nvPr/>
        </p:nvGraphicFramePr>
        <p:xfrm>
          <a:off x="539750" y="981075"/>
          <a:ext cx="365283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7" name="Equation" r:id="rId9" imgW="2184400" imgH="381000" progId="Equation.DSMT4">
                  <p:embed/>
                </p:oleObj>
              </mc:Choice>
              <mc:Fallback>
                <p:oleObj name="Equation" r:id="rId9" imgW="2184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81075"/>
                        <a:ext cx="3652838" cy="635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211908"/>
              </p:ext>
            </p:extLst>
          </p:nvPr>
        </p:nvGraphicFramePr>
        <p:xfrm>
          <a:off x="4716463" y="939800"/>
          <a:ext cx="38877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8" name="Equation" r:id="rId11" imgW="2184120" imgH="380880" progId="Equation.DSMT4">
                  <p:embed/>
                </p:oleObj>
              </mc:Choice>
              <mc:Fallback>
                <p:oleObj name="Equation" r:id="rId11" imgW="2184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939800"/>
                        <a:ext cx="3887787" cy="676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8" name="Text Box 11"/>
          <p:cNvSpPr txBox="1">
            <a:spLocks noChangeArrowheads="1"/>
          </p:cNvSpPr>
          <p:nvPr/>
        </p:nvSpPr>
        <p:spPr bwMode="auto">
          <a:xfrm>
            <a:off x="879475" y="42926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Arial" charset="0"/>
              </a:rPr>
              <a:t>故</a:t>
            </a:r>
          </a:p>
        </p:txBody>
      </p:sp>
      <p:sp>
        <p:nvSpPr>
          <p:cNvPr id="99340" name="Text Box 13"/>
          <p:cNvSpPr txBox="1">
            <a:spLocks noChangeArrowheads="1"/>
          </p:cNvSpPr>
          <p:nvPr/>
        </p:nvSpPr>
        <p:spPr bwMode="auto">
          <a:xfrm>
            <a:off x="971550" y="5300663"/>
            <a:ext cx="797365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Arial" charset="0"/>
              </a:rPr>
              <a:t>合并后的</a:t>
            </a:r>
            <a:r>
              <a:rPr lang="zh-CN" altLang="en-US" dirty="0">
                <a:latin typeface="Arial" charset="0"/>
              </a:rPr>
              <a:t>风险值</a:t>
            </a:r>
            <a:r>
              <a:rPr lang="zh-CN" altLang="en-US" dirty="0" smtClean="0">
                <a:latin typeface="Arial" charset="0"/>
              </a:rPr>
              <a:t>大于各自的风险值之和，</a:t>
            </a:r>
            <a:r>
              <a:rPr lang="zh-CN" altLang="en-US" dirty="0">
                <a:latin typeface="Arial" charset="0"/>
              </a:rPr>
              <a:t>不</a:t>
            </a:r>
            <a:r>
              <a:rPr lang="zh-CN" altLang="en-US" dirty="0" smtClean="0">
                <a:latin typeface="Arial" charset="0"/>
              </a:rPr>
              <a:t>满足次可</a:t>
            </a:r>
            <a:r>
              <a:rPr lang="zh-CN" altLang="en-US" dirty="0">
                <a:latin typeface="Arial" charset="0"/>
              </a:rPr>
              <a:t>加性</a:t>
            </a:r>
          </a:p>
        </p:txBody>
      </p:sp>
    </p:spTree>
    <p:extLst>
      <p:ext uri="{BB962C8B-B14F-4D97-AF65-F5344CB8AC3E}">
        <p14:creationId xmlns:p14="http://schemas.microsoft.com/office/powerpoint/2010/main" val="3591839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1096807"/>
            <a:ext cx="8229600" cy="789140"/>
          </a:xfrm>
        </p:spPr>
        <p:txBody>
          <a:bodyPr/>
          <a:lstStyle/>
          <a:p>
            <a:r>
              <a:rPr lang="en-US" altLang="zh-CN" sz="2800" dirty="0" smtClean="0"/>
              <a:t>VaR </a:t>
            </a:r>
            <a:r>
              <a:rPr lang="zh-CN" altLang="en-US" sz="2800" dirty="0" smtClean="0"/>
              <a:t>在什么条件下是一致性风险度量？</a:t>
            </a:r>
            <a:endParaRPr lang="zh-CN" altLang="en-US" sz="2800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57200" y="2290647"/>
            <a:ext cx="8552046" cy="4382717"/>
          </a:xfrm>
        </p:spPr>
        <p:txBody>
          <a:bodyPr/>
          <a:lstStyle/>
          <a:p>
            <a:r>
              <a:rPr lang="zh-CN" altLang="en-US" dirty="0" smtClean="0"/>
              <a:t>如果损失服从椭圆分布（</a:t>
            </a:r>
            <a:r>
              <a:rPr lang="en-US" altLang="zh-CN" dirty="0">
                <a:latin typeface="+mj-lt"/>
              </a:rPr>
              <a:t>Elliptical distribution</a:t>
            </a:r>
            <a:r>
              <a:rPr lang="en-US" altLang="zh-CN" dirty="0" smtClean="0"/>
              <a:t>），VaR</a:t>
            </a:r>
            <a:r>
              <a:rPr lang="zh-CN" altLang="en-US" dirty="0" smtClean="0"/>
              <a:t>满足一致性。</a:t>
            </a:r>
          </a:p>
          <a:p>
            <a:pPr lvl="1"/>
            <a:r>
              <a:rPr lang="en-US" altLang="zh-CN" sz="18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normal distribution</a:t>
            </a:r>
            <a:r>
              <a:rPr lang="zh-CN" altLang="en-US" sz="18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（多元正态分布）</a:t>
            </a:r>
            <a:endParaRPr lang="en-US" altLang="zh-CN" sz="1800" b="1" dirty="0" smtClean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t-distribution </a:t>
            </a:r>
            <a:r>
              <a:rPr lang="zh-CN" altLang="en-US" sz="18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（多元 </a:t>
            </a:r>
            <a:r>
              <a:rPr lang="en-US" altLang="zh-CN" sz="18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18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分布）</a:t>
            </a:r>
            <a:endParaRPr lang="en-US" altLang="zh-CN" sz="1800" b="1" dirty="0" smtClean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multivariate stable distribution</a:t>
            </a:r>
            <a:r>
              <a:rPr lang="en-US" altLang="zh-CN" sz="1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  <a:p>
            <a:pPr lvl="1"/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multivariate Laplace distribution</a:t>
            </a:r>
            <a:r>
              <a:rPr lang="en-US" altLang="zh-CN" sz="1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  <a:p>
            <a:pPr lvl="1"/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logistic distribution</a:t>
            </a:r>
            <a:r>
              <a:rPr lang="en-US" altLang="zh-CN" sz="1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</a:p>
          <a:p>
            <a:pPr lvl="1"/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symmetric general hyperbolic distribution</a:t>
            </a:r>
            <a:r>
              <a:rPr lang="en-US" altLang="zh-CN" sz="1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mtClean="0"/>
              <a:t>( </a:t>
            </a:r>
            <a:fld id="{E4706E09-746E-47F2-A172-5718E8C4482E}" type="slidenum">
              <a:rPr lang="en-US" altLang="zh-CN" smtClean="0"/>
              <a:pPr>
                <a:defRPr/>
              </a:pPr>
              <a:t>21</a:t>
            </a:fld>
            <a:r>
              <a:rPr lang="en-US" altLang="zh-CN" smtClean="0"/>
              <a:t> )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5429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idx="1"/>
          </p:nvPr>
        </p:nvSpPr>
        <p:spPr>
          <a:xfrm>
            <a:off x="105878" y="1196975"/>
            <a:ext cx="9038122" cy="46704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400" b="1" dirty="0" smtClean="0"/>
              <a:t>例</a:t>
            </a:r>
            <a:r>
              <a:rPr lang="zh-CN" altLang="en-US" sz="2400" dirty="0" smtClean="0"/>
              <a:t>：损失服从正态分布，均值为</a:t>
            </a:r>
            <a:r>
              <a:rPr lang="en-US" altLang="zh-CN" sz="2400" dirty="0" smtClean="0"/>
              <a:t>33</a:t>
            </a:r>
            <a:r>
              <a:rPr lang="zh-CN" altLang="en-US" sz="2400" dirty="0" smtClean="0"/>
              <a:t>，标准差为</a:t>
            </a:r>
            <a:r>
              <a:rPr lang="en-US" altLang="zh-CN" sz="2400" dirty="0" smtClean="0"/>
              <a:t>109</a:t>
            </a:r>
            <a:r>
              <a:rPr lang="zh-CN" altLang="en-US" sz="2400" dirty="0" smtClean="0"/>
              <a:t>，计算</a:t>
            </a:r>
            <a:r>
              <a:rPr lang="en-US" altLang="zh-CN" sz="2400" dirty="0" err="1" smtClean="0">
                <a:latin typeface="Times New Roman" pitchFamily="18" charset="0"/>
              </a:rPr>
              <a:t>VaR</a:t>
            </a:r>
            <a:r>
              <a:rPr lang="en-US" altLang="zh-CN" sz="2400" baseline="-25000" dirty="0" err="1" smtClean="0"/>
              <a:t>95</a:t>
            </a:r>
            <a:r>
              <a:rPr lang="zh-CN" altLang="en-US" sz="2400" baseline="-25000" dirty="0" smtClean="0"/>
              <a:t>％</a:t>
            </a:r>
            <a:r>
              <a:rPr lang="en-US" altLang="zh-CN" sz="2400" baseline="-25000" dirty="0" smtClean="0"/>
              <a:t>.</a:t>
            </a:r>
          </a:p>
          <a:p>
            <a:pPr eaLnBrk="1" hangingPunct="1"/>
            <a:endParaRPr lang="en-US" altLang="zh-CN" sz="2400" dirty="0" smtClean="0"/>
          </a:p>
          <a:p>
            <a:pPr eaLnBrk="1" hangingPunct="1"/>
            <a:endParaRPr lang="en-US" altLang="zh-CN" sz="2400" dirty="0" smtClean="0"/>
          </a:p>
          <a:p>
            <a:pPr eaLnBrk="1" hangingPunct="1"/>
            <a:endParaRPr lang="en-US" altLang="zh-CN" sz="2400" dirty="0" smtClean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339E29D3-5431-4FD4-89C3-5173ACEEFFEE}" type="slidenum">
              <a:rPr lang="en-US" altLang="zh-CN"/>
              <a:pPr>
                <a:defRPr/>
              </a:pPr>
              <a:t>22</a:t>
            </a:fld>
            <a:r>
              <a:rPr lang="en-US" altLang="zh-CN"/>
              <a:t> )</a:t>
            </a:r>
          </a:p>
        </p:txBody>
      </p:sp>
      <p:graphicFrame>
        <p:nvGraphicFramePr>
          <p:cNvPr id="1013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344873"/>
              </p:ext>
            </p:extLst>
          </p:nvPr>
        </p:nvGraphicFramePr>
        <p:xfrm>
          <a:off x="1248561" y="2309094"/>
          <a:ext cx="3408362" cy="392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3" name="Equation" r:id="rId3" imgW="1422360" imgH="1638000" progId="Equation.DSMT4">
                  <p:embed/>
                </p:oleObj>
              </mc:Choice>
              <mc:Fallback>
                <p:oleObj name="Equation" r:id="rId3" imgW="1422360" imgH="163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8561" y="2309094"/>
                        <a:ext cx="3408362" cy="392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65443"/>
              </p:ext>
            </p:extLst>
          </p:nvPr>
        </p:nvGraphicFramePr>
        <p:xfrm>
          <a:off x="4931313" y="3973428"/>
          <a:ext cx="3938297" cy="597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8297">
                  <a:extLst>
                    <a:ext uri="{9D8B030D-6E8A-4147-A177-3AD203B41FA5}">
                      <a16:colId xmlns:a16="http://schemas.microsoft.com/office/drawing/2014/main" val="2420049408"/>
                    </a:ext>
                  </a:extLst>
                </a:gridCol>
              </a:tblGrid>
              <a:tr h="597220"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rgbClr val="0000CC"/>
                          </a:solidFill>
                        </a:rPr>
                        <a:t>qnorm</a:t>
                      </a:r>
                      <a:r>
                        <a:rPr lang="en-US" altLang="zh-CN" dirty="0" smtClean="0">
                          <a:solidFill>
                            <a:srgbClr val="0000CC"/>
                          </a:solidFill>
                        </a:rPr>
                        <a:t> ( 0.95,</a:t>
                      </a:r>
                      <a:r>
                        <a:rPr lang="en-US" altLang="zh-CN" baseline="0" dirty="0" smtClean="0">
                          <a:solidFill>
                            <a:srgbClr val="0000CC"/>
                          </a:solidFill>
                        </a:rPr>
                        <a:t> mean = 33, </a:t>
                      </a:r>
                      <a:r>
                        <a:rPr lang="en-US" altLang="zh-CN" baseline="0" dirty="0" err="1" smtClean="0">
                          <a:solidFill>
                            <a:srgbClr val="0000CC"/>
                          </a:solidFill>
                        </a:rPr>
                        <a:t>sd</a:t>
                      </a:r>
                      <a:r>
                        <a:rPr lang="en-US" altLang="zh-CN" baseline="0" dirty="0" smtClean="0">
                          <a:solidFill>
                            <a:srgbClr val="0000CC"/>
                          </a:solidFill>
                        </a:rPr>
                        <a:t> = 109)</a:t>
                      </a:r>
                      <a:endParaRPr lang="zh-CN" altLang="en-US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53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8373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r>
              <a:rPr lang="en-US" altLang="zh-CN" dirty="0"/>
              <a:t>( </a:t>
            </a:r>
            <a:fld id="{67C6F3CF-CB55-400C-A91D-1BF0C5C419CF}" type="slidenum">
              <a:rPr lang="en-US" altLang="zh-CN"/>
              <a:pPr>
                <a:buNone/>
                <a:defRPr/>
              </a:pPr>
              <a:t>23</a:t>
            </a:fld>
            <a:r>
              <a:rPr lang="en-US" altLang="zh-CN" dirty="0"/>
              <a:t> )</a:t>
            </a:r>
          </a:p>
        </p:txBody>
      </p:sp>
      <p:sp>
        <p:nvSpPr>
          <p:cNvPr id="104451" name="Text Box 2"/>
          <p:cNvSpPr txBox="1">
            <a:spLocks noChangeArrowheads="1"/>
          </p:cNvSpPr>
          <p:nvPr/>
        </p:nvSpPr>
        <p:spPr bwMode="auto">
          <a:xfrm>
            <a:off x="593725" y="350643"/>
            <a:ext cx="7331075" cy="1393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dirty="0" smtClean="0">
                <a:solidFill>
                  <a:srgbClr val="00B050"/>
                </a:solidFill>
                <a:latin typeface="Arial" charset="0"/>
              </a:rPr>
              <a:t>课堂练习</a:t>
            </a:r>
            <a:r>
              <a:rPr lang="zh-CN" altLang="en-US" sz="1800" dirty="0" smtClean="0">
                <a:solidFill>
                  <a:srgbClr val="00B050"/>
                </a:solidFill>
                <a:latin typeface="Arial" charset="0"/>
              </a:rPr>
              <a:t>：</a:t>
            </a:r>
            <a:endParaRPr lang="en-US" altLang="zh-CN" sz="1800" dirty="0" smtClean="0">
              <a:solidFill>
                <a:srgbClr val="00B050"/>
              </a:solidFill>
              <a:latin typeface="Arial" charset="0"/>
            </a:endParaRPr>
          </a:p>
          <a:p>
            <a:pPr eaLnBrk="1" hangingPunct="1"/>
            <a:r>
              <a:rPr lang="zh-CN" altLang="en-US" sz="1800" dirty="0" smtClean="0">
                <a:latin typeface="Arial" charset="0"/>
              </a:rPr>
              <a:t> 损失</a:t>
            </a:r>
            <a:r>
              <a:rPr lang="zh-CN" altLang="en-US" sz="1800" dirty="0">
                <a:latin typeface="Arial" charset="0"/>
              </a:rPr>
              <a:t>的均值</a:t>
            </a:r>
            <a:r>
              <a:rPr lang="zh-CN" altLang="en-US" sz="1800" dirty="0" smtClean="0">
                <a:latin typeface="Arial" charset="0"/>
              </a:rPr>
              <a:t>为</a:t>
            </a:r>
            <a:r>
              <a:rPr lang="en-US" altLang="zh-CN" sz="1800" dirty="0" smtClean="0">
                <a:latin typeface="Arial" charset="0"/>
              </a:rPr>
              <a:t>100</a:t>
            </a:r>
            <a:r>
              <a:rPr lang="zh-CN" altLang="en-US" sz="1800" dirty="0" smtClean="0">
                <a:latin typeface="Arial" charset="0"/>
              </a:rPr>
              <a:t>，</a:t>
            </a:r>
            <a:r>
              <a:rPr lang="zh-CN" altLang="en-US" sz="1800" dirty="0">
                <a:latin typeface="Arial" charset="0"/>
              </a:rPr>
              <a:t>标准差为</a:t>
            </a:r>
            <a:r>
              <a:rPr lang="en-US" altLang="zh-CN" sz="1800" dirty="0">
                <a:latin typeface="Arial" charset="0"/>
              </a:rPr>
              <a:t>223.607</a:t>
            </a:r>
            <a:r>
              <a:rPr lang="zh-CN" altLang="en-US" sz="1800" dirty="0">
                <a:latin typeface="Arial" charset="0"/>
              </a:rPr>
              <a:t>。用正态分布，帕累托分布</a:t>
            </a:r>
            <a:r>
              <a:rPr lang="zh-CN" altLang="en-US" sz="1800" dirty="0" smtClean="0">
                <a:latin typeface="Arial" charset="0"/>
              </a:rPr>
              <a:t>和 </a:t>
            </a:r>
            <a:r>
              <a:rPr lang="en-US" altLang="zh-CN" sz="1800" dirty="0" smtClean="0">
                <a:latin typeface="Arial" charset="0"/>
              </a:rPr>
              <a:t>Weibull </a:t>
            </a:r>
            <a:r>
              <a:rPr lang="zh-CN" altLang="en-US" sz="1800" dirty="0" smtClean="0">
                <a:latin typeface="Arial" charset="0"/>
              </a:rPr>
              <a:t>分布</a:t>
            </a:r>
            <a:r>
              <a:rPr lang="zh-CN" altLang="en-US" sz="1800" dirty="0">
                <a:latin typeface="Arial" charset="0"/>
              </a:rPr>
              <a:t>计算</a:t>
            </a:r>
            <a:r>
              <a:rPr lang="zh-CN" altLang="en-US" sz="1800" dirty="0" smtClean="0">
                <a:latin typeface="Arial" charset="0"/>
              </a:rPr>
              <a:t>在</a:t>
            </a:r>
            <a:r>
              <a:rPr lang="en-US" altLang="zh-CN" sz="1800" dirty="0" smtClean="0">
                <a:latin typeface="Arial" charset="0"/>
              </a:rPr>
              <a:t>90</a:t>
            </a:r>
            <a:r>
              <a:rPr lang="en-US" altLang="zh-CN" sz="1800" dirty="0">
                <a:latin typeface="Arial" charset="0"/>
              </a:rPr>
              <a:t>%</a:t>
            </a:r>
            <a:r>
              <a:rPr lang="zh-CN" altLang="en-US" sz="1800" dirty="0">
                <a:latin typeface="Arial" charset="0"/>
              </a:rPr>
              <a:t>，</a:t>
            </a:r>
            <a:r>
              <a:rPr lang="en-US" altLang="zh-CN" sz="1800" dirty="0">
                <a:latin typeface="Arial" charset="0"/>
              </a:rPr>
              <a:t>99%</a:t>
            </a:r>
            <a:r>
              <a:rPr lang="zh-CN" altLang="en-US" sz="1800" dirty="0">
                <a:latin typeface="Arial" charset="0"/>
              </a:rPr>
              <a:t>和</a:t>
            </a:r>
            <a:r>
              <a:rPr lang="en-US" altLang="zh-CN" sz="1800" dirty="0">
                <a:latin typeface="Arial" charset="0"/>
              </a:rPr>
              <a:t>99.9</a:t>
            </a:r>
            <a:r>
              <a:rPr lang="en-US" altLang="zh-CN" sz="1800" dirty="0" smtClean="0">
                <a:latin typeface="Arial" charset="0"/>
              </a:rPr>
              <a:t>%</a:t>
            </a:r>
            <a:r>
              <a:rPr lang="zh-CN" altLang="en-US" sz="1800" dirty="0" smtClean="0">
                <a:latin typeface="Arial" charset="0"/>
              </a:rPr>
              <a:t>水平的</a:t>
            </a:r>
            <a:r>
              <a:rPr lang="en-US" altLang="zh-CN" sz="1800" dirty="0" err="1">
                <a:latin typeface="Arial" charset="0"/>
              </a:rPr>
              <a:t>VaR</a:t>
            </a:r>
            <a:endParaRPr lang="en-US" altLang="zh-CN" sz="1800" dirty="0">
              <a:latin typeface="Arial" charset="0"/>
            </a:endParaRPr>
          </a:p>
        </p:txBody>
      </p:sp>
      <p:sp>
        <p:nvSpPr>
          <p:cNvPr id="104452" name="Text Box 3"/>
          <p:cNvSpPr txBox="1">
            <a:spLocks noChangeArrowheads="1"/>
          </p:cNvSpPr>
          <p:nvPr/>
        </p:nvSpPr>
        <p:spPr bwMode="auto">
          <a:xfrm>
            <a:off x="593725" y="1801662"/>
            <a:ext cx="3174267" cy="1809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 dirty="0" smtClean="0">
                <a:latin typeface="Arial" charset="0"/>
              </a:rPr>
              <a:t> 矩</a:t>
            </a:r>
            <a:r>
              <a:rPr lang="zh-CN" altLang="en-US" sz="1800" dirty="0">
                <a:latin typeface="Arial" charset="0"/>
              </a:rPr>
              <a:t>估计求得参数如下：</a:t>
            </a:r>
          </a:p>
          <a:p>
            <a:pPr eaLnBrk="1" hangingPunct="1"/>
            <a:r>
              <a:rPr lang="zh-CN" altLang="en-US" sz="1800" dirty="0" smtClean="0">
                <a:latin typeface="Arial" charset="0"/>
              </a:rPr>
              <a:t> 正态分布（</a:t>
            </a:r>
            <a:r>
              <a:rPr lang="en-US" altLang="zh-CN" sz="1800" dirty="0" smtClean="0">
                <a:latin typeface="Arial" charset="0"/>
              </a:rPr>
              <a:t>100</a:t>
            </a:r>
            <a:r>
              <a:rPr lang="zh-CN" altLang="en-US" sz="1800" dirty="0" smtClean="0">
                <a:latin typeface="Arial" charset="0"/>
              </a:rPr>
              <a:t>，</a:t>
            </a:r>
            <a:r>
              <a:rPr lang="en-US" altLang="zh-CN" sz="1800" dirty="0" smtClean="0">
                <a:latin typeface="Arial" charset="0"/>
              </a:rPr>
              <a:t>223.607</a:t>
            </a:r>
            <a:r>
              <a:rPr lang="zh-CN" altLang="en-US" sz="1800" dirty="0" smtClean="0">
                <a:latin typeface="Arial" charset="0"/>
              </a:rPr>
              <a:t>）</a:t>
            </a:r>
          </a:p>
          <a:p>
            <a:pPr eaLnBrk="1" hangingPunct="1"/>
            <a:r>
              <a:rPr lang="zh-CN" altLang="en-US" sz="1800" dirty="0" smtClean="0">
                <a:latin typeface="Arial" charset="0"/>
              </a:rPr>
              <a:t> 帕累托分布（</a:t>
            </a:r>
            <a:r>
              <a:rPr lang="en-US" altLang="zh-CN" sz="1800" dirty="0" smtClean="0">
                <a:latin typeface="Arial" charset="0"/>
              </a:rPr>
              <a:t>120</a:t>
            </a:r>
            <a:r>
              <a:rPr lang="zh-CN" altLang="en-US" sz="1800" dirty="0" smtClean="0">
                <a:latin typeface="Arial" charset="0"/>
              </a:rPr>
              <a:t>，</a:t>
            </a:r>
            <a:r>
              <a:rPr lang="en-US" altLang="zh-CN" sz="1800" dirty="0" smtClean="0">
                <a:latin typeface="Arial" charset="0"/>
              </a:rPr>
              <a:t>2.2</a:t>
            </a:r>
            <a:r>
              <a:rPr lang="zh-CN" altLang="en-US" sz="1800" dirty="0" smtClean="0">
                <a:latin typeface="Arial" charset="0"/>
              </a:rPr>
              <a:t>）</a:t>
            </a:r>
          </a:p>
          <a:p>
            <a:pPr eaLnBrk="1" hangingPunct="1"/>
            <a:r>
              <a:rPr lang="en-US" altLang="zh-CN" sz="1800" dirty="0" smtClean="0">
                <a:latin typeface="Arial" charset="0"/>
              </a:rPr>
              <a:t> Weibull</a:t>
            </a:r>
            <a:r>
              <a:rPr lang="zh-CN" altLang="en-US" sz="1800" dirty="0" smtClean="0">
                <a:latin typeface="Arial" charset="0"/>
              </a:rPr>
              <a:t>分布（</a:t>
            </a:r>
            <a:r>
              <a:rPr lang="en-US" altLang="zh-CN" sz="1800" dirty="0" smtClean="0">
                <a:latin typeface="Arial" charset="0"/>
              </a:rPr>
              <a:t>50</a:t>
            </a:r>
            <a:r>
              <a:rPr lang="zh-CN" altLang="en-US" sz="1800" dirty="0" smtClean="0">
                <a:latin typeface="Arial" charset="0"/>
              </a:rPr>
              <a:t>，</a:t>
            </a:r>
            <a:r>
              <a:rPr lang="en-US" altLang="zh-CN" sz="1800" dirty="0" smtClean="0">
                <a:latin typeface="Arial" charset="0"/>
              </a:rPr>
              <a:t>0.5</a:t>
            </a:r>
            <a:r>
              <a:rPr lang="zh-CN" altLang="en-US" sz="1800" dirty="0" smtClean="0">
                <a:latin typeface="Arial" charset="0"/>
              </a:rPr>
              <a:t>）</a:t>
            </a:r>
            <a:endParaRPr lang="zh-CN" altLang="en-US" sz="1800" dirty="0">
              <a:latin typeface="Arial" charset="0"/>
            </a:endParaRPr>
          </a:p>
        </p:txBody>
      </p:sp>
      <p:sp>
        <p:nvSpPr>
          <p:cNvPr id="104453" name="Text Box 4"/>
          <p:cNvSpPr txBox="1">
            <a:spLocks noChangeArrowheads="1"/>
          </p:cNvSpPr>
          <p:nvPr/>
        </p:nvSpPr>
        <p:spPr bwMode="auto">
          <a:xfrm>
            <a:off x="3512759" y="3611388"/>
            <a:ext cx="2480231" cy="433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 b="1" dirty="0" err="1">
                <a:latin typeface="Arial" charset="0"/>
              </a:rPr>
              <a:t>VaR</a:t>
            </a:r>
            <a:r>
              <a:rPr lang="zh-CN" altLang="en-US" sz="1800" b="1" dirty="0">
                <a:latin typeface="Arial" charset="0"/>
              </a:rPr>
              <a:t>的计算结果和比较</a:t>
            </a:r>
          </a:p>
        </p:txBody>
      </p:sp>
      <p:graphicFrame>
        <p:nvGraphicFramePr>
          <p:cNvPr id="36352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78331"/>
              </p:ext>
            </p:extLst>
          </p:nvPr>
        </p:nvGraphicFramePr>
        <p:xfrm>
          <a:off x="676175" y="4223886"/>
          <a:ext cx="8153400" cy="1951040"/>
        </p:xfrm>
        <a:graphic>
          <a:graphicData uri="http://schemas.openxmlformats.org/drawingml/2006/table">
            <a:tbl>
              <a:tblPr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可靠性水平</a:t>
                      </a:r>
                      <a:endParaRPr kumimoji="0" lang="en-US" altLang="zh-CN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正态</a:t>
                      </a:r>
                      <a:endParaRPr kumimoji="0" lang="en-US" altLang="zh-CN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帕累托</a:t>
                      </a:r>
                      <a:endParaRPr kumimoji="0" lang="en-US" altLang="zh-CN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weibull</a:t>
                      </a:r>
                      <a:endParaRPr kumimoji="0" lang="en-US" altLang="zh-CN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0.90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386.56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221.76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265.09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0.99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620.19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853.36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1060.38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0.999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791.00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2652.16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2385.85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8090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922"/>
            <a:ext cx="8229600" cy="789140"/>
          </a:xfrm>
        </p:spPr>
        <p:txBody>
          <a:bodyPr/>
          <a:lstStyle/>
          <a:p>
            <a:pPr eaLnBrk="1" hangingPunct="1"/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TVaR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73238"/>
            <a:ext cx="8540750" cy="4608512"/>
          </a:xfrm>
        </p:spPr>
        <p:txBody>
          <a:bodyPr/>
          <a:lstStyle/>
          <a:p>
            <a:pPr eaLnBrk="1" hangingPunct="1"/>
            <a:r>
              <a:rPr lang="zh-CN" altLang="en-US" sz="2400" b="1" dirty="0" smtClean="0">
                <a:latin typeface="Times New Roman" pitchFamily="18" charset="0"/>
              </a:rPr>
              <a:t>定义：</a:t>
            </a:r>
            <a:r>
              <a:rPr lang="zh-CN" altLang="en-US" sz="2400" dirty="0" smtClean="0">
                <a:latin typeface="Times New Roman" pitchFamily="18" charset="0"/>
              </a:rPr>
              <a:t>超过</a:t>
            </a:r>
            <a:r>
              <a:rPr lang="en-US" altLang="zh-CN" sz="2400" dirty="0" err="1" smtClean="0">
                <a:latin typeface="+mj-lt"/>
              </a:rPr>
              <a:t>VaR</a:t>
            </a:r>
            <a:r>
              <a:rPr lang="en-US" altLang="zh-CN" sz="2400" i="1" baseline="-25000" dirty="0" err="1" smtClean="0">
                <a:latin typeface="Times New Roman" pitchFamily="18" charset="0"/>
              </a:rPr>
              <a:t>p</a:t>
            </a:r>
            <a:r>
              <a:rPr lang="zh-CN" altLang="en-US" sz="2400" dirty="0" smtClean="0">
                <a:latin typeface="Times New Roman" pitchFamily="18" charset="0"/>
              </a:rPr>
              <a:t>的损失的期望值，即</a:t>
            </a:r>
            <a:r>
              <a:rPr lang="en-US" altLang="zh-CN" sz="2400" dirty="0" err="1" smtClean="0">
                <a:latin typeface="+mj-lt"/>
              </a:rPr>
              <a:t>TVaR</a:t>
            </a:r>
            <a:r>
              <a:rPr lang="en-US" altLang="zh-CN" sz="2400" i="1" baseline="-25000" dirty="0" err="1" smtClean="0">
                <a:latin typeface="Times New Roman" pitchFamily="18" charset="0"/>
              </a:rPr>
              <a:t>p</a:t>
            </a:r>
            <a:r>
              <a:rPr lang="zh-CN" altLang="en-US" sz="2400" dirty="0" smtClean="0">
                <a:latin typeface="Times New Roman" pitchFamily="18" charset="0"/>
              </a:rPr>
              <a:t>是最坏的</a:t>
            </a:r>
            <a:r>
              <a:rPr lang="en-US" altLang="zh-CN" sz="2400" dirty="0" smtClean="0">
                <a:latin typeface="Times New Roman" pitchFamily="18" charset="0"/>
              </a:rPr>
              <a:t>100(1</a:t>
            </a:r>
            <a:r>
              <a:rPr lang="zh-CN" altLang="en-US" sz="2400" dirty="0" smtClean="0">
                <a:latin typeface="Times New Roman" pitchFamily="18" charset="0"/>
              </a:rPr>
              <a:t>－ </a:t>
            </a:r>
            <a:r>
              <a:rPr lang="en-US" altLang="zh-CN" sz="2400" i="1" dirty="0" smtClean="0">
                <a:latin typeface="Times New Roman" pitchFamily="18" charset="0"/>
              </a:rPr>
              <a:t>p</a:t>
            </a:r>
            <a:r>
              <a:rPr lang="en-US" altLang="zh-CN" sz="2400" dirty="0" smtClean="0">
                <a:latin typeface="Times New Roman" pitchFamily="18" charset="0"/>
              </a:rPr>
              <a:t>)%</a:t>
            </a:r>
            <a:r>
              <a:rPr lang="zh-CN" altLang="en-US" sz="2400" dirty="0" smtClean="0">
                <a:latin typeface="Times New Roman" pitchFamily="18" charset="0"/>
              </a:rPr>
              <a:t>损失的期望值。</a:t>
            </a:r>
          </a:p>
          <a:p>
            <a:pPr eaLnBrk="1" hangingPunct="1"/>
            <a:endParaRPr lang="zh-CN" altLang="en-US" sz="2400" dirty="0" smtClean="0"/>
          </a:p>
          <a:p>
            <a:pPr eaLnBrk="1" hangingPunct="1"/>
            <a:r>
              <a:rPr lang="zh-CN" altLang="en-US" sz="2400" dirty="0" smtClean="0"/>
              <a:t>对于</a:t>
            </a:r>
            <a:r>
              <a:rPr lang="zh-CN" altLang="en-US" sz="2400" b="1" dirty="0" smtClean="0">
                <a:solidFill>
                  <a:srgbClr val="0033CC"/>
                </a:solidFill>
              </a:rPr>
              <a:t>连续分布</a:t>
            </a:r>
            <a:r>
              <a:rPr lang="zh-CN" altLang="en-US" sz="2400" dirty="0" smtClean="0"/>
              <a:t>，</a:t>
            </a:r>
            <a:r>
              <a:rPr lang="en-US" altLang="zh-CN" sz="2400" dirty="0" err="1" smtClean="0">
                <a:latin typeface="Times New Roman" pitchFamily="18" charset="0"/>
              </a:rPr>
              <a:t>TVaR</a:t>
            </a:r>
            <a:r>
              <a:rPr lang="en-US" altLang="zh-CN" sz="2400" i="1" baseline="-25000" dirty="0" err="1" smtClean="0">
                <a:latin typeface="Times New Roman" pitchFamily="18" charset="0"/>
              </a:rPr>
              <a:t>p</a:t>
            </a:r>
            <a:r>
              <a:rPr lang="zh-CN" altLang="en-US" sz="2400" dirty="0" smtClean="0">
                <a:latin typeface="Times New Roman" pitchFamily="18" charset="0"/>
              </a:rPr>
              <a:t>为：</a:t>
            </a:r>
          </a:p>
          <a:p>
            <a:pPr eaLnBrk="1" hangingPunct="1"/>
            <a:endParaRPr lang="zh-CN" altLang="en-US" sz="2400" dirty="0" smtClean="0">
              <a:latin typeface="Times New Roman" pitchFamily="18" charset="0"/>
            </a:endParaRPr>
          </a:p>
          <a:p>
            <a:pPr eaLnBrk="1" hangingPunct="1"/>
            <a:endParaRPr lang="zh-CN" altLang="en-US" sz="2400" dirty="0" smtClean="0">
              <a:latin typeface="Times New Roman" pitchFamily="18" charset="0"/>
            </a:endParaRPr>
          </a:p>
          <a:p>
            <a:pPr eaLnBrk="1" hangingPunct="1"/>
            <a:endParaRPr lang="zh-CN" altLang="en-US" sz="2400" dirty="0" smtClean="0">
              <a:latin typeface="Times New Roman" pitchFamily="18" charset="0"/>
            </a:endParaRPr>
          </a:p>
          <a:p>
            <a:pPr marL="0" indent="0" eaLnBrk="1" hangingPunct="1">
              <a:buNone/>
            </a:pPr>
            <a:endParaRPr lang="zh-CN" altLang="en-US" sz="2400" dirty="0" smtClean="0">
              <a:latin typeface="Symbol" pitchFamily="18" charset="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r>
              <a:rPr lang="en-US" altLang="zh-CN" dirty="0"/>
              <a:t>( </a:t>
            </a:r>
            <a:fld id="{CCF718C0-94CC-405C-A39D-C9836B2A8BD9}" type="slidenum">
              <a:rPr lang="en-US" altLang="zh-CN"/>
              <a:pPr>
                <a:buNone/>
                <a:defRPr/>
              </a:pPr>
              <a:t>24</a:t>
            </a:fld>
            <a:r>
              <a:rPr lang="en-US" altLang="zh-CN" dirty="0"/>
              <a:t> )</a:t>
            </a:r>
          </a:p>
        </p:txBody>
      </p:sp>
      <p:graphicFrame>
        <p:nvGraphicFramePr>
          <p:cNvPr id="198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918652"/>
              </p:ext>
            </p:extLst>
          </p:nvPr>
        </p:nvGraphicFramePr>
        <p:xfrm>
          <a:off x="2166286" y="4918225"/>
          <a:ext cx="4156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0" name="Equation" r:id="rId3" imgW="1968480" imgH="241200" progId="Equation.DSMT4">
                  <p:embed/>
                </p:oleObj>
              </mc:Choice>
              <mc:Fallback>
                <p:oleObj name="Equation" r:id="rId3" imgW="1968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286" y="4918225"/>
                        <a:ext cx="4156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2666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6A64D062-3BDF-475E-BCD7-0CD77175AADD}" type="slidenum">
              <a:rPr lang="en-US" altLang="zh-CN"/>
              <a:pPr>
                <a:defRPr/>
              </a:pPr>
              <a:t>25</a:t>
            </a:fld>
            <a:r>
              <a:rPr lang="en-US" altLang="zh-CN"/>
              <a:t> )</a:t>
            </a:r>
          </a:p>
        </p:txBody>
      </p:sp>
      <p:pic>
        <p:nvPicPr>
          <p:cNvPr id="10649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075123"/>
            <a:ext cx="8713787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0" name="Text Box 3"/>
          <p:cNvSpPr txBox="1">
            <a:spLocks noChangeArrowheads="1"/>
          </p:cNvSpPr>
          <p:nvPr/>
        </p:nvSpPr>
        <p:spPr bwMode="auto">
          <a:xfrm>
            <a:off x="2960254" y="521766"/>
            <a:ext cx="2975110" cy="553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TVaR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的比较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77838" y="2105375"/>
            <a:ext cx="8540750" cy="460851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600" b="1" kern="0" dirty="0" smtClean="0">
                <a:latin typeface="Times New Roman" pitchFamily="18" charset="0"/>
              </a:rPr>
              <a:t>3 sigma </a:t>
            </a:r>
            <a:r>
              <a:rPr lang="zh-CN" altLang="en-US" sz="1600" b="1" kern="0" dirty="0" smtClean="0">
                <a:latin typeface="Times New Roman" pitchFamily="18" charset="0"/>
              </a:rPr>
              <a:t>原则：</a:t>
            </a:r>
            <a:r>
              <a:rPr lang="en-US" altLang="zh-CN" sz="1600" kern="0" dirty="0" smtClean="0">
                <a:latin typeface="Times New Roman" pitchFamily="18" charset="0"/>
              </a:rPr>
              <a:t>62.86%</a:t>
            </a:r>
            <a:r>
              <a:rPr lang="zh-CN" altLang="en-US" sz="1600" kern="0" dirty="0" smtClean="0">
                <a:latin typeface="Times New Roman" pitchFamily="18" charset="0"/>
              </a:rPr>
              <a:t>，</a:t>
            </a:r>
            <a:r>
              <a:rPr lang="en-US" altLang="zh-CN" sz="1600" kern="0" dirty="0" smtClean="0">
                <a:latin typeface="Times New Roman" pitchFamily="18" charset="0"/>
              </a:rPr>
              <a:t>0.9545</a:t>
            </a:r>
            <a:r>
              <a:rPr lang="zh-CN" altLang="en-US" sz="1600" kern="0" dirty="0" smtClean="0">
                <a:latin typeface="Times New Roman" pitchFamily="18" charset="0"/>
              </a:rPr>
              <a:t>，</a:t>
            </a:r>
            <a:r>
              <a:rPr lang="en-US" altLang="zh-CN" sz="1600" kern="0" dirty="0">
                <a:latin typeface="Times New Roman" pitchFamily="18" charset="0"/>
              </a:rPr>
              <a:t>0.9973</a:t>
            </a:r>
            <a:endParaRPr lang="zh-CN" altLang="en-US" sz="1600" b="0" kern="0" dirty="0" smtClean="0">
              <a:latin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zh-CN" altLang="en-US" sz="1600" b="0" kern="0" dirty="0" smtClean="0">
              <a:latin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zh-CN" altLang="en-US" sz="1600" b="0" kern="0" dirty="0" smtClean="0">
              <a:latin typeface="Times New Roman" pitchFamily="18" charset="0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endParaRPr lang="zh-CN" altLang="en-US" sz="1600" b="0" kern="0" dirty="0" smtClean="0">
              <a:latin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68634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503D9B84-BB53-4E76-BC78-45AB57899E24}" type="slidenum">
              <a:rPr lang="en-US" altLang="zh-CN"/>
              <a:pPr>
                <a:defRPr/>
              </a:pPr>
              <a:t>26</a:t>
            </a:fld>
            <a:r>
              <a:rPr lang="en-US" altLang="zh-CN"/>
              <a:t> )</a:t>
            </a:r>
          </a:p>
        </p:txBody>
      </p:sp>
      <p:pic>
        <p:nvPicPr>
          <p:cNvPr id="10752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052513"/>
            <a:ext cx="8569325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4" name="Text Box 3"/>
          <p:cNvSpPr txBox="1">
            <a:spLocks noChangeArrowheads="1"/>
          </p:cNvSpPr>
          <p:nvPr/>
        </p:nvSpPr>
        <p:spPr bwMode="auto">
          <a:xfrm>
            <a:off x="2623369" y="542727"/>
            <a:ext cx="3432286" cy="553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Tail-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的比较</a:t>
            </a:r>
          </a:p>
        </p:txBody>
      </p:sp>
    </p:spTree>
    <p:extLst>
      <p:ext uri="{BB962C8B-B14F-4D97-AF65-F5344CB8AC3E}">
        <p14:creationId xmlns:p14="http://schemas.microsoft.com/office/powerpoint/2010/main" val="4472497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73238"/>
            <a:ext cx="8540750" cy="4608512"/>
          </a:xfrm>
        </p:spPr>
        <p:txBody>
          <a:bodyPr/>
          <a:lstStyle/>
          <a:p>
            <a:pPr eaLnBrk="1" hangingPunct="1"/>
            <a:r>
              <a:rPr lang="zh-CN" altLang="en-US" sz="2400" dirty="0" smtClean="0"/>
              <a:t>对于</a:t>
            </a:r>
            <a:r>
              <a:rPr lang="zh-CN" altLang="en-US" sz="2400" b="1" dirty="0" smtClean="0">
                <a:solidFill>
                  <a:srgbClr val="0033CC"/>
                </a:solidFill>
              </a:rPr>
              <a:t>连续分布</a:t>
            </a:r>
            <a:r>
              <a:rPr lang="zh-CN" altLang="en-US" sz="2400" dirty="0" smtClean="0"/>
              <a:t>，</a:t>
            </a:r>
            <a:r>
              <a:rPr lang="en-US" altLang="zh-CN" sz="2400" dirty="0" err="1" smtClean="0">
                <a:latin typeface="Times New Roman" pitchFamily="18" charset="0"/>
              </a:rPr>
              <a:t>TVaR</a:t>
            </a:r>
            <a:r>
              <a:rPr lang="en-US" altLang="zh-CN" sz="2400" i="1" baseline="-25000" dirty="0" err="1" smtClean="0">
                <a:latin typeface="Times New Roman" pitchFamily="18" charset="0"/>
              </a:rPr>
              <a:t>p</a:t>
            </a:r>
            <a:r>
              <a:rPr lang="zh-CN" altLang="en-US" sz="2400" dirty="0" smtClean="0">
                <a:latin typeface="Times New Roman" pitchFamily="18" charset="0"/>
              </a:rPr>
              <a:t>为：</a:t>
            </a:r>
          </a:p>
          <a:p>
            <a:pPr eaLnBrk="1" hangingPunct="1"/>
            <a:endParaRPr lang="zh-CN" altLang="en-US" sz="2400" dirty="0" smtClean="0">
              <a:latin typeface="Times New Roman" pitchFamily="18" charset="0"/>
            </a:endParaRPr>
          </a:p>
          <a:p>
            <a:pPr eaLnBrk="1" hangingPunct="1"/>
            <a:endParaRPr lang="zh-CN" altLang="en-US" sz="2400" dirty="0" smtClean="0">
              <a:latin typeface="Times New Roman" pitchFamily="18" charset="0"/>
            </a:endParaRPr>
          </a:p>
          <a:p>
            <a:pPr eaLnBrk="1" hangingPunct="1"/>
            <a:endParaRPr lang="zh-CN" altLang="en-US" sz="2400" dirty="0" smtClean="0">
              <a:latin typeface="Times New Roman" pitchFamily="18" charset="0"/>
            </a:endParaRPr>
          </a:p>
          <a:p>
            <a:pPr eaLnBrk="1" hangingPunct="1"/>
            <a:endParaRPr lang="en-US" altLang="zh-CN" sz="2400" dirty="0" smtClean="0">
              <a:latin typeface="Times New Roman" pitchFamily="18" charset="0"/>
            </a:endParaRPr>
          </a:p>
          <a:p>
            <a:pPr eaLnBrk="1" hangingPunct="1"/>
            <a:r>
              <a:rPr lang="en-US" altLang="zh-CN" sz="2400" dirty="0" err="1" smtClean="0">
                <a:latin typeface="Times New Roman" pitchFamily="18" charset="0"/>
              </a:rPr>
              <a:t>TVaR</a:t>
            </a:r>
            <a:r>
              <a:rPr lang="en-US" altLang="zh-CN" sz="2400" i="1" baseline="-25000" dirty="0" err="1" smtClean="0">
                <a:latin typeface="Times New Roman" pitchFamily="18" charset="0"/>
              </a:rPr>
              <a:t>p</a:t>
            </a:r>
            <a:r>
              <a:rPr lang="zh-CN" altLang="en-US" sz="2400" dirty="0" smtClean="0">
                <a:latin typeface="Times New Roman" pitchFamily="18" charset="0"/>
              </a:rPr>
              <a:t>的值大于</a:t>
            </a:r>
            <a:r>
              <a:rPr lang="en-US" altLang="zh-CN" sz="2400" dirty="0" err="1" smtClean="0">
                <a:latin typeface="Times New Roman" pitchFamily="18" charset="0"/>
              </a:rPr>
              <a:t>VaR</a:t>
            </a:r>
            <a:r>
              <a:rPr lang="en-US" altLang="zh-CN" sz="2400" i="1" baseline="-25000" dirty="0" err="1" smtClean="0">
                <a:latin typeface="Times New Roman" pitchFamily="18" charset="0"/>
              </a:rPr>
              <a:t>p</a:t>
            </a:r>
            <a:r>
              <a:rPr lang="zh-CN" altLang="en-US" sz="2400" dirty="0" smtClean="0">
                <a:latin typeface="Symbol" pitchFamily="18" charset="2"/>
              </a:rPr>
              <a:t>，更加保守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r>
              <a:rPr lang="en-US" altLang="zh-CN" dirty="0"/>
              <a:t>( </a:t>
            </a:r>
            <a:fld id="{CCF718C0-94CC-405C-A39D-C9836B2A8BD9}" type="slidenum">
              <a:rPr lang="en-US" altLang="zh-CN"/>
              <a:pPr>
                <a:buNone/>
                <a:defRPr/>
              </a:pPr>
              <a:t>27</a:t>
            </a:fld>
            <a:r>
              <a:rPr lang="en-US" altLang="zh-CN" dirty="0"/>
              <a:t> )</a:t>
            </a:r>
          </a:p>
        </p:txBody>
      </p:sp>
      <p:graphicFrame>
        <p:nvGraphicFramePr>
          <p:cNvPr id="198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192280"/>
              </p:ext>
            </p:extLst>
          </p:nvPr>
        </p:nvGraphicFramePr>
        <p:xfrm>
          <a:off x="529390" y="2782504"/>
          <a:ext cx="8229600" cy="1259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0" name="Equation" r:id="rId3" imgW="3898900" imgH="596900" progId="Equation.DSMT4">
                  <p:embed/>
                </p:oleObj>
              </mc:Choice>
              <mc:Fallback>
                <p:oleObj name="Equation" r:id="rId3" imgW="38989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390" y="2782504"/>
                        <a:ext cx="8229600" cy="125923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1147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6D5666DE-7237-4E1E-8C9F-593B2218BB8A}" type="slidenum">
              <a:rPr lang="en-US" altLang="zh-CN"/>
              <a:pPr>
                <a:defRPr/>
              </a:pPr>
              <a:t>28</a:t>
            </a:fld>
            <a:r>
              <a:rPr lang="en-US" altLang="zh-CN"/>
              <a:t> )</a:t>
            </a:r>
          </a:p>
        </p:txBody>
      </p:sp>
      <p:sp>
        <p:nvSpPr>
          <p:cNvPr id="108547" name="Rectangle 5"/>
          <p:cNvSpPr>
            <a:spLocks noChangeArrowheads="1"/>
          </p:cNvSpPr>
          <p:nvPr/>
        </p:nvSpPr>
        <p:spPr bwMode="auto">
          <a:xfrm>
            <a:off x="0" y="3157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8549" name="Text Box 7"/>
          <p:cNvSpPr txBox="1">
            <a:spLocks noChangeArrowheads="1"/>
          </p:cNvSpPr>
          <p:nvPr/>
        </p:nvSpPr>
        <p:spPr bwMode="auto">
          <a:xfrm>
            <a:off x="762000" y="1063575"/>
            <a:ext cx="6124177" cy="553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TVaR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的另一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种表示（变形过程见下页）：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552" name="Text Box 8"/>
          <p:cNvSpPr txBox="1">
            <a:spLocks noChangeArrowheads="1"/>
          </p:cNvSpPr>
          <p:nvPr/>
        </p:nvSpPr>
        <p:spPr bwMode="auto">
          <a:xfrm>
            <a:off x="762000" y="4942775"/>
            <a:ext cx="7788275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 smtClean="0"/>
              <a:t> </a:t>
            </a:r>
            <a:r>
              <a:rPr lang="en-US" altLang="zh-CN" dirty="0" err="1" smtClean="0"/>
              <a:t>TVaR</a:t>
            </a:r>
            <a:r>
              <a:rPr lang="en-US" altLang="zh-CN" dirty="0" smtClean="0"/>
              <a:t> </a:t>
            </a:r>
            <a:r>
              <a:rPr lang="zh-CN" altLang="en-US" dirty="0" smtClean="0"/>
              <a:t>是在区间（</a:t>
            </a:r>
            <a:r>
              <a:rPr lang="en-US" altLang="zh-CN" i="1" dirty="0" smtClean="0"/>
              <a:t>p</a:t>
            </a:r>
            <a:r>
              <a:rPr lang="en-US" altLang="zh-CN" dirty="0" smtClean="0"/>
              <a:t>, 1</a:t>
            </a:r>
            <a:r>
              <a:rPr lang="zh-CN" altLang="en-US" dirty="0" smtClean="0"/>
              <a:t>）上的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的算数平均数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graphicFrame>
        <p:nvGraphicFramePr>
          <p:cNvPr id="2365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490614"/>
              </p:ext>
            </p:extLst>
          </p:nvPr>
        </p:nvGraphicFramePr>
        <p:xfrm>
          <a:off x="884877" y="2170219"/>
          <a:ext cx="3941916" cy="1707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5" name="Equation" r:id="rId3" imgW="1815840" imgH="787320" progId="Equation.DSMT4">
                  <p:embed/>
                </p:oleObj>
              </mc:Choice>
              <mc:Fallback>
                <p:oleObj name="Equation" r:id="rId3" imgW="181584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877" y="2170219"/>
                        <a:ext cx="3941916" cy="170797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826793" y="3139709"/>
            <a:ext cx="4317207" cy="45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000" dirty="0" smtClean="0">
                <a:solidFill>
                  <a:srgbClr val="FF0000"/>
                </a:solidFill>
              </a:rPr>
              <a:t>（适用于所有分布类型的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TVaR</a:t>
            </a:r>
            <a:r>
              <a:rPr lang="zh-CN" altLang="en-US" sz="2000" dirty="0" smtClean="0">
                <a:solidFill>
                  <a:srgbClr val="FF0000"/>
                </a:solidFill>
              </a:rPr>
              <a:t>定义）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4950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2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6D5666DE-7237-4E1E-8C9F-593B2218BB8A}" type="slidenum">
              <a:rPr lang="en-US" altLang="zh-CN"/>
              <a:pPr>
                <a:defRPr/>
              </a:pPr>
              <a:t>29</a:t>
            </a:fld>
            <a:r>
              <a:rPr lang="en-US" altLang="zh-CN"/>
              <a:t> )</a:t>
            </a:r>
          </a:p>
        </p:txBody>
      </p:sp>
      <p:sp>
        <p:nvSpPr>
          <p:cNvPr id="108547" name="Rectangle 5"/>
          <p:cNvSpPr>
            <a:spLocks noChangeArrowheads="1"/>
          </p:cNvSpPr>
          <p:nvPr/>
        </p:nvSpPr>
        <p:spPr bwMode="auto">
          <a:xfrm>
            <a:off x="0" y="4283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854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86643"/>
              </p:ext>
            </p:extLst>
          </p:nvPr>
        </p:nvGraphicFramePr>
        <p:xfrm>
          <a:off x="688975" y="1898650"/>
          <a:ext cx="7539038" cy="275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0" name="Equation" r:id="rId3" imgW="3835080" imgH="1396800" progId="Equation.DSMT4">
                  <p:embed/>
                </p:oleObj>
              </mc:Choice>
              <mc:Fallback>
                <p:oleObj name="Equation" r:id="rId3" imgW="3835080" imgH="139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1898650"/>
                        <a:ext cx="7539038" cy="275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9" name="Text Box 7"/>
          <p:cNvSpPr txBox="1">
            <a:spLocks noChangeArrowheads="1"/>
          </p:cNvSpPr>
          <p:nvPr/>
        </p:nvSpPr>
        <p:spPr bwMode="auto">
          <a:xfrm>
            <a:off x="762000" y="740842"/>
            <a:ext cx="3354188" cy="553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TVaR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的另一种表示：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65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827015"/>
              </p:ext>
            </p:extLst>
          </p:nvPr>
        </p:nvGraphicFramePr>
        <p:xfrm>
          <a:off x="2089050" y="4733203"/>
          <a:ext cx="1898650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1" name="Equation" r:id="rId5" imgW="1054080" imgH="787320" progId="Equation.DSMT4">
                  <p:embed/>
                </p:oleObj>
              </mc:Choice>
              <mc:Fallback>
                <p:oleObj name="Equation" r:id="rId5" imgW="105408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050" y="4733203"/>
                        <a:ext cx="1898650" cy="141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1085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r>
              <a:rPr lang="en-US" altLang="zh-CN" dirty="0"/>
              <a:t>( </a:t>
            </a:r>
            <a:fld id="{50EE8D7D-C876-404E-95D2-07E3E32D2B2F}" type="slidenum">
              <a:rPr lang="en-US" altLang="zh-CN"/>
              <a:pPr>
                <a:buNone/>
                <a:defRPr/>
              </a:pPr>
              <a:t>30</a:t>
            </a:fld>
            <a:r>
              <a:rPr lang="en-US" altLang="zh-CN" dirty="0"/>
              <a:t> )</a:t>
            </a:r>
          </a:p>
        </p:txBody>
      </p:sp>
      <p:sp>
        <p:nvSpPr>
          <p:cNvPr id="113667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668" name="Rectangle 7"/>
          <p:cNvSpPr>
            <a:spLocks noChangeArrowheads="1"/>
          </p:cNvSpPr>
          <p:nvPr/>
        </p:nvSpPr>
        <p:spPr bwMode="auto">
          <a:xfrm>
            <a:off x="0" y="3157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669" name="Rectangle 9"/>
          <p:cNvSpPr>
            <a:spLocks noChangeArrowheads="1"/>
          </p:cNvSpPr>
          <p:nvPr/>
        </p:nvSpPr>
        <p:spPr bwMode="auto">
          <a:xfrm>
            <a:off x="0" y="2890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671" name="Text Box 10"/>
          <p:cNvSpPr txBox="1">
            <a:spLocks noChangeArrowheads="1"/>
          </p:cNvSpPr>
          <p:nvPr/>
        </p:nvSpPr>
        <p:spPr bwMode="auto">
          <a:xfrm>
            <a:off x="746125" y="801688"/>
            <a:ext cx="5200847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TVaR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的另一种表示（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连续分布）：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926300"/>
              </p:ext>
            </p:extLst>
          </p:nvPr>
        </p:nvGraphicFramePr>
        <p:xfrm>
          <a:off x="591536" y="1734871"/>
          <a:ext cx="6811962" cy="479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8" name="Equation" r:id="rId3" imgW="2971800" imgH="2095200" progId="Equation.DSMT4">
                  <p:embed/>
                </p:oleObj>
              </mc:Choice>
              <mc:Fallback>
                <p:oleObj name="Equation" r:id="rId3" imgW="2971800" imgH="2095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36" y="1734871"/>
                        <a:ext cx="6811962" cy="479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63414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172200"/>
            <a:ext cx="2133600" cy="457200"/>
          </a:xfrm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r>
              <a:rPr lang="en-US" altLang="zh-CN" dirty="0"/>
              <a:t>( </a:t>
            </a:r>
            <a:fld id="{D53938A0-8E2E-4FE3-B97D-C80A3F69DFE0}" type="slidenum">
              <a:rPr lang="en-US" altLang="zh-CN"/>
              <a:pPr>
                <a:buNone/>
                <a:defRPr/>
              </a:pPr>
              <a:t>31</a:t>
            </a:fld>
            <a:r>
              <a:rPr lang="en-US" altLang="zh-CN" dirty="0"/>
              <a:t> )</a:t>
            </a:r>
          </a:p>
        </p:txBody>
      </p:sp>
      <p:sp>
        <p:nvSpPr>
          <p:cNvPr id="112643" name="Text Box 4"/>
          <p:cNvSpPr txBox="1">
            <a:spLocks noChangeArrowheads="1"/>
          </p:cNvSpPr>
          <p:nvPr/>
        </p:nvSpPr>
        <p:spPr bwMode="auto">
          <a:xfrm>
            <a:off x="2275377" y="894335"/>
            <a:ext cx="291175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TVaR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满足次可加性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26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652802"/>
              </p:ext>
            </p:extLst>
          </p:nvPr>
        </p:nvGraphicFramePr>
        <p:xfrm>
          <a:off x="236213" y="2287254"/>
          <a:ext cx="8749167" cy="805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43" name="Equation" r:id="rId3" imgW="2616120" imgH="241200" progId="Equation.DSMT4">
                  <p:embed/>
                </p:oleObj>
              </mc:Choice>
              <mc:Fallback>
                <p:oleObj name="Equation" r:id="rId3" imgW="2616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13" y="2287254"/>
                        <a:ext cx="8749167" cy="805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04630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AF450CB3-E38C-4133-BBBD-B65436650BEC}" type="slidenum">
              <a:rPr lang="en-US" altLang="zh-CN"/>
              <a:pPr>
                <a:defRPr/>
              </a:pPr>
              <a:t>32</a:t>
            </a:fld>
            <a:r>
              <a:rPr lang="en-US" altLang="zh-CN"/>
              <a:t> )</a:t>
            </a:r>
          </a:p>
        </p:txBody>
      </p:sp>
      <p:graphicFrame>
        <p:nvGraphicFramePr>
          <p:cNvPr id="394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484525"/>
              </p:ext>
            </p:extLst>
          </p:nvPr>
        </p:nvGraphicFramePr>
        <p:xfrm>
          <a:off x="1295400" y="1600200"/>
          <a:ext cx="32004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6" name="Equation" r:id="rId3" imgW="1397000" imgH="241300" progId="Equation.DSMT4">
                  <p:embed/>
                </p:oleObj>
              </mc:Choice>
              <mc:Fallback>
                <p:oleObj name="Equation" r:id="rId3" imgW="13970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600200"/>
                        <a:ext cx="32004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45" name="Object 5"/>
          <p:cNvGraphicFramePr>
            <a:graphicFrameLocks noChangeAspect="1"/>
          </p:cNvGraphicFramePr>
          <p:nvPr/>
        </p:nvGraphicFramePr>
        <p:xfrm>
          <a:off x="1295400" y="2743200"/>
          <a:ext cx="32766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7" name="Equation" r:id="rId5" imgW="1714500" imgH="482600" progId="Equation.DSMT4">
                  <p:embed/>
                </p:oleObj>
              </mc:Choice>
              <mc:Fallback>
                <p:oleObj name="Equation" r:id="rId5" imgW="17145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743200"/>
                        <a:ext cx="3276600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46" name="Object 6"/>
          <p:cNvGraphicFramePr>
            <a:graphicFrameLocks noChangeAspect="1"/>
          </p:cNvGraphicFramePr>
          <p:nvPr/>
        </p:nvGraphicFramePr>
        <p:xfrm>
          <a:off x="1371600" y="3810000"/>
          <a:ext cx="281940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8" name="Equation" r:id="rId7" imgW="1497950" imgH="634725" progId="Equation.DSMT4">
                  <p:embed/>
                </p:oleObj>
              </mc:Choice>
              <mc:Fallback>
                <p:oleObj name="Equation" r:id="rId7" imgW="1497950" imgH="6347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10000"/>
                        <a:ext cx="2819400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47" name="Object 7"/>
          <p:cNvGraphicFramePr>
            <a:graphicFrameLocks noChangeAspect="1"/>
          </p:cNvGraphicFramePr>
          <p:nvPr/>
        </p:nvGraphicFramePr>
        <p:xfrm>
          <a:off x="1219200" y="5715000"/>
          <a:ext cx="3887788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9" name="Equation" r:id="rId9" imgW="1600200" imgH="254000" progId="Equation.DSMT4">
                  <p:embed/>
                </p:oleObj>
              </mc:Choice>
              <mc:Fallback>
                <p:oleObj name="Equation" r:id="rId9" imgW="16002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715000"/>
                        <a:ext cx="3887788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3" name="Text Box 8"/>
          <p:cNvSpPr txBox="1">
            <a:spLocks noChangeArrowheads="1"/>
          </p:cNvSpPr>
          <p:nvPr/>
        </p:nvSpPr>
        <p:spPr bwMode="auto">
          <a:xfrm>
            <a:off x="609600" y="719782"/>
            <a:ext cx="3203698" cy="54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1" dirty="0" smtClean="0">
                <a:latin typeface="+mj-lt"/>
                <a:ea typeface="黑体" panose="02010609060101010101" pitchFamily="49" charset="-122"/>
              </a:rPr>
              <a:t>例</a:t>
            </a:r>
            <a:r>
              <a:rPr lang="en-US" altLang="zh-CN" b="1" dirty="0" smtClean="0"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b="1" dirty="0" smtClean="0">
                <a:latin typeface="+mj-lt"/>
                <a:ea typeface="黑体" panose="02010609060101010101" pitchFamily="49" charset="-122"/>
              </a:rPr>
              <a:t>：正态分布的</a:t>
            </a:r>
            <a:r>
              <a:rPr lang="en-US" altLang="zh-CN" b="1" dirty="0" err="1" smtClean="0">
                <a:latin typeface="+mj-lt"/>
                <a:ea typeface="黑体" panose="02010609060101010101" pitchFamily="49" charset="-122"/>
              </a:rPr>
              <a:t>TVaR</a:t>
            </a:r>
            <a:endParaRPr lang="en-US" altLang="zh-CN" b="1" dirty="0">
              <a:latin typeface="+mj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18191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117A1A73-310C-42BB-BFB8-AE488322B6CE}" type="slidenum">
              <a:rPr lang="en-US" altLang="zh-CN"/>
              <a:pPr>
                <a:defRPr/>
              </a:pPr>
              <a:t>33</a:t>
            </a:fld>
            <a:r>
              <a:rPr lang="en-US" altLang="zh-CN"/>
              <a:t> )</a:t>
            </a:r>
          </a:p>
        </p:txBody>
      </p:sp>
      <p:graphicFrame>
        <p:nvGraphicFramePr>
          <p:cNvPr id="395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318000"/>
              </p:ext>
            </p:extLst>
          </p:nvPr>
        </p:nvGraphicFramePr>
        <p:xfrm>
          <a:off x="222250" y="1296988"/>
          <a:ext cx="5805488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10" name="Equation" r:id="rId3" imgW="3073320" imgH="545760" progId="Equation.DSMT4">
                  <p:embed/>
                </p:oleObj>
              </mc:Choice>
              <mc:Fallback>
                <p:oleObj name="Equation" r:id="rId3" imgW="30733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1296988"/>
                        <a:ext cx="5805488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70" name="Object 6"/>
          <p:cNvGraphicFramePr>
            <a:graphicFrameLocks noChangeAspect="1"/>
          </p:cNvGraphicFramePr>
          <p:nvPr/>
        </p:nvGraphicFramePr>
        <p:xfrm>
          <a:off x="5357813" y="2819400"/>
          <a:ext cx="3786187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11" name="Equation" r:id="rId5" imgW="2286000" imgH="2438400" progId="Equation.DSMT4">
                  <p:embed/>
                </p:oleObj>
              </mc:Choice>
              <mc:Fallback>
                <p:oleObj name="Equation" r:id="rId5" imgW="2286000" imgH="243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2819400"/>
                        <a:ext cx="3786187" cy="40386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497534"/>
              </p:ext>
            </p:extLst>
          </p:nvPr>
        </p:nvGraphicFramePr>
        <p:xfrm>
          <a:off x="380999" y="5257800"/>
          <a:ext cx="2873829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12" name="Equation" r:id="rId7" imgW="1384300" imgH="660400" progId="Equation.DSMT4">
                  <p:embed/>
                </p:oleObj>
              </mc:Choice>
              <mc:Fallback>
                <p:oleObj name="Equation" r:id="rId7" imgW="1384300" imgH="66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99" y="5257800"/>
                        <a:ext cx="2873829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196554"/>
              </p:ext>
            </p:extLst>
          </p:nvPr>
        </p:nvGraphicFramePr>
        <p:xfrm>
          <a:off x="157163" y="2511425"/>
          <a:ext cx="4833937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13" name="Equation" r:id="rId9" imgW="2400120" imgH="660240" progId="Equation.DSMT4">
                  <p:embed/>
                </p:oleObj>
              </mc:Choice>
              <mc:Fallback>
                <p:oleObj name="Equation" r:id="rId9" imgW="240012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3" y="2511425"/>
                        <a:ext cx="4833937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73" name="Object 9"/>
          <p:cNvGraphicFramePr>
            <a:graphicFrameLocks noChangeAspect="1"/>
          </p:cNvGraphicFramePr>
          <p:nvPr/>
        </p:nvGraphicFramePr>
        <p:xfrm>
          <a:off x="228600" y="4191000"/>
          <a:ext cx="34290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14" name="Equation" r:id="rId11" imgW="1574800" imgH="419100" progId="Equation.DSMT4">
                  <p:embed/>
                </p:oleObj>
              </mc:Choice>
              <mc:Fallback>
                <p:oleObj name="Equation" r:id="rId11" imgW="15748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191000"/>
                        <a:ext cx="34290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2740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5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5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5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5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35069ED7-87C8-499B-A42E-2E6A6C78402D}" type="slidenum">
              <a:rPr lang="en-US" altLang="zh-CN"/>
              <a:pPr>
                <a:defRPr/>
              </a:pPr>
              <a:t>34</a:t>
            </a:fld>
            <a:r>
              <a:rPr lang="en-US" altLang="zh-CN"/>
              <a:t> )</a:t>
            </a:r>
          </a:p>
        </p:txBody>
      </p:sp>
      <p:sp>
        <p:nvSpPr>
          <p:cNvPr id="118787" name="Text Box 4"/>
          <p:cNvSpPr txBox="1">
            <a:spLocks noChangeArrowheads="1"/>
          </p:cNvSpPr>
          <p:nvPr/>
        </p:nvSpPr>
        <p:spPr bwMode="auto">
          <a:xfrm>
            <a:off x="746125" y="860425"/>
            <a:ext cx="3103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Arial" charset="0"/>
              </a:rPr>
              <a:t>例：</a:t>
            </a:r>
            <a:r>
              <a:rPr lang="zh-CN" altLang="en-US" b="1" dirty="0" smtClean="0">
                <a:latin typeface="Arial" charset="0"/>
              </a:rPr>
              <a:t>指数分布的</a:t>
            </a:r>
            <a:r>
              <a:rPr lang="en-US" altLang="zh-CN" b="1" dirty="0" err="1" smtClean="0">
                <a:latin typeface="Arial" charset="0"/>
              </a:rPr>
              <a:t>TVaR</a:t>
            </a:r>
            <a:endParaRPr lang="zh-CN" altLang="en-US" b="1" dirty="0">
              <a:latin typeface="Arial" charset="0"/>
            </a:endParaRPr>
          </a:p>
        </p:txBody>
      </p:sp>
      <p:sp>
        <p:nvSpPr>
          <p:cNvPr id="118788" name="Rectangle 8"/>
          <p:cNvSpPr>
            <a:spLocks noChangeArrowheads="1"/>
          </p:cNvSpPr>
          <p:nvPr/>
        </p:nvSpPr>
        <p:spPr bwMode="auto">
          <a:xfrm>
            <a:off x="0" y="2976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878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116367"/>
              </p:ext>
            </p:extLst>
          </p:nvPr>
        </p:nvGraphicFramePr>
        <p:xfrm>
          <a:off x="1066800" y="2038350"/>
          <a:ext cx="39497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7" name="Equation" r:id="rId3" imgW="1803400" imgH="431800" progId="Equation.DSMT4">
                  <p:embed/>
                </p:oleObj>
              </mc:Choice>
              <mc:Fallback>
                <p:oleObj name="Equation" r:id="rId3" imgW="1803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038350"/>
                        <a:ext cx="39497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0" name="Rectangle 9"/>
          <p:cNvSpPr>
            <a:spLocks noChangeArrowheads="1"/>
          </p:cNvSpPr>
          <p:nvPr/>
        </p:nvSpPr>
        <p:spPr bwMode="auto">
          <a:xfrm>
            <a:off x="0" y="3405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879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105373"/>
              </p:ext>
            </p:extLst>
          </p:nvPr>
        </p:nvGraphicFramePr>
        <p:xfrm>
          <a:off x="990600" y="3733800"/>
          <a:ext cx="78835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8" name="Equation" r:id="rId5" imgW="2819400" imgH="241300" progId="Equation.DSMT4">
                  <p:embed/>
                </p:oleObj>
              </mc:Choice>
              <mc:Fallback>
                <p:oleObj name="Equation" r:id="rId5" imgW="28194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33800"/>
                        <a:ext cx="788352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2" name="Rectangle 10"/>
          <p:cNvSpPr>
            <a:spLocks noChangeArrowheads="1"/>
          </p:cNvSpPr>
          <p:nvPr/>
        </p:nvSpPr>
        <p:spPr bwMode="auto">
          <a:xfrm>
            <a:off x="0" y="3643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8793" name="Object 5"/>
          <p:cNvGraphicFramePr>
            <a:graphicFrameLocks noChangeAspect="1"/>
          </p:cNvGraphicFramePr>
          <p:nvPr/>
        </p:nvGraphicFramePr>
        <p:xfrm>
          <a:off x="1066800" y="4953000"/>
          <a:ext cx="47244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9" name="Equation" r:id="rId7" imgW="1727200" imgH="241300" progId="Equation.DSMT4">
                  <p:embed/>
                </p:oleObj>
              </mc:Choice>
              <mc:Fallback>
                <p:oleObj name="Equation" r:id="rId7" imgW="17272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953000"/>
                        <a:ext cx="47244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4" name="Text Box 11"/>
          <p:cNvSpPr txBox="1">
            <a:spLocks noChangeArrowheads="1"/>
          </p:cNvSpPr>
          <p:nvPr/>
        </p:nvSpPr>
        <p:spPr bwMode="auto">
          <a:xfrm>
            <a:off x="3963955" y="827189"/>
            <a:ext cx="162736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dirty="0" smtClean="0">
                <a:solidFill>
                  <a:srgbClr val="0033CC"/>
                </a:solidFill>
              </a:rPr>
              <a:t>(</a:t>
            </a:r>
            <a:r>
              <a:rPr lang="zh-CN" altLang="en-US" dirty="0" smtClean="0">
                <a:solidFill>
                  <a:srgbClr val="0033CC"/>
                </a:solidFill>
              </a:rPr>
              <a:t>课堂练习</a:t>
            </a:r>
            <a:r>
              <a:rPr lang="en-US" altLang="zh-CN" dirty="0" smtClean="0">
                <a:solidFill>
                  <a:srgbClr val="0033CC"/>
                </a:solidFill>
              </a:rPr>
              <a:t>)</a:t>
            </a:r>
            <a:endParaRPr lang="en-US" altLang="zh-CN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6470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/>
      <p:bldP spid="11879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r>
              <a:rPr lang="en-US" altLang="zh-CN" dirty="0"/>
              <a:t>( </a:t>
            </a:r>
            <a:fld id="{FFA9DEC8-703F-4238-BB54-57FC9EC4F32D}" type="slidenum">
              <a:rPr lang="en-US" altLang="zh-CN"/>
              <a:pPr>
                <a:buNone/>
                <a:defRPr/>
              </a:pPr>
              <a:t>35</a:t>
            </a:fld>
            <a:r>
              <a:rPr lang="en-US" altLang="zh-CN" dirty="0"/>
              <a:t> )</a:t>
            </a:r>
          </a:p>
        </p:txBody>
      </p:sp>
      <p:sp>
        <p:nvSpPr>
          <p:cNvPr id="119811" name="Rectangle 7"/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98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673901"/>
              </p:ext>
            </p:extLst>
          </p:nvPr>
        </p:nvGraphicFramePr>
        <p:xfrm>
          <a:off x="1143000" y="1600200"/>
          <a:ext cx="34290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1" name="Equation" r:id="rId3" imgW="1613600" imgH="470104" progId="Equation.DSMT4">
                  <p:embed/>
                </p:oleObj>
              </mc:Choice>
              <mc:Fallback>
                <p:oleObj name="Equation" r:id="rId3" imgW="1613600" imgH="47010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00200"/>
                        <a:ext cx="34290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3" name="Rectangle 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98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395140"/>
              </p:ext>
            </p:extLst>
          </p:nvPr>
        </p:nvGraphicFramePr>
        <p:xfrm>
          <a:off x="1066800" y="3165475"/>
          <a:ext cx="717232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2" name="Equation" r:id="rId5" imgW="3022600" imgH="469900" progId="Equation.DSMT4">
                  <p:embed/>
                </p:oleObj>
              </mc:Choice>
              <mc:Fallback>
                <p:oleObj name="Equation" r:id="rId5" imgW="3022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165475"/>
                        <a:ext cx="717232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5" name="Rectangle 9"/>
          <p:cNvSpPr>
            <a:spLocks noChangeArrowheads="1"/>
          </p:cNvSpPr>
          <p:nvPr/>
        </p:nvSpPr>
        <p:spPr bwMode="auto">
          <a:xfrm>
            <a:off x="0" y="3590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98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497103"/>
              </p:ext>
            </p:extLst>
          </p:nvPr>
        </p:nvGraphicFramePr>
        <p:xfrm>
          <a:off x="1143000" y="4827587"/>
          <a:ext cx="57150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3" name="Equation" r:id="rId7" imgW="2490281" imgH="419282" progId="Equation.DSMT4">
                  <p:embed/>
                </p:oleObj>
              </mc:Choice>
              <mc:Fallback>
                <p:oleObj name="Equation" r:id="rId7" imgW="2490281" imgH="4192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27587"/>
                        <a:ext cx="571500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7" name="Rectangle 10"/>
          <p:cNvSpPr>
            <a:spLocks noChangeArrowheads="1"/>
          </p:cNvSpPr>
          <p:nvPr/>
        </p:nvSpPr>
        <p:spPr bwMode="auto">
          <a:xfrm>
            <a:off x="0" y="382746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zh-CN" sz="1800">
              <a:latin typeface="Arial" charset="0"/>
            </a:endParaRPr>
          </a:p>
        </p:txBody>
      </p:sp>
      <p:sp>
        <p:nvSpPr>
          <p:cNvPr id="119818" name="Text Box 11"/>
          <p:cNvSpPr txBox="1">
            <a:spLocks noChangeArrowheads="1"/>
          </p:cNvSpPr>
          <p:nvPr/>
        </p:nvSpPr>
        <p:spPr bwMode="auto">
          <a:xfrm>
            <a:off x="746125" y="874713"/>
            <a:ext cx="34602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Arial" charset="0"/>
              </a:rPr>
              <a:t>例：</a:t>
            </a:r>
            <a:r>
              <a:rPr lang="en-US" altLang="zh-CN" b="1" dirty="0">
                <a:latin typeface="Arial" charset="0"/>
              </a:rPr>
              <a:t>Pareto</a:t>
            </a:r>
            <a:r>
              <a:rPr lang="zh-CN" altLang="en-US" b="1" dirty="0" smtClean="0">
                <a:latin typeface="Arial" charset="0"/>
              </a:rPr>
              <a:t>分布的</a:t>
            </a:r>
            <a:r>
              <a:rPr lang="en-US" altLang="zh-CN" b="1" dirty="0" err="1" smtClean="0">
                <a:latin typeface="Arial" charset="0"/>
              </a:rPr>
              <a:t>TVaR</a:t>
            </a:r>
            <a:endParaRPr lang="zh-CN" altLang="en-US" b="1" dirty="0">
              <a:latin typeface="Arial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374502" y="859202"/>
            <a:ext cx="1627369" cy="54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dirty="0" smtClean="0">
                <a:solidFill>
                  <a:srgbClr val="0033CC"/>
                </a:solidFill>
              </a:rPr>
              <a:t>(</a:t>
            </a:r>
            <a:r>
              <a:rPr lang="zh-CN" altLang="en-US" dirty="0">
                <a:solidFill>
                  <a:srgbClr val="0033CC"/>
                </a:solidFill>
              </a:rPr>
              <a:t>课堂练习</a:t>
            </a:r>
            <a:r>
              <a:rPr lang="en-US" altLang="zh-CN" dirty="0" smtClean="0">
                <a:solidFill>
                  <a:srgbClr val="0033CC"/>
                </a:solidFill>
              </a:rPr>
              <a:t>)</a:t>
            </a:r>
            <a:endParaRPr lang="en-US" altLang="zh-CN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8441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549275"/>
            <a:ext cx="8540750" cy="5318125"/>
          </a:xfrm>
        </p:spPr>
        <p:txBody>
          <a:bodyPr/>
          <a:lstStyle/>
          <a:p>
            <a:pPr eaLnBrk="1" hangingPunct="1"/>
            <a:endParaRPr lang="en-US" altLang="zh-CN" sz="2400" b="1" dirty="0" smtClean="0"/>
          </a:p>
          <a:p>
            <a:pPr eaLnBrk="1" hangingPunct="1"/>
            <a:r>
              <a:rPr lang="zh-CN" altLang="en-US" sz="2400" b="1" dirty="0" smtClean="0"/>
              <a:t>如果损失分布是</a:t>
            </a:r>
            <a:r>
              <a:rPr lang="zh-CN" altLang="en-US" sz="2400" b="1" dirty="0" smtClean="0">
                <a:solidFill>
                  <a:srgbClr val="0033CC"/>
                </a:solidFill>
              </a:rPr>
              <a:t>离散</a:t>
            </a:r>
            <a:r>
              <a:rPr lang="zh-CN" altLang="en-US" sz="2400" b="1" dirty="0" smtClean="0"/>
              <a:t>的，计算</a:t>
            </a:r>
            <a:r>
              <a:rPr lang="en-US" altLang="zh-CN" sz="2400" b="1" dirty="0" err="1" smtClean="0">
                <a:latin typeface="Times New Roman" pitchFamily="18" charset="0"/>
              </a:rPr>
              <a:t>TVaR</a:t>
            </a:r>
            <a:r>
              <a:rPr lang="zh-CN" altLang="en-US" sz="2400" b="1" dirty="0" smtClean="0"/>
              <a:t>会复杂一些。</a:t>
            </a:r>
          </a:p>
          <a:p>
            <a:pPr eaLnBrk="1" hangingPunct="1"/>
            <a:r>
              <a:rPr lang="zh-CN" altLang="en-US" sz="2400" b="1" dirty="0" smtClean="0"/>
              <a:t>例：</a:t>
            </a:r>
            <a:r>
              <a:rPr lang="en-US" altLang="zh-CN" sz="2400" b="1" i="1" dirty="0" smtClean="0">
                <a:latin typeface="Times New Roman" pitchFamily="18" charset="0"/>
              </a:rPr>
              <a:t>X </a:t>
            </a:r>
            <a:r>
              <a:rPr lang="zh-CN" altLang="en-US" sz="2400" b="1" dirty="0" smtClean="0"/>
              <a:t>的损失分布如下，计算</a:t>
            </a:r>
            <a:r>
              <a:rPr lang="en-US" altLang="zh-CN" sz="2400" b="1" dirty="0" err="1" smtClean="0">
                <a:latin typeface="Times New Roman" pitchFamily="18" charset="0"/>
              </a:rPr>
              <a:t>TVaR</a:t>
            </a:r>
            <a:r>
              <a:rPr lang="en-US" altLang="zh-CN" sz="2400" b="1" dirty="0" smtClean="0">
                <a:latin typeface="Times New Roman" pitchFamily="18" charset="0"/>
              </a:rPr>
              <a:t> </a:t>
            </a:r>
            <a:r>
              <a:rPr lang="en-US" altLang="zh-CN" sz="2400" b="1" baseline="-25000" dirty="0" smtClean="0"/>
              <a:t>90</a:t>
            </a:r>
            <a:r>
              <a:rPr lang="zh-CN" altLang="en-US" sz="2400" b="1" baseline="-25000" dirty="0" smtClean="0"/>
              <a:t>％</a:t>
            </a:r>
            <a:r>
              <a:rPr lang="zh-CN" altLang="en-US" sz="2400" b="1" dirty="0" smtClean="0"/>
              <a:t>和</a:t>
            </a:r>
            <a:r>
              <a:rPr lang="zh-CN" altLang="en-US" sz="2400" b="1" baseline="-25000" dirty="0" smtClean="0"/>
              <a:t> </a:t>
            </a:r>
            <a:r>
              <a:rPr lang="en-US" altLang="zh-CN" sz="2400" b="1" dirty="0" err="1" smtClean="0">
                <a:latin typeface="Times New Roman" pitchFamily="18" charset="0"/>
              </a:rPr>
              <a:t>TVaR</a:t>
            </a:r>
            <a:r>
              <a:rPr lang="en-US" altLang="zh-CN" sz="2400" b="1" dirty="0" smtClean="0">
                <a:latin typeface="Times New Roman" pitchFamily="18" charset="0"/>
              </a:rPr>
              <a:t> </a:t>
            </a:r>
            <a:r>
              <a:rPr lang="en-US" altLang="zh-CN" sz="2400" b="1" baseline="-25000" dirty="0" smtClean="0"/>
              <a:t>95</a:t>
            </a:r>
            <a:r>
              <a:rPr lang="zh-CN" altLang="en-US" sz="2400" b="1" baseline="-25000" dirty="0" smtClean="0"/>
              <a:t>％</a:t>
            </a:r>
          </a:p>
          <a:p>
            <a:pPr eaLnBrk="1" hangingPunct="1"/>
            <a:endParaRPr lang="zh-CN" altLang="en-US" sz="2400" b="1" baseline="-25000" dirty="0" smtClean="0"/>
          </a:p>
          <a:p>
            <a:pPr eaLnBrk="1" hangingPunct="1"/>
            <a:endParaRPr lang="zh-CN" altLang="en-US" sz="2400" b="1" baseline="-25000" dirty="0" smtClean="0"/>
          </a:p>
          <a:p>
            <a:pPr eaLnBrk="1" hangingPunct="1"/>
            <a:endParaRPr lang="zh-CN" altLang="en-US" sz="2400" b="1" baseline="-25000" dirty="0" smtClean="0"/>
          </a:p>
          <a:p>
            <a:pPr eaLnBrk="1" hangingPunct="1"/>
            <a:endParaRPr lang="zh-CN" altLang="en-US" sz="2400" b="1" baseline="-25000" dirty="0" smtClean="0"/>
          </a:p>
          <a:p>
            <a:pPr eaLnBrk="1" hangingPunct="1"/>
            <a:endParaRPr lang="zh-CN" altLang="en-US" sz="2400" b="1" baseline="-25000" dirty="0" smtClean="0"/>
          </a:p>
          <a:p>
            <a:pPr marL="742950" lvl="1" indent="-285750" eaLnBrk="1" hangingPunct="1">
              <a:buFont typeface="Wingdings" pitchFamily="2" charset="2"/>
              <a:buNone/>
            </a:pPr>
            <a:endParaRPr lang="zh-CN" altLang="en-US" sz="2400" b="1" dirty="0" smtClean="0">
              <a:latin typeface="Times New Roman" pitchFamily="18" charset="0"/>
            </a:endParaRPr>
          </a:p>
          <a:p>
            <a:pPr marL="742950" lvl="1" indent="-285750" eaLnBrk="1" hangingPunct="1">
              <a:buFont typeface="Wingdings" pitchFamily="2" charset="2"/>
              <a:buNone/>
            </a:pPr>
            <a:r>
              <a:rPr lang="zh-CN" altLang="en-US" sz="2400" b="1" dirty="0" smtClean="0">
                <a:latin typeface="Times New Roman" pitchFamily="18" charset="0"/>
              </a:rPr>
              <a:t>因为</a:t>
            </a:r>
            <a:r>
              <a:rPr lang="en-US" altLang="zh-CN" sz="2400" b="1" dirty="0" err="1" smtClean="0">
                <a:latin typeface="Times New Roman" pitchFamily="18" charset="0"/>
              </a:rPr>
              <a:t>VaR</a:t>
            </a:r>
            <a:r>
              <a:rPr lang="en-US" altLang="zh-CN" sz="2400" b="1" baseline="-25000" dirty="0" err="1" smtClean="0"/>
              <a:t>0.90</a:t>
            </a:r>
            <a:r>
              <a:rPr lang="en-US" altLang="zh-CN" sz="2400" b="1" baseline="-25000" dirty="0" smtClean="0"/>
              <a:t> </a:t>
            </a:r>
            <a:r>
              <a:rPr lang="en-US" altLang="zh-CN" sz="2400" b="1" dirty="0" smtClean="0"/>
              <a:t>= 0</a:t>
            </a:r>
            <a:r>
              <a:rPr lang="zh-CN" altLang="en-US" sz="2400" b="1" dirty="0" smtClean="0"/>
              <a:t>，</a:t>
            </a:r>
            <a:r>
              <a:rPr lang="zh-CN" altLang="en-US" sz="2400" b="1" dirty="0" smtClean="0">
                <a:latin typeface="Symbol" pitchFamily="18" charset="2"/>
              </a:rPr>
              <a:t>故</a:t>
            </a:r>
            <a:endParaRPr lang="zh-CN" altLang="en-US" sz="2400" b="1" dirty="0" smtClean="0"/>
          </a:p>
          <a:p>
            <a:pPr eaLnBrk="1" hangingPunct="1"/>
            <a:endParaRPr lang="en-US" altLang="zh-CN" sz="2400" b="1" dirty="0" smtClean="0"/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FC9797CA-A071-4D55-8032-69BC50F567F6}" type="slidenum">
              <a:rPr lang="en-US" altLang="zh-CN"/>
              <a:pPr>
                <a:defRPr/>
              </a:pPr>
              <a:t>36</a:t>
            </a:fld>
            <a:r>
              <a:rPr lang="en-US" altLang="zh-CN"/>
              <a:t> )</a:t>
            </a:r>
          </a:p>
        </p:txBody>
      </p:sp>
      <p:graphicFrame>
        <p:nvGraphicFramePr>
          <p:cNvPr id="1208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260366"/>
              </p:ext>
            </p:extLst>
          </p:nvPr>
        </p:nvGraphicFramePr>
        <p:xfrm>
          <a:off x="1588970" y="2455244"/>
          <a:ext cx="422751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2" name="Equation" r:id="rId3" imgW="2159000" imgH="863600" progId="Equation.DSMT4">
                  <p:embed/>
                </p:oleObj>
              </mc:Choice>
              <mc:Fallback>
                <p:oleObj name="Equation" r:id="rId3" imgW="2159000" imgH="86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970" y="2455244"/>
                        <a:ext cx="4227513" cy="169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294741"/>
              </p:ext>
            </p:extLst>
          </p:nvPr>
        </p:nvGraphicFramePr>
        <p:xfrm>
          <a:off x="1671854" y="5681530"/>
          <a:ext cx="5500688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3" name="Equation" r:id="rId5" imgW="2743200" imgH="393480" progId="Equation.DSMT4">
                  <p:embed/>
                </p:oleObj>
              </mc:Choice>
              <mc:Fallback>
                <p:oleObj name="Equation" r:id="rId5" imgW="2743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854" y="5681530"/>
                        <a:ext cx="5500688" cy="788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64943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549275"/>
            <a:ext cx="8540750" cy="5318125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Times New Roman" pitchFamily="18" charset="0"/>
              </a:rPr>
              <a:t>计算</a:t>
            </a:r>
            <a:r>
              <a:rPr lang="en-US" altLang="zh-CN" sz="2400" dirty="0" err="1" smtClean="0">
                <a:latin typeface="Times New Roman" pitchFamily="18" charset="0"/>
              </a:rPr>
              <a:t>TVaR</a:t>
            </a:r>
            <a:r>
              <a:rPr lang="en-US" altLang="zh-CN" sz="2400" dirty="0" smtClean="0">
                <a:latin typeface="Times New Roman" pitchFamily="18" charset="0"/>
              </a:rPr>
              <a:t> </a:t>
            </a:r>
            <a:r>
              <a:rPr lang="en-US" altLang="zh-CN" sz="2400" baseline="-25000" dirty="0" smtClean="0">
                <a:latin typeface="Times New Roman" pitchFamily="18" charset="0"/>
              </a:rPr>
              <a:t>95</a:t>
            </a:r>
            <a:r>
              <a:rPr lang="zh-CN" altLang="en-US" sz="2400" baseline="-25000" dirty="0" smtClean="0">
                <a:latin typeface="Times New Roman" pitchFamily="18" charset="0"/>
              </a:rPr>
              <a:t>％</a:t>
            </a:r>
          </a:p>
          <a:p>
            <a:pPr eaLnBrk="1" hangingPunct="1"/>
            <a:endParaRPr lang="zh-CN" altLang="en-US" sz="2400" baseline="-25000" dirty="0" smtClean="0">
              <a:latin typeface="Times New Roman" pitchFamily="18" charset="0"/>
            </a:endParaRPr>
          </a:p>
          <a:p>
            <a:pPr eaLnBrk="1" hangingPunct="1"/>
            <a:endParaRPr lang="zh-CN" altLang="en-US" sz="2400" baseline="-25000" dirty="0" smtClean="0">
              <a:latin typeface="Times New Roman" pitchFamily="18" charset="0"/>
            </a:endParaRPr>
          </a:p>
          <a:p>
            <a:pPr eaLnBrk="1" hangingPunct="1"/>
            <a:endParaRPr lang="zh-CN" altLang="en-US" sz="2400" baseline="-25000" dirty="0" smtClean="0">
              <a:latin typeface="Times New Roman" pitchFamily="18" charset="0"/>
            </a:endParaRPr>
          </a:p>
          <a:p>
            <a:pPr eaLnBrk="1" hangingPunct="1"/>
            <a:endParaRPr lang="zh-CN" altLang="en-US" sz="2400" baseline="-25000" dirty="0" smtClean="0">
              <a:latin typeface="Times New Roman" pitchFamily="18" charset="0"/>
            </a:endParaRPr>
          </a:p>
          <a:p>
            <a:pPr eaLnBrk="1" hangingPunct="1"/>
            <a:endParaRPr lang="en-US" altLang="zh-CN" sz="2400" baseline="-25000" dirty="0" smtClean="0">
              <a:latin typeface="Times New Roman" pitchFamily="18" charset="0"/>
            </a:endParaRPr>
          </a:p>
        </p:txBody>
      </p:sp>
      <p:sp>
        <p:nvSpPr>
          <p:cNvPr id="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BEBFB135-E7DC-4A19-8135-466BCADA6126}" type="slidenum">
              <a:rPr lang="en-US" altLang="zh-CN"/>
              <a:pPr>
                <a:defRPr/>
              </a:pPr>
              <a:t>37</a:t>
            </a:fld>
            <a:r>
              <a:rPr lang="en-US" altLang="zh-CN"/>
              <a:t> )</a:t>
            </a:r>
          </a:p>
        </p:txBody>
      </p:sp>
      <p:graphicFrame>
        <p:nvGraphicFramePr>
          <p:cNvPr id="12186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084919"/>
              </p:ext>
            </p:extLst>
          </p:nvPr>
        </p:nvGraphicFramePr>
        <p:xfrm>
          <a:off x="1063625" y="1541463"/>
          <a:ext cx="4227512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6" name="Equation" r:id="rId3" imgW="2159000" imgH="863600" progId="Equation.DSMT4">
                  <p:embed/>
                </p:oleObj>
              </mc:Choice>
              <mc:Fallback>
                <p:oleObj name="Equation" r:id="rId3" imgW="2159000" imgH="86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1541463"/>
                        <a:ext cx="4227512" cy="169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78" name="Rectangle 21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1879" name="Object 22"/>
          <p:cNvGraphicFramePr>
            <a:graphicFrameLocks noChangeAspect="1"/>
          </p:cNvGraphicFramePr>
          <p:nvPr/>
        </p:nvGraphicFramePr>
        <p:xfrm>
          <a:off x="1219200" y="5105400"/>
          <a:ext cx="5211763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" name="Equation" r:id="rId5" imgW="2717800" imgH="393700" progId="Equation.DSMT4">
                  <p:embed/>
                </p:oleObj>
              </mc:Choice>
              <mc:Fallback>
                <p:oleObj name="Equation" r:id="rId5" imgW="27178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05400"/>
                        <a:ext cx="5211763" cy="74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80" name="Text Box 23"/>
          <p:cNvSpPr txBox="1">
            <a:spLocks noChangeArrowheads="1"/>
          </p:cNvSpPr>
          <p:nvPr/>
        </p:nvSpPr>
        <p:spPr bwMode="auto">
          <a:xfrm>
            <a:off x="838200" y="3581400"/>
            <a:ext cx="7924800" cy="1063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dirty="0">
                <a:latin typeface="Arial" charset="0"/>
              </a:rPr>
              <a:t>右尾的</a:t>
            </a:r>
            <a:r>
              <a:rPr lang="en-US" altLang="zh-CN" dirty="0">
                <a:latin typeface="Arial" charset="0"/>
              </a:rPr>
              <a:t>5%</a:t>
            </a:r>
            <a:r>
              <a:rPr lang="zh-CN" altLang="en-US" dirty="0">
                <a:latin typeface="Arial" charset="0"/>
              </a:rPr>
              <a:t>由两部分组成：</a:t>
            </a:r>
            <a:r>
              <a:rPr lang="en-US" altLang="zh-CN" dirty="0">
                <a:latin typeface="Arial" charset="0"/>
              </a:rPr>
              <a:t>4%</a:t>
            </a:r>
            <a:r>
              <a:rPr lang="zh-CN" altLang="en-US" dirty="0">
                <a:latin typeface="Arial" charset="0"/>
              </a:rPr>
              <a:t>的损失为</a:t>
            </a:r>
            <a:r>
              <a:rPr lang="en-US" altLang="zh-CN" dirty="0">
                <a:latin typeface="Arial" charset="0"/>
              </a:rPr>
              <a:t>1000</a:t>
            </a:r>
            <a:r>
              <a:rPr lang="zh-CN" altLang="en-US" dirty="0">
                <a:latin typeface="Arial" charset="0"/>
              </a:rPr>
              <a:t>，</a:t>
            </a:r>
            <a:r>
              <a:rPr lang="en-US" altLang="zh-CN" dirty="0">
                <a:latin typeface="Arial" charset="0"/>
              </a:rPr>
              <a:t>1%</a:t>
            </a:r>
            <a:r>
              <a:rPr lang="zh-CN" altLang="en-US" dirty="0">
                <a:latin typeface="Arial" charset="0"/>
              </a:rPr>
              <a:t>的损失等于</a:t>
            </a:r>
            <a:r>
              <a:rPr lang="en-US" altLang="zh-CN" dirty="0" smtClean="0">
                <a:latin typeface="Arial" charset="0"/>
              </a:rPr>
              <a:t>100 </a:t>
            </a:r>
            <a:r>
              <a:rPr lang="zh-CN" altLang="en-US" dirty="0" smtClean="0">
                <a:latin typeface="Arial" charset="0"/>
              </a:rPr>
              <a:t>（见下页图示），</a:t>
            </a:r>
            <a:r>
              <a:rPr lang="zh-CN" altLang="en-US" dirty="0">
                <a:latin typeface="Arial" charset="0"/>
              </a:rPr>
              <a:t>故</a:t>
            </a:r>
          </a:p>
        </p:txBody>
      </p:sp>
      <p:sp>
        <p:nvSpPr>
          <p:cNvPr id="121881" name="Text Box 24"/>
          <p:cNvSpPr txBox="1">
            <a:spLocks noChangeArrowheads="1"/>
          </p:cNvSpPr>
          <p:nvPr/>
        </p:nvSpPr>
        <p:spPr bwMode="auto">
          <a:xfrm>
            <a:off x="879475" y="336232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 sz="1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5185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r>
              <a:rPr lang="en-US" altLang="zh-CN"/>
              <a:t>( </a:t>
            </a:r>
            <a:fld id="{FEF2A0BB-266E-4C93-B462-D47BCC97D440}" type="slidenum">
              <a:rPr lang="en-US" altLang="zh-CN"/>
              <a:pPr>
                <a:buNone/>
                <a:defRPr/>
              </a:pPr>
              <a:t>38</a:t>
            </a:fld>
            <a:r>
              <a:rPr lang="en-US" altLang="zh-CN"/>
              <a:t> )</a:t>
            </a:r>
          </a:p>
        </p:txBody>
      </p:sp>
      <p:sp>
        <p:nvSpPr>
          <p:cNvPr id="122883" name="Line 2"/>
          <p:cNvSpPr>
            <a:spLocks noChangeShapeType="1"/>
          </p:cNvSpPr>
          <p:nvPr/>
        </p:nvSpPr>
        <p:spPr bwMode="auto">
          <a:xfrm>
            <a:off x="971550" y="6021388"/>
            <a:ext cx="7488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2884" name="Line 3"/>
          <p:cNvSpPr>
            <a:spLocks noChangeShapeType="1"/>
          </p:cNvSpPr>
          <p:nvPr/>
        </p:nvSpPr>
        <p:spPr bwMode="auto">
          <a:xfrm flipV="1">
            <a:off x="971550" y="1411288"/>
            <a:ext cx="0" cy="403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85" name="Line 4"/>
          <p:cNvSpPr>
            <a:spLocks noChangeShapeType="1"/>
          </p:cNvSpPr>
          <p:nvPr/>
        </p:nvSpPr>
        <p:spPr bwMode="auto">
          <a:xfrm>
            <a:off x="971550" y="3789363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2886" name="Text Box 5"/>
          <p:cNvSpPr txBox="1">
            <a:spLocks noChangeArrowheads="1"/>
          </p:cNvSpPr>
          <p:nvPr/>
        </p:nvSpPr>
        <p:spPr bwMode="auto">
          <a:xfrm>
            <a:off x="303213" y="3592513"/>
            <a:ext cx="63350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0.90</a:t>
            </a:r>
          </a:p>
        </p:txBody>
      </p:sp>
      <p:sp>
        <p:nvSpPr>
          <p:cNvPr id="122887" name="Text Box 6"/>
          <p:cNvSpPr txBox="1">
            <a:spLocks noChangeArrowheads="1"/>
          </p:cNvSpPr>
          <p:nvPr/>
        </p:nvSpPr>
        <p:spPr bwMode="auto">
          <a:xfrm>
            <a:off x="342900" y="2924175"/>
            <a:ext cx="63350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0.95</a:t>
            </a:r>
          </a:p>
        </p:txBody>
      </p:sp>
      <p:sp>
        <p:nvSpPr>
          <p:cNvPr id="122888" name="Text Box 7"/>
          <p:cNvSpPr txBox="1">
            <a:spLocks noChangeArrowheads="1"/>
          </p:cNvSpPr>
          <p:nvPr/>
        </p:nvSpPr>
        <p:spPr bwMode="auto">
          <a:xfrm>
            <a:off x="342900" y="2565400"/>
            <a:ext cx="63350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0.96</a:t>
            </a:r>
          </a:p>
        </p:txBody>
      </p:sp>
      <p:sp>
        <p:nvSpPr>
          <p:cNvPr id="122889" name="Text Box 8"/>
          <p:cNvSpPr txBox="1">
            <a:spLocks noChangeArrowheads="1"/>
          </p:cNvSpPr>
          <p:nvPr/>
        </p:nvSpPr>
        <p:spPr bwMode="auto">
          <a:xfrm>
            <a:off x="447675" y="1982788"/>
            <a:ext cx="312906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1</a:t>
            </a:r>
          </a:p>
        </p:txBody>
      </p:sp>
      <p:sp>
        <p:nvSpPr>
          <p:cNvPr id="122890" name="Line 9"/>
          <p:cNvSpPr>
            <a:spLocks noChangeShapeType="1"/>
          </p:cNvSpPr>
          <p:nvPr/>
        </p:nvSpPr>
        <p:spPr bwMode="auto">
          <a:xfrm>
            <a:off x="2843213" y="2708275"/>
            <a:ext cx="0" cy="108108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2891" name="Line 10"/>
          <p:cNvSpPr>
            <a:spLocks noChangeShapeType="1"/>
          </p:cNvSpPr>
          <p:nvPr/>
        </p:nvSpPr>
        <p:spPr bwMode="auto">
          <a:xfrm>
            <a:off x="2843213" y="2708275"/>
            <a:ext cx="4465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2892" name="Line 11"/>
          <p:cNvSpPr>
            <a:spLocks noChangeShapeType="1"/>
          </p:cNvSpPr>
          <p:nvPr/>
        </p:nvSpPr>
        <p:spPr bwMode="auto">
          <a:xfrm>
            <a:off x="7308850" y="2132013"/>
            <a:ext cx="0" cy="5762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2893" name="Line 12"/>
          <p:cNvSpPr>
            <a:spLocks noChangeShapeType="1"/>
          </p:cNvSpPr>
          <p:nvPr/>
        </p:nvSpPr>
        <p:spPr bwMode="auto">
          <a:xfrm>
            <a:off x="7308850" y="2133600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2894" name="Text Box 13"/>
          <p:cNvSpPr txBox="1">
            <a:spLocks noChangeArrowheads="1"/>
          </p:cNvSpPr>
          <p:nvPr/>
        </p:nvSpPr>
        <p:spPr bwMode="auto">
          <a:xfrm>
            <a:off x="808038" y="6086475"/>
            <a:ext cx="312906" cy="43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</a:t>
            </a:r>
          </a:p>
        </p:txBody>
      </p:sp>
      <p:sp>
        <p:nvSpPr>
          <p:cNvPr id="122895" name="Text Box 14"/>
          <p:cNvSpPr txBox="1">
            <a:spLocks noChangeArrowheads="1"/>
          </p:cNvSpPr>
          <p:nvPr/>
        </p:nvSpPr>
        <p:spPr bwMode="auto">
          <a:xfrm>
            <a:off x="2751138" y="6086475"/>
            <a:ext cx="569387" cy="43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100</a:t>
            </a:r>
          </a:p>
        </p:txBody>
      </p:sp>
      <p:sp>
        <p:nvSpPr>
          <p:cNvPr id="122896" name="Text Box 15"/>
          <p:cNvSpPr txBox="1">
            <a:spLocks noChangeArrowheads="1"/>
          </p:cNvSpPr>
          <p:nvPr/>
        </p:nvSpPr>
        <p:spPr bwMode="auto">
          <a:xfrm>
            <a:off x="7216775" y="6086475"/>
            <a:ext cx="697627" cy="43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1000</a:t>
            </a:r>
          </a:p>
        </p:txBody>
      </p:sp>
      <p:sp>
        <p:nvSpPr>
          <p:cNvPr id="122897" name="Line 16"/>
          <p:cNvSpPr>
            <a:spLocks noChangeShapeType="1"/>
          </p:cNvSpPr>
          <p:nvPr/>
        </p:nvSpPr>
        <p:spPr bwMode="auto">
          <a:xfrm>
            <a:off x="971550" y="3068638"/>
            <a:ext cx="1871663" cy="0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2898" name="Line 17"/>
          <p:cNvSpPr>
            <a:spLocks noChangeShapeType="1"/>
          </p:cNvSpPr>
          <p:nvPr/>
        </p:nvSpPr>
        <p:spPr bwMode="auto">
          <a:xfrm>
            <a:off x="971550" y="2708275"/>
            <a:ext cx="1944688" cy="0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2899" name="Line 18"/>
          <p:cNvSpPr>
            <a:spLocks noChangeShapeType="1"/>
          </p:cNvSpPr>
          <p:nvPr/>
        </p:nvSpPr>
        <p:spPr bwMode="auto">
          <a:xfrm>
            <a:off x="971550" y="2133600"/>
            <a:ext cx="6337300" cy="0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2900" name="AutoShape 19"/>
          <p:cNvSpPr>
            <a:spLocks/>
          </p:cNvSpPr>
          <p:nvPr/>
        </p:nvSpPr>
        <p:spPr bwMode="auto">
          <a:xfrm>
            <a:off x="2843213" y="2708275"/>
            <a:ext cx="144462" cy="360363"/>
          </a:xfrm>
          <a:prstGeom prst="rightBrace">
            <a:avLst>
              <a:gd name="adj1" fmla="val 20788"/>
              <a:gd name="adj2" fmla="val 50000"/>
            </a:avLst>
          </a:prstGeom>
          <a:noFill/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None/>
            </a:pPr>
            <a:endParaRPr lang="zh-CN" altLang="en-US"/>
          </a:p>
        </p:txBody>
      </p:sp>
      <p:sp>
        <p:nvSpPr>
          <p:cNvPr id="122901" name="Text Box 20"/>
          <p:cNvSpPr txBox="1">
            <a:spLocks noChangeArrowheads="1"/>
          </p:cNvSpPr>
          <p:nvPr/>
        </p:nvSpPr>
        <p:spPr bwMode="auto">
          <a:xfrm>
            <a:off x="2967038" y="2728913"/>
            <a:ext cx="247696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1800">
                <a:solidFill>
                  <a:srgbClr val="FF0066"/>
                </a:solidFill>
                <a:latin typeface="Arial" charset="0"/>
              </a:rPr>
              <a:t>概率为</a:t>
            </a:r>
            <a:r>
              <a:rPr lang="en-US" altLang="zh-CN" sz="1800">
                <a:solidFill>
                  <a:srgbClr val="FF0066"/>
                </a:solidFill>
                <a:latin typeface="Arial" charset="0"/>
              </a:rPr>
              <a:t>0.01,</a:t>
            </a:r>
            <a:r>
              <a:rPr lang="zh-CN" altLang="en-US" sz="1800">
                <a:solidFill>
                  <a:srgbClr val="FF0066"/>
                </a:solidFill>
                <a:latin typeface="Arial" charset="0"/>
              </a:rPr>
              <a:t>取值为</a:t>
            </a:r>
            <a:r>
              <a:rPr lang="en-US" altLang="zh-CN" sz="1800">
                <a:solidFill>
                  <a:srgbClr val="FF0066"/>
                </a:solidFill>
                <a:latin typeface="Arial" charset="0"/>
              </a:rPr>
              <a:t>100</a:t>
            </a:r>
          </a:p>
        </p:txBody>
      </p:sp>
      <p:sp>
        <p:nvSpPr>
          <p:cNvPr id="122902" name="AutoShape 21"/>
          <p:cNvSpPr>
            <a:spLocks/>
          </p:cNvSpPr>
          <p:nvPr/>
        </p:nvSpPr>
        <p:spPr bwMode="auto">
          <a:xfrm>
            <a:off x="7308850" y="2133600"/>
            <a:ext cx="287338" cy="574675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None/>
            </a:pPr>
            <a:endParaRPr lang="zh-CN" altLang="en-US"/>
          </a:p>
        </p:txBody>
      </p:sp>
      <p:sp>
        <p:nvSpPr>
          <p:cNvPr id="122903" name="Text Box 22"/>
          <p:cNvSpPr txBox="1">
            <a:spLocks noChangeArrowheads="1"/>
          </p:cNvSpPr>
          <p:nvPr/>
        </p:nvSpPr>
        <p:spPr bwMode="auto">
          <a:xfrm>
            <a:off x="7596188" y="2205038"/>
            <a:ext cx="13949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1800">
                <a:solidFill>
                  <a:srgbClr val="FF0066"/>
                </a:solidFill>
                <a:latin typeface="Arial" charset="0"/>
              </a:rPr>
              <a:t>概率为</a:t>
            </a:r>
            <a:r>
              <a:rPr lang="en-US" altLang="zh-CN" sz="1800">
                <a:solidFill>
                  <a:srgbClr val="FF0066"/>
                </a:solidFill>
                <a:latin typeface="Arial" charset="0"/>
              </a:rPr>
              <a:t>0.04,</a:t>
            </a:r>
          </a:p>
          <a:p>
            <a:pPr eaLnBrk="1" hangingPunct="1">
              <a:buNone/>
            </a:pPr>
            <a:r>
              <a:rPr lang="zh-CN" altLang="en-US" sz="1800">
                <a:solidFill>
                  <a:srgbClr val="FF0066"/>
                </a:solidFill>
                <a:latin typeface="Arial" charset="0"/>
              </a:rPr>
              <a:t>取值为</a:t>
            </a:r>
            <a:r>
              <a:rPr lang="en-US" altLang="zh-CN" sz="1800">
                <a:solidFill>
                  <a:srgbClr val="FF0066"/>
                </a:solidFill>
                <a:latin typeface="Arial" charset="0"/>
              </a:rPr>
              <a:t>1000</a:t>
            </a:r>
          </a:p>
        </p:txBody>
      </p:sp>
      <p:sp>
        <p:nvSpPr>
          <p:cNvPr id="122904" name="Text Box 23"/>
          <p:cNvSpPr txBox="1">
            <a:spLocks noChangeArrowheads="1"/>
          </p:cNvSpPr>
          <p:nvPr/>
        </p:nvSpPr>
        <p:spPr bwMode="auto">
          <a:xfrm>
            <a:off x="2843213" y="836613"/>
            <a:ext cx="314380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右尾部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％的损失分布</a:t>
            </a:r>
          </a:p>
        </p:txBody>
      </p:sp>
      <p:sp>
        <p:nvSpPr>
          <p:cNvPr id="122905" name="Line 24"/>
          <p:cNvSpPr>
            <a:spLocks noChangeShapeType="1"/>
          </p:cNvSpPr>
          <p:nvPr/>
        </p:nvSpPr>
        <p:spPr bwMode="auto">
          <a:xfrm>
            <a:off x="971550" y="3789363"/>
            <a:ext cx="0" cy="18716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6" name="Freeform 25"/>
          <p:cNvSpPr>
            <a:spLocks/>
          </p:cNvSpPr>
          <p:nvPr/>
        </p:nvSpPr>
        <p:spPr bwMode="auto">
          <a:xfrm>
            <a:off x="946150" y="5661025"/>
            <a:ext cx="96838" cy="360363"/>
          </a:xfrm>
          <a:custGeom>
            <a:avLst/>
            <a:gdLst>
              <a:gd name="T0" fmla="*/ 7309 w 106"/>
              <a:gd name="T1" fmla="*/ 0 h 272"/>
              <a:gd name="T2" fmla="*/ 90443 w 106"/>
              <a:gd name="T3" fmla="*/ 120563 h 272"/>
              <a:gd name="T4" fmla="*/ 48419 w 106"/>
              <a:gd name="T5" fmla="*/ 180182 h 272"/>
              <a:gd name="T6" fmla="*/ 90443 w 106"/>
              <a:gd name="T7" fmla="*/ 241125 h 272"/>
              <a:gd name="T8" fmla="*/ 7309 w 106"/>
              <a:gd name="T9" fmla="*/ 241125 h 272"/>
              <a:gd name="T10" fmla="*/ 48419 w 106"/>
              <a:gd name="T11" fmla="*/ 360363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6" h="272">
                <a:moveTo>
                  <a:pt x="8" y="0"/>
                </a:moveTo>
                <a:cubicBezTo>
                  <a:pt x="50" y="34"/>
                  <a:pt x="92" y="68"/>
                  <a:pt x="99" y="91"/>
                </a:cubicBezTo>
                <a:cubicBezTo>
                  <a:pt x="106" y="114"/>
                  <a:pt x="53" y="121"/>
                  <a:pt x="53" y="136"/>
                </a:cubicBezTo>
                <a:cubicBezTo>
                  <a:pt x="53" y="151"/>
                  <a:pt x="106" y="174"/>
                  <a:pt x="99" y="182"/>
                </a:cubicBezTo>
                <a:cubicBezTo>
                  <a:pt x="92" y="190"/>
                  <a:pt x="16" y="167"/>
                  <a:pt x="8" y="182"/>
                </a:cubicBezTo>
                <a:cubicBezTo>
                  <a:pt x="0" y="197"/>
                  <a:pt x="46" y="257"/>
                  <a:pt x="53" y="27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903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Line 4"/>
          <p:cNvSpPr>
            <a:spLocks noChangeShapeType="1"/>
          </p:cNvSpPr>
          <p:nvPr/>
        </p:nvSpPr>
        <p:spPr bwMode="auto">
          <a:xfrm>
            <a:off x="971550" y="6323013"/>
            <a:ext cx="741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3908" name="Line 5"/>
          <p:cNvSpPr>
            <a:spLocks noChangeShapeType="1"/>
          </p:cNvSpPr>
          <p:nvPr/>
        </p:nvSpPr>
        <p:spPr bwMode="auto">
          <a:xfrm flipV="1">
            <a:off x="971550" y="1066800"/>
            <a:ext cx="0" cy="525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3909" name="Freeform 6"/>
          <p:cNvSpPr>
            <a:spLocks/>
          </p:cNvSpPr>
          <p:nvPr/>
        </p:nvSpPr>
        <p:spPr bwMode="auto">
          <a:xfrm>
            <a:off x="971550" y="3875088"/>
            <a:ext cx="3240088" cy="2447925"/>
          </a:xfrm>
          <a:custGeom>
            <a:avLst/>
            <a:gdLst>
              <a:gd name="T0" fmla="*/ 0 w 2041"/>
              <a:gd name="T1" fmla="*/ 2447925 h 1542"/>
              <a:gd name="T2" fmla="*/ 792163 w 2041"/>
              <a:gd name="T3" fmla="*/ 1295400 h 1542"/>
              <a:gd name="T4" fmla="*/ 1800225 w 2041"/>
              <a:gd name="T5" fmla="*/ 431800 h 1542"/>
              <a:gd name="T6" fmla="*/ 3240088 w 2041"/>
              <a:gd name="T7" fmla="*/ 0 h 15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41" h="1542">
                <a:moveTo>
                  <a:pt x="0" y="1542"/>
                </a:moveTo>
                <a:cubicBezTo>
                  <a:pt x="155" y="1285"/>
                  <a:pt x="310" y="1028"/>
                  <a:pt x="499" y="816"/>
                </a:cubicBezTo>
                <a:cubicBezTo>
                  <a:pt x="688" y="604"/>
                  <a:pt x="877" y="408"/>
                  <a:pt x="1134" y="272"/>
                </a:cubicBezTo>
                <a:cubicBezTo>
                  <a:pt x="1391" y="136"/>
                  <a:pt x="1890" y="45"/>
                  <a:pt x="2041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3910" name="Line 7"/>
          <p:cNvSpPr>
            <a:spLocks noChangeShapeType="1"/>
          </p:cNvSpPr>
          <p:nvPr/>
        </p:nvSpPr>
        <p:spPr bwMode="auto">
          <a:xfrm>
            <a:off x="4211638" y="2938463"/>
            <a:ext cx="0" cy="936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3911" name="Freeform 8"/>
          <p:cNvSpPr>
            <a:spLocks/>
          </p:cNvSpPr>
          <p:nvPr/>
        </p:nvSpPr>
        <p:spPr bwMode="auto">
          <a:xfrm>
            <a:off x="4211638" y="2506663"/>
            <a:ext cx="4248150" cy="430212"/>
          </a:xfrm>
          <a:custGeom>
            <a:avLst/>
            <a:gdLst>
              <a:gd name="T0" fmla="*/ 0 w 2676"/>
              <a:gd name="T1" fmla="*/ 430212 h 589"/>
              <a:gd name="T2" fmla="*/ 792163 w 2676"/>
              <a:gd name="T3" fmla="*/ 198672 h 589"/>
              <a:gd name="T4" fmla="*/ 2016125 w 2676"/>
              <a:gd name="T5" fmla="*/ 32868 h 589"/>
              <a:gd name="T6" fmla="*/ 4248150 w 2676"/>
              <a:gd name="T7" fmla="*/ 0 h 5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76" h="589">
                <a:moveTo>
                  <a:pt x="0" y="589"/>
                </a:moveTo>
                <a:cubicBezTo>
                  <a:pt x="143" y="476"/>
                  <a:pt x="287" y="363"/>
                  <a:pt x="499" y="272"/>
                </a:cubicBezTo>
                <a:cubicBezTo>
                  <a:pt x="711" y="181"/>
                  <a:pt x="907" y="90"/>
                  <a:pt x="1270" y="45"/>
                </a:cubicBezTo>
                <a:cubicBezTo>
                  <a:pt x="1633" y="0"/>
                  <a:pt x="2154" y="0"/>
                  <a:pt x="267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12" name="Text Box 9"/>
          <p:cNvSpPr txBox="1">
            <a:spLocks noChangeArrowheads="1"/>
          </p:cNvSpPr>
          <p:nvPr/>
        </p:nvSpPr>
        <p:spPr bwMode="auto">
          <a:xfrm>
            <a:off x="4048125" y="6342063"/>
            <a:ext cx="56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 b="1">
                <a:latin typeface="Arial" charset="0"/>
              </a:rPr>
              <a:t>100</a:t>
            </a:r>
          </a:p>
        </p:txBody>
      </p:sp>
      <p:sp>
        <p:nvSpPr>
          <p:cNvPr id="123913" name="Line 10"/>
          <p:cNvSpPr>
            <a:spLocks noChangeShapeType="1"/>
          </p:cNvSpPr>
          <p:nvPr/>
        </p:nvSpPr>
        <p:spPr bwMode="auto">
          <a:xfrm flipV="1">
            <a:off x="971550" y="3875088"/>
            <a:ext cx="3240088" cy="0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3914" name="Line 11"/>
          <p:cNvSpPr>
            <a:spLocks noChangeShapeType="1"/>
          </p:cNvSpPr>
          <p:nvPr/>
        </p:nvSpPr>
        <p:spPr bwMode="auto">
          <a:xfrm>
            <a:off x="971550" y="2938463"/>
            <a:ext cx="3240088" cy="0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3915" name="Text Box 12"/>
          <p:cNvSpPr txBox="1">
            <a:spLocks noChangeArrowheads="1"/>
          </p:cNvSpPr>
          <p:nvPr/>
        </p:nvSpPr>
        <p:spPr bwMode="auto">
          <a:xfrm>
            <a:off x="395288" y="3678238"/>
            <a:ext cx="63350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0.85</a:t>
            </a:r>
          </a:p>
        </p:txBody>
      </p:sp>
      <p:sp>
        <p:nvSpPr>
          <p:cNvPr id="123916" name="Text Box 13"/>
          <p:cNvSpPr txBox="1">
            <a:spLocks noChangeArrowheads="1"/>
          </p:cNvSpPr>
          <p:nvPr/>
        </p:nvSpPr>
        <p:spPr bwMode="auto">
          <a:xfrm>
            <a:off x="414338" y="2794000"/>
            <a:ext cx="63350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0.96</a:t>
            </a:r>
          </a:p>
        </p:txBody>
      </p:sp>
      <p:sp>
        <p:nvSpPr>
          <p:cNvPr id="123917" name="Line 14"/>
          <p:cNvSpPr>
            <a:spLocks noChangeShapeType="1"/>
          </p:cNvSpPr>
          <p:nvPr/>
        </p:nvSpPr>
        <p:spPr bwMode="auto">
          <a:xfrm>
            <a:off x="971550" y="3441700"/>
            <a:ext cx="3240088" cy="0"/>
          </a:xfrm>
          <a:prstGeom prst="line">
            <a:avLst/>
          </a:prstGeom>
          <a:noFill/>
          <a:ln w="28575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23918" name="Text Box 15"/>
          <p:cNvSpPr txBox="1">
            <a:spLocks noChangeArrowheads="1"/>
          </p:cNvSpPr>
          <p:nvPr/>
        </p:nvSpPr>
        <p:spPr bwMode="auto">
          <a:xfrm>
            <a:off x="395288" y="3225800"/>
            <a:ext cx="63350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0.90</a:t>
            </a:r>
          </a:p>
        </p:txBody>
      </p:sp>
      <p:sp>
        <p:nvSpPr>
          <p:cNvPr id="123919" name="AutoShape 16"/>
          <p:cNvSpPr>
            <a:spLocks/>
          </p:cNvSpPr>
          <p:nvPr/>
        </p:nvSpPr>
        <p:spPr bwMode="auto">
          <a:xfrm>
            <a:off x="4284663" y="2938463"/>
            <a:ext cx="215900" cy="503237"/>
          </a:xfrm>
          <a:prstGeom prst="rightBrace">
            <a:avLst>
              <a:gd name="adj1" fmla="val 19424"/>
              <a:gd name="adj2" fmla="val 50000"/>
            </a:avLst>
          </a:prstGeom>
          <a:noFill/>
          <a:ln w="9525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None/>
            </a:pPr>
            <a:endParaRPr lang="zh-CN" altLang="en-US"/>
          </a:p>
        </p:txBody>
      </p:sp>
      <p:sp>
        <p:nvSpPr>
          <p:cNvPr id="123920" name="Text Box 17"/>
          <p:cNvSpPr txBox="1">
            <a:spLocks noChangeArrowheads="1"/>
          </p:cNvSpPr>
          <p:nvPr/>
        </p:nvSpPr>
        <p:spPr bwMode="auto">
          <a:xfrm>
            <a:off x="4427538" y="3009900"/>
            <a:ext cx="63350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solidFill>
                  <a:srgbClr val="FF0066"/>
                </a:solidFill>
                <a:latin typeface="Arial" charset="0"/>
              </a:rPr>
              <a:t>0.06</a:t>
            </a:r>
          </a:p>
        </p:txBody>
      </p:sp>
      <p:sp>
        <p:nvSpPr>
          <p:cNvPr id="123921" name="Text Box 18"/>
          <p:cNvSpPr txBox="1">
            <a:spLocks noChangeArrowheads="1"/>
          </p:cNvSpPr>
          <p:nvPr/>
        </p:nvSpPr>
        <p:spPr bwMode="auto">
          <a:xfrm>
            <a:off x="663575" y="2282825"/>
            <a:ext cx="31115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>
                <a:latin typeface="Arial" charset="0"/>
              </a:rPr>
              <a:t>1</a:t>
            </a:r>
          </a:p>
        </p:txBody>
      </p:sp>
      <p:sp>
        <p:nvSpPr>
          <p:cNvPr id="123922" name="Line 19"/>
          <p:cNvSpPr>
            <a:spLocks noChangeShapeType="1"/>
          </p:cNvSpPr>
          <p:nvPr/>
        </p:nvSpPr>
        <p:spPr bwMode="auto">
          <a:xfrm>
            <a:off x="971550" y="2506663"/>
            <a:ext cx="7561263" cy="0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3" name="Text Box 22"/>
          <p:cNvSpPr txBox="1">
            <a:spLocks noChangeArrowheads="1"/>
          </p:cNvSpPr>
          <p:nvPr/>
        </p:nvSpPr>
        <p:spPr bwMode="auto">
          <a:xfrm>
            <a:off x="7864475" y="6416675"/>
            <a:ext cx="300082" cy="437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 i="1" dirty="0"/>
              <a:t>x</a:t>
            </a:r>
          </a:p>
        </p:txBody>
      </p:sp>
      <p:sp>
        <p:nvSpPr>
          <p:cNvPr id="123924" name="Text Box 23"/>
          <p:cNvSpPr txBox="1">
            <a:spLocks noChangeArrowheads="1"/>
          </p:cNvSpPr>
          <p:nvPr/>
        </p:nvSpPr>
        <p:spPr bwMode="auto">
          <a:xfrm>
            <a:off x="393700" y="883443"/>
            <a:ext cx="607859" cy="437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None/>
            </a:pP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x</a:t>
            </a:r>
            <a:r>
              <a:rPr lang="en-US" altLang="zh-CN" sz="1800" dirty="0"/>
              <a:t>)</a:t>
            </a:r>
          </a:p>
        </p:txBody>
      </p:sp>
      <p:graphicFrame>
        <p:nvGraphicFramePr>
          <p:cNvPr id="12392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769368"/>
              </p:ext>
            </p:extLst>
          </p:nvPr>
        </p:nvGraphicFramePr>
        <p:xfrm>
          <a:off x="3311525" y="4753768"/>
          <a:ext cx="48387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0" name="Equation" r:id="rId3" imgW="2578100" imgH="368300" progId="Equation.DSMT4">
                  <p:embed/>
                </p:oleObj>
              </mc:Choice>
              <mc:Fallback>
                <p:oleObj name="Equation" r:id="rId3" imgW="25781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4753768"/>
                        <a:ext cx="4838700" cy="69056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1970881" y="411161"/>
            <a:ext cx="5562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/>
              <a:t>例：</a:t>
            </a:r>
            <a:r>
              <a:rPr lang="zh-CN" altLang="en-US" sz="2000" dirty="0" smtClean="0"/>
              <a:t>如何</a:t>
            </a:r>
            <a:r>
              <a:rPr lang="zh-CN" altLang="en-US" sz="2000" dirty="0"/>
              <a:t>计算</a:t>
            </a:r>
            <a:r>
              <a:rPr lang="en-US" altLang="zh-CN" sz="2000" dirty="0"/>
              <a:t>TVaR</a:t>
            </a:r>
            <a:r>
              <a:rPr lang="en-US" altLang="zh-CN" sz="2000" baseline="-25000" dirty="0"/>
              <a:t>0.90</a:t>
            </a:r>
            <a:r>
              <a:rPr lang="zh-CN" altLang="en-US" sz="2000" dirty="0"/>
              <a:t>？</a:t>
            </a:r>
          </a:p>
          <a:p>
            <a:pPr eaLnBrk="1" hangingPunct="1"/>
            <a:r>
              <a:rPr lang="zh-CN" altLang="en-US" sz="2000" dirty="0"/>
              <a:t>右尾</a:t>
            </a:r>
            <a:r>
              <a:rPr lang="en-US" altLang="zh-CN" sz="2000" dirty="0"/>
              <a:t>10%</a:t>
            </a:r>
            <a:r>
              <a:rPr lang="zh-CN" altLang="en-US" sz="2000" dirty="0"/>
              <a:t>的损失的均值：</a:t>
            </a:r>
          </a:p>
          <a:p>
            <a:pPr eaLnBrk="1" hangingPunct="1"/>
            <a:r>
              <a:rPr lang="zh-CN" altLang="en-US" sz="2000" dirty="0"/>
              <a:t>最右尾</a:t>
            </a:r>
            <a:r>
              <a:rPr lang="en-US" altLang="zh-CN" sz="2000" dirty="0"/>
              <a:t>4%</a:t>
            </a:r>
            <a:r>
              <a:rPr lang="zh-CN" altLang="en-US" sz="2000" dirty="0"/>
              <a:t>的损失：均值为</a:t>
            </a:r>
            <a:r>
              <a:rPr lang="en-US" altLang="zh-CN" sz="2000" dirty="0" smtClean="0"/>
              <a:t>E ( </a:t>
            </a:r>
            <a:r>
              <a:rPr lang="en-US" altLang="zh-CN" sz="2000" i="1" dirty="0" smtClean="0"/>
              <a:t>X  </a:t>
            </a:r>
            <a:r>
              <a:rPr lang="en-US" altLang="zh-CN" sz="2000" dirty="0" smtClean="0"/>
              <a:t>| </a:t>
            </a:r>
            <a:r>
              <a:rPr lang="en-US" altLang="zh-CN" sz="2000" i="1" dirty="0" smtClean="0"/>
              <a:t>X </a:t>
            </a:r>
            <a:r>
              <a:rPr lang="en-US" altLang="zh-CN" sz="2000" dirty="0" smtClean="0"/>
              <a:t>&gt; 100</a:t>
            </a:r>
            <a:r>
              <a:rPr lang="en-US" altLang="zh-CN" sz="2000" dirty="0"/>
              <a:t>)</a:t>
            </a:r>
          </a:p>
          <a:p>
            <a:pPr eaLnBrk="1" hangingPunct="1"/>
            <a:r>
              <a:rPr lang="zh-CN" altLang="en-US" sz="2000" dirty="0"/>
              <a:t>剩余的</a:t>
            </a:r>
            <a:r>
              <a:rPr lang="en-US" altLang="zh-CN" sz="2000" dirty="0"/>
              <a:t>6%</a:t>
            </a:r>
            <a:r>
              <a:rPr lang="zh-CN" altLang="en-US" sz="2000" dirty="0"/>
              <a:t>的损失：均值为</a:t>
            </a:r>
            <a:r>
              <a:rPr lang="en-US" altLang="zh-CN" sz="2000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443907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课堂练习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6075" y="1607253"/>
            <a:ext cx="8229600" cy="4382717"/>
          </a:xfrm>
        </p:spPr>
        <p:txBody>
          <a:bodyPr/>
          <a:lstStyle/>
          <a:p>
            <a:r>
              <a:rPr lang="zh-CN" altLang="en-US" sz="2400" b="1" dirty="0" smtClean="0"/>
              <a:t>用 </a:t>
            </a:r>
            <a:r>
              <a:rPr lang="en-US" altLang="zh-CN" sz="2400" b="1" dirty="0" smtClean="0"/>
              <a:t>R </a:t>
            </a:r>
            <a:r>
              <a:rPr lang="zh-CN" altLang="en-US" sz="2400" b="1" dirty="0" smtClean="0"/>
              <a:t>生成如下损失随机数</a:t>
            </a:r>
            <a:r>
              <a:rPr lang="en-US" altLang="zh-CN" sz="2400" b="1" dirty="0" smtClean="0"/>
              <a:t>loss</a:t>
            </a:r>
            <a:r>
              <a:rPr lang="zh-CN" altLang="en-US" sz="2400" b="1" dirty="0" smtClean="0"/>
              <a:t>：</a:t>
            </a:r>
            <a:endParaRPr lang="en-US" altLang="zh-CN" sz="2400" b="1" dirty="0" smtClean="0"/>
          </a:p>
          <a:p>
            <a:pPr marL="0" indent="0">
              <a:buNone/>
            </a:pPr>
            <a:r>
              <a:rPr lang="en-US" altLang="zh-CN" sz="2400" b="1" dirty="0" smtClean="0"/>
              <a:t>     </a:t>
            </a:r>
            <a:r>
              <a:rPr lang="en-US" altLang="zh-CN" sz="2400" b="1" dirty="0" err="1" smtClean="0"/>
              <a:t>set.seed</a:t>
            </a:r>
            <a:r>
              <a:rPr lang="en-US" altLang="zh-CN" sz="2400" b="1" dirty="0" smtClean="0"/>
              <a:t>(111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 smtClean="0"/>
              <a:t>     loss = c(</a:t>
            </a:r>
            <a:r>
              <a:rPr lang="en-US" altLang="zh-CN" sz="2400" b="1" dirty="0" err="1" smtClean="0"/>
              <a:t>rlnorm</a:t>
            </a:r>
            <a:r>
              <a:rPr lang="en-US" altLang="zh-CN" sz="2400" b="1" dirty="0" smtClean="0"/>
              <a:t>(100,0,1</a:t>
            </a:r>
            <a:r>
              <a:rPr lang="en-US" altLang="zh-CN" sz="2400" b="1" dirty="0"/>
              <a:t>),rep(2,40</a:t>
            </a:r>
            <a:r>
              <a:rPr lang="en-US" altLang="zh-CN" sz="2400" b="1" dirty="0" smtClean="0"/>
              <a:t>))</a:t>
            </a:r>
          </a:p>
          <a:p>
            <a:pPr marL="0" indent="0">
              <a:buNone/>
            </a:pPr>
            <a:r>
              <a:rPr lang="zh-CN" altLang="en-US" sz="2400" b="1" dirty="0" smtClean="0"/>
              <a:t>     在 </a:t>
            </a:r>
            <a:r>
              <a:rPr lang="en-US" altLang="zh-CN" sz="2400" b="1" dirty="0" smtClean="0"/>
              <a:t>99% </a:t>
            </a:r>
            <a:r>
              <a:rPr lang="zh-CN" altLang="en-US" sz="2400" b="1" dirty="0" smtClean="0"/>
              <a:t>水平下，计算</a:t>
            </a:r>
            <a:r>
              <a:rPr lang="en-US" altLang="zh-CN" sz="2400" b="1" dirty="0" err="1" smtClean="0"/>
              <a:t>VaR</a:t>
            </a:r>
            <a:r>
              <a:rPr lang="zh-CN" altLang="en-US" sz="2400" b="1" dirty="0" smtClean="0"/>
              <a:t>和</a:t>
            </a:r>
            <a:r>
              <a:rPr lang="en-US" altLang="zh-CN" sz="2400" b="1" dirty="0" err="1" smtClean="0"/>
              <a:t>TVaR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假设损失服从</a:t>
            </a:r>
            <a:r>
              <a:rPr lang="en-US" altLang="zh-CN" sz="2400" b="1" dirty="0" smtClean="0"/>
              <a:t>gamma(shape=</a:t>
            </a:r>
            <a:r>
              <a:rPr lang="en-US" altLang="zh-CN" sz="2400" b="1" dirty="0" err="1" smtClean="0"/>
              <a:t>3,scale</a:t>
            </a:r>
            <a:r>
              <a:rPr lang="en-US" altLang="zh-CN" sz="2400" b="1" dirty="0" smtClean="0"/>
              <a:t>=400)</a:t>
            </a:r>
            <a:r>
              <a:rPr lang="zh-CN" altLang="en-US" sz="2400" b="1" dirty="0" smtClean="0"/>
              <a:t>，计算</a:t>
            </a:r>
            <a:r>
              <a:rPr lang="en-US" altLang="zh-CN" sz="2400" b="1" dirty="0" smtClean="0"/>
              <a:t>95%</a:t>
            </a:r>
            <a:r>
              <a:rPr lang="zh-CN" altLang="en-US" sz="2400" b="1" dirty="0" smtClean="0"/>
              <a:t>水平下的</a:t>
            </a:r>
            <a:r>
              <a:rPr lang="en-US" altLang="zh-CN" sz="2400" b="1" dirty="0" err="1" smtClean="0"/>
              <a:t>VaR</a:t>
            </a:r>
            <a:r>
              <a:rPr lang="zh-CN" altLang="en-US" sz="2400" b="1" dirty="0" smtClean="0"/>
              <a:t>和</a:t>
            </a:r>
            <a:r>
              <a:rPr lang="en-US" altLang="zh-CN" sz="2400" b="1" dirty="0" err="1" smtClean="0"/>
              <a:t>TVaR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假设</a:t>
            </a:r>
            <a:r>
              <a:rPr lang="zh-CN" altLang="en-US" sz="2400" b="1" dirty="0"/>
              <a:t>损失</a:t>
            </a:r>
            <a:r>
              <a:rPr lang="zh-CN" altLang="en-US" sz="2400" b="1" dirty="0" smtClean="0"/>
              <a:t>服从</a:t>
            </a:r>
            <a:r>
              <a:rPr lang="en-US" altLang="zh-CN" sz="2400" b="1" dirty="0" err="1" smtClean="0"/>
              <a:t>lnorm</a:t>
            </a:r>
            <a:r>
              <a:rPr lang="en-US" altLang="zh-CN" sz="2400" b="1" dirty="0" smtClean="0"/>
              <a:t>(</a:t>
            </a:r>
            <a:r>
              <a:rPr lang="en-US" altLang="zh-CN" sz="2400" b="1" dirty="0" err="1" smtClean="0"/>
              <a:t>meanlog</a:t>
            </a:r>
            <a:r>
              <a:rPr lang="en-US" altLang="zh-CN" sz="2400" b="1" dirty="0" smtClean="0"/>
              <a:t>=</a:t>
            </a:r>
            <a:r>
              <a:rPr lang="en-US" altLang="zh-CN" sz="2400" b="1" dirty="0" err="1" smtClean="0"/>
              <a:t>3,sdlog</a:t>
            </a:r>
            <a:r>
              <a:rPr lang="en-US" altLang="zh-CN" sz="2400" b="1" dirty="0" smtClean="0"/>
              <a:t>=2)</a:t>
            </a:r>
            <a:r>
              <a:rPr lang="zh-CN" altLang="en-US" sz="2400" b="1" dirty="0"/>
              <a:t>，计算</a:t>
            </a:r>
            <a:r>
              <a:rPr lang="en-US" altLang="zh-CN" sz="2400" b="1" dirty="0"/>
              <a:t>95%</a:t>
            </a:r>
            <a:r>
              <a:rPr lang="zh-CN" altLang="en-US" sz="2400" b="1" dirty="0"/>
              <a:t>水平下的</a:t>
            </a:r>
            <a:r>
              <a:rPr lang="en-US" altLang="zh-CN" sz="2400" b="1" dirty="0" err="1"/>
              <a:t>VaR</a:t>
            </a:r>
            <a:r>
              <a:rPr lang="zh-CN" altLang="en-US" sz="2400" b="1" dirty="0"/>
              <a:t>和</a:t>
            </a:r>
            <a:r>
              <a:rPr lang="en-US" altLang="zh-CN" sz="2400" b="1" dirty="0" err="1"/>
              <a:t>TVaR</a:t>
            </a:r>
            <a:endParaRPr lang="zh-CN" altLang="en-US" sz="2400" b="1" dirty="0"/>
          </a:p>
          <a:p>
            <a:pPr marL="0" indent="0">
              <a:buNone/>
            </a:pPr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mtClean="0"/>
              <a:t>( </a:t>
            </a:r>
            <a:fld id="{6F4965D5-0B8C-4940-A118-ACA2133EA7E7}" type="slidenum">
              <a:rPr lang="en-US" altLang="zh-CN" smtClean="0"/>
              <a:pPr>
                <a:defRPr/>
              </a:pPr>
              <a:t>40</a:t>
            </a:fld>
            <a:r>
              <a:rPr lang="en-US" altLang="zh-CN" smtClean="0"/>
              <a:t> )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26093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3927"/>
            <a:ext cx="8229600" cy="789140"/>
          </a:xfrm>
        </p:spPr>
        <p:txBody>
          <a:bodyPr/>
          <a:lstStyle/>
          <a:p>
            <a:pPr eaLnBrk="1" hangingPunct="1"/>
            <a:r>
              <a:rPr lang="zh-CN" altLang="en-US" sz="2800" dirty="0" smtClean="0">
                <a:latin typeface="+mj-lt"/>
              </a:rPr>
              <a:t>保费原理（</a:t>
            </a:r>
            <a:r>
              <a:rPr lang="en-US" altLang="zh-CN" sz="2800" dirty="0" smtClean="0">
                <a:latin typeface="+mj-lt"/>
              </a:rPr>
              <a:t>Premium principles）</a:t>
            </a:r>
          </a:p>
        </p:txBody>
      </p:sp>
      <p:sp>
        <p:nvSpPr>
          <p:cNvPr id="1669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1" dirty="0" smtClean="0">
                <a:solidFill>
                  <a:srgbClr val="000066"/>
                </a:solidFill>
                <a:latin typeface="Times New Roman" pitchFamily="18" charset="0"/>
              </a:rPr>
              <a:t>定义</a:t>
            </a:r>
            <a:r>
              <a:rPr lang="zh-CN" altLang="en-US" sz="2400" b="1" dirty="0" smtClean="0">
                <a:latin typeface="Times New Roman" pitchFamily="18" charset="0"/>
              </a:rPr>
              <a:t>：根据随机损失确定风险保费的一个函数，该函数将一个随机变量（随机损失）转化为一个确定值（风险保费）。</a:t>
            </a:r>
          </a:p>
          <a:p>
            <a:pPr eaLnBrk="1" hangingPunct="1"/>
            <a:r>
              <a:rPr lang="zh-CN" altLang="en-US" sz="2400" b="1" dirty="0" smtClean="0">
                <a:latin typeface="Times New Roman" pitchFamily="18" charset="0"/>
              </a:rPr>
              <a:t>假设</a:t>
            </a:r>
          </a:p>
          <a:p>
            <a:pPr lvl="1" eaLnBrk="1" hangingPunct="1"/>
            <a:r>
              <a:rPr lang="en-US" altLang="zh-CN" sz="2400" b="1" i="1" dirty="0" smtClean="0">
                <a:latin typeface="Times New Roman" pitchFamily="18" charset="0"/>
              </a:rPr>
              <a:t>X</a:t>
            </a:r>
            <a:r>
              <a:rPr lang="en-US" altLang="zh-CN" sz="2400" b="1" dirty="0" smtClean="0">
                <a:latin typeface="Times New Roman" pitchFamily="18" charset="0"/>
              </a:rPr>
              <a:t>      </a:t>
            </a:r>
            <a:r>
              <a:rPr lang="zh-CN" altLang="en-US" sz="2400" b="1" dirty="0" smtClean="0">
                <a:latin typeface="Times New Roman" pitchFamily="18" charset="0"/>
              </a:rPr>
              <a:t>随机损失</a:t>
            </a:r>
          </a:p>
          <a:p>
            <a:pPr lvl="1" eaLnBrk="1" hangingPunct="1"/>
            <a:r>
              <a:rPr lang="en-US" altLang="zh-CN" sz="2400" b="1" i="1" dirty="0" smtClean="0">
                <a:latin typeface="Times New Roman" pitchFamily="18" charset="0"/>
              </a:rPr>
              <a:t>H     </a:t>
            </a:r>
            <a:r>
              <a:rPr lang="zh-CN" altLang="en-US" sz="2400" b="1" dirty="0" smtClean="0">
                <a:latin typeface="Times New Roman" pitchFamily="18" charset="0"/>
              </a:rPr>
              <a:t>保费原理</a:t>
            </a:r>
          </a:p>
          <a:p>
            <a:pPr lvl="1" eaLnBrk="1" hangingPunct="1"/>
            <a:r>
              <a:rPr lang="en-US" altLang="zh-CN" sz="2400" b="1" i="1" dirty="0" smtClean="0">
                <a:latin typeface="Times New Roman" pitchFamily="18" charset="0"/>
              </a:rPr>
              <a:t>H</a:t>
            </a:r>
            <a:r>
              <a:rPr lang="en-US" altLang="zh-CN" sz="2400" b="1" dirty="0" smtClean="0">
                <a:latin typeface="Times New Roman" pitchFamily="18" charset="0"/>
              </a:rPr>
              <a:t>(</a:t>
            </a:r>
            <a:r>
              <a:rPr lang="en-US" altLang="zh-CN" sz="2400" b="1" i="1" dirty="0" smtClean="0">
                <a:latin typeface="Times New Roman" pitchFamily="18" charset="0"/>
              </a:rPr>
              <a:t>X</a:t>
            </a:r>
            <a:r>
              <a:rPr lang="en-US" altLang="zh-CN" sz="2400" b="1" dirty="0" smtClean="0">
                <a:latin typeface="Times New Roman" pitchFamily="18" charset="0"/>
              </a:rPr>
              <a:t>)   </a:t>
            </a:r>
            <a:r>
              <a:rPr lang="zh-CN" altLang="en-US" sz="2400" b="1" dirty="0" smtClean="0">
                <a:latin typeface="Times New Roman" pitchFamily="18" charset="0"/>
              </a:rPr>
              <a:t>风险保费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31A51D2A-693B-4EB2-90DF-26573B35E14F}" type="slidenum">
              <a:rPr lang="en-US" altLang="zh-CN"/>
              <a:pPr>
                <a:defRPr/>
              </a:pPr>
              <a:t>41</a:t>
            </a:fld>
            <a:r>
              <a:rPr lang="en-US" altLang="zh-CN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2310463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400" dirty="0" smtClean="0">
                <a:latin typeface="Times New Roman" pitchFamily="18" charset="0"/>
              </a:rPr>
              <a:t>（</a:t>
            </a:r>
            <a:r>
              <a:rPr lang="en-US" altLang="zh-CN" sz="2400" dirty="0" smtClean="0">
                <a:latin typeface="Times New Roman" pitchFamily="18" charset="0"/>
              </a:rPr>
              <a:t>1</a:t>
            </a:r>
            <a:r>
              <a:rPr lang="zh-CN" altLang="en-US" sz="2400" dirty="0" smtClean="0">
                <a:latin typeface="Times New Roman" pitchFamily="18" charset="0"/>
              </a:rPr>
              <a:t>）</a:t>
            </a:r>
            <a:r>
              <a:rPr lang="en-US" altLang="zh-CN" sz="2400" dirty="0" smtClean="0">
                <a:latin typeface="Times New Roman" pitchFamily="18" charset="0"/>
              </a:rPr>
              <a:t>net premium    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   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 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endParaRPr lang="en-US" altLang="zh-CN" sz="2400" dirty="0">
              <a:latin typeface="Times New Roman" pitchFamily="18" charset="0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 </a:t>
            </a:r>
            <a:r>
              <a:rPr lang="zh-CN" altLang="en-US" sz="2400" dirty="0" smtClean="0">
                <a:latin typeface="Times New Roman" pitchFamily="18" charset="0"/>
              </a:rPr>
              <a:t>适用于风险中性的保险人。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endParaRPr lang="zh-CN" alt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i="1" dirty="0" smtClean="0">
                <a:latin typeface="Times New Roman" pitchFamily="18" charset="0"/>
              </a:rPr>
              <a:t>                                                                             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0F78FF8D-A667-4361-911E-3F2695816D21}" type="slidenum">
              <a:rPr lang="en-US" altLang="zh-CN"/>
              <a:pPr>
                <a:defRPr/>
              </a:pPr>
              <a:t>42</a:t>
            </a:fld>
            <a:r>
              <a:rPr lang="en-US" altLang="zh-CN"/>
              <a:t> )</a:t>
            </a: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7941" name="Object 5"/>
          <p:cNvGraphicFramePr>
            <a:graphicFrameLocks noChangeAspect="1"/>
          </p:cNvGraphicFramePr>
          <p:nvPr>
            <p:extLst/>
          </p:nvPr>
        </p:nvGraphicFramePr>
        <p:xfrm>
          <a:off x="1244065" y="2639728"/>
          <a:ext cx="1727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8" name="Equation" r:id="rId3" imgW="914400" imgH="203200" progId="Equation.DSMT4">
                  <p:embed/>
                </p:oleObj>
              </mc:Choice>
              <mc:Fallback>
                <p:oleObj name="Equation" r:id="rId3" imgW="914400" imgH="203200" progId="Equation.DSMT4">
                  <p:embed/>
                  <p:pic>
                    <p:nvPicPr>
                      <p:cNvPr id="167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065" y="2639728"/>
                        <a:ext cx="17272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794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79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1317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endParaRPr lang="zh-CN" alt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400" dirty="0" smtClean="0">
                <a:latin typeface="Times New Roman" pitchFamily="18" charset="0"/>
              </a:rPr>
              <a:t>（</a:t>
            </a:r>
            <a:r>
              <a:rPr lang="en-US" altLang="zh-CN" sz="2400" dirty="0" smtClean="0">
                <a:latin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</a:rPr>
              <a:t>）</a:t>
            </a:r>
            <a:r>
              <a:rPr lang="en-US" altLang="zh-CN" sz="2400" dirty="0" smtClean="0">
                <a:latin typeface="Times New Roman" pitchFamily="18" charset="0"/>
              </a:rPr>
              <a:t>expected value premium                                             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i="1" dirty="0" smtClean="0">
                <a:latin typeface="Times New Roman" pitchFamily="18" charset="0"/>
              </a:rPr>
              <a:t>                                                                             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i="1" dirty="0">
                <a:latin typeface="Times New Roman" pitchFamily="18" charset="0"/>
              </a:rPr>
              <a:t> </a:t>
            </a:r>
            <a:r>
              <a:rPr lang="en-US" altLang="zh-CN" sz="2400" i="1" dirty="0" smtClean="0">
                <a:latin typeface="Times New Roman" pitchFamily="18" charset="0"/>
              </a:rPr>
              <a:t>                                                                             </a:t>
            </a:r>
            <a:r>
              <a:rPr lang="en-US" altLang="zh-CN" sz="2400" i="1" dirty="0" smtClean="0">
                <a:latin typeface="Symbol" pitchFamily="18" charset="2"/>
              </a:rPr>
              <a:t>a</a:t>
            </a:r>
            <a:r>
              <a:rPr lang="en-US" altLang="zh-CN" sz="2400" i="1" dirty="0" smtClean="0">
                <a:latin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</a:rPr>
              <a:t>≥ 0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0F78FF8D-A667-4361-911E-3F2695816D21}" type="slidenum">
              <a:rPr lang="en-US" altLang="zh-CN"/>
              <a:pPr>
                <a:defRPr/>
              </a:pPr>
              <a:t>43</a:t>
            </a:fld>
            <a:r>
              <a:rPr lang="en-US" altLang="zh-CN"/>
              <a:t> )</a:t>
            </a: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7943" name="Object 7"/>
          <p:cNvGraphicFramePr>
            <a:graphicFrameLocks noChangeAspect="1"/>
          </p:cNvGraphicFramePr>
          <p:nvPr>
            <p:extLst/>
          </p:nvPr>
        </p:nvGraphicFramePr>
        <p:xfrm>
          <a:off x="1303422" y="2920281"/>
          <a:ext cx="3733060" cy="55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2" name="Equation" r:id="rId3" imgW="1307532" imgH="203112" progId="Equation.DSMT4">
                  <p:embed/>
                </p:oleObj>
              </mc:Choice>
              <mc:Fallback>
                <p:oleObj name="Equation" r:id="rId3" imgW="1307532" imgH="203112" progId="Equation.DSMT4">
                  <p:embed/>
                  <p:pic>
                    <p:nvPicPr>
                      <p:cNvPr id="1679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422" y="2920281"/>
                        <a:ext cx="3733060" cy="5544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79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7504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964" name="Object 3"/>
          <p:cNvGraphicFramePr>
            <a:graphicFrameLocks noGrp="1" noChangeAspect="1"/>
          </p:cNvGraphicFramePr>
          <p:nvPr>
            <p:ph idx="1"/>
            <p:extLst/>
          </p:nvPr>
        </p:nvGraphicFramePr>
        <p:xfrm>
          <a:off x="1377950" y="2860675"/>
          <a:ext cx="58197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6" name="Equation" r:id="rId3" imgW="1688367" imgH="203112" progId="Equation.DSMT4">
                  <p:embed/>
                </p:oleObj>
              </mc:Choice>
              <mc:Fallback>
                <p:oleObj name="Equation" r:id="rId3" imgW="1688367" imgH="203112" progId="Equation.DSMT4">
                  <p:embed/>
                  <p:pic>
                    <p:nvPicPr>
                      <p:cNvPr id="168964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2860675"/>
                        <a:ext cx="5819775" cy="7000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F9491D23-7FAA-470C-9BF5-18B0D9A3305A}" type="slidenum">
              <a:rPr lang="en-US" altLang="zh-CN"/>
              <a:pPr>
                <a:defRPr/>
              </a:pPr>
              <a:t>44</a:t>
            </a:fld>
            <a:r>
              <a:rPr lang="en-US" altLang="zh-CN"/>
              <a:t> )</a:t>
            </a:r>
          </a:p>
        </p:txBody>
      </p:sp>
      <p:sp>
        <p:nvSpPr>
          <p:cNvPr id="16896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68413"/>
            <a:ext cx="8229600" cy="48625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zh-CN" altLang="en-US" sz="24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 smtClean="0">
                <a:latin typeface="Times New Roman" pitchFamily="18" charset="0"/>
              </a:rPr>
              <a:t>（</a:t>
            </a:r>
            <a:r>
              <a:rPr lang="en-US" altLang="zh-CN" sz="2400" dirty="0" smtClean="0">
                <a:latin typeface="Times New Roman" pitchFamily="18" charset="0"/>
              </a:rPr>
              <a:t>3</a:t>
            </a:r>
            <a:r>
              <a:rPr lang="zh-CN" altLang="en-US" sz="2400" dirty="0" smtClean="0">
                <a:latin typeface="Times New Roman" pitchFamily="18" charset="0"/>
              </a:rPr>
              <a:t>）</a:t>
            </a:r>
            <a:r>
              <a:rPr lang="en-US" altLang="zh-CN" sz="2400" dirty="0" smtClean="0">
                <a:latin typeface="Times New Roman" pitchFamily="18" charset="0"/>
              </a:rPr>
              <a:t>variance principle</a:t>
            </a:r>
          </a:p>
          <a:p>
            <a:pPr eaLnBrk="1" hangingPunct="1"/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36836245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1337911"/>
            <a:ext cx="8229600" cy="47930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 smtClean="0">
                <a:latin typeface="Times New Roman" pitchFamily="18" charset="0"/>
              </a:rPr>
              <a:t>（</a:t>
            </a:r>
            <a:r>
              <a:rPr lang="en-US" altLang="zh-CN" sz="2400" dirty="0" smtClean="0">
                <a:latin typeface="Times New Roman" pitchFamily="18" charset="0"/>
              </a:rPr>
              <a:t>4</a:t>
            </a:r>
            <a:r>
              <a:rPr lang="zh-CN" altLang="en-US" sz="2400" dirty="0" smtClean="0">
                <a:latin typeface="Times New Roman" pitchFamily="18" charset="0"/>
              </a:rPr>
              <a:t>）</a:t>
            </a:r>
            <a:r>
              <a:rPr lang="en-US" altLang="zh-CN" sz="2400" dirty="0" smtClean="0">
                <a:latin typeface="Times New Roman" pitchFamily="18" charset="0"/>
              </a:rPr>
              <a:t>standard deviation principle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</a:t>
            </a:r>
            <a:endParaRPr lang="zh-CN" altLang="en-US" sz="2400" dirty="0" smtClean="0">
              <a:latin typeface="Times New Roman" pitchFamily="18" charset="0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388877B8-47F0-4895-A099-CE0802FEA228}" type="slidenum">
              <a:rPr lang="en-US" altLang="zh-CN"/>
              <a:pPr>
                <a:defRPr/>
              </a:pPr>
              <a:t>45</a:t>
            </a:fld>
            <a:r>
              <a:rPr lang="en-US" altLang="zh-CN"/>
              <a:t> )</a:t>
            </a:r>
          </a:p>
        </p:txBody>
      </p:sp>
      <p:sp>
        <p:nvSpPr>
          <p:cNvPr id="169988" name="Rectangle 3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9989" name="Object 4"/>
          <p:cNvGraphicFramePr>
            <a:graphicFrameLocks noChangeAspect="1"/>
          </p:cNvGraphicFramePr>
          <p:nvPr>
            <p:extLst/>
          </p:nvPr>
        </p:nvGraphicFramePr>
        <p:xfrm>
          <a:off x="1548164" y="2579419"/>
          <a:ext cx="5004025" cy="725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" name="Equation" r:id="rId3" imgW="1803400" imgH="254000" progId="Equation.DSMT4">
                  <p:embed/>
                </p:oleObj>
              </mc:Choice>
              <mc:Fallback>
                <p:oleObj name="Equation" r:id="rId3" imgW="1803400" imgH="254000" progId="Equation.DSMT4">
                  <p:embed/>
                  <p:pic>
                    <p:nvPicPr>
                      <p:cNvPr id="1699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8164" y="2579419"/>
                        <a:ext cx="5004025" cy="72575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0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6885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765175"/>
            <a:ext cx="8229600" cy="53657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zh-CN" sz="24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 smtClean="0">
                <a:latin typeface="Times New Roman" pitchFamily="18" charset="0"/>
              </a:rPr>
              <a:t>（</a:t>
            </a:r>
            <a:r>
              <a:rPr lang="en-US" altLang="zh-CN" sz="2400" dirty="0" smtClean="0">
                <a:latin typeface="Times New Roman" pitchFamily="18" charset="0"/>
              </a:rPr>
              <a:t>5</a:t>
            </a:r>
            <a:r>
              <a:rPr lang="zh-CN" altLang="en-US" sz="2400" dirty="0" smtClean="0">
                <a:latin typeface="Times New Roman" pitchFamily="18" charset="0"/>
              </a:rPr>
              <a:t>）</a:t>
            </a:r>
            <a:r>
              <a:rPr lang="en-US" altLang="zh-CN" sz="2400" dirty="0" smtClean="0">
                <a:latin typeface="Times New Roman" pitchFamily="18" charset="0"/>
              </a:rPr>
              <a:t>exponential principle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 smtClean="0">
                <a:latin typeface="Times New Roman" pitchFamily="18" charset="0"/>
              </a:rPr>
              <a:t>其中</a:t>
            </a:r>
            <a:r>
              <a:rPr lang="en-US" altLang="zh-CN" sz="2400" i="1" dirty="0" smtClean="0">
                <a:latin typeface="Symbol" pitchFamily="18" charset="2"/>
              </a:rPr>
              <a:t>a</a:t>
            </a:r>
            <a:r>
              <a:rPr lang="en-US" altLang="zh-CN" sz="2400" dirty="0" smtClean="0">
                <a:latin typeface="Times New Roman" pitchFamily="18" charset="0"/>
              </a:rPr>
              <a:t> &gt; 0</a:t>
            </a:r>
            <a:r>
              <a:rPr lang="zh-CN" altLang="en-US" sz="2400" dirty="0" smtClean="0">
                <a:latin typeface="Times New Roman" pitchFamily="18" charset="0"/>
              </a:rPr>
              <a:t>为风险厌恶系数。保费随着</a:t>
            </a:r>
            <a:r>
              <a:rPr lang="en-US" altLang="zh-CN" sz="2400" i="1" dirty="0" smtClean="0">
                <a:latin typeface="Symbol" pitchFamily="18" charset="2"/>
              </a:rPr>
              <a:t>a </a:t>
            </a:r>
            <a:r>
              <a:rPr lang="zh-CN" altLang="en-US" sz="2400" dirty="0" smtClean="0">
                <a:latin typeface="Times New Roman" pitchFamily="18" charset="0"/>
              </a:rPr>
              <a:t>的增加而增加。</a:t>
            </a:r>
          </a:p>
          <a:p>
            <a:pPr lvl="2" eaLnBrk="1" hangingPunct="1"/>
            <a:r>
              <a:rPr lang="zh-CN" altLang="en-US" sz="2400" dirty="0" smtClean="0">
                <a:latin typeface="Times New Roman" pitchFamily="18" charset="0"/>
              </a:rPr>
              <a:t>当 </a:t>
            </a:r>
            <a:r>
              <a:rPr lang="en-US" altLang="zh-CN" sz="2400" i="1" dirty="0" smtClean="0">
                <a:latin typeface="Symbol" pitchFamily="18" charset="2"/>
              </a:rPr>
              <a:t>a </a:t>
            </a:r>
            <a:r>
              <a:rPr lang="en-US" altLang="zh-CN" sz="2400" dirty="0" smtClean="0">
                <a:latin typeface="Times New Roman" pitchFamily="18" charset="0"/>
                <a:sym typeface="Symbol" pitchFamily="18" charset="2"/>
              </a:rPr>
              <a:t> 0</a:t>
            </a:r>
            <a:r>
              <a:rPr lang="zh-CN" altLang="en-US" sz="2400" dirty="0" smtClean="0">
                <a:latin typeface="Times New Roman" pitchFamily="18" charset="0"/>
              </a:rPr>
              <a:t>时，指数保费就是纯保费。</a:t>
            </a:r>
          </a:p>
          <a:p>
            <a:pPr lvl="2" eaLnBrk="1" hangingPunct="1"/>
            <a:r>
              <a:rPr lang="zh-CN" altLang="en-US" sz="2400" dirty="0" smtClean="0">
                <a:latin typeface="Times New Roman" pitchFamily="18" charset="0"/>
              </a:rPr>
              <a:t>当</a:t>
            </a:r>
            <a:r>
              <a:rPr lang="en-US" altLang="zh-CN" sz="2400" i="1" dirty="0" smtClean="0">
                <a:latin typeface="Symbol" pitchFamily="18" charset="2"/>
              </a:rPr>
              <a:t>a </a:t>
            </a:r>
            <a:r>
              <a:rPr lang="en-US" altLang="zh-CN" sz="2400" dirty="0" smtClean="0"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∞</a:t>
            </a:r>
            <a:r>
              <a:rPr lang="zh-CN" altLang="en-US" sz="2400" dirty="0" smtClean="0">
                <a:latin typeface="Times New Roman" pitchFamily="18" charset="0"/>
              </a:rPr>
              <a:t>时，指数保费趋于</a:t>
            </a:r>
            <a:r>
              <a:rPr lang="en-US" altLang="zh-CN" sz="2400" i="1" dirty="0" smtClean="0">
                <a:latin typeface="Times New Roman" pitchFamily="18" charset="0"/>
              </a:rPr>
              <a:t>X</a:t>
            </a:r>
            <a:r>
              <a:rPr lang="zh-CN" altLang="en-US" sz="2400" dirty="0" smtClean="0">
                <a:latin typeface="Times New Roman" pitchFamily="18" charset="0"/>
              </a:rPr>
              <a:t>的最大值。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388877B8-47F0-4895-A099-CE0802FEA228}" type="slidenum">
              <a:rPr lang="en-US" altLang="zh-CN"/>
              <a:pPr>
                <a:defRPr/>
              </a:pPr>
              <a:t>46</a:t>
            </a:fld>
            <a:r>
              <a:rPr lang="en-US" altLang="zh-CN"/>
              <a:t> )</a:t>
            </a:r>
          </a:p>
        </p:txBody>
      </p:sp>
      <p:sp>
        <p:nvSpPr>
          <p:cNvPr id="169988" name="Rectangle 3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9990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9991" name="Object 6"/>
          <p:cNvGraphicFramePr>
            <a:graphicFrameLocks noChangeAspect="1"/>
          </p:cNvGraphicFramePr>
          <p:nvPr>
            <p:extLst/>
          </p:nvPr>
        </p:nvGraphicFramePr>
        <p:xfrm>
          <a:off x="2838650" y="2371825"/>
          <a:ext cx="3268809" cy="9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4" name="Equation" r:id="rId3" imgW="1371600" imgH="393700" progId="Equation.DSMT4">
                  <p:embed/>
                </p:oleObj>
              </mc:Choice>
              <mc:Fallback>
                <p:oleObj name="Equation" r:id="rId3" imgW="1371600" imgH="393700" progId="Equation.DSMT4">
                  <p:embed/>
                  <p:pic>
                    <p:nvPicPr>
                      <p:cNvPr id="16999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650" y="2371825"/>
                        <a:ext cx="3268809" cy="9333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15218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359775" y="6408738"/>
            <a:ext cx="7842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( </a:t>
            </a:r>
            <a:fld id="{6F4965D5-0B8C-4940-A118-ACA2133EA7E7}" type="slidenum">
              <a:rPr lang="en-US" altLang="zh-CN" smtClean="0"/>
              <a:pPr>
                <a:defRPr/>
              </a:pPr>
              <a:t>47</a:t>
            </a:fld>
            <a:r>
              <a:rPr lang="en-US" altLang="zh-CN" dirty="0" smtClean="0"/>
              <a:t> )</a:t>
            </a:r>
            <a:endParaRPr lang="en-US" altLang="zh-CN" dirty="0"/>
          </a:p>
        </p:txBody>
      </p:sp>
      <p:pic>
        <p:nvPicPr>
          <p:cNvPr id="280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19" y="930442"/>
            <a:ext cx="7010400" cy="5735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" y="5562600"/>
            <a:ext cx="13901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" dirty="0"/>
              <a:t>shape=</a:t>
            </a:r>
            <a:r>
              <a:rPr lang="en-US" altLang="zh-CN" sz="200" dirty="0" err="1"/>
              <a:t>2;scale</a:t>
            </a:r>
            <a:r>
              <a:rPr lang="en-US" altLang="zh-CN" sz="200" dirty="0"/>
              <a:t>=500</a:t>
            </a:r>
          </a:p>
          <a:p>
            <a:r>
              <a:rPr lang="en-US" altLang="zh-CN" sz="200" dirty="0"/>
              <a:t>GAM=function(a) -shape*log(1-scale*a)/a</a:t>
            </a:r>
          </a:p>
          <a:p>
            <a:r>
              <a:rPr lang="en-US" altLang="zh-CN" sz="200" dirty="0"/>
              <a:t>curve(GAM(x),</a:t>
            </a:r>
            <a:r>
              <a:rPr lang="en-US" altLang="zh-CN" sz="200" dirty="0" err="1"/>
              <a:t>xlim</a:t>
            </a:r>
            <a:r>
              <a:rPr lang="en-US" altLang="zh-CN" sz="200" dirty="0"/>
              <a:t>=c(0,1/501),</a:t>
            </a:r>
            <a:r>
              <a:rPr lang="en-US" altLang="zh-CN" sz="200" dirty="0" err="1"/>
              <a:t>xlab</a:t>
            </a:r>
            <a:r>
              <a:rPr lang="en-US" altLang="zh-CN" sz="200" dirty="0"/>
              <a:t>='</a:t>
            </a:r>
            <a:r>
              <a:rPr lang="zh-CN" altLang="en-US" sz="200" dirty="0"/>
              <a:t>指数原理的风险厌恶系数</a:t>
            </a:r>
            <a:r>
              <a:rPr lang="en-US" altLang="zh-CN" sz="200" dirty="0"/>
              <a:t>',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='</a:t>
            </a:r>
            <a:r>
              <a:rPr lang="zh-CN" altLang="en-US" sz="200" dirty="0"/>
              <a:t>指数保费原理下的风险保费</a:t>
            </a:r>
            <a:r>
              <a:rPr lang="en-US" altLang="zh-CN" sz="200" dirty="0"/>
              <a:t>',col=</a:t>
            </a:r>
            <a:r>
              <a:rPr lang="en-US" altLang="zh-CN" sz="200" dirty="0" err="1"/>
              <a:t>2,lwd</a:t>
            </a:r>
            <a:r>
              <a:rPr lang="en-US" altLang="zh-CN" sz="200" dirty="0"/>
              <a:t>=2)</a:t>
            </a:r>
          </a:p>
          <a:p>
            <a:r>
              <a:rPr lang="en-US" altLang="zh-CN" sz="200" dirty="0"/>
              <a:t>text(</a:t>
            </a:r>
            <a:r>
              <a:rPr lang="en-US" altLang="zh-CN" sz="200" dirty="0" err="1"/>
              <a:t>0.0007,4000,'X</a:t>
            </a:r>
            <a:r>
              <a:rPr lang="zh-CN" altLang="en-US" sz="200" dirty="0"/>
              <a:t>服从伽马分布</a:t>
            </a:r>
            <a:r>
              <a:rPr lang="en-US" altLang="zh-CN" sz="200" dirty="0"/>
              <a:t>(shape=</a:t>
            </a:r>
            <a:r>
              <a:rPr lang="en-US" altLang="zh-CN" sz="200" dirty="0" err="1"/>
              <a:t>2,scale</a:t>
            </a:r>
            <a:r>
              <a:rPr lang="en-US" altLang="zh-CN" sz="200" dirty="0"/>
              <a:t>=500)')</a:t>
            </a:r>
          </a:p>
          <a:p>
            <a:r>
              <a:rPr lang="en-US" altLang="zh-CN" sz="200" dirty="0"/>
              <a:t>text(</a:t>
            </a:r>
            <a:r>
              <a:rPr lang="en-US" altLang="zh-CN" sz="200" dirty="0" err="1"/>
              <a:t>0.0007,5000,expression</a:t>
            </a:r>
            <a:r>
              <a:rPr lang="en-US" altLang="zh-CN" sz="200" dirty="0"/>
              <a:t>(H(alpha)==</a:t>
            </a:r>
            <a:r>
              <a:rPr lang="en-US" altLang="zh-CN" sz="200" dirty="0" err="1"/>
              <a:t>frac</a:t>
            </a:r>
            <a:r>
              <a:rPr lang="en-US" altLang="zh-CN" sz="200" dirty="0"/>
              <a:t>(</a:t>
            </a:r>
            <a:r>
              <a:rPr lang="en-US" altLang="zh-CN" sz="200" dirty="0" err="1"/>
              <a:t>1,alpha</a:t>
            </a:r>
            <a:r>
              <a:rPr lang="en-US" altLang="zh-CN" sz="200" dirty="0"/>
              <a:t>)*log(E(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(alpha*X)))))</a:t>
            </a:r>
            <a:endParaRPr lang="zh-CN" altLang="en-US" sz="2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2032000" y="1007444"/>
          <a:ext cx="5689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8" name="Equation" r:id="rId4" imgW="2844720" imgH="228600" progId="Equation.DSMT4">
                  <p:embed/>
                </p:oleObj>
              </mc:Choice>
              <mc:Fallback>
                <p:oleObj name="Equation" r:id="rId4" imgW="2844720" imgH="228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32000" y="1007444"/>
                        <a:ext cx="5689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83057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7924800" cy="48355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 smtClean="0">
                <a:latin typeface="Times New Roman" pitchFamily="18" charset="0"/>
              </a:rPr>
              <a:t>（</a:t>
            </a:r>
            <a:r>
              <a:rPr lang="en-US" altLang="zh-CN" sz="2400" dirty="0" smtClean="0">
                <a:latin typeface="Times New Roman" pitchFamily="18" charset="0"/>
              </a:rPr>
              <a:t>6</a:t>
            </a:r>
            <a:r>
              <a:rPr lang="zh-CN" altLang="en-US" sz="2400" dirty="0" smtClean="0">
                <a:latin typeface="Times New Roman" pitchFamily="18" charset="0"/>
              </a:rPr>
              <a:t>）</a:t>
            </a:r>
            <a:r>
              <a:rPr lang="en-US" altLang="zh-CN" sz="2400" dirty="0" smtClean="0">
                <a:latin typeface="Times New Roman" pitchFamily="18" charset="0"/>
              </a:rPr>
              <a:t>zero utility premium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smtClean="0">
                <a:latin typeface="Times New Roman" pitchFamily="18" charset="0"/>
              </a:rPr>
              <a:t>        </a:t>
            </a:r>
            <a:r>
              <a:rPr lang="zh-CN" altLang="en-US" sz="2400" dirty="0" smtClean="0">
                <a:latin typeface="Times New Roman" pitchFamily="18" charset="0"/>
              </a:rPr>
              <a:t>其中</a:t>
            </a:r>
          </a:p>
          <a:p>
            <a:pPr lvl="2" eaLnBrk="1" hangingPunct="1"/>
            <a:r>
              <a:rPr lang="en-US" altLang="zh-CN" sz="2400" i="1" dirty="0" smtClean="0">
                <a:latin typeface="Times New Roman" pitchFamily="18" charset="0"/>
              </a:rPr>
              <a:t>u </a:t>
            </a:r>
            <a:r>
              <a:rPr lang="en-US" altLang="zh-CN" sz="2400" dirty="0" smtClean="0">
                <a:latin typeface="Times New Roman" pitchFamily="18" charset="0"/>
              </a:rPr>
              <a:t>(.)</a:t>
            </a:r>
            <a:r>
              <a:rPr lang="zh-CN" altLang="en-US" sz="2400" dirty="0" smtClean="0">
                <a:latin typeface="Times New Roman" pitchFamily="18" charset="0"/>
              </a:rPr>
              <a:t>是保险公司的效用函数</a:t>
            </a:r>
          </a:p>
          <a:p>
            <a:pPr lvl="2" eaLnBrk="1" hangingPunct="1"/>
            <a:r>
              <a:rPr lang="en-US" altLang="zh-CN" sz="2400" i="1" dirty="0" smtClean="0">
                <a:latin typeface="Times New Roman" pitchFamily="18" charset="0"/>
              </a:rPr>
              <a:t>R</a:t>
            </a:r>
            <a:r>
              <a:rPr lang="zh-CN" altLang="en-US" sz="2400" dirty="0" smtClean="0">
                <a:latin typeface="Times New Roman" pitchFamily="18" charset="0"/>
              </a:rPr>
              <a:t>为保险公司的资本金</a:t>
            </a:r>
          </a:p>
          <a:p>
            <a:pPr lvl="2" eaLnBrk="1" hangingPunct="1"/>
            <a:r>
              <a:rPr lang="en-US" altLang="zh-CN" sz="2400" i="1" dirty="0" smtClean="0">
                <a:latin typeface="Times New Roman" pitchFamily="18" charset="0"/>
              </a:rPr>
              <a:t>P</a:t>
            </a:r>
            <a:r>
              <a:rPr lang="zh-CN" altLang="en-US" sz="2400" dirty="0" smtClean="0">
                <a:latin typeface="Times New Roman" pitchFamily="18" charset="0"/>
              </a:rPr>
              <a:t>为承保随机风险 </a:t>
            </a:r>
            <a:r>
              <a:rPr lang="en-US" altLang="zh-CN" sz="2400" i="1" dirty="0" smtClean="0">
                <a:latin typeface="Times New Roman" pitchFamily="18" charset="0"/>
              </a:rPr>
              <a:t>X </a:t>
            </a:r>
            <a:r>
              <a:rPr lang="zh-CN" altLang="en-US" sz="2400" dirty="0" smtClean="0">
                <a:latin typeface="Times New Roman" pitchFamily="18" charset="0"/>
              </a:rPr>
              <a:t>所要求的风险保费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 smtClean="0"/>
              <a:t>    </a:t>
            </a:r>
            <a:endParaRPr lang="en-US" altLang="zh-CN" sz="2400" dirty="0" smtClean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 smtClean="0"/>
              <a:t>    令</a:t>
            </a:r>
            <a:r>
              <a:rPr lang="en-US" altLang="zh-CN" sz="2400" i="1" dirty="0" smtClean="0">
                <a:latin typeface="Times New Roman" pitchFamily="18" charset="0"/>
              </a:rPr>
              <a:t>R</a:t>
            </a:r>
            <a:r>
              <a:rPr lang="en-US" altLang="zh-CN" sz="2400" dirty="0" smtClean="0"/>
              <a:t>=0</a:t>
            </a:r>
            <a:r>
              <a:rPr lang="zh-CN" altLang="en-US" sz="2400" dirty="0" smtClean="0"/>
              <a:t>，则有</a:t>
            </a:r>
          </a:p>
        </p:txBody>
      </p:sp>
      <p:graphicFrame>
        <p:nvGraphicFramePr>
          <p:cNvPr id="171014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057400" y="5638800"/>
          <a:ext cx="2497138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2" name="Equation" r:id="rId3" imgW="1206500" imgH="203200" progId="Equation.DSMT4">
                  <p:embed/>
                </p:oleObj>
              </mc:Choice>
              <mc:Fallback>
                <p:oleObj name="Equation" r:id="rId3" imgW="1206500" imgH="203200" progId="Equation.DSMT4">
                  <p:embed/>
                  <p:pic>
                    <p:nvPicPr>
                      <p:cNvPr id="171014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638800"/>
                        <a:ext cx="2497138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45C0FEF3-09D4-4A7C-AE0D-888DE454A5AF}" type="slidenum">
              <a:rPr lang="en-US" altLang="zh-CN"/>
              <a:pPr>
                <a:defRPr/>
              </a:pPr>
              <a:t>48</a:t>
            </a:fld>
            <a:r>
              <a:rPr lang="en-US" altLang="zh-CN"/>
              <a:t> )</a:t>
            </a:r>
          </a:p>
        </p:txBody>
      </p:sp>
      <p:sp>
        <p:nvSpPr>
          <p:cNvPr id="171012" name="Rectangle 3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1013" name="Object 4"/>
          <p:cNvGraphicFramePr>
            <a:graphicFrameLocks noChangeAspect="1"/>
          </p:cNvGraphicFramePr>
          <p:nvPr/>
        </p:nvGraphicFramePr>
        <p:xfrm>
          <a:off x="2225675" y="2043113"/>
          <a:ext cx="31527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3" name="Equation" r:id="rId5" imgW="1473200" imgH="203200" progId="Equation.DSMT4">
                  <p:embed/>
                </p:oleObj>
              </mc:Choice>
              <mc:Fallback>
                <p:oleObj name="Equation" r:id="rId5" imgW="1473200" imgH="203200" progId="Equation.DSMT4">
                  <p:embed/>
                  <p:pic>
                    <p:nvPicPr>
                      <p:cNvPr id="1710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2043113"/>
                        <a:ext cx="3152775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275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3029D0D5-CB00-4F23-903E-EE976AFB51B0}" type="slidenum">
              <a:rPr lang="en-US" altLang="zh-CN"/>
              <a:pPr>
                <a:defRPr/>
              </a:pPr>
              <a:t>49</a:t>
            </a:fld>
            <a:r>
              <a:rPr lang="en-US" altLang="zh-CN"/>
              <a:t> )</a:t>
            </a:r>
          </a:p>
        </p:txBody>
      </p:sp>
      <p:sp>
        <p:nvSpPr>
          <p:cNvPr id="172035" name="Rectangle 4"/>
          <p:cNvSpPr>
            <a:spLocks noChangeArrowheads="1"/>
          </p:cNvSpPr>
          <p:nvPr/>
        </p:nvSpPr>
        <p:spPr bwMode="auto">
          <a:xfrm>
            <a:off x="457200" y="1125538"/>
            <a:ext cx="8229600" cy="500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7</a:t>
            </a:r>
            <a:r>
              <a:rPr lang="zh-CN" altLang="en-US" dirty="0" smtClean="0"/>
              <a:t>）</a:t>
            </a:r>
            <a:r>
              <a:rPr lang="en-US" altLang="zh-CN" dirty="0" err="1"/>
              <a:t>Esscher</a:t>
            </a:r>
            <a:r>
              <a:rPr lang="en-US" altLang="zh-CN" dirty="0"/>
              <a:t> principle 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endParaRPr lang="en-US" altLang="zh-CN" dirty="0"/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altLang="zh-CN" dirty="0"/>
              <a:t>         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altLang="zh-CN" dirty="0"/>
              <a:t>     </a:t>
            </a:r>
            <a:endParaRPr lang="en-US" altLang="zh-CN" dirty="0">
              <a:latin typeface="Arial" charset="0"/>
            </a:endParaRPr>
          </a:p>
        </p:txBody>
      </p:sp>
      <p:graphicFrame>
        <p:nvGraphicFramePr>
          <p:cNvPr id="172036" name="Object 5"/>
          <p:cNvGraphicFramePr>
            <a:graphicFrameLocks noChangeAspect="1"/>
          </p:cNvGraphicFramePr>
          <p:nvPr/>
        </p:nvGraphicFramePr>
        <p:xfrm>
          <a:off x="4038600" y="1066800"/>
          <a:ext cx="20574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6" name="Equation" r:id="rId3" imgW="1117115" imgH="444307" progId="Equation.DSMT4">
                  <p:embed/>
                </p:oleObj>
              </mc:Choice>
              <mc:Fallback>
                <p:oleObj name="Equation" r:id="rId3" imgW="1117115" imgH="444307" progId="Equation.DSMT4">
                  <p:embed/>
                  <p:pic>
                    <p:nvPicPr>
                      <p:cNvPr id="17203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066800"/>
                        <a:ext cx="2057400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62000" y="2286000"/>
            <a:ext cx="7023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 smtClean="0"/>
              <a:t>上式是对</a:t>
            </a:r>
            <a:r>
              <a:rPr lang="en-US" altLang="zh-CN" i="1" dirty="0" smtClean="0"/>
              <a:t>X</a:t>
            </a:r>
            <a:r>
              <a:rPr lang="zh-CN" altLang="en-US" dirty="0" smtClean="0"/>
              <a:t>的加权平均，权数随着</a:t>
            </a:r>
            <a:r>
              <a:rPr lang="en-US" altLang="zh-CN" i="1" dirty="0" smtClean="0"/>
              <a:t>X</a:t>
            </a:r>
            <a:r>
              <a:rPr lang="zh-CN" altLang="en-US" dirty="0" smtClean="0"/>
              <a:t>的增大而增大。</a:t>
            </a:r>
            <a:endParaRPr lang="zh-CN" altLang="en-US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1752600" y="3276600"/>
          <a:ext cx="3076575" cy="265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7" name="Equation" r:id="rId5" imgW="1587240" imgH="1371600" progId="Equation.DSMT4">
                  <p:embed/>
                </p:oleObj>
              </mc:Choice>
              <mc:Fallback>
                <p:oleObj name="Equation" r:id="rId5" imgW="1587240" imgH="13716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276600"/>
                        <a:ext cx="3076575" cy="2659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79925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mtClean="0"/>
              <a:t>( </a:t>
            </a:r>
            <a:fld id="{3EBA4A41-DF70-4ED6-A7D0-45645D30423D}" type="slidenum">
              <a:rPr lang="en-US" altLang="zh-CN" smtClean="0"/>
              <a:pPr>
                <a:defRPr/>
              </a:pPr>
              <a:t>50</a:t>
            </a:fld>
            <a:r>
              <a:rPr lang="en-US" altLang="zh-CN" smtClean="0"/>
              <a:t> )</a:t>
            </a:r>
            <a:endParaRPr lang="en-US" altLang="zh-CN"/>
          </a:p>
        </p:txBody>
      </p:sp>
      <p:sp>
        <p:nvSpPr>
          <p:cNvPr id="3" name="TextBox 2"/>
          <p:cNvSpPr txBox="1"/>
          <p:nvPr/>
        </p:nvSpPr>
        <p:spPr>
          <a:xfrm>
            <a:off x="914400" y="5802868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" dirty="0"/>
              <a:t>h=</a:t>
            </a:r>
            <a:r>
              <a:rPr lang="en-US" altLang="zh-CN" sz="200" dirty="0" err="1"/>
              <a:t>0.002;shape</a:t>
            </a:r>
            <a:r>
              <a:rPr lang="en-US" altLang="zh-CN" sz="200" dirty="0"/>
              <a:t>=</a:t>
            </a:r>
            <a:r>
              <a:rPr lang="en-US" altLang="zh-CN" sz="200" dirty="0" err="1"/>
              <a:t>2;scale</a:t>
            </a:r>
            <a:r>
              <a:rPr lang="en-US" altLang="zh-CN" sz="200" dirty="0"/>
              <a:t>=100</a:t>
            </a:r>
          </a:p>
          <a:p>
            <a:r>
              <a:rPr lang="en-US" altLang="zh-CN" sz="200" dirty="0"/>
              <a:t>f=function(x) </a:t>
            </a:r>
            <a:r>
              <a:rPr lang="en-US" altLang="zh-CN" sz="200" dirty="0" err="1"/>
              <a:t>dgamma</a:t>
            </a:r>
            <a:r>
              <a:rPr lang="en-US" altLang="zh-CN" sz="200" dirty="0"/>
              <a:t>(</a:t>
            </a:r>
            <a:r>
              <a:rPr lang="en-US" altLang="zh-CN" sz="200" dirty="0" err="1"/>
              <a:t>x,shape</a:t>
            </a:r>
            <a:r>
              <a:rPr lang="en-US" altLang="zh-CN" sz="200" dirty="0"/>
              <a:t>=</a:t>
            </a:r>
            <a:r>
              <a:rPr lang="en-US" altLang="zh-CN" sz="200" dirty="0" err="1"/>
              <a:t>shape,scale</a:t>
            </a:r>
            <a:r>
              <a:rPr lang="en-US" altLang="zh-CN" sz="200" dirty="0"/>
              <a:t>=scale)</a:t>
            </a:r>
          </a:p>
          <a:p>
            <a:r>
              <a:rPr lang="en-US" altLang="zh-CN" sz="200" dirty="0" err="1"/>
              <a:t>f2</a:t>
            </a:r>
            <a:r>
              <a:rPr lang="en-US" altLang="zh-CN" sz="200" dirty="0"/>
              <a:t>=function(x) </a:t>
            </a:r>
            <a:r>
              <a:rPr lang="en-US" altLang="zh-CN" sz="200" dirty="0" err="1"/>
              <a:t>dgamma</a:t>
            </a:r>
            <a:r>
              <a:rPr lang="en-US" altLang="zh-CN" sz="200" dirty="0"/>
              <a:t>(</a:t>
            </a:r>
            <a:r>
              <a:rPr lang="en-US" altLang="zh-CN" sz="200" dirty="0" err="1"/>
              <a:t>x,shape</a:t>
            </a:r>
            <a:r>
              <a:rPr lang="en-US" altLang="zh-CN" sz="200" dirty="0"/>
              <a:t>=</a:t>
            </a:r>
            <a:r>
              <a:rPr lang="en-US" altLang="zh-CN" sz="200" dirty="0" err="1"/>
              <a:t>shape,scale</a:t>
            </a:r>
            <a:r>
              <a:rPr lang="en-US" altLang="zh-CN" sz="200" dirty="0"/>
              <a:t>=scale)*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(h*x)</a:t>
            </a:r>
          </a:p>
          <a:p>
            <a:r>
              <a:rPr lang="en-US" altLang="zh-CN" sz="200" dirty="0"/>
              <a:t>M=integrate(</a:t>
            </a:r>
            <a:r>
              <a:rPr lang="en-US" altLang="zh-CN" sz="200" dirty="0" err="1"/>
              <a:t>f,0,Inf</a:t>
            </a:r>
            <a:r>
              <a:rPr lang="en-US" altLang="zh-CN" sz="200" dirty="0"/>
              <a:t>)$value</a:t>
            </a:r>
          </a:p>
          <a:p>
            <a:r>
              <a:rPr lang="en-US" altLang="zh-CN" sz="200" dirty="0"/>
              <a:t>g=function(x)  </a:t>
            </a:r>
            <a:r>
              <a:rPr lang="en-US" altLang="zh-CN" sz="200" dirty="0" err="1"/>
              <a:t>dgamma</a:t>
            </a:r>
            <a:r>
              <a:rPr lang="en-US" altLang="zh-CN" sz="200" dirty="0"/>
              <a:t>(</a:t>
            </a:r>
            <a:r>
              <a:rPr lang="en-US" altLang="zh-CN" sz="200" dirty="0" err="1"/>
              <a:t>x,shape</a:t>
            </a:r>
            <a:r>
              <a:rPr lang="en-US" altLang="zh-CN" sz="200" dirty="0"/>
              <a:t>=</a:t>
            </a:r>
            <a:r>
              <a:rPr lang="en-US" altLang="zh-CN" sz="200" dirty="0" err="1"/>
              <a:t>shape,scale</a:t>
            </a:r>
            <a:r>
              <a:rPr lang="en-US" altLang="zh-CN" sz="200" dirty="0"/>
              <a:t>=scale)*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(h*x)/M</a:t>
            </a:r>
          </a:p>
          <a:p>
            <a:r>
              <a:rPr lang="en-US" altLang="zh-CN" sz="200" dirty="0"/>
              <a:t>curve(f(x),</a:t>
            </a:r>
            <a:r>
              <a:rPr lang="en-US" altLang="zh-CN" sz="200" dirty="0" err="1"/>
              <a:t>xlim</a:t>
            </a:r>
            <a:r>
              <a:rPr lang="en-US" altLang="zh-CN" sz="200" dirty="0"/>
              <a:t>=c(0,1000),</a:t>
            </a:r>
            <a:r>
              <a:rPr lang="en-US" altLang="zh-CN" sz="200" dirty="0" err="1"/>
              <a:t>ylim</a:t>
            </a:r>
            <a:r>
              <a:rPr lang="en-US" altLang="zh-CN" sz="200" dirty="0"/>
              <a:t>=c(0,0.008))</a:t>
            </a:r>
          </a:p>
          <a:p>
            <a:r>
              <a:rPr lang="en-US" altLang="zh-CN" sz="200" dirty="0"/>
              <a:t>curve(g(x),</a:t>
            </a:r>
            <a:r>
              <a:rPr lang="en-US" altLang="zh-CN" sz="200" dirty="0" err="1"/>
              <a:t>xlim</a:t>
            </a:r>
            <a:r>
              <a:rPr lang="en-US" altLang="zh-CN" sz="200" dirty="0"/>
              <a:t>=c(0,1000),col=</a:t>
            </a:r>
            <a:r>
              <a:rPr lang="en-US" altLang="zh-CN" sz="200" dirty="0" err="1"/>
              <a:t>2,lty</a:t>
            </a:r>
            <a:r>
              <a:rPr lang="en-US" altLang="zh-CN" sz="200" dirty="0"/>
              <a:t>=</a:t>
            </a:r>
            <a:r>
              <a:rPr lang="en-US" altLang="zh-CN" sz="200" dirty="0" err="1"/>
              <a:t>2,lwd</a:t>
            </a:r>
            <a:r>
              <a:rPr lang="en-US" altLang="zh-CN" sz="200" dirty="0"/>
              <a:t>=</a:t>
            </a:r>
            <a:r>
              <a:rPr lang="en-US" altLang="zh-CN" sz="200" dirty="0" err="1"/>
              <a:t>2,add</a:t>
            </a:r>
            <a:r>
              <a:rPr lang="en-US" altLang="zh-CN" sz="200" dirty="0"/>
              <a:t>=T)</a:t>
            </a:r>
          </a:p>
          <a:p>
            <a:r>
              <a:rPr lang="en-US" altLang="zh-CN" sz="200" dirty="0"/>
              <a:t>text(500,0.006,'</a:t>
            </a:r>
            <a:r>
              <a:rPr lang="zh-CN" altLang="en-US" sz="200" dirty="0"/>
              <a:t>虚线为</a:t>
            </a:r>
            <a:r>
              <a:rPr lang="en-US" altLang="zh-CN" sz="200" dirty="0" err="1"/>
              <a:t>Esscher</a:t>
            </a:r>
            <a:r>
              <a:rPr lang="zh-CN" altLang="en-US" sz="200" dirty="0"/>
              <a:t>变换后的密度函数</a:t>
            </a:r>
            <a:r>
              <a:rPr lang="en-US" altLang="zh-CN" sz="200" dirty="0"/>
              <a:t>,h=0.002,</a:t>
            </a:r>
          </a:p>
          <a:p>
            <a:r>
              <a:rPr lang="zh-CN" altLang="en-US" sz="200" dirty="0" smtClean="0"/>
              <a:t>实线</a:t>
            </a:r>
            <a:r>
              <a:rPr lang="zh-CN" altLang="en-US" sz="200" dirty="0"/>
              <a:t>表示原分布的密度函数，为伽马</a:t>
            </a:r>
            <a:r>
              <a:rPr lang="en-US" altLang="zh-CN" sz="200" dirty="0"/>
              <a:t>(shape=</a:t>
            </a:r>
            <a:r>
              <a:rPr lang="en-US" altLang="zh-CN" sz="200" dirty="0" err="1"/>
              <a:t>2,scale</a:t>
            </a:r>
            <a:r>
              <a:rPr lang="en-US" altLang="zh-CN" sz="200" dirty="0"/>
              <a:t>=100)')</a:t>
            </a:r>
            <a:endParaRPr lang="zh-CN" altLang="en-US" sz="200" dirty="0"/>
          </a:p>
        </p:txBody>
      </p:sp>
      <p:pic>
        <p:nvPicPr>
          <p:cNvPr id="282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02" y="768417"/>
            <a:ext cx="6781800" cy="5548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45061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620713"/>
            <a:ext cx="8229600" cy="5510212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400" b="1" dirty="0" smtClean="0">
                <a:latin typeface="+mn-ea"/>
                <a:ea typeface="+mn-ea"/>
              </a:rPr>
              <a:t>例</a:t>
            </a:r>
            <a:r>
              <a:rPr lang="zh-CN" altLang="en-US" sz="2400" b="1" dirty="0">
                <a:latin typeface="+mn-ea"/>
                <a:ea typeface="+mn-ea"/>
              </a:rPr>
              <a:t>：</a:t>
            </a:r>
            <a:r>
              <a:rPr lang="zh-CN" altLang="en-US" sz="2400" b="1" dirty="0" smtClean="0">
                <a:latin typeface="+mn-ea"/>
                <a:ea typeface="+mn-ea"/>
              </a:rPr>
              <a:t>若效用函数为               ，零效用原理等价于指数原理。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 smtClean="0">
                <a:latin typeface="+mn-ea"/>
                <a:ea typeface="+mn-ea"/>
              </a:rPr>
              <a:t>解：零效用原理的两边分别为</a:t>
            </a:r>
          </a:p>
          <a:p>
            <a:pPr lvl="2"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左边：</a:t>
            </a:r>
            <a:endParaRPr lang="en-US" altLang="zh-CN" sz="2400" b="1" dirty="0" smtClean="0">
              <a:solidFill>
                <a:srgbClr val="FF0000"/>
              </a:solidFill>
              <a:latin typeface="+mn-ea"/>
            </a:endParaRPr>
          </a:p>
          <a:p>
            <a:pPr lvl="2" eaLnBrk="1" hangingPunct="1"/>
            <a:endParaRPr lang="zh-CN" altLang="en-US" sz="2400" b="1" dirty="0" smtClean="0">
              <a:latin typeface="+mn-ea"/>
            </a:endParaRPr>
          </a:p>
          <a:p>
            <a:pPr lvl="2"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右边： 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04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r>
              <a:rPr lang="en-US" altLang="zh-CN" dirty="0"/>
              <a:t>( </a:t>
            </a:r>
            <a:fld id="{4F30418C-94EE-4A63-90C5-4CD28E64F0C7}" type="slidenum">
              <a:rPr lang="en-US" altLang="zh-CN"/>
              <a:pPr>
                <a:buNone/>
                <a:defRPr/>
              </a:pPr>
              <a:t>51</a:t>
            </a:fld>
            <a:r>
              <a:rPr lang="en-US" altLang="zh-CN" dirty="0"/>
              <a:t> )</a:t>
            </a:r>
          </a:p>
        </p:txBody>
      </p:sp>
      <p:sp>
        <p:nvSpPr>
          <p:cNvPr id="17613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6133" name="Object 4"/>
          <p:cNvGraphicFramePr>
            <a:graphicFrameLocks noChangeAspect="1"/>
          </p:cNvGraphicFramePr>
          <p:nvPr>
            <p:extLst/>
          </p:nvPr>
        </p:nvGraphicFramePr>
        <p:xfrm>
          <a:off x="3096126" y="582329"/>
          <a:ext cx="21844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0" name="Equation" r:id="rId3" imgW="1155700" imgH="393700" progId="Equation.DSMT4">
                  <p:embed/>
                </p:oleObj>
              </mc:Choice>
              <mc:Fallback>
                <p:oleObj name="Equation" r:id="rId3" imgW="1155700" imgH="393700" progId="Equation.DSMT4">
                  <p:embed/>
                  <p:pic>
                    <p:nvPicPr>
                      <p:cNvPr id="17613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6126" y="582329"/>
                        <a:ext cx="2184400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4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6135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6136" name="Object 7"/>
          <p:cNvGraphicFramePr>
            <a:graphicFrameLocks noChangeAspect="1"/>
          </p:cNvGraphicFramePr>
          <p:nvPr>
            <p:extLst/>
          </p:nvPr>
        </p:nvGraphicFramePr>
        <p:xfrm>
          <a:off x="2679032" y="2219426"/>
          <a:ext cx="24479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1" name="Equation" r:id="rId5" imgW="1180588" imgH="393529" progId="Equation.DSMT4">
                  <p:embed/>
                </p:oleObj>
              </mc:Choice>
              <mc:Fallback>
                <p:oleObj name="Equation" r:id="rId5" imgW="1180588" imgH="393529" progId="Equation.DSMT4">
                  <p:embed/>
                  <p:pic>
                    <p:nvPicPr>
                      <p:cNvPr id="17613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032" y="2219426"/>
                        <a:ext cx="2447925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7" name="Rectangle 8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6138" name="Object 9"/>
          <p:cNvGraphicFramePr>
            <a:graphicFrameLocks noChangeAspect="1"/>
          </p:cNvGraphicFramePr>
          <p:nvPr>
            <p:extLst/>
          </p:nvPr>
        </p:nvGraphicFramePr>
        <p:xfrm>
          <a:off x="2668603" y="3328988"/>
          <a:ext cx="50974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2" name="Equation" r:id="rId7" imgW="2476500" imgH="431800" progId="Equation.DSMT4">
                  <p:embed/>
                </p:oleObj>
              </mc:Choice>
              <mc:Fallback>
                <p:oleObj name="Equation" r:id="rId7" imgW="2476500" imgH="431800" progId="Equation.DSMT4">
                  <p:embed/>
                  <p:pic>
                    <p:nvPicPr>
                      <p:cNvPr id="17613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603" y="3328988"/>
                        <a:ext cx="5097462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57200" y="4267200"/>
            <a:ext cx="6172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sz="2400" b="1" dirty="0" smtClean="0"/>
              <a:t>令左右两边相等即得</a:t>
            </a:r>
          </a:p>
          <a:p>
            <a:pPr eaLnBrk="1" hangingPunct="1"/>
            <a:endParaRPr lang="zh-CN" altLang="en-US" sz="2400" b="1" dirty="0" smtClean="0"/>
          </a:p>
          <a:p>
            <a:pPr eaLnBrk="1" hangingPunct="1"/>
            <a:endParaRPr lang="zh-CN" altLang="en-US" sz="2400" b="1" dirty="0" smtClean="0"/>
          </a:p>
          <a:p>
            <a:pPr eaLnBrk="1" hangingPunct="1"/>
            <a:r>
              <a:rPr lang="zh-CN" altLang="en-US" sz="2400" b="1" dirty="0" smtClean="0"/>
              <a:t>两边取对数，即得指数保费原理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0" y="5718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/>
          </p:nvPr>
        </p:nvGraphicFramePr>
        <p:xfrm>
          <a:off x="1645920" y="5172075"/>
          <a:ext cx="20669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3" name="Equation" r:id="rId9" imgW="1016000" imgH="228600" progId="Equation.DSMT4">
                  <p:embed/>
                </p:oleObj>
              </mc:Choice>
              <mc:Fallback>
                <p:oleObj name="Equation" r:id="rId9" imgW="1016000" imgH="228600" progId="Equation.DSMT4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920" y="5172075"/>
                        <a:ext cx="2066925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5637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>
            <p:extLst/>
          </p:nvPr>
        </p:nvGraphicFramePr>
        <p:xfrm>
          <a:off x="5507255" y="5971704"/>
          <a:ext cx="19177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4" name="Equation" r:id="rId11" imgW="1028254" imgH="393529" progId="Equation.DSMT4">
                  <p:embed/>
                </p:oleObj>
              </mc:Choice>
              <mc:Fallback>
                <p:oleObj name="Equation" r:id="rId11" imgW="1028254" imgH="393529" progId="Equation.DSMT4">
                  <p:embed/>
                  <p:pic>
                    <p:nvPicPr>
                      <p:cNvPr id="1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255" y="5971704"/>
                        <a:ext cx="19177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86067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theme/theme1.xml><?xml version="1.0" encoding="utf-8"?>
<a:theme xmlns:a="http://schemas.openxmlformats.org/drawingml/2006/main" name="演示文稿9">
  <a:themeElements>
    <a:clrScheme name="演示文稿9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演示文稿9">
      <a:majorFont>
        <a:latin typeface="Arial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产线精算定价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产线精算定价" id="{42F9244C-4DED-45ED-AADB-DA3FB02D9E16}" vid="{99D26890-5A41-46FD-BD76-F30CD412CAF4}"/>
    </a:ext>
  </a:extLst>
</a:theme>
</file>

<file path=ppt/theme/theme3.xml><?xml version="1.0" encoding="utf-8"?>
<a:theme xmlns:a="http://schemas.openxmlformats.org/drawingml/2006/main" name="1_演示文稿9">
  <a:themeElements>
    <a:clrScheme name="演示文稿9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演示文稿9">
      <a:majorFont>
        <a:latin typeface="Arial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产线精算定价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产线精算定价" id="{42F9244C-4DED-45ED-AADB-DA3FB02D9E16}" vid="{99D26890-5A41-46FD-BD76-F30CD412CAF4}"/>
    </a:ext>
  </a:extLst>
</a:theme>
</file>

<file path=ppt/theme/theme5.xml><?xml version="1.0" encoding="utf-8"?>
<a:theme xmlns:a="http://schemas.openxmlformats.org/drawingml/2006/main" name="2_演示文稿9">
  <a:themeElements>
    <a:clrScheme name="演示文稿9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演示文稿9">
      <a:majorFont>
        <a:latin typeface="Arial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母板1</Template>
  <TotalTime>23144</TotalTime>
  <Words>1679</Words>
  <Application>Microsoft Office PowerPoint</Application>
  <PresentationFormat>全屏显示(4:3)</PresentationFormat>
  <Paragraphs>319</Paragraphs>
  <Slides>51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72" baseType="lpstr">
      <vt:lpstr>黑体</vt:lpstr>
      <vt:lpstr>华文楷体</vt:lpstr>
      <vt:lpstr>华文新魏</vt:lpstr>
      <vt:lpstr>楷体</vt:lpstr>
      <vt:lpstr>楷体_GB2312</vt:lpstr>
      <vt:lpstr>宋体</vt:lpstr>
      <vt:lpstr>微软雅黑</vt:lpstr>
      <vt:lpstr>Arial</vt:lpstr>
      <vt:lpstr>Cambria</vt:lpstr>
      <vt:lpstr>Symbol</vt:lpstr>
      <vt:lpstr>Times New Roman</vt:lpstr>
      <vt:lpstr>Verdana</vt:lpstr>
      <vt:lpstr>Wingdings</vt:lpstr>
      <vt:lpstr>Wingdings 2</vt:lpstr>
      <vt:lpstr>ZWAdobeF</vt:lpstr>
      <vt:lpstr>演示文稿9</vt:lpstr>
      <vt:lpstr>产线精算定价</vt:lpstr>
      <vt:lpstr>1_演示文稿9</vt:lpstr>
      <vt:lpstr>1_产线精算定价</vt:lpstr>
      <vt:lpstr>2_演示文稿9</vt:lpstr>
      <vt:lpstr>Equation</vt:lpstr>
      <vt:lpstr>风险度量基础</vt:lpstr>
      <vt:lpstr>什么是风险？如何度量？</vt:lpstr>
      <vt:lpstr>随机变量</vt:lpstr>
      <vt:lpstr>随机变量</vt:lpstr>
      <vt:lpstr>随机变量</vt:lpstr>
      <vt:lpstr>方差、标准差和变异系数</vt:lpstr>
      <vt:lpstr>两个概念 - 次数</vt:lpstr>
      <vt:lpstr>两个概念 – 金额</vt:lpstr>
      <vt:lpstr>如何进行风险度量？</vt:lpstr>
      <vt:lpstr>PowerPoint 演示文稿</vt:lpstr>
      <vt:lpstr>风险度量</vt:lpstr>
      <vt:lpstr>PowerPoint 演示文稿</vt:lpstr>
      <vt:lpstr>PowerPoint 演示文稿</vt:lpstr>
      <vt:lpstr>　VaR （Value at Risk）</vt:lpstr>
      <vt:lpstr>PowerPoint 演示文稿</vt:lpstr>
      <vt:lpstr>PowerPoint 演示文稿</vt:lpstr>
      <vt:lpstr>　VaR 的性质</vt:lpstr>
      <vt:lpstr>PowerPoint 演示文稿</vt:lpstr>
      <vt:lpstr>PowerPoint 演示文稿</vt:lpstr>
      <vt:lpstr>PowerPoint 演示文稿</vt:lpstr>
      <vt:lpstr>VaR 在什么条件下是一致性风险度量？</vt:lpstr>
      <vt:lpstr>PowerPoint 演示文稿</vt:lpstr>
      <vt:lpstr>PowerPoint 演示文稿</vt:lpstr>
      <vt:lpstr>TVaR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课堂练习</vt:lpstr>
      <vt:lpstr>保费原理（Premium principles）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中国人民大学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ESI提升计划</dc:title>
  <dc:creator>J</dc:creator>
  <cp:lastModifiedBy>李 政宵</cp:lastModifiedBy>
  <cp:revision>2674</cp:revision>
  <cp:lastPrinted>2014-03-25T07:52:42Z</cp:lastPrinted>
  <dcterms:created xsi:type="dcterms:W3CDTF">2003-12-29T03:18:02Z</dcterms:created>
  <dcterms:modified xsi:type="dcterms:W3CDTF">2018-09-19T08:59:30Z</dcterms:modified>
</cp:coreProperties>
</file>