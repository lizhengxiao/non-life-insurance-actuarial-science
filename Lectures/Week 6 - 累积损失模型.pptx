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3721" r:id="rId2"/>
    <p:sldMasterId id="2147483741" r:id="rId3"/>
  </p:sldMasterIdLst>
  <p:notesMasterIdLst>
    <p:notesMasterId r:id="rId70"/>
  </p:notesMasterIdLst>
  <p:handoutMasterIdLst>
    <p:handoutMasterId r:id="rId71"/>
  </p:handoutMasterIdLst>
  <p:sldIdLst>
    <p:sldId id="529" r:id="rId4"/>
    <p:sldId id="464" r:id="rId5"/>
    <p:sldId id="257" r:id="rId6"/>
    <p:sldId id="530" r:id="rId7"/>
    <p:sldId id="258" r:id="rId8"/>
    <p:sldId id="421" r:id="rId9"/>
    <p:sldId id="387" r:id="rId10"/>
    <p:sldId id="531" r:id="rId11"/>
    <p:sldId id="262" r:id="rId12"/>
    <p:sldId id="548" r:id="rId13"/>
    <p:sldId id="549" r:id="rId14"/>
    <p:sldId id="500" r:id="rId15"/>
    <p:sldId id="516" r:id="rId16"/>
    <p:sldId id="517" r:id="rId17"/>
    <p:sldId id="518" r:id="rId18"/>
    <p:sldId id="477" r:id="rId19"/>
    <p:sldId id="550" r:id="rId20"/>
    <p:sldId id="515" r:id="rId21"/>
    <p:sldId id="532" r:id="rId22"/>
    <p:sldId id="285" r:id="rId23"/>
    <p:sldId id="399" r:id="rId24"/>
    <p:sldId id="434" r:id="rId25"/>
    <p:sldId id="330" r:id="rId26"/>
    <p:sldId id="493" r:id="rId27"/>
    <p:sldId id="327" r:id="rId28"/>
    <p:sldId id="329" r:id="rId29"/>
    <p:sldId id="496" r:id="rId30"/>
    <p:sldId id="546" r:id="rId31"/>
    <p:sldId id="551" r:id="rId32"/>
    <p:sldId id="293" r:id="rId33"/>
    <p:sldId id="295" r:id="rId34"/>
    <p:sldId id="449" r:id="rId35"/>
    <p:sldId id="296" r:id="rId36"/>
    <p:sldId id="362" r:id="rId37"/>
    <p:sldId id="363" r:id="rId38"/>
    <p:sldId id="512" r:id="rId39"/>
    <p:sldId id="547" r:id="rId40"/>
    <p:sldId id="528" r:id="rId41"/>
    <p:sldId id="524" r:id="rId42"/>
    <p:sldId id="545" r:id="rId43"/>
    <p:sldId id="525" r:id="rId44"/>
    <p:sldId id="526" r:id="rId45"/>
    <p:sldId id="553" r:id="rId46"/>
    <p:sldId id="554" r:id="rId47"/>
    <p:sldId id="555" r:id="rId48"/>
    <p:sldId id="552" r:id="rId49"/>
    <p:sldId id="442" r:id="rId50"/>
    <p:sldId id="312" r:id="rId51"/>
    <p:sldId id="406" r:id="rId52"/>
    <p:sldId id="435" r:id="rId53"/>
    <p:sldId id="436" r:id="rId54"/>
    <p:sldId id="409" r:id="rId55"/>
    <p:sldId id="356" r:id="rId56"/>
    <p:sldId id="533" r:id="rId57"/>
    <p:sldId id="535" r:id="rId58"/>
    <p:sldId id="536" r:id="rId59"/>
    <p:sldId id="534" r:id="rId60"/>
    <p:sldId id="537" r:id="rId61"/>
    <p:sldId id="438" r:id="rId62"/>
    <p:sldId id="439" r:id="rId63"/>
    <p:sldId id="440" r:id="rId64"/>
    <p:sldId id="359" r:id="rId65"/>
    <p:sldId id="441" r:id="rId66"/>
    <p:sldId id="360" r:id="rId67"/>
    <p:sldId id="502" r:id="rId68"/>
    <p:sldId id="539" r:id="rId69"/>
  </p:sldIdLst>
  <p:sldSz cx="9144000" cy="6858000" type="screen4x3"/>
  <p:notesSz cx="9942513" cy="676116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0099"/>
    <a:srgbClr val="333399"/>
    <a:srgbClr val="003399"/>
    <a:srgbClr val="FF0066"/>
    <a:srgbClr val="3399FF"/>
    <a:srgbClr val="99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12" autoAdjust="0"/>
    <p:restoredTop sz="99314" autoAdjust="0"/>
  </p:normalViewPr>
  <p:slideViewPr>
    <p:cSldViewPr>
      <p:cViewPr varScale="1">
        <p:scale>
          <a:sx n="115" d="100"/>
          <a:sy n="115" d="100"/>
        </p:scale>
        <p:origin x="111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8422" cy="3380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1790" y="0"/>
            <a:ext cx="4308422" cy="3380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F4F39-7A1C-4ECF-B12B-AECA6FD70C49}" type="datetimeFigureOut">
              <a:rPr lang="zh-CN" altLang="en-US" smtClean="0"/>
              <a:t>2018/10/22 Monday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21932"/>
            <a:ext cx="4308422" cy="3380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1790" y="6421932"/>
            <a:ext cx="4308422" cy="3380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9702E-BDFA-4AD6-9D38-025CFA0E1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4129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8422" cy="33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1790" y="0"/>
            <a:ext cx="4308422" cy="33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388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9775" y="506413"/>
            <a:ext cx="3382963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8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252" y="3211553"/>
            <a:ext cx="7954010" cy="3042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88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21932"/>
            <a:ext cx="4308422" cy="33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388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1790" y="6421932"/>
            <a:ext cx="4308422" cy="33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60137F2D-B88F-4DDC-8870-0D88C625AB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04646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0A520B-1857-41B1-97D3-DA3A336EC44E}" type="slidenum">
              <a:rPr lang="en-US" altLang="zh-CN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6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925DD8-1230-47CF-8FBF-B14B38DFD13A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7A378-7689-4D9A-A3BF-5F04840BCD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162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9E89F6-8280-43D5-B384-4EA143EF9B5B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E7C01E-CA9E-4187-9252-2E548696C1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620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044ECA-85D9-4CD5-B507-30FBAF23D40F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D548A1-5030-4A24-B770-E40334868D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3722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BE7D84-86F4-4080-B1BA-B26E3E2B92EA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029BBF-FDA3-46D1-80FC-A648B2ED85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751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32B54A-1DC3-491F-84B5-089A47753A52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BAE8F0-5D22-4A4E-B73C-C6A93F7C68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5503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2E44357-9220-4B8F-B86E-19DC515AD4D6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A5E455-B622-4E1C-87F5-5169CFA8C1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3859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CB5761-8363-4691-A6A4-BB626E077F4E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A3AD84-AD17-436E-BDC6-9F76178828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047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9101BF-CC22-4558-A8D8-801E70BE4683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819301-9D9A-44AD-9E59-39DEF8E016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717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80A9EB-CBB1-4DEC-B968-2FEBB9AC9BAC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917FB-AC86-407E-AC5F-5229395A35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101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3E262E-7BB3-4D00-894F-B34D44B17FE2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18BDC5-8439-4652-BDC4-CDE281A6BB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18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92F7EE-7D83-45BC-A41F-CE0C7A1FC675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BEE39-740C-438E-858B-EDEE5ECBE0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1832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E05FB4-8E38-4AA8-AC6F-8C1DA92D8284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3B4BF5CF-48BD-4279-8CE6-E97AD20391B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06102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11797"/>
            <a:ext cx="8229600" cy="78914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84255"/>
            <a:ext cx="8229600" cy="4382717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楷体" pitchFamily="49" charset="-122"/>
                <a:ea typeface="楷体" pitchFamily="49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楷体" pitchFamily="49" charset="-122"/>
                <a:ea typeface="楷体" pitchFamily="49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C3E7AD-4D5D-4E3A-AF88-1AE378715299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0E44F611-2139-44C4-8389-3693706BEAC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0114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33BD65-64DF-4905-A876-29CC3D9A5982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B1EBF349-51D2-4695-83BF-D6419463B7C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43564" y="76288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357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1BB0D7-5AD3-431F-8EA8-454524FE441B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zh-CN" altLang="en-US" smtClean="0"/>
            </a:lvl1pPr>
          </a:lstStyle>
          <a:p>
            <a:fld id="{79C80809-9979-4916-A054-472AA097B44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943564" y="-12561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1000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C99178-3CC5-4CD7-A3E0-C860080883B0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B126FEEA-2E11-4868-8907-4F4FC60B389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999081" y="-17417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43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83A4D-8CC0-4218-BC96-A24A66EA9BD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2018/10/22 Monday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>
                <a:solidFill>
                  <a:srgbClr val="000000"/>
                </a:solidFill>
              </a:rPr>
              <a:pPr>
                <a:buFontTx/>
                <a:buNone/>
              </a:pPr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89261" y="0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354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3900FA-A96B-4292-A25D-E90BB6ECD888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1DE4A5C1-6E32-4D27-B098-D591BD20361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67366" y="-8293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9780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BB11BF6-1825-4E5D-87F7-8340C42F52D4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zh-CN" altLang="en-US" smtClean="0"/>
            </a:lvl1pPr>
          </a:lstStyle>
          <a:p>
            <a:fld id="{3D05B0E7-2579-429D-BCBA-C28DD1218EA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943564" y="0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340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1248BB-B8C1-40D5-8922-C7AB4BEC0A62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F250BC1C-96FD-46CE-B712-93CF184DDDD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986737" y="0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9255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AA3F03-E126-41EC-8344-C2AE1C32C20A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E7AF00A7-0EA5-48CA-8099-549E685D2FF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994982" y="10401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598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11FDE3-A0D2-4EBA-9A45-AD284FBF1DAB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8D1EA602-0C69-4636-A8B2-20B8D18A602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19800" y="-8738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2728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324F0C-7EC2-40AB-BDFA-C8FAB7119D4E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113C9DDF-88FB-47EB-8CB4-7DAEF1926ED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19800" y="46970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610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8D6C1-9B6E-49A8-8483-5C8F660CC4B8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32C9F6-4413-40CC-A069-A68420AFC0C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057244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EF38E7-8F0C-4E21-BBA3-EFCE081803BA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990714-EA70-40A7-9545-E449AF6568D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0411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8D6C1-9B6E-49A8-8483-5C8F660CC4B8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32C9F6-4413-40CC-A069-A68420AFC0C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281334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7896BE-A8ED-4F05-A693-996114E3BF0D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366576-C378-447E-8C45-E8DFBD5F40C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590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D6C1-9B6E-49A8-8483-5C8F660CC4B8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2C9F6-4413-40CC-A069-A68420AFC0C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301288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D6C1-9B6E-49A8-8483-5C8F660CC4B8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F232C9F6-4413-40CC-A069-A68420AFC0C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053401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83A4D-8CC0-4218-BC96-A24A66EA9BD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2018/10/22 Monday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>
                <a:solidFill>
                  <a:srgbClr val="000000"/>
                </a:solidFill>
              </a:rPr>
              <a:pPr>
                <a:buFontTx/>
                <a:buNone/>
              </a:pPr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9412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5724525" y="212726"/>
            <a:ext cx="3455988" cy="5847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FFFFFF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1864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957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21990609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3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4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2435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3811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705613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971578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58791542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33907725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730394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62714" y="404813"/>
            <a:ext cx="2070100" cy="56880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6" y="404813"/>
            <a:ext cx="6059488" cy="5688012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553049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6" y="404815"/>
            <a:ext cx="6626225" cy="7524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3213" y="1700213"/>
            <a:ext cx="8229600" cy="439261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249200311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fld id="{A58B1053-1758-45CD-A16A-D543B11ED7B6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AE0EE21C-EE3B-452E-B2BC-704AA01D6CF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BB58D6C1-9B6E-49A8-8483-5C8F660CC4B8}" type="datetime1">
              <a:rPr lang="zh-CN" altLang="en-US" smtClean="0"/>
              <a:t>2018/10/22 Monday</a:t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buNone/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ea"/>
                <a:ea typeface="+mn-ea"/>
              </a:defRPr>
            </a:lvl1pPr>
          </a:lstStyle>
          <a:p>
            <a:fld id="{F232C9F6-4413-40CC-A069-A68420AFC0C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7" name="Picture 5" descr="082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9" t="33676" r="7799" b="55194"/>
          <a:stretch>
            <a:fillRect/>
          </a:stretch>
        </p:blipFill>
        <p:spPr bwMode="auto">
          <a:xfrm>
            <a:off x="6446839" y="-26988"/>
            <a:ext cx="2733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082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6" t="33676" r="9175" b="55194"/>
          <a:stretch>
            <a:fillRect/>
          </a:stretch>
        </p:blipFill>
        <p:spPr bwMode="auto">
          <a:xfrm>
            <a:off x="0" y="-26988"/>
            <a:ext cx="64658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967725" y="17198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412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40" r:id="rId18"/>
    <p:sldLayoutId id="2147483720" r:id="rId19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楷体" pitchFamily="49" charset="-122"/>
          <a:ea typeface="楷体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6" y="404815"/>
            <a:ext cx="66262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3213" y="1700213"/>
            <a:ext cx="8229600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Text Box 6"/>
          <p:cNvSpPr txBox="1">
            <a:spLocks noChangeArrowheads="1"/>
          </p:cNvSpPr>
          <p:nvPr/>
        </p:nvSpPr>
        <p:spPr bwMode="auto">
          <a:xfrm>
            <a:off x="5580063" y="6332538"/>
            <a:ext cx="3600450" cy="33655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000000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824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3000" b="1">
          <a:solidFill>
            <a:srgbClr val="000000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600" b="1">
          <a:solidFill>
            <a:srgbClr val="000000"/>
          </a:solidFill>
          <a:latin typeface="+mn-lt"/>
          <a:ea typeface="+mn-ea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2300" b="1">
          <a:solidFill>
            <a:srgbClr val="000000"/>
          </a:solidFill>
          <a:latin typeface="+mn-lt"/>
          <a:ea typeface="+mn-ea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000" b="1">
          <a:solidFill>
            <a:srgbClr val="000000"/>
          </a:solidFill>
          <a:latin typeface="+mn-lt"/>
          <a:ea typeface="+mn-ea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8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9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0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4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0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41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7.wmf"/><Relationship Id="rId9" Type="http://schemas.openxmlformats.org/officeDocument/2006/relationships/oleObject" Target="../embeddings/oleObject40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50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0.72624752582735%0d%0a%20%20%200.10893691994721%0d%0a%20%20%200.06009549323438%0d%0a%20%20%200.03545628022450%0d%0a%20%20%200.02195550908201%0d%0a%20%20%200.01411506856730%0d%0a%20%20%200.02307525676959%0d%0a%20%20%200.00462285391624" TargetMode="External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44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58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63.wmf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0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64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65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67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13" Type="http://schemas.openxmlformats.org/officeDocument/2006/relationships/oleObject" Target="../embeddings/oleObject63.bin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7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5.e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79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80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81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82.w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15696" y="2129314"/>
            <a:ext cx="7772400" cy="1362456"/>
          </a:xfrm>
        </p:spPr>
        <p:txBody>
          <a:bodyPr/>
          <a:lstStyle/>
          <a:p>
            <a:pPr algn="ctr"/>
            <a:r>
              <a:rPr lang="zh-CN" altLang="en-US" sz="4800" dirty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累积损失模型</a:t>
            </a:r>
            <a:br>
              <a:rPr lang="zh-CN" altLang="en-US" sz="4800" dirty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en-US" altLang="zh-CN" sz="2800" dirty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Aggregate </a:t>
            </a:r>
            <a:r>
              <a:rPr lang="en-US" altLang="zh-CN" sz="2800" dirty="0" smtClean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loss  models</a:t>
            </a:r>
            <a:endParaRPr lang="zh-CN" altLang="en-US" sz="2800" dirty="0">
              <a:solidFill>
                <a:srgbClr val="91172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33400" y="4010258"/>
            <a:ext cx="7854696" cy="1752600"/>
          </a:xfrm>
          <a:prstGeom prst="rect">
            <a:avLst/>
          </a:prstGeom>
        </p:spPr>
        <p:txBody>
          <a:bodyPr vert="horz" lIns="45720" rIns="45720" anchor="t">
            <a:normAutofit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40000"/>
              </a:lnSpc>
              <a:spcAft>
                <a:spcPts val="0"/>
              </a:spcAft>
              <a:buClr>
                <a:srgbClr val="FFFFFF"/>
              </a:buClr>
            </a:pPr>
            <a:r>
              <a:rPr lang="zh-CN" altLang="en-US" sz="3200" dirty="0" smtClean="0">
                <a:solidFill>
                  <a:srgbClr val="911720"/>
                </a:solidFill>
                <a:latin typeface="华文新魏" pitchFamily="2" charset="-122"/>
                <a:ea typeface="华文新魏" pitchFamily="2" charset="-122"/>
              </a:rPr>
              <a:t>李政宵</a:t>
            </a:r>
            <a:endParaRPr lang="en-US" altLang="zh-CN" sz="3200" dirty="0" smtClean="0">
              <a:solidFill>
                <a:srgbClr val="911720"/>
              </a:solidFill>
              <a:latin typeface="华文新魏" pitchFamily="2" charset="-122"/>
              <a:ea typeface="华文新魏" pitchFamily="2" charset="-122"/>
            </a:endParaRPr>
          </a:p>
          <a:p>
            <a:pPr algn="ctr" fontAlgn="auto">
              <a:lnSpc>
                <a:spcPct val="140000"/>
              </a:lnSpc>
              <a:spcAft>
                <a:spcPts val="0"/>
              </a:spcAft>
              <a:buClr>
                <a:srgbClr val="FFFFFF"/>
              </a:buClr>
            </a:pPr>
            <a:r>
              <a:rPr lang="zh-CN" altLang="en-US" sz="3200" dirty="0" smtClean="0">
                <a:solidFill>
                  <a:srgbClr val="911720"/>
                </a:solidFill>
                <a:latin typeface="华文新魏" pitchFamily="2" charset="-122"/>
                <a:ea typeface="华文新魏" pitchFamily="2" charset="-122"/>
              </a:rPr>
              <a:t>    对外经济贸易大学 保险学院</a:t>
            </a:r>
          </a:p>
        </p:txBody>
      </p:sp>
    </p:spTree>
    <p:extLst>
      <p:ext uri="{BB962C8B-B14F-4D97-AF65-F5344CB8AC3E}">
        <p14:creationId xmlns:p14="http://schemas.microsoft.com/office/powerpoint/2010/main" val="329716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48680"/>
            <a:ext cx="7543800" cy="858837"/>
          </a:xfrm>
        </p:spPr>
        <p:txBody>
          <a:bodyPr/>
          <a:lstStyle/>
          <a:p>
            <a:r>
              <a:rPr lang="zh-CN" altLang="en-US" dirty="0" smtClean="0"/>
              <a:t>引言 </a:t>
            </a:r>
            <a:endParaRPr lang="zh-CN" altLang="en-US" dirty="0"/>
          </a:p>
        </p:txBody>
      </p:sp>
      <p:sp>
        <p:nvSpPr>
          <p:cNvPr id="3645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26998"/>
            <a:ext cx="8229600" cy="5399087"/>
          </a:xfrm>
        </p:spPr>
        <p:txBody>
          <a:bodyPr/>
          <a:lstStyle/>
          <a:p>
            <a:r>
              <a:rPr lang="zh-CN" altLang="en-US" b="1" dirty="0">
                <a:latin typeface="Times New Roman" pitchFamily="18" charset="0"/>
              </a:rPr>
              <a:t>累积损失</a:t>
            </a:r>
            <a:r>
              <a:rPr lang="en-US" altLang="zh-CN" b="1" dirty="0">
                <a:latin typeface="Times New Roman" pitchFamily="18" charset="0"/>
              </a:rPr>
              <a:t>(Aggregate loss): </a:t>
            </a:r>
            <a:r>
              <a:rPr lang="zh-CN" altLang="en-US" b="1" dirty="0">
                <a:latin typeface="Times New Roman" pitchFamily="18" charset="0"/>
              </a:rPr>
              <a:t>一定时期内给定业务的总赔款。 </a:t>
            </a:r>
          </a:p>
          <a:p>
            <a:r>
              <a:rPr lang="zh-CN" altLang="en-US" b="1" dirty="0">
                <a:latin typeface="Times New Roman" pitchFamily="18" charset="0"/>
              </a:rPr>
              <a:t>累积损失的两个模型： </a:t>
            </a:r>
          </a:p>
          <a:p>
            <a:pPr lvl="1"/>
            <a:r>
              <a:rPr lang="zh-CN" altLang="en-US" b="1" dirty="0">
                <a:latin typeface="Times New Roman" pitchFamily="18" charset="0"/>
              </a:rPr>
              <a:t>集体风险模型</a:t>
            </a:r>
          </a:p>
          <a:p>
            <a:pPr lvl="1"/>
            <a:r>
              <a:rPr lang="zh-CN" altLang="en-US" b="1" dirty="0">
                <a:latin typeface="Times New Roman" pitchFamily="18" charset="0"/>
              </a:rPr>
              <a:t>个体风险模型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F117-6620-4D26-8807-CC7ABBB8A231}" type="slidenum">
              <a:rPr lang="en-US" altLang="zh-CN"/>
              <a:pPr/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4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4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12776"/>
            <a:ext cx="8229600" cy="496885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>
                <a:latin typeface="Times New Roman" pitchFamily="18" charset="0"/>
              </a:rPr>
              <a:t>集体风险模型（</a:t>
            </a:r>
            <a:r>
              <a:rPr lang="en-US" altLang="zh-CN" b="1" dirty="0">
                <a:latin typeface="Times New Roman" pitchFamily="18" charset="0"/>
              </a:rPr>
              <a:t>Collective risk model</a:t>
            </a:r>
            <a:r>
              <a:rPr lang="zh-CN" altLang="en-US" b="1" dirty="0">
                <a:latin typeface="Times New Roman" pitchFamily="18" charset="0"/>
              </a:rPr>
              <a:t>）</a:t>
            </a:r>
            <a:r>
              <a:rPr lang="en-US" altLang="zh-CN" b="1" dirty="0">
                <a:latin typeface="Times New Roman" pitchFamily="18" charset="0"/>
              </a:rPr>
              <a:t>: </a:t>
            </a:r>
          </a:p>
          <a:p>
            <a:pPr lvl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         </a:t>
            </a:r>
            <a:r>
              <a:rPr lang="en-US" altLang="zh-CN" b="1" i="1" dirty="0">
                <a:latin typeface="Times New Roman" pitchFamily="18" charset="0"/>
              </a:rPr>
              <a:t>S </a:t>
            </a:r>
            <a:r>
              <a:rPr lang="en-US" altLang="zh-CN" b="1" dirty="0">
                <a:latin typeface="Times New Roman" pitchFamily="18" charset="0"/>
              </a:rPr>
              <a:t>= </a:t>
            </a:r>
            <a:r>
              <a:rPr lang="en-US" altLang="zh-CN" b="1" i="1" dirty="0" err="1" smtClean="0">
                <a:latin typeface="Times New Roman" pitchFamily="18" charset="0"/>
              </a:rPr>
              <a:t>X</a:t>
            </a:r>
            <a:r>
              <a:rPr lang="en-US" altLang="zh-CN" b="1" baseline="-25000" dirty="0" err="1" smtClean="0">
                <a:latin typeface="Times New Roman" pitchFamily="18" charset="0"/>
              </a:rPr>
              <a:t>1</a:t>
            </a:r>
            <a:r>
              <a:rPr lang="en-US" altLang="zh-CN" b="1" baseline="-25000" dirty="0" smtClean="0">
                <a:latin typeface="Times New Roman" pitchFamily="18" charset="0"/>
              </a:rPr>
              <a:t> </a:t>
            </a:r>
            <a:r>
              <a:rPr lang="en-US" altLang="zh-CN" b="1" dirty="0" smtClean="0">
                <a:latin typeface="Times New Roman" pitchFamily="18" charset="0"/>
              </a:rPr>
              <a:t>+ </a:t>
            </a:r>
            <a:r>
              <a:rPr lang="en-US" altLang="zh-CN" b="1" i="1" dirty="0" err="1" smtClean="0">
                <a:latin typeface="Times New Roman" pitchFamily="18" charset="0"/>
              </a:rPr>
              <a:t>X</a:t>
            </a:r>
            <a:r>
              <a:rPr lang="en-US" altLang="zh-CN" b="1" baseline="-25000" dirty="0" err="1" smtClean="0">
                <a:latin typeface="Times New Roman" pitchFamily="18" charset="0"/>
              </a:rPr>
              <a:t>2</a:t>
            </a:r>
            <a:r>
              <a:rPr lang="en-US" altLang="zh-CN" b="1" baseline="-25000" dirty="0" smtClean="0">
                <a:latin typeface="Times New Roman" pitchFamily="18" charset="0"/>
              </a:rPr>
              <a:t> </a:t>
            </a:r>
            <a:r>
              <a:rPr lang="en-US" altLang="zh-CN" b="1" dirty="0" smtClean="0">
                <a:latin typeface="Times New Roman" pitchFamily="18" charset="0"/>
              </a:rPr>
              <a:t>+ … + </a:t>
            </a:r>
            <a:r>
              <a:rPr lang="en-US" altLang="zh-CN" b="1" i="1" dirty="0" err="1" smtClean="0">
                <a:latin typeface="Times New Roman" pitchFamily="18" charset="0"/>
              </a:rPr>
              <a:t>X</a:t>
            </a:r>
            <a:r>
              <a:rPr lang="en-US" altLang="zh-CN" b="1" i="1" baseline="-25000" dirty="0" err="1" smtClean="0">
                <a:latin typeface="Times New Roman" pitchFamily="18" charset="0"/>
              </a:rPr>
              <a:t>N</a:t>
            </a:r>
            <a:endParaRPr lang="en-US" altLang="zh-CN" b="1" i="1" baseline="-25000" dirty="0">
              <a:latin typeface="Times New Roman" pitchFamily="18" charset="0"/>
            </a:endParaRPr>
          </a:p>
          <a:p>
            <a:pPr lvl="2">
              <a:lnSpc>
                <a:spcPct val="200000"/>
              </a:lnSpc>
            </a:pPr>
            <a:r>
              <a:rPr lang="zh-CN" altLang="en-US" b="1" dirty="0">
                <a:latin typeface="Times New Roman" pitchFamily="18" charset="0"/>
              </a:rPr>
              <a:t>损失次数 </a:t>
            </a:r>
            <a:r>
              <a:rPr lang="en-US" altLang="zh-CN" b="1" i="1" dirty="0">
                <a:latin typeface="Times New Roman" pitchFamily="18" charset="0"/>
              </a:rPr>
              <a:t>N </a:t>
            </a:r>
            <a:r>
              <a:rPr lang="zh-CN" altLang="en-US" b="1" dirty="0">
                <a:latin typeface="Times New Roman" pitchFamily="18" charset="0"/>
              </a:rPr>
              <a:t>是一个随机变量。</a:t>
            </a:r>
          </a:p>
          <a:p>
            <a:pPr lvl="2">
              <a:lnSpc>
                <a:spcPct val="200000"/>
              </a:lnSpc>
            </a:pPr>
            <a:r>
              <a:rPr lang="zh-CN" altLang="en-US" b="1" dirty="0">
                <a:latin typeface="Times New Roman" pitchFamily="18" charset="0"/>
              </a:rPr>
              <a:t>在给定 </a:t>
            </a:r>
            <a:r>
              <a:rPr lang="en-US" altLang="zh-CN" b="1" i="1" dirty="0">
                <a:latin typeface="Times New Roman" pitchFamily="18" charset="0"/>
              </a:rPr>
              <a:t>N</a:t>
            </a:r>
            <a:r>
              <a:rPr lang="en-US" altLang="zh-CN" b="1" dirty="0">
                <a:latin typeface="Times New Roman" pitchFamily="18" charset="0"/>
              </a:rPr>
              <a:t> = </a:t>
            </a:r>
            <a:r>
              <a:rPr lang="en-US" altLang="zh-CN" b="1" i="1" dirty="0">
                <a:latin typeface="Times New Roman" pitchFamily="18" charset="0"/>
              </a:rPr>
              <a:t>n </a:t>
            </a:r>
            <a:r>
              <a:rPr lang="zh-CN" altLang="en-US" b="1" dirty="0">
                <a:latin typeface="Times New Roman" pitchFamily="18" charset="0"/>
              </a:rPr>
              <a:t>的条件</a:t>
            </a:r>
            <a:r>
              <a:rPr lang="zh-CN" altLang="en-US" b="1" dirty="0" smtClean="0">
                <a:latin typeface="Times New Roman" pitchFamily="18" charset="0"/>
              </a:rPr>
              <a:t>下</a:t>
            </a:r>
            <a:r>
              <a:rPr lang="en-US" altLang="zh-CN" b="1" dirty="0" smtClean="0">
                <a:latin typeface="Times New Roman" pitchFamily="18" charset="0"/>
              </a:rPr>
              <a:t>,   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i="1" baseline="-25000" dirty="0">
                <a:latin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</a:rPr>
              <a:t> </a:t>
            </a:r>
            <a:r>
              <a:rPr lang="zh-CN" altLang="en-US" b="1" dirty="0">
                <a:latin typeface="Times New Roman" pitchFamily="18" charset="0"/>
              </a:rPr>
              <a:t>独立同分布。</a:t>
            </a:r>
          </a:p>
          <a:p>
            <a:pPr lvl="2">
              <a:lnSpc>
                <a:spcPct val="200000"/>
              </a:lnSpc>
            </a:pPr>
            <a:r>
              <a:rPr lang="zh-CN" altLang="en-US" b="1" dirty="0">
                <a:latin typeface="Times New Roman" pitchFamily="18" charset="0"/>
              </a:rPr>
              <a:t>损失次数 </a:t>
            </a:r>
            <a:r>
              <a:rPr lang="en-US" altLang="zh-CN" b="1" i="1" dirty="0">
                <a:latin typeface="Times New Roman" pitchFamily="18" charset="0"/>
              </a:rPr>
              <a:t>N </a:t>
            </a:r>
            <a:r>
              <a:rPr lang="zh-CN" altLang="en-US" b="1" dirty="0">
                <a:latin typeface="Times New Roman" pitchFamily="18" charset="0"/>
              </a:rPr>
              <a:t>与 损失金额 </a:t>
            </a:r>
            <a:r>
              <a:rPr lang="en-US" altLang="zh-CN" b="1" i="1" dirty="0">
                <a:latin typeface="Times New Roman" pitchFamily="18" charset="0"/>
              </a:rPr>
              <a:t>X </a:t>
            </a:r>
            <a:r>
              <a:rPr lang="zh-CN" altLang="en-US" b="1" dirty="0">
                <a:latin typeface="Times New Roman" pitchFamily="18" charset="0"/>
              </a:rPr>
              <a:t>相互独立</a:t>
            </a:r>
            <a:r>
              <a:rPr lang="zh-CN" altLang="en-US" b="1" dirty="0" smtClean="0">
                <a:latin typeface="Times New Roman" pitchFamily="18" charset="0"/>
              </a:rPr>
              <a:t>。</a:t>
            </a:r>
            <a:endParaRPr lang="zh-CN" altLang="en-US" b="1" dirty="0">
              <a:latin typeface="Times New Roman" pitchFamily="18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0201-9FE1-47F7-B70E-A79F15B44EE4}" type="slidenum">
              <a:rPr lang="en-US" altLang="zh-CN"/>
              <a:pPr/>
              <a:t>3</a:t>
            </a:fld>
            <a:endParaRPr lang="en-US" altLang="zh-CN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275856" y="5466394"/>
            <a:ext cx="1728192" cy="915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zh-CN" altLang="en-US" b="1" kern="0" dirty="0" smtClean="0">
                <a:solidFill>
                  <a:srgbClr val="FF0000"/>
                </a:solidFill>
                <a:latin typeface="Times New Roman" pitchFamily="18" charset="0"/>
              </a:rPr>
              <a:t>复合分布</a:t>
            </a:r>
            <a:endParaRPr lang="zh-CN" altLang="en-US" b="1" kern="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" name="右箭头 1"/>
          <p:cNvSpPr/>
          <p:nvPr/>
        </p:nvSpPr>
        <p:spPr>
          <a:xfrm rot="16200000">
            <a:off x="3894677" y="5304376"/>
            <a:ext cx="490550" cy="3240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752"/>
            <a:ext cx="8229600" cy="489654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 smtClean="0">
                <a:latin typeface="Times New Roman" pitchFamily="18" charset="0"/>
              </a:rPr>
              <a:t>个体</a:t>
            </a:r>
            <a:r>
              <a:rPr lang="zh-CN" altLang="en-US" b="1" dirty="0">
                <a:latin typeface="Times New Roman" pitchFamily="18" charset="0"/>
              </a:rPr>
              <a:t>风险模型（</a:t>
            </a:r>
            <a:r>
              <a:rPr lang="en-US" altLang="zh-CN" b="1" dirty="0">
                <a:latin typeface="Times New Roman" pitchFamily="18" charset="0"/>
              </a:rPr>
              <a:t>Individual risk model</a:t>
            </a:r>
            <a:r>
              <a:rPr lang="zh-CN" altLang="en-US" b="1" dirty="0">
                <a:latin typeface="Times New Roman" pitchFamily="18" charset="0"/>
              </a:rPr>
              <a:t>）</a:t>
            </a:r>
            <a:r>
              <a:rPr lang="en-US" altLang="zh-CN" b="1" dirty="0">
                <a:latin typeface="Times New Roman" pitchFamily="18" charset="0"/>
              </a:rPr>
              <a:t>:</a:t>
            </a:r>
          </a:p>
          <a:p>
            <a:pPr lvl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         </a:t>
            </a:r>
            <a:r>
              <a:rPr lang="en-US" altLang="zh-CN" b="1" i="1" dirty="0">
                <a:latin typeface="Times New Roman" pitchFamily="18" charset="0"/>
              </a:rPr>
              <a:t>S  </a:t>
            </a:r>
            <a:r>
              <a:rPr lang="en-US" altLang="zh-CN" b="1" dirty="0">
                <a:latin typeface="Times New Roman" pitchFamily="18" charset="0"/>
              </a:rPr>
              <a:t>= </a:t>
            </a:r>
            <a:r>
              <a:rPr lang="en-US" altLang="zh-CN" b="1" i="1" dirty="0" err="1">
                <a:latin typeface="Times New Roman" pitchFamily="18" charset="0"/>
              </a:rPr>
              <a:t>X</a:t>
            </a:r>
            <a:r>
              <a:rPr lang="en-US" altLang="zh-CN" b="1" baseline="-25000" dirty="0" err="1">
                <a:latin typeface="Times New Roman" pitchFamily="18" charset="0"/>
              </a:rPr>
              <a:t>1</a:t>
            </a:r>
            <a:r>
              <a:rPr lang="en-US" altLang="zh-CN" b="1" baseline="-25000" dirty="0">
                <a:latin typeface="Times New Roman" pitchFamily="18" charset="0"/>
              </a:rPr>
              <a:t> </a:t>
            </a:r>
            <a:r>
              <a:rPr lang="en-US" altLang="zh-CN" b="1" dirty="0">
                <a:latin typeface="Times New Roman" pitchFamily="18" charset="0"/>
              </a:rPr>
              <a:t>+ </a:t>
            </a:r>
            <a:r>
              <a:rPr lang="en-US" altLang="zh-CN" b="1" i="1" dirty="0" err="1">
                <a:latin typeface="Times New Roman" pitchFamily="18" charset="0"/>
              </a:rPr>
              <a:t>X</a:t>
            </a:r>
            <a:r>
              <a:rPr lang="en-US" altLang="zh-CN" b="1" baseline="-25000" dirty="0" err="1">
                <a:latin typeface="Times New Roman" pitchFamily="18" charset="0"/>
              </a:rPr>
              <a:t>2</a:t>
            </a:r>
            <a:r>
              <a:rPr lang="en-US" altLang="zh-CN" b="1" baseline="-25000" dirty="0">
                <a:latin typeface="Times New Roman" pitchFamily="18" charset="0"/>
              </a:rPr>
              <a:t> </a:t>
            </a:r>
            <a:r>
              <a:rPr lang="en-US" altLang="zh-CN" b="1" dirty="0">
                <a:latin typeface="Times New Roman" pitchFamily="18" charset="0"/>
              </a:rPr>
              <a:t>+…+ </a:t>
            </a:r>
            <a:r>
              <a:rPr lang="en-US" altLang="zh-CN" b="1" i="1" dirty="0" err="1">
                <a:latin typeface="Times New Roman" pitchFamily="18" charset="0"/>
              </a:rPr>
              <a:t>X</a:t>
            </a:r>
            <a:r>
              <a:rPr lang="en-US" altLang="zh-CN" b="1" i="1" baseline="-25000" dirty="0" err="1">
                <a:latin typeface="Times New Roman" pitchFamily="18" charset="0"/>
              </a:rPr>
              <a:t>n</a:t>
            </a:r>
            <a:endParaRPr lang="en-US" altLang="zh-CN" b="1" i="1" baseline="-25000" dirty="0">
              <a:latin typeface="Times New Roman" pitchFamily="18" charset="0"/>
            </a:endParaRPr>
          </a:p>
          <a:p>
            <a:pPr lvl="2">
              <a:lnSpc>
                <a:spcPct val="200000"/>
              </a:lnSpc>
            </a:pPr>
            <a:r>
              <a:rPr lang="en-US" altLang="zh-CN" b="1" i="1" dirty="0">
                <a:latin typeface="Times New Roman" pitchFamily="18" charset="0"/>
              </a:rPr>
              <a:t>n </a:t>
            </a:r>
            <a:r>
              <a:rPr lang="zh-CN" altLang="en-US" b="1" dirty="0">
                <a:latin typeface="Times New Roman" pitchFamily="18" charset="0"/>
              </a:rPr>
              <a:t>是一个固定</a:t>
            </a:r>
            <a:r>
              <a:rPr lang="zh-CN" altLang="en-US" b="1" dirty="0" smtClean="0">
                <a:latin typeface="Times New Roman" pitchFamily="18" charset="0"/>
              </a:rPr>
              <a:t>值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表示</a:t>
            </a:r>
            <a:r>
              <a:rPr lang="en-US" altLang="zh-CN" b="1" i="1" dirty="0">
                <a:latin typeface="Times New Roman" pitchFamily="18" charset="0"/>
              </a:rPr>
              <a:t>n</a:t>
            </a:r>
            <a:r>
              <a:rPr lang="zh-CN" altLang="en-US" b="1" dirty="0">
                <a:latin typeface="Times New Roman" pitchFamily="18" charset="0"/>
              </a:rPr>
              <a:t>份</a:t>
            </a:r>
            <a:r>
              <a:rPr lang="zh-CN" altLang="en-US" b="1" dirty="0" smtClean="0">
                <a:latin typeface="Times New Roman" pitchFamily="18" charset="0"/>
              </a:rPr>
              <a:t>合同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第</a:t>
            </a:r>
            <a:r>
              <a:rPr lang="en-US" altLang="zh-CN" b="1" i="1" dirty="0" err="1">
                <a:latin typeface="Times New Roman" pitchFamily="18" charset="0"/>
              </a:rPr>
              <a:t>i</a:t>
            </a:r>
            <a:r>
              <a:rPr lang="zh-CN" altLang="en-US" b="1" dirty="0">
                <a:latin typeface="Times New Roman" pitchFamily="18" charset="0"/>
              </a:rPr>
              <a:t>份合同的损失为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i="1" baseline="-25000" dirty="0">
                <a:latin typeface="Times New Roman" pitchFamily="18" charset="0"/>
              </a:rPr>
              <a:t>i</a:t>
            </a:r>
            <a:r>
              <a:rPr lang="zh-CN" altLang="en-US" b="1" dirty="0">
                <a:latin typeface="Times New Roman" pitchFamily="18" charset="0"/>
              </a:rPr>
              <a:t>。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i="1" baseline="-25000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 </a:t>
            </a:r>
            <a:r>
              <a:rPr lang="zh-CN" altLang="en-US" b="1" dirty="0" smtClean="0">
                <a:latin typeface="Times New Roman" pitchFamily="18" charset="0"/>
              </a:rPr>
              <a:t>独立</a:t>
            </a:r>
            <a:r>
              <a:rPr lang="en-US" altLang="zh-CN" b="1" dirty="0" smtClean="0">
                <a:latin typeface="Times New Roman" pitchFamily="18" charset="0"/>
              </a:rPr>
              <a:t>,  </a:t>
            </a:r>
            <a:r>
              <a:rPr lang="zh-CN" altLang="en-US" b="1" dirty="0">
                <a:latin typeface="Times New Roman" pitchFamily="18" charset="0"/>
              </a:rPr>
              <a:t>但不一定同分布。</a:t>
            </a:r>
            <a:endParaRPr lang="zh-CN" altLang="en-US" b="1" i="1" baseline="-25000" dirty="0">
              <a:latin typeface="Times New Roman" pitchFamily="18" charset="0"/>
            </a:endParaRPr>
          </a:p>
          <a:p>
            <a:pPr lvl="2">
              <a:lnSpc>
                <a:spcPct val="200000"/>
              </a:lnSpc>
            </a:pPr>
            <a:r>
              <a:rPr lang="zh-CN" altLang="en-US" b="1" dirty="0">
                <a:latin typeface="Times New Roman" pitchFamily="18" charset="0"/>
              </a:rPr>
              <a:t>如果 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i="1" baseline="-25000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 </a:t>
            </a:r>
            <a:r>
              <a:rPr lang="zh-CN" altLang="en-US" b="1" dirty="0">
                <a:latin typeface="Times New Roman" pitchFamily="18" charset="0"/>
              </a:rPr>
              <a:t>同</a:t>
            </a:r>
            <a:r>
              <a:rPr lang="zh-CN" altLang="en-US" b="1" dirty="0" smtClean="0">
                <a:latin typeface="Times New Roman" pitchFamily="18" charset="0"/>
              </a:rPr>
              <a:t>分布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将</a:t>
            </a:r>
            <a:r>
              <a:rPr lang="zh-CN" altLang="en-US" b="1" dirty="0">
                <a:latin typeface="Times New Roman" pitchFamily="18" charset="0"/>
              </a:rPr>
              <a:t>是集体风险模型的特例 </a:t>
            </a:r>
            <a:r>
              <a:rPr lang="en-US" altLang="zh-CN" b="1" dirty="0">
                <a:latin typeface="Times New Roman" pitchFamily="18" charset="0"/>
              </a:rPr>
              <a:t>(</a:t>
            </a:r>
            <a:r>
              <a:rPr lang="en-US" altLang="zh-CN" b="1" i="1" dirty="0">
                <a:latin typeface="Times New Roman" pitchFamily="18" charset="0"/>
              </a:rPr>
              <a:t>N </a:t>
            </a:r>
            <a:r>
              <a:rPr lang="en-US" altLang="zh-CN" b="1" dirty="0">
                <a:latin typeface="Times New Roman" pitchFamily="18" charset="0"/>
              </a:rPr>
              <a:t>= </a:t>
            </a:r>
            <a:r>
              <a:rPr lang="en-US" altLang="zh-CN" b="1" i="1" dirty="0">
                <a:latin typeface="Times New Roman" pitchFamily="18" charset="0"/>
              </a:rPr>
              <a:t>n</a:t>
            </a:r>
            <a:r>
              <a:rPr lang="en-US" altLang="zh-CN" b="1" dirty="0">
                <a:latin typeface="Times New Roman" pitchFamily="18" charset="0"/>
              </a:rPr>
              <a:t>)</a:t>
            </a:r>
          </a:p>
          <a:p>
            <a:pPr lvl="2">
              <a:lnSpc>
                <a:spcPct val="200000"/>
              </a:lnSpc>
            </a:pPr>
            <a:r>
              <a:rPr lang="zh-CN" altLang="en-US" b="1" dirty="0">
                <a:latin typeface="Times New Roman" pitchFamily="18" charset="0"/>
              </a:rPr>
              <a:t>描述一个团体寿险保单或团体健康保单的累积损失。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0201-9FE1-47F7-B70E-A79F15B44EE4}" type="slidenum">
              <a:rPr lang="en-US" altLang="zh-CN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88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700213"/>
            <a:ext cx="8642350" cy="4537075"/>
          </a:xfrm>
        </p:spPr>
        <p:txBody>
          <a:bodyPr/>
          <a:lstStyle/>
          <a:p>
            <a:pPr lvl="1">
              <a:lnSpc>
                <a:spcPct val="14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业务规模的变化会影响期望损失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次数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不会影响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每次损失的金额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不能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区分出业务规模变化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对损失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的影响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40000"/>
              </a:lnSpc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通货膨胀会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影响损失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金额</a:t>
            </a:r>
            <a:r>
              <a:rPr lang="en-US" altLang="zh-CN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但是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保单的免赔额和赔偿限额不随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通胀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进行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调整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 S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就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会掩盖这种影响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40000"/>
              </a:lnSpc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研究免赔额和赔偿限额变动所带来的影响更加容易。如赔偿限额变动不会影响损失次数。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5996-6E91-4DB1-8683-C767B1D43219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02408" name="Rectangle 1032"/>
          <p:cNvSpPr>
            <a:spLocks noChangeArrowheads="1"/>
          </p:cNvSpPr>
          <p:nvPr/>
        </p:nvSpPr>
        <p:spPr bwMode="auto">
          <a:xfrm>
            <a:off x="971600" y="927826"/>
            <a:ext cx="734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 smtClean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为何对</a:t>
            </a:r>
            <a:r>
              <a:rPr lang="zh-CN" altLang="en-US" sz="2800" b="1" dirty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损失次数 </a:t>
            </a:r>
            <a:r>
              <a:rPr lang="en-US" altLang="zh-CN" sz="2800" b="1" i="1" dirty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2800" b="1" dirty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、损失</a:t>
            </a:r>
            <a:r>
              <a:rPr lang="zh-CN" altLang="en-US" sz="2800" b="1" dirty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金额 </a:t>
            </a:r>
            <a:r>
              <a:rPr lang="en-US" altLang="zh-CN" sz="2800" b="1" i="1" dirty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X </a:t>
            </a:r>
            <a:r>
              <a:rPr lang="zh-CN" altLang="en-US" sz="2800" b="1" dirty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分别</a:t>
            </a:r>
            <a:r>
              <a:rPr lang="zh-CN" altLang="en-US" sz="2800" b="1" dirty="0" smtClean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建模？</a:t>
            </a:r>
            <a:endParaRPr lang="zh-CN" altLang="en-US" sz="2800" b="1" dirty="0">
              <a:solidFill>
                <a:srgbClr val="003399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412776"/>
            <a:ext cx="8229600" cy="4608612"/>
          </a:xfrm>
        </p:spPr>
        <p:txBody>
          <a:bodyPr/>
          <a:lstStyle/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可以更好地理解免赔额变化对损失次数的影响。如免赔额变化只会影响损失次数模型的参数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更好地理解损失规律。某些因素主要影响损失次数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（酒后驾车）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；而某些因素主要影响损失金额（如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安全带）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。也有一些因素对损失次数和损失金额都会产生影响（如消防设施）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ED08-A6C9-4321-BB6B-571E4F8BE2B6}" type="slidenum">
              <a:rPr lang="en-US" altLang="zh-CN"/>
              <a:pPr/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5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5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5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5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484784"/>
            <a:ext cx="8435975" cy="4823941"/>
          </a:xfrm>
        </p:spPr>
        <p:txBody>
          <a:bodyPr/>
          <a:lstStyle/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dirty="0">
                <a:ea typeface="黑体" panose="02010609060101010101" pitchFamily="49" charset="-122"/>
              </a:rPr>
              <a:t>对于免赔额和赔偿限额不同的</a:t>
            </a:r>
            <a:r>
              <a:rPr lang="zh-CN" altLang="en-US" dirty="0" smtClean="0">
                <a:ea typeface="黑体" panose="02010609060101010101" pitchFamily="49" charset="-122"/>
              </a:rPr>
              <a:t>保单</a:t>
            </a:r>
            <a:r>
              <a:rPr lang="en-US" altLang="zh-CN" dirty="0" smtClean="0"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ea typeface="黑体" panose="02010609060101010101" pitchFamily="49" charset="-122"/>
              </a:rPr>
              <a:t>可以</a:t>
            </a:r>
            <a:r>
              <a:rPr lang="zh-CN" altLang="en-US" dirty="0">
                <a:ea typeface="黑体" panose="02010609060101010101" pitchFamily="49" charset="-122"/>
              </a:rPr>
              <a:t>把它们的损失数据结合在一起用于建立损失金额的分布模型。但不能这样</a:t>
            </a:r>
            <a:r>
              <a:rPr lang="zh-CN" altLang="en-US" dirty="0" smtClean="0">
                <a:ea typeface="黑体" panose="02010609060101010101" pitchFamily="49" charset="-122"/>
              </a:rPr>
              <a:t>建立 </a:t>
            </a:r>
            <a:r>
              <a:rPr lang="en-US" altLang="zh-CN" dirty="0" smtClean="0">
                <a:ea typeface="黑体" panose="02010609060101010101" pitchFamily="49" charset="-122"/>
              </a:rPr>
              <a:t>S </a:t>
            </a:r>
            <a:r>
              <a:rPr lang="zh-CN" altLang="en-US" dirty="0" smtClean="0">
                <a:ea typeface="黑体" panose="02010609060101010101" pitchFamily="49" charset="-122"/>
              </a:rPr>
              <a:t>的模型。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>
              <a:lnSpc>
                <a:spcPct val="200000"/>
              </a:lnSpc>
              <a:spcBef>
                <a:spcPts val="0"/>
              </a:spcBef>
            </a:pPr>
            <a:endParaRPr lang="en-US" altLang="zh-CN" dirty="0" smtClean="0">
              <a:ea typeface="黑体" panose="02010609060101010101" pitchFamily="49" charset="-122"/>
            </a:endParaRP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可以</a:t>
            </a:r>
            <a:r>
              <a:rPr lang="zh-CN" altLang="en-US" dirty="0">
                <a:ea typeface="黑体" panose="02010609060101010101" pitchFamily="49" charset="-122"/>
              </a:rPr>
              <a:t>为保单持有人、原保险人和再保险人建立一致的损失模型。有利于原保险人分析风险转移的效果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7951D-2F43-440C-937C-E9FBA2E95CF4}" type="slidenum">
              <a:rPr lang="en-US" altLang="zh-CN"/>
              <a:pPr/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836712"/>
            <a:ext cx="8435975" cy="5472013"/>
          </a:xfrm>
        </p:spPr>
        <p:txBody>
          <a:bodyPr/>
          <a:lstStyle/>
          <a:p>
            <a:pPr lvl="1">
              <a:lnSpc>
                <a:spcPct val="200000"/>
              </a:lnSpc>
              <a:spcBef>
                <a:spcPts val="1200"/>
              </a:spcBef>
            </a:pPr>
            <a:endParaRPr lang="en-US" altLang="zh-CN" dirty="0" smtClean="0">
              <a:ea typeface="黑体" panose="02010609060101010101" pitchFamily="49" charset="-122"/>
            </a:endParaRPr>
          </a:p>
          <a:p>
            <a:pPr lvl="1">
              <a:lnSpc>
                <a:spcPct val="200000"/>
              </a:lnSpc>
              <a:spcBef>
                <a:spcPts val="1200"/>
              </a:spcBef>
            </a:pPr>
            <a:r>
              <a:rPr lang="en-US" altLang="zh-CN" i="1" dirty="0" smtClean="0">
                <a:ea typeface="黑体" panose="02010609060101010101" pitchFamily="49" charset="-122"/>
              </a:rPr>
              <a:t>S </a:t>
            </a:r>
            <a:r>
              <a:rPr lang="zh-CN" altLang="en-US" dirty="0" smtClean="0">
                <a:ea typeface="黑体" panose="02010609060101010101" pitchFamily="49" charset="-122"/>
              </a:rPr>
              <a:t>的</a:t>
            </a:r>
            <a:r>
              <a:rPr lang="zh-CN" altLang="en-US" dirty="0">
                <a:ea typeface="黑体" panose="02010609060101010101" pitchFamily="49" charset="-122"/>
              </a:rPr>
              <a:t>分布依赖于</a:t>
            </a:r>
            <a:r>
              <a:rPr lang="en-US" altLang="zh-CN" i="1" dirty="0">
                <a:ea typeface="黑体" panose="02010609060101010101" pitchFamily="49" charset="-122"/>
              </a:rPr>
              <a:t>X </a:t>
            </a:r>
            <a:r>
              <a:rPr lang="zh-CN" altLang="en-US" dirty="0">
                <a:ea typeface="黑体" panose="02010609060101010101" pitchFamily="49" charset="-122"/>
              </a:rPr>
              <a:t>和 </a:t>
            </a:r>
            <a:r>
              <a:rPr lang="en-US" altLang="zh-CN" i="1" dirty="0">
                <a:ea typeface="黑体" panose="02010609060101010101" pitchFamily="49" charset="-122"/>
              </a:rPr>
              <a:t>N </a:t>
            </a:r>
            <a:r>
              <a:rPr lang="zh-CN" altLang="en-US" dirty="0">
                <a:ea typeface="黑体" panose="02010609060101010101" pitchFamily="49" charset="-122"/>
              </a:rPr>
              <a:t>的</a:t>
            </a:r>
            <a:r>
              <a:rPr lang="zh-CN" altLang="en-US" dirty="0" smtClean="0">
                <a:ea typeface="黑体" panose="02010609060101010101" pitchFamily="49" charset="-122"/>
              </a:rPr>
              <a:t>分布</a:t>
            </a:r>
            <a:r>
              <a:rPr lang="en-US" altLang="zh-CN" dirty="0" smtClean="0"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ea typeface="黑体" panose="02010609060101010101" pitchFamily="49" charset="-122"/>
              </a:rPr>
              <a:t>理解</a:t>
            </a:r>
            <a:r>
              <a:rPr lang="zh-CN" altLang="en-US" dirty="0">
                <a:ea typeface="黑体" panose="02010609060101010101" pitchFamily="49" charset="-122"/>
              </a:rPr>
              <a:t>它们之间的相对关系有利于进行深入研究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2">
              <a:lnSpc>
                <a:spcPct val="200000"/>
              </a:lnSpc>
              <a:spcBef>
                <a:spcPts val="120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譬如</a:t>
            </a:r>
            <a:r>
              <a:rPr lang="zh-CN" altLang="en-US" dirty="0">
                <a:ea typeface="黑体" panose="02010609060101010101" pitchFamily="49" charset="-122"/>
              </a:rPr>
              <a:t>：如果损失金额的尾部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远远厚于</a:t>
            </a:r>
            <a:r>
              <a:rPr lang="zh-CN" altLang="en-US" dirty="0">
                <a:ea typeface="黑体" panose="02010609060101010101" pitchFamily="49" charset="-122"/>
              </a:rPr>
              <a:t>损失次数的</a:t>
            </a:r>
            <a:r>
              <a:rPr lang="zh-CN" altLang="en-US" dirty="0" smtClean="0">
                <a:ea typeface="黑体" panose="02010609060101010101" pitchFamily="49" charset="-122"/>
              </a:rPr>
              <a:t>尾部</a:t>
            </a:r>
            <a:r>
              <a:rPr lang="en-US" altLang="zh-CN" dirty="0" smtClean="0"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ea typeface="黑体" panose="02010609060101010101" pitchFamily="49" charset="-122"/>
              </a:rPr>
              <a:t>那么</a:t>
            </a:r>
            <a:r>
              <a:rPr lang="en-US" altLang="zh-CN" dirty="0" smtClean="0">
                <a:ea typeface="黑体" panose="02010609060101010101" pitchFamily="49" charset="-122"/>
              </a:rPr>
              <a:t>S</a:t>
            </a:r>
            <a:r>
              <a:rPr lang="zh-CN" altLang="en-US" dirty="0" smtClean="0">
                <a:ea typeface="黑体" panose="02010609060101010101" pitchFamily="49" charset="-122"/>
              </a:rPr>
              <a:t>的</a:t>
            </a:r>
            <a:r>
              <a:rPr lang="zh-CN" altLang="en-US" dirty="0">
                <a:ea typeface="黑体" panose="02010609060101010101" pitchFamily="49" charset="-122"/>
              </a:rPr>
              <a:t>分布将在更大程度上受损失金额模型的</a:t>
            </a:r>
            <a:r>
              <a:rPr lang="zh-CN" altLang="en-US" dirty="0" smtClean="0">
                <a:ea typeface="黑体" panose="02010609060101010101" pitchFamily="49" charset="-122"/>
              </a:rPr>
              <a:t>影响</a:t>
            </a:r>
            <a:r>
              <a:rPr lang="en-US" altLang="zh-CN" dirty="0" smtClean="0"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ea typeface="黑体" panose="02010609060101010101" pitchFamily="49" charset="-122"/>
              </a:rPr>
              <a:t>而</a:t>
            </a:r>
            <a:r>
              <a:rPr lang="zh-CN" altLang="en-US" dirty="0">
                <a:ea typeface="黑体" panose="02010609060101010101" pitchFamily="49" charset="-122"/>
              </a:rPr>
              <a:t>损失次数模型的影响十分有限。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7951D-2F43-440C-937C-E9FBA2E95CF4}" type="slidenum">
              <a:rPr lang="en-US" altLang="zh-CN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573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718766"/>
            <a:ext cx="7543800" cy="642466"/>
          </a:xfrm>
        </p:spPr>
        <p:txBody>
          <a:bodyPr/>
          <a:lstStyle/>
          <a:p>
            <a:pPr algn="ctr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选择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772816"/>
            <a:ext cx="8642350" cy="453707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损失金额模型：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</a:rPr>
              <a:t>尺度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分布</a:t>
            </a:r>
            <a:r>
              <a:rPr lang="zh-CN" altLang="en-US" b="1" dirty="0" smtClean="0">
                <a:latin typeface="Times New Roman" pitchFamily="18" charset="0"/>
              </a:rPr>
              <a:t>最好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因为</a:t>
            </a:r>
            <a:r>
              <a:rPr lang="zh-CN" altLang="en-US" b="1" dirty="0">
                <a:latin typeface="Times New Roman" pitchFamily="18" charset="0"/>
              </a:rPr>
              <a:t>不必考虑下述因素对模型形式的影响：</a:t>
            </a:r>
          </a:p>
          <a:p>
            <a:pPr lvl="1"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汇率</a:t>
            </a:r>
          </a:p>
          <a:p>
            <a:pPr lvl="1"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通涨</a:t>
            </a:r>
            <a:r>
              <a:rPr lang="zh-CN" altLang="en-US" b="1" dirty="0" smtClean="0">
                <a:latin typeface="Times New Roman" pitchFamily="18" charset="0"/>
              </a:rPr>
              <a:t>率</a:t>
            </a:r>
            <a:endParaRPr lang="en-US" altLang="zh-CN" b="1" dirty="0" smtClean="0">
              <a:latin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zh-CN" altLang="en-US" b="1" dirty="0">
                <a:solidFill>
                  <a:srgbClr val="3333FF"/>
                </a:solidFill>
                <a:latin typeface="Times New Roman" pitchFamily="18" charset="0"/>
              </a:rPr>
              <a:t>如</a:t>
            </a:r>
            <a:r>
              <a:rPr lang="zh-CN" altLang="en-US" b="1" dirty="0" smtClean="0">
                <a:solidFill>
                  <a:srgbClr val="3333FF"/>
                </a:solidFill>
                <a:latin typeface="Times New Roman" pitchFamily="18" charset="0"/>
              </a:rPr>
              <a:t>伽马分布、逆高斯分布</a:t>
            </a:r>
            <a:endParaRPr lang="zh-CN" altLang="en-US" b="1" dirty="0">
              <a:solidFill>
                <a:srgbClr val="3333FF"/>
              </a:solidFill>
              <a:latin typeface="Times New Roman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损失次数模型</a:t>
            </a:r>
            <a:r>
              <a:rPr lang="zh-CN" altLang="en-US" b="1" dirty="0" smtClean="0">
                <a:latin typeface="Times New Roman" pitchFamily="18" charset="0"/>
              </a:rPr>
              <a:t>：泊松分布、负二项分布</a:t>
            </a:r>
            <a:endParaRPr lang="en-US" altLang="zh-CN" b="1" dirty="0" smtClean="0">
              <a:latin typeface="Times New Roman" pitchFamily="18" charset="0"/>
            </a:endParaRPr>
          </a:p>
          <a:p>
            <a:pPr lvl="1">
              <a:lnSpc>
                <a:spcPct val="200000"/>
              </a:lnSpc>
            </a:pPr>
            <a:r>
              <a:rPr lang="zh-CN" altLang="en-US" b="1" dirty="0" smtClean="0">
                <a:latin typeface="Times New Roman" pitchFamily="18" charset="0"/>
              </a:rPr>
              <a:t>二项分布（</a:t>
            </a:r>
            <a:r>
              <a:rPr lang="en-US" altLang="zh-CN" b="1" dirty="0" smtClean="0">
                <a:latin typeface="Times New Roman" pitchFamily="18" charset="0"/>
              </a:rPr>
              <a:t>×</a:t>
            </a:r>
            <a:r>
              <a:rPr lang="zh-CN" altLang="en-US" b="1" dirty="0" smtClean="0">
                <a:latin typeface="Times New Roman" pitchFamily="18" charset="0"/>
              </a:rPr>
              <a:t>）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E420-32B3-44CF-849C-FA8784A3A226}" type="slidenum">
              <a:rPr lang="en-US" altLang="zh-CN"/>
              <a:pPr/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-468560" y="116632"/>
            <a:ext cx="7543800" cy="64246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3333FF"/>
                </a:solidFill>
                <a:latin typeface="Times New Roman" pitchFamily="18" charset="0"/>
              </a:rPr>
              <a:t>位置</a:t>
            </a:r>
            <a:r>
              <a:rPr lang="en-US" altLang="zh-CN" dirty="0" smtClean="0">
                <a:solidFill>
                  <a:srgbClr val="3333FF"/>
                </a:solidFill>
                <a:latin typeface="Times New Roman" pitchFamily="18" charset="0"/>
              </a:rPr>
              <a:t>-</a:t>
            </a:r>
            <a:r>
              <a:rPr lang="zh-CN" altLang="en-US" dirty="0" smtClean="0">
                <a:solidFill>
                  <a:srgbClr val="3333FF"/>
                </a:solidFill>
                <a:latin typeface="Times New Roman" pitchFamily="18" charset="0"/>
              </a:rPr>
              <a:t>尺度分布</a:t>
            </a:r>
            <a:endParaRPr lang="zh-CN" altLang="en-US" dirty="0">
              <a:solidFill>
                <a:srgbClr val="3333FF"/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E420-32B3-44CF-849C-FA8784A3A226}" type="slidenum">
              <a:rPr lang="en-US" altLang="zh-CN"/>
              <a:pPr/>
              <a:t>10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830346"/>
            <a:ext cx="833437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51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-540568" y="27678"/>
            <a:ext cx="7543800" cy="642466"/>
          </a:xfrm>
        </p:spPr>
        <p:txBody>
          <a:bodyPr/>
          <a:lstStyle/>
          <a:p>
            <a:r>
              <a:rPr lang="zh-CN" altLang="en-US" dirty="0">
                <a:solidFill>
                  <a:srgbClr val="3333FF"/>
                </a:solidFill>
                <a:latin typeface="Times New Roman" pitchFamily="18" charset="0"/>
              </a:rPr>
              <a:t>尺度分布</a:t>
            </a:r>
            <a:endParaRPr lang="zh-CN" altLang="en-US" dirty="0">
              <a:solidFill>
                <a:srgbClr val="3333FF"/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E420-32B3-44CF-849C-FA8784A3A226}" type="slidenum">
              <a:rPr lang="en-US" altLang="zh-CN"/>
              <a:pPr/>
              <a:t>11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0" y="764704"/>
            <a:ext cx="8286750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060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7543800" cy="858837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0099"/>
                </a:solidFill>
              </a:rPr>
              <a:t>集体</a:t>
            </a:r>
            <a:r>
              <a:rPr lang="zh-CN" altLang="en-US" dirty="0">
                <a:solidFill>
                  <a:srgbClr val="000099"/>
                </a:solidFill>
              </a:rPr>
              <a:t>风险模型</a:t>
            </a:r>
            <a:r>
              <a:rPr lang="zh-CN" altLang="en-US" dirty="0" smtClean="0">
                <a:solidFill>
                  <a:srgbClr val="000099"/>
                </a:solidFill>
              </a:rPr>
              <a:t>的计算</a:t>
            </a:r>
            <a:r>
              <a:rPr lang="en-US" altLang="zh-CN" dirty="0" smtClean="0">
                <a:solidFill>
                  <a:srgbClr val="000099"/>
                </a:solidFill>
              </a:rPr>
              <a:t/>
            </a:r>
            <a:br>
              <a:rPr lang="en-US" altLang="zh-CN" dirty="0" smtClean="0">
                <a:solidFill>
                  <a:srgbClr val="000099"/>
                </a:solidFill>
              </a:rPr>
            </a:br>
            <a:r>
              <a:rPr lang="en-US" altLang="zh-CN" dirty="0">
                <a:solidFill>
                  <a:srgbClr val="000099"/>
                </a:solidFill>
                <a:latin typeface="Times New Roman" pitchFamily="18" charset="0"/>
              </a:rPr>
              <a:t>Collective risk model</a:t>
            </a:r>
            <a:endParaRPr lang="zh-CN" altLang="en-US" dirty="0">
              <a:solidFill>
                <a:srgbClr val="000099"/>
              </a:solidFill>
            </a:endParaRP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>
          <a:xfrm>
            <a:off x="436137" y="1700808"/>
            <a:ext cx="8229600" cy="489743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itchFamily="18" charset="0"/>
              </a:rPr>
              <a:t>近似</a:t>
            </a:r>
          </a:p>
          <a:p>
            <a:pPr marL="839788" lvl="1" indent="-49530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itchFamily="18" charset="0"/>
              </a:rPr>
              <a:t>优点：</a:t>
            </a:r>
            <a:r>
              <a:rPr lang="zh-CN" altLang="en-US" dirty="0" smtClean="0">
                <a:latin typeface="Times New Roman" pitchFamily="18" charset="0"/>
              </a:rPr>
              <a:t>简单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易</a:t>
            </a:r>
            <a:r>
              <a:rPr lang="zh-CN" altLang="en-US" dirty="0">
                <a:latin typeface="Times New Roman" pitchFamily="18" charset="0"/>
              </a:rPr>
              <a:t>用</a:t>
            </a:r>
          </a:p>
          <a:p>
            <a:pPr marL="839788" lvl="1" indent="-49530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itchFamily="18" charset="0"/>
              </a:rPr>
              <a:t>缺点：无法确知近似的效果；不能考虑某些</a:t>
            </a:r>
            <a:r>
              <a:rPr lang="zh-CN" altLang="en-US" dirty="0" smtClean="0">
                <a:latin typeface="Times New Roman" pitchFamily="18" charset="0"/>
              </a:rPr>
              <a:t>特殊情况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如</a:t>
            </a:r>
            <a:r>
              <a:rPr lang="zh-CN" altLang="en-US" dirty="0">
                <a:latin typeface="Times New Roman" pitchFamily="18" charset="0"/>
              </a:rPr>
              <a:t>赔偿限额</a:t>
            </a:r>
            <a:r>
              <a:rPr lang="zh-CN" altLang="en-US" dirty="0" smtClean="0">
                <a:latin typeface="Times New Roman" pitchFamily="18" charset="0"/>
              </a:rPr>
              <a:t>的影响。</a:t>
            </a:r>
            <a:endParaRPr lang="zh-CN" altLang="en-US" dirty="0">
              <a:latin typeface="Times New Roman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itchFamily="18" charset="0"/>
              </a:rPr>
              <a:t>解析法</a:t>
            </a:r>
            <a:r>
              <a:rPr lang="zh-CN" altLang="en-US" dirty="0">
                <a:latin typeface="Times New Roman" pitchFamily="18" charset="0"/>
              </a:rPr>
              <a:t>：计算</a:t>
            </a:r>
            <a:r>
              <a:rPr lang="zh-CN" altLang="en-US" dirty="0" smtClean="0">
                <a:latin typeface="Times New Roman" pitchFamily="18" charset="0"/>
              </a:rPr>
              <a:t>卷积比较困难</a:t>
            </a:r>
            <a:r>
              <a:rPr lang="zh-CN" altLang="en-US" dirty="0">
                <a:latin typeface="Times New Roman" pitchFamily="18" charset="0"/>
              </a:rPr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</a:rPr>
              <a:t>递推法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Recursive method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随机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</a:rPr>
              <a:t>模拟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1877-1226-40ED-9162-CB63F3E7D3C6}" type="slidenum">
              <a:rPr lang="en-US" altLang="zh-CN"/>
              <a:pPr/>
              <a:t>12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13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67544" y="873706"/>
                <a:ext cx="6912768" cy="31868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</a:pPr>
                <a:r>
                  <a:rPr lang="zh-CN" altLang="zh-CN" sz="2400" b="1" dirty="0" smtClean="0">
                    <a:solidFill>
                      <a:srgbClr val="4F81BD"/>
                    </a:solidFill>
                    <a:latin typeface="+mn-ea"/>
                    <a:ea typeface="+mn-ea"/>
                    <a:cs typeface="Times New Roman"/>
                  </a:rPr>
                  <a:t>正态近似</a:t>
                </a: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endParaRPr lang="en-US" altLang="zh-CN" i="1" dirty="0" smtClean="0">
                  <a:effectLst/>
                  <a:latin typeface="Cambria"/>
                  <a:ea typeface="宋体"/>
                  <a:cs typeface="Times New Roman"/>
                </a:endParaRP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dirty="0" smtClean="0">
                    <a:effectLst/>
                    <a:latin typeface="Cambria"/>
                    <a:ea typeface="宋体"/>
                    <a:cs typeface="Times New Roman"/>
                  </a:rPr>
                  <a:t>               </a:t>
                </a:r>
                <a:endParaRPr lang="en-US" altLang="zh-CN" dirty="0" smtClean="0">
                  <a:effectLst/>
                  <a:latin typeface="Cambria"/>
                  <a:ea typeface="宋体"/>
                  <a:cs typeface="Times New Roman"/>
                </a:endParaRP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dirty="0">
                    <a:latin typeface="Cambria"/>
                    <a:ea typeface="宋体"/>
                    <a:cs typeface="Times New Roman"/>
                  </a:rPr>
                  <a:t> </a:t>
                </a:r>
                <a:r>
                  <a:rPr lang="en-US" altLang="zh-CN" dirty="0" smtClean="0">
                    <a:latin typeface="Cambria"/>
                    <a:ea typeface="宋体"/>
                    <a:cs typeface="Times New Roman"/>
                  </a:rPr>
                  <a:t>       </a:t>
                </a:r>
                <a:r>
                  <a:rPr lang="zh-CN" altLang="en-US" dirty="0" smtClean="0">
                    <a:effectLst/>
                    <a:latin typeface="Cambria"/>
                    <a:ea typeface="宋体"/>
                    <a:cs typeface="Times New Roman"/>
                  </a:rPr>
                  <a:t>其中：</a:t>
                </a:r>
                <a:r>
                  <a:rPr lang="en-US" altLang="zh-CN" dirty="0" smtClean="0">
                    <a:latin typeface="Cambria"/>
                    <a:ea typeface="宋体"/>
                    <a:cs typeface="Times New Roman"/>
                  </a:rPr>
                  <a:t>  </a:t>
                </a:r>
                <a:r>
                  <a:rPr lang="en-US" altLang="zh-CN" i="1" dirty="0">
                    <a:latin typeface="Cambria"/>
                    <a:ea typeface="宋体"/>
                    <a:cs typeface="Times New Roman"/>
                    <a:sym typeface="Symbol"/>
                  </a:rPr>
                  <a:t></a:t>
                </a:r>
                <a:r>
                  <a:rPr lang="en-US" altLang="zh-CN" dirty="0">
                    <a:latin typeface="Cambria"/>
                    <a:ea typeface="宋体"/>
                    <a:cs typeface="Times New Roman"/>
                    <a:sym typeface="Symbol"/>
                  </a:rPr>
                  <a:t> </a:t>
                </a:r>
                <a:r>
                  <a:rPr lang="en-US" altLang="zh-CN" dirty="0">
                    <a:latin typeface="Cambria"/>
                    <a:ea typeface="宋体"/>
                    <a:cs typeface="Times New Roman"/>
                  </a:rPr>
                  <a:t>= E(</a:t>
                </a:r>
                <a:r>
                  <a:rPr lang="en-US" altLang="zh-CN" i="1" dirty="0">
                    <a:latin typeface="Cambria"/>
                    <a:ea typeface="宋体"/>
                    <a:cs typeface="Times New Roman"/>
                  </a:rPr>
                  <a:t>S</a:t>
                </a:r>
                <a:r>
                  <a:rPr lang="en-US" altLang="zh-CN" dirty="0">
                    <a:latin typeface="Cambria"/>
                    <a:ea typeface="宋体"/>
                    <a:cs typeface="Times New Roman"/>
                  </a:rPr>
                  <a:t>),  </a:t>
                </a:r>
                <a:r>
                  <a:rPr lang="en-US" altLang="zh-CN" dirty="0" smtClean="0">
                    <a:latin typeface="Cambria"/>
                    <a:ea typeface="宋体"/>
                    <a:cs typeface="Times New Roman"/>
                  </a:rPr>
                  <a:t>       </a:t>
                </a:r>
                <a:r>
                  <a:rPr lang="en-US" altLang="zh-CN" dirty="0">
                    <a:latin typeface="Cambria"/>
                    <a:ea typeface="宋体"/>
                    <a:cs typeface="Times New Roman"/>
                    <a:sym typeface="Symbol"/>
                  </a:rPr>
                  <a:t></a:t>
                </a:r>
                <a:r>
                  <a:rPr lang="en-US" altLang="zh-CN" dirty="0">
                    <a:latin typeface="Cambria"/>
                    <a:ea typeface="宋体"/>
                    <a:cs typeface="Times New Roman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/>
                            <a:cs typeface="Times New Roman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i="0">
                            <a:latin typeface="Cambria Math"/>
                            <a:ea typeface="宋体"/>
                            <a:cs typeface="Times New Roman"/>
                          </a:rPr>
                          <m:t>Var</m:t>
                        </m:r>
                        <m:r>
                          <a:rPr lang="en-US" altLang="zh-CN" i="1">
                            <a:latin typeface="Cambria Math"/>
                            <a:ea typeface="宋体"/>
                            <a:cs typeface="Times New Roman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  <a:ea typeface="宋体"/>
                            <a:cs typeface="Times New Roman"/>
                          </a:rPr>
                          <m:t>𝑆</m:t>
                        </m:r>
                        <m:r>
                          <a:rPr lang="en-US" altLang="zh-CN" i="1">
                            <a:latin typeface="Cambria Math"/>
                            <a:ea typeface="宋体"/>
                            <a:cs typeface="Times New Roman"/>
                          </a:rPr>
                          <m:t>)</m:t>
                        </m:r>
                      </m:e>
                    </m:rad>
                  </m:oMath>
                </a14:m>
                <a:endParaRPr lang="zh-CN" altLang="zh-CN" dirty="0">
                  <a:latin typeface="Cambria"/>
                  <a:ea typeface="宋体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873706"/>
                <a:ext cx="6912768" cy="3186898"/>
              </a:xfrm>
              <a:prstGeom prst="rect">
                <a:avLst/>
              </a:prstGeom>
              <a:blipFill>
                <a:blip r:embed="rId3"/>
                <a:stretch>
                  <a:fillRect l="-1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496550"/>
              </p:ext>
            </p:extLst>
          </p:nvPr>
        </p:nvGraphicFramePr>
        <p:xfrm>
          <a:off x="1259632" y="2013130"/>
          <a:ext cx="5167312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691" name="Equation" r:id="rId4" imgW="2463480" imgH="431640" progId="Equation.DSMT4">
                  <p:embed/>
                </p:oleObj>
              </mc:Choice>
              <mc:Fallback>
                <p:oleObj name="Equation" r:id="rId4" imgW="2463480" imgH="431640" progId="Equation.DSMT4">
                  <p:embed/>
                  <p:pic>
                    <p:nvPicPr>
                      <p:cNvPr id="1085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013130"/>
                        <a:ext cx="5167312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926292"/>
              </p:ext>
            </p:extLst>
          </p:nvPr>
        </p:nvGraphicFramePr>
        <p:xfrm>
          <a:off x="1619672" y="5105801"/>
          <a:ext cx="4999905" cy="1018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692" name="Equation" r:id="rId6" imgW="2743200" imgH="558720" progId="Equation.DSMT4">
                  <p:embed/>
                </p:oleObj>
              </mc:Choice>
              <mc:Fallback>
                <p:oleObj name="Equation" r:id="rId6" imgW="2743200" imgH="55872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5105801"/>
                        <a:ext cx="4999905" cy="1018849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531782" y="4218472"/>
            <a:ext cx="3587842" cy="6982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4F81BD"/>
                </a:solidFill>
                <a:latin typeface="+mn-ea"/>
                <a:ea typeface="+mn-ea"/>
                <a:cs typeface="Times New Roman"/>
              </a:rPr>
              <a:t>复合分布的期望和方差：</a:t>
            </a:r>
            <a:endParaRPr lang="zh-CN" altLang="zh-CN" sz="2400" b="1" dirty="0">
              <a:solidFill>
                <a:srgbClr val="4F81BD"/>
              </a:solidFill>
              <a:latin typeface="+mn-ea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974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14</a:t>
            </a:fld>
            <a:endParaRPr lang="en-US" altLang="zh-CN"/>
          </a:p>
        </p:txBody>
      </p:sp>
      <p:pic>
        <p:nvPicPr>
          <p:cNvPr id="4014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5572"/>
            <a:ext cx="8291264" cy="5799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6300192" y="35730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447190"/>
              </p:ext>
            </p:extLst>
          </p:nvPr>
        </p:nvGraphicFramePr>
        <p:xfrm>
          <a:off x="6660232" y="3573016"/>
          <a:ext cx="1058862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801" name="Equation" r:id="rId4" imgW="749160" imgH="495000" progId="Equation.DSMT4">
                  <p:embed/>
                </p:oleObj>
              </mc:Choice>
              <mc:Fallback>
                <p:oleObj name="Equation" r:id="rId4" imgW="749160" imgH="495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3573016"/>
                        <a:ext cx="1058862" cy="703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5724128" y="2653665"/>
            <a:ext cx="1422184" cy="6982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4F81BD"/>
                </a:solidFill>
                <a:latin typeface="+mn-ea"/>
                <a:ea typeface="+mn-ea"/>
                <a:cs typeface="Times New Roman"/>
              </a:rPr>
              <a:t>偏度系数</a:t>
            </a:r>
            <a:endParaRPr lang="zh-CN" altLang="zh-CN" sz="2400" b="1" dirty="0">
              <a:solidFill>
                <a:srgbClr val="4F81BD"/>
              </a:solidFill>
              <a:latin typeface="+mn-ea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079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15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23528" y="692696"/>
                <a:ext cx="8568952" cy="53250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</a:pPr>
                <a:r>
                  <a:rPr lang="en-US" altLang="zh-CN" sz="2400" b="1" dirty="0" smtClean="0">
                    <a:solidFill>
                      <a:srgbClr val="4F81BD"/>
                    </a:solidFill>
                    <a:latin typeface="Calibri"/>
                    <a:ea typeface="宋体"/>
                    <a:cs typeface="Times New Roman"/>
                  </a:rPr>
                  <a:t>Normal </a:t>
                </a:r>
                <a:r>
                  <a:rPr lang="en-US" altLang="zh-CN" sz="2400" b="1" dirty="0" err="1" smtClean="0">
                    <a:solidFill>
                      <a:srgbClr val="4F81BD"/>
                    </a:solidFill>
                    <a:latin typeface="Calibri"/>
                    <a:ea typeface="宋体"/>
                    <a:cs typeface="Times New Roman"/>
                  </a:rPr>
                  <a:t>Power</a:t>
                </a:r>
                <a:r>
                  <a:rPr lang="en-US" altLang="zh-CN" sz="2400" b="1" dirty="0" err="1">
                    <a:solidFill>
                      <a:srgbClr val="4F81BD"/>
                    </a:solidFill>
                    <a:effectLst/>
                    <a:latin typeface="宋体"/>
                    <a:ea typeface="宋体"/>
                    <a:cs typeface="Times New Roman"/>
                  </a:rPr>
                  <a:t>近似</a:t>
                </a:r>
                <a:endParaRPr lang="zh-CN" altLang="zh-CN" sz="2400" b="1" dirty="0">
                  <a:solidFill>
                    <a:srgbClr val="4F81BD"/>
                  </a:solidFill>
                  <a:effectLst/>
                  <a:latin typeface="Calibri"/>
                  <a:ea typeface="宋体"/>
                  <a:cs typeface="Times New Roman"/>
                </a:endParaRP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endParaRPr lang="zh-CN" altLang="zh-CN" dirty="0">
                  <a:effectLst/>
                  <a:latin typeface="Cambria"/>
                  <a:ea typeface="宋体"/>
                  <a:cs typeface="Times New Roman"/>
                </a:endParaRP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dirty="0" smtClean="0">
                    <a:effectLst/>
                    <a:latin typeface="Cambria"/>
                    <a:ea typeface="宋体"/>
                    <a:cs typeface="Times New Roman"/>
                  </a:rPr>
                  <a:t>      </a:t>
                </a: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endParaRPr lang="en-US" altLang="zh-CN" dirty="0">
                  <a:latin typeface="Cambria"/>
                  <a:ea typeface="宋体"/>
                  <a:cs typeface="Times New Roman"/>
                </a:endParaRP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dirty="0" smtClean="0">
                    <a:effectLst/>
                    <a:latin typeface="Cambria"/>
                    <a:ea typeface="宋体"/>
                    <a:cs typeface="Times New Roman"/>
                  </a:rPr>
                  <a:t>累积</a:t>
                </a:r>
                <a:r>
                  <a:rPr lang="zh-CN" altLang="zh-CN" dirty="0">
                    <a:effectLst/>
                    <a:latin typeface="Cambria"/>
                    <a:ea typeface="宋体"/>
                    <a:cs typeface="Times New Roman"/>
                  </a:rPr>
                  <a:t>损失</a:t>
                </a:r>
                <a:r>
                  <a:rPr lang="en-US" altLang="zh-CN" dirty="0">
                    <a:effectLst/>
                    <a:latin typeface="Cambria"/>
                    <a:ea typeface="宋体"/>
                    <a:cs typeface="Times New Roman"/>
                  </a:rPr>
                  <a:t>S</a:t>
                </a:r>
                <a:r>
                  <a:rPr lang="zh-CN" altLang="zh-CN" dirty="0">
                    <a:effectLst/>
                    <a:latin typeface="Cambria"/>
                    <a:ea typeface="宋体"/>
                    <a:cs typeface="Times New Roman"/>
                  </a:rPr>
                  <a:t>的偏度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effectLst/>
                        <a:latin typeface="Cambria Math"/>
                        <a:ea typeface="宋体"/>
                        <a:cs typeface="Times New Roman"/>
                      </a:rPr>
                      <m:t>sk</m:t>
                    </m:r>
                    <m:r>
                      <a:rPr lang="en-US" altLang="zh-CN">
                        <a:effectLst/>
                        <a:latin typeface="Cambria Math"/>
                        <a:ea typeface="宋体"/>
                        <a:cs typeface="Times New Roman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effectLst/>
                        <a:latin typeface="Cambria Math"/>
                        <a:ea typeface="宋体"/>
                        <a:cs typeface="Times New Roman"/>
                      </a:rPr>
                      <m:t>S</m:t>
                    </m:r>
                    <m:r>
                      <a:rPr lang="en-US" altLang="zh-CN">
                        <a:effectLst/>
                        <a:latin typeface="Cambria Math"/>
                        <a:ea typeface="宋体"/>
                        <a:cs typeface="Times New Roman"/>
                      </a:rPr>
                      <m:t>)</m:t>
                    </m:r>
                  </m:oMath>
                </a14:m>
                <a:r>
                  <a:rPr lang="zh-CN" altLang="zh-CN" dirty="0" smtClean="0">
                    <a:effectLst/>
                    <a:latin typeface="Cambria"/>
                    <a:ea typeface="宋体"/>
                    <a:cs typeface="Times New Roman"/>
                  </a:rPr>
                  <a:t> </a:t>
                </a:r>
                <a:r>
                  <a:rPr lang="zh-CN" altLang="zh-CN" dirty="0">
                    <a:effectLst/>
                    <a:latin typeface="Cambria"/>
                    <a:ea typeface="宋体"/>
                    <a:cs typeface="Times New Roman"/>
                  </a:rPr>
                  <a:t>：</a:t>
                </a: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effectLst/>
                          <a:latin typeface="Cambria Math"/>
                          <a:ea typeface="宋体"/>
                          <a:cs typeface="Times New Roman"/>
                        </a:rPr>
                        <m:t>sk</m:t>
                      </m:r>
                      <m:r>
                        <a:rPr lang="en-US" altLang="zh-CN">
                          <a:effectLst/>
                          <a:latin typeface="Cambria Math"/>
                          <a:ea typeface="宋体"/>
                          <a:cs typeface="Times New Roman"/>
                        </a:rPr>
                        <m:t>(</m:t>
                      </m:r>
                      <m:r>
                        <a:rPr lang="en-US" altLang="zh-CN" i="1">
                          <a:effectLst/>
                          <a:latin typeface="Cambria Math"/>
                          <a:ea typeface="宋体"/>
                          <a:cs typeface="Times New Roman"/>
                        </a:rPr>
                        <m:t>𝑆</m:t>
                      </m:r>
                      <m:r>
                        <a:rPr lang="en-US" altLang="zh-CN">
                          <a:effectLst/>
                          <a:latin typeface="Cambria Math"/>
                          <a:ea typeface="宋体"/>
                          <a:cs typeface="Times New Roman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sk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N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Var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N</m:t>
                          </m:r>
                          <m:sSup>
                            <m:sSup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zh-CN">
                                  <a:effectLst/>
                                  <a:latin typeface="Cambria Math"/>
                                  <a:ea typeface="宋体"/>
                                  <a:cs typeface="Times New Roman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>
                                  <a:effectLst/>
                                  <a:latin typeface="Cambria Math"/>
                                  <a:ea typeface="宋体"/>
                                  <a:cs typeface="Times New Roman"/>
                                </a:rPr>
                                <m:t>3/2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E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X</m:t>
                          </m:r>
                          <m:sSup>
                            <m:sSup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zh-CN">
                                  <a:effectLst/>
                                  <a:latin typeface="Cambria Math"/>
                                  <a:ea typeface="宋体"/>
                                  <a:cs typeface="Times New Roman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>
                                  <a:effectLst/>
                                  <a:latin typeface="Cambria Math"/>
                                  <a:ea typeface="宋体"/>
                                  <a:cs typeface="Times New Roman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+3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Var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N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E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X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Var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X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)+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E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N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sk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X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Var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X</m:t>
                          </m:r>
                          <m:sSup>
                            <m:sSup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zh-CN">
                                  <a:effectLst/>
                                  <a:latin typeface="Cambria Math"/>
                                  <a:ea typeface="宋体"/>
                                  <a:cs typeface="Times New Roman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>
                                  <a:effectLst/>
                                  <a:latin typeface="Cambria Math"/>
                                  <a:ea typeface="宋体"/>
                                  <a:cs typeface="Times New Roman"/>
                                </a:rPr>
                                <m:t>3/2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Var</m:t>
                          </m:r>
                          <m: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effectLst/>
                              <a:latin typeface="Cambria Math"/>
                              <a:ea typeface="宋体"/>
                              <a:cs typeface="Times New Roman"/>
                            </a:rPr>
                            <m:t>S</m:t>
                          </m:r>
                          <m:sSup>
                            <m:sSup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zh-CN">
                                  <a:effectLst/>
                                  <a:latin typeface="Cambria Math"/>
                                  <a:ea typeface="宋体"/>
                                  <a:cs typeface="Times New Roman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>
                                  <a:effectLst/>
                                  <a:latin typeface="Cambria Math"/>
                                  <a:ea typeface="宋体"/>
                                  <a:cs typeface="Times New Roman"/>
                                </a:rPr>
                                <m:t>3/2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dirty="0">
                  <a:effectLst/>
                  <a:latin typeface="Cambria"/>
                  <a:ea typeface="宋体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692696"/>
                <a:ext cx="8568952" cy="5325047"/>
              </a:xfrm>
              <a:prstGeom prst="rect">
                <a:avLst/>
              </a:prstGeom>
              <a:blipFill>
                <a:blip r:embed="rId3"/>
                <a:stretch>
                  <a:fillRect l="-1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848452"/>
              </p:ext>
            </p:extLst>
          </p:nvPr>
        </p:nvGraphicFramePr>
        <p:xfrm>
          <a:off x="1763688" y="2286831"/>
          <a:ext cx="4979987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12" name="Equation" r:id="rId4" imgW="2374560" imgH="507960" progId="Equation.DSMT4">
                  <p:embed/>
                </p:oleObj>
              </mc:Choice>
              <mc:Fallback>
                <p:oleObj name="Equation" r:id="rId4" imgW="2374560" imgH="507960" progId="Equation.DSMT4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286831"/>
                        <a:ext cx="4979987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166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751025"/>
            <a:ext cx="7543800" cy="642466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3333FF"/>
                </a:solidFill>
              </a:rPr>
              <a:t>解析</a:t>
            </a:r>
            <a:r>
              <a:rPr lang="zh-CN" altLang="en-US" sz="2800" dirty="0">
                <a:solidFill>
                  <a:srgbClr val="3333FF"/>
                </a:solidFill>
              </a:rPr>
              <a:t>法：计算卷积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268760"/>
            <a:ext cx="8229600" cy="5256213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解析法只适用于有限</a:t>
            </a:r>
            <a:r>
              <a:rPr lang="zh-CN" altLang="en-US" b="1" dirty="0" smtClean="0">
                <a:latin typeface="Times New Roman" pitchFamily="18" charset="0"/>
              </a:rPr>
              <a:t>情况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如</a:t>
            </a:r>
            <a:r>
              <a:rPr lang="zh-CN" altLang="en-US" b="1" dirty="0">
                <a:latin typeface="Times New Roman" pitchFamily="18" charset="0"/>
              </a:rPr>
              <a:t>：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损失</a:t>
            </a:r>
            <a:r>
              <a:rPr lang="zh-CN" altLang="en-US" b="1" dirty="0" smtClean="0">
                <a:latin typeface="Times New Roman" pitchFamily="18" charset="0"/>
              </a:rPr>
              <a:t>金额 </a:t>
            </a:r>
            <a:r>
              <a:rPr lang="en-US" altLang="zh-CN" b="1" i="1" dirty="0" smtClean="0">
                <a:latin typeface="Times New Roman" pitchFamily="18" charset="0"/>
              </a:rPr>
              <a:t>X </a:t>
            </a:r>
            <a:r>
              <a:rPr lang="zh-CN" altLang="en-US" b="1" dirty="0" smtClean="0">
                <a:latin typeface="Times New Roman" pitchFamily="18" charset="0"/>
              </a:rPr>
              <a:t>为指数分布：</a:t>
            </a:r>
            <a:endParaRPr lang="zh-CN" altLang="en-US" b="1" dirty="0">
              <a:latin typeface="Times New Roman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几何</a:t>
            </a:r>
            <a:r>
              <a:rPr lang="en-US" altLang="zh-CN" b="1" dirty="0">
                <a:latin typeface="Times New Roman" pitchFamily="18" charset="0"/>
              </a:rPr>
              <a:t>-</a:t>
            </a:r>
            <a:r>
              <a:rPr lang="zh-CN" altLang="en-US" b="1" dirty="0" smtClean="0">
                <a:latin typeface="Times New Roman" pitchFamily="18" charset="0"/>
              </a:rPr>
              <a:t>指数</a:t>
            </a:r>
            <a:endParaRPr lang="en-US" altLang="zh-CN" b="1" dirty="0" smtClean="0">
              <a:latin typeface="Times New Roman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 smtClean="0">
                <a:latin typeface="Times New Roman" pitchFamily="18" charset="0"/>
              </a:rPr>
              <a:t>负</a:t>
            </a:r>
            <a:r>
              <a:rPr lang="zh-CN" altLang="en-US" b="1" dirty="0">
                <a:latin typeface="Times New Roman" pitchFamily="18" charset="0"/>
              </a:rPr>
              <a:t>二项</a:t>
            </a:r>
            <a:r>
              <a:rPr lang="en-US" altLang="zh-CN" b="1" dirty="0">
                <a:latin typeface="Times New Roman" pitchFamily="18" charset="0"/>
              </a:rPr>
              <a:t>-</a:t>
            </a:r>
            <a:r>
              <a:rPr lang="zh-CN" altLang="en-US" b="1" dirty="0" smtClean="0">
                <a:latin typeface="Times New Roman" pitchFamily="18" charset="0"/>
              </a:rPr>
              <a:t>指数</a:t>
            </a:r>
            <a:endParaRPr lang="zh-CN" altLang="en-US" b="1" dirty="0">
              <a:latin typeface="Times New Roman" pitchFamily="18" charset="0"/>
            </a:endParaRP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 smtClean="0">
                <a:latin typeface="Times New Roman" pitchFamily="18" charset="0"/>
              </a:rPr>
              <a:t>损失</a:t>
            </a:r>
            <a:r>
              <a:rPr lang="zh-CN" altLang="en-US" b="1" dirty="0">
                <a:latin typeface="Times New Roman" pitchFamily="18" charset="0"/>
              </a:rPr>
              <a:t>金额 </a:t>
            </a:r>
            <a:r>
              <a:rPr lang="en-US" altLang="zh-CN" b="1" i="1" dirty="0">
                <a:latin typeface="Times New Roman" pitchFamily="18" charset="0"/>
              </a:rPr>
              <a:t>X </a:t>
            </a:r>
            <a:r>
              <a:rPr lang="zh-CN" altLang="en-US" b="1" dirty="0">
                <a:latin typeface="Times New Roman" pitchFamily="18" charset="0"/>
              </a:rPr>
              <a:t>对卷积</a:t>
            </a:r>
            <a:r>
              <a:rPr lang="zh-CN" altLang="en-US" b="1" dirty="0" smtClean="0">
                <a:latin typeface="Times New Roman" pitchFamily="18" charset="0"/>
              </a:rPr>
              <a:t>封闭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如</a:t>
            </a:r>
            <a:endParaRPr lang="zh-CN" altLang="en-US" b="1" dirty="0">
              <a:latin typeface="Times New Roman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伽玛分布（参数</a:t>
            </a:r>
            <a:r>
              <a:rPr lang="en-US" altLang="zh-CN" b="1" dirty="0">
                <a:latin typeface="Symbol" pitchFamily="18" charset="2"/>
              </a:rPr>
              <a:t>a</a:t>
            </a:r>
            <a:r>
              <a:rPr lang="zh-CN" altLang="en-US" b="1" dirty="0">
                <a:latin typeface="Times New Roman" pitchFamily="18" charset="0"/>
              </a:rPr>
              <a:t>相同）</a:t>
            </a:r>
          </a:p>
          <a:p>
            <a:pPr lvl="2"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逆高斯分布（参数</a:t>
            </a:r>
            <a:r>
              <a:rPr lang="en-US" altLang="zh-CN" b="1" dirty="0">
                <a:latin typeface="Symbol" pitchFamily="18" charset="2"/>
              </a:rPr>
              <a:t>a</a:t>
            </a:r>
            <a:r>
              <a:rPr lang="zh-CN" altLang="en-US" b="1" dirty="0">
                <a:latin typeface="Times New Roman" pitchFamily="18" charset="0"/>
              </a:rPr>
              <a:t>相同）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E152-EF62-4830-9E77-29B930706319}" type="slidenum">
              <a:rPr lang="en-US" altLang="zh-CN"/>
              <a:pPr/>
              <a:t>16</a:t>
            </a:fld>
            <a:endParaRPr lang="en-US" altLang="zh-CN"/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038107"/>
              </p:ext>
            </p:extLst>
          </p:nvPr>
        </p:nvGraphicFramePr>
        <p:xfrm>
          <a:off x="4499992" y="2924944"/>
          <a:ext cx="4433888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677" name="Equation" r:id="rId3" imgW="2057400" imgH="685800" progId="Equation.DSMT4">
                  <p:embed/>
                </p:oleObj>
              </mc:Choice>
              <mc:Fallback>
                <p:oleObj name="Equation" r:id="rId3" imgW="2057400" imgH="685800" progId="Equation.DSMT4">
                  <p:embed/>
                  <p:pic>
                    <p:nvPicPr>
                      <p:cNvPr id="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2924944"/>
                        <a:ext cx="4433888" cy="14763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7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7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5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751025"/>
            <a:ext cx="7543800" cy="642466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3333FF"/>
                </a:solidFill>
              </a:rPr>
              <a:t>解析</a:t>
            </a:r>
            <a:r>
              <a:rPr lang="zh-CN" altLang="en-US" sz="2800" dirty="0">
                <a:solidFill>
                  <a:srgbClr val="3333FF"/>
                </a:solidFill>
              </a:rPr>
              <a:t>法：计算卷积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idx="1"/>
          </p:nvPr>
        </p:nvSpPr>
        <p:spPr>
          <a:xfrm>
            <a:off x="315857" y="2564905"/>
            <a:ext cx="8229600" cy="129614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000">
                <a:latin typeface="Times New Roman" pitchFamily="18" charset="0"/>
              </a:rPr>
              <a:t>首先求得 </a:t>
            </a:r>
            <a:r>
              <a:rPr lang="en-US" altLang="zh-CN" sz="2000">
                <a:latin typeface="Times New Roman" pitchFamily="18" charset="0"/>
              </a:rPr>
              <a:t>X </a:t>
            </a:r>
            <a:r>
              <a:rPr lang="zh-CN" altLang="en-US" sz="2000">
                <a:latin typeface="Times New Roman" pitchFamily="18" charset="0"/>
              </a:rPr>
              <a:t>和 </a:t>
            </a:r>
            <a:r>
              <a:rPr lang="en-US" altLang="zh-CN" sz="2000">
                <a:latin typeface="Times New Roman" pitchFamily="18" charset="0"/>
              </a:rPr>
              <a:t>X</a:t>
            </a:r>
            <a:r>
              <a:rPr lang="zh-CN" altLang="en-US" sz="2000">
                <a:latin typeface="Times New Roman" pitchFamily="18" charset="0"/>
              </a:rPr>
              <a:t> 的二重卷积，然后得到 </a:t>
            </a:r>
            <a:r>
              <a:rPr lang="en-US" altLang="zh-CN" sz="2000">
                <a:latin typeface="Times New Roman" pitchFamily="18" charset="0"/>
              </a:rPr>
              <a:t>X </a:t>
            </a:r>
            <a:r>
              <a:rPr lang="zh-CN" altLang="en-US" sz="2000">
                <a:latin typeface="Times New Roman" pitchFamily="18" charset="0"/>
              </a:rPr>
              <a:t>的二重卷积与 </a:t>
            </a:r>
            <a:r>
              <a:rPr lang="en-US" altLang="zh-CN" sz="2000">
                <a:latin typeface="Times New Roman" pitchFamily="18" charset="0"/>
              </a:rPr>
              <a:t>X </a:t>
            </a:r>
            <a:r>
              <a:rPr lang="zh-CN" altLang="en-US" sz="2000">
                <a:latin typeface="Times New Roman" pitchFamily="18" charset="0"/>
              </a:rPr>
              <a:t>的卷积，得到</a:t>
            </a:r>
            <a:r>
              <a:rPr lang="en-US" altLang="zh-CN" sz="2000">
                <a:latin typeface="Times New Roman" pitchFamily="18" charset="0"/>
              </a:rPr>
              <a:t> X </a:t>
            </a:r>
            <a:r>
              <a:rPr lang="zh-CN" altLang="en-US" sz="2000">
                <a:latin typeface="Times New Roman" pitchFamily="18" charset="0"/>
              </a:rPr>
              <a:t>的三重卷积。</a:t>
            </a:r>
            <a:endParaRPr lang="zh-CN" altLang="en-US" sz="2000" dirty="0">
              <a:latin typeface="Times New Roman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E152-EF62-4830-9E77-29B930706319}" type="slidenum">
              <a:rPr lang="en-US" altLang="zh-CN"/>
              <a:pPr/>
              <a:t>17</a:t>
            </a:fld>
            <a:endParaRPr lang="en-US" altLang="zh-CN"/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78739"/>
              </p:ext>
            </p:extLst>
          </p:nvPr>
        </p:nvGraphicFramePr>
        <p:xfrm>
          <a:off x="467544" y="1875341"/>
          <a:ext cx="779938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78" name="Equation" r:id="rId3" imgW="3619440" imgH="253800" progId="Equation.DSMT4">
                  <p:embed/>
                </p:oleObj>
              </mc:Choice>
              <mc:Fallback>
                <p:oleObj name="Equation" r:id="rId3" imgW="3619440" imgH="253800" progId="Equation.DSMT4">
                  <p:embed/>
                  <p:pic>
                    <p:nvPicPr>
                      <p:cNvPr id="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875341"/>
                        <a:ext cx="7799388" cy="5476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809745"/>
              </p:ext>
            </p:extLst>
          </p:nvPr>
        </p:nvGraphicFramePr>
        <p:xfrm>
          <a:off x="3131840" y="3893728"/>
          <a:ext cx="14239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79" name="Equation" r:id="rId5" imgW="660240" imgH="177480" progId="Equation.DSMT4">
                  <p:embed/>
                </p:oleObj>
              </mc:Choice>
              <mc:Fallback>
                <p:oleObj name="Equation" r:id="rId5" imgW="660240" imgH="177480" progId="Equation.DSMT4">
                  <p:embed/>
                  <p:pic>
                    <p:nvPicPr>
                      <p:cNvPr id="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3893728"/>
                        <a:ext cx="1423987" cy="3825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018953"/>
              </p:ext>
            </p:extLst>
          </p:nvPr>
        </p:nvGraphicFramePr>
        <p:xfrm>
          <a:off x="2266405" y="4691583"/>
          <a:ext cx="405765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80" name="Equation" r:id="rId7" imgW="1879560" imgH="330120" progId="Equation.DSMT4">
                  <p:embed/>
                </p:oleObj>
              </mc:Choice>
              <mc:Fallback>
                <p:oleObj name="Equation" r:id="rId7" imgW="1879560" imgH="330120" progId="Equation.DSMT4">
                  <p:embed/>
                  <p:pic>
                    <p:nvPicPr>
                      <p:cNvPr id="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405" y="4691583"/>
                        <a:ext cx="4057650" cy="7096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010153"/>
              </p:ext>
            </p:extLst>
          </p:nvPr>
        </p:nvGraphicFramePr>
        <p:xfrm>
          <a:off x="2266405" y="5543072"/>
          <a:ext cx="381000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81" name="Equation" r:id="rId9" imgW="1765080" imgH="444240" progId="Equation.DSMT4">
                  <p:embed/>
                </p:oleObj>
              </mc:Choice>
              <mc:Fallback>
                <p:oleObj name="Equation" r:id="rId9" imgW="1765080" imgH="444240" progId="Equation.DSMT4">
                  <p:embed/>
                  <p:pic>
                    <p:nvPicPr>
                      <p:cNvPr id="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405" y="5543072"/>
                        <a:ext cx="3810000" cy="9540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39552" y="4557164"/>
            <a:ext cx="2016224" cy="731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000" kern="0" dirty="0" smtClean="0">
                <a:latin typeface="Times New Roman" pitchFamily="18" charset="0"/>
              </a:rPr>
              <a:t>连续型</a:t>
            </a:r>
            <a:endParaRPr lang="zh-CN" altLang="en-US" sz="2000" kern="0" dirty="0">
              <a:latin typeface="Times New Roman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39552" y="5513558"/>
            <a:ext cx="2016224" cy="731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000" kern="0" dirty="0">
                <a:latin typeface="Times New Roman" pitchFamily="18" charset="0"/>
              </a:rPr>
              <a:t>离散</a:t>
            </a:r>
            <a:r>
              <a:rPr lang="zh-CN" altLang="en-US" sz="2000" kern="0" dirty="0" smtClean="0">
                <a:latin typeface="Times New Roman" pitchFamily="18" charset="0"/>
              </a:rPr>
              <a:t>型</a:t>
            </a:r>
            <a:endParaRPr lang="zh-CN" altLang="en-US" sz="2000" kern="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11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59" grpId="0" uiExpand="1" build="p"/>
      <p:bldP spid="10" grpId="0" uiExpand="1" build="p"/>
      <p:bldP spid="11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B0E7-2579-429D-BCBA-C28DD1218EAD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1520" y="641594"/>
            <a:ext cx="8496944" cy="600164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例：</a:t>
            </a:r>
            <a:r>
              <a:rPr kumimoji="0" lang="zh-CN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 假设损失次数等于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itchFamily="18" charset="0"/>
                <a:ea typeface="宋体" pitchFamily="2" charset="-122"/>
                <a:cs typeface="Times New Roman" pitchFamily="18" charset="0"/>
              </a:rPr>
              <a:t>(0,  1,  2)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的概率分别为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itchFamily="18" charset="0"/>
                <a:ea typeface="宋体" pitchFamily="2" charset="-122"/>
                <a:cs typeface="Times New Roman" pitchFamily="18" charset="0"/>
              </a:rPr>
              <a:t>(0.3,  0.5,  0.2)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，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          每次的损失金额等于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itchFamily="18" charset="0"/>
                <a:ea typeface="宋体" pitchFamily="2" charset="-122"/>
                <a:cs typeface="Times New Roman" pitchFamily="18" charset="0"/>
              </a:rPr>
              <a:t>(0,  100,  200,  300,  400)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分别为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latin typeface="Cambria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Cambria" pitchFamily="18" charset="0"/>
                <a:cs typeface="Times New Roman" pitchFamily="18" charset="0"/>
              </a:rPr>
              <a:t>      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itchFamily="18" charset="0"/>
                <a:ea typeface="宋体" pitchFamily="2" charset="-122"/>
                <a:cs typeface="Times New Roman" pitchFamily="18" charset="0"/>
              </a:rPr>
              <a:t>(0.2,  0.4,  0.2,  0.1,  0.1)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  计算累积损失的分布。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library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actuar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)</a:t>
            </a:r>
            <a:b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</a:b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pn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= 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0.3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0.5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0.2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)              </a:t>
            </a:r>
            <a:r>
              <a:rPr kumimoji="0" lang="en-US" altLang="zh-CN" sz="1600" b="0" i="1" u="none" strike="noStrike" cap="none" normalizeH="0" baseline="0" dirty="0" smtClean="0">
                <a:ln>
                  <a:noFill/>
                </a:ln>
                <a:solidFill>
                  <a:srgbClr val="8F5902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zh-CN" altLang="en-US" sz="1600" b="0" i="1" u="none" strike="noStrike" cap="none" normalizeH="0" baseline="0" dirty="0" smtClean="0">
                <a:ln>
                  <a:noFill/>
                </a:ln>
                <a:solidFill>
                  <a:srgbClr val="8F5902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损失次数的概率分布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/>
            </a:r>
            <a:b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</a:b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fx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= 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0.2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0.4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0.2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0.1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0.1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)    </a:t>
            </a:r>
            <a:r>
              <a:rPr kumimoji="0" lang="en-US" altLang="zh-CN" sz="1600" b="0" i="1" u="none" strike="noStrike" cap="none" normalizeH="0" baseline="0" dirty="0" smtClean="0">
                <a:ln>
                  <a:noFill/>
                </a:ln>
                <a:solidFill>
                  <a:srgbClr val="8F5902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zh-CN" altLang="en-US" sz="1600" b="0" i="1" u="none" strike="noStrike" cap="none" normalizeH="0" baseline="0" dirty="0" smtClean="0">
                <a:ln>
                  <a:noFill/>
                </a:ln>
                <a:solidFill>
                  <a:srgbClr val="8F5902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损失金额的概率分布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/>
            </a:r>
            <a:b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</a:b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Fc = </a:t>
            </a: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aggregateDist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4E9A06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"convolution"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model.freq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=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pn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model.sev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=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fx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x.scale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=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100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)</a:t>
            </a:r>
            <a:b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</a:b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plot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(Fc)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919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B0E7-2579-429D-BCBA-C28DD1218EAD}" type="slidenum">
              <a:rPr lang="en-US" altLang="zh-CN" smtClean="0"/>
              <a:pPr/>
              <a:t>19</a:t>
            </a:fld>
            <a:endParaRPr lang="en-US" altLang="zh-CN"/>
          </a:p>
        </p:txBody>
      </p:sp>
      <p:pic>
        <p:nvPicPr>
          <p:cNvPr id="400385" name="Pictur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7" b="4635"/>
          <a:stretch/>
        </p:blipFill>
        <p:spPr bwMode="auto">
          <a:xfrm>
            <a:off x="1187624" y="620688"/>
            <a:ext cx="6120680" cy="426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7504" y="4576381"/>
            <a:ext cx="9036496" cy="2154436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1" u="none" strike="noStrike" cap="none" normalizeH="0" baseline="0" dirty="0" smtClean="0">
                <a:ln>
                  <a:noFill/>
                </a:ln>
                <a:solidFill>
                  <a:srgbClr val="8F5902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zh-CN" altLang="en-US" sz="1100" b="0" i="1" u="none" strike="noStrike" cap="none" normalizeH="0" baseline="0" dirty="0" smtClean="0">
                <a:ln>
                  <a:noFill/>
                </a:ln>
                <a:solidFill>
                  <a:srgbClr val="8F5902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累积损失的概率</a:t>
            </a:r>
            <a: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/>
            </a:r>
            <a:b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</a:br>
            <a:r>
              <a:rPr kumimoji="0" lang="en-US" altLang="zh-CN" sz="1100" b="1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diff</a:t>
            </a:r>
            <a:r>
              <a: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(Fc)</a:t>
            </a:r>
            <a:endParaRPr kumimoji="0" lang="en-US" altLang="zh-CN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## [1] 0.408 0.232 0.148 0.090 0.082 0.024 0.010 0.004 0.002</a:t>
            </a:r>
            <a:endParaRPr kumimoji="0" lang="en-US" altLang="zh-CN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譬如，累积损失等于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的概率为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0.408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，累积损失等于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800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的概率为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0.02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。</a:t>
            </a:r>
            <a:endParaRPr kumimoji="0" lang="en-US" altLang="zh-CN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1100" b="1" dirty="0">
                <a:solidFill>
                  <a:srgbClr val="204A87"/>
                </a:solidFill>
                <a:latin typeface="Consolas" pitchFamily="49" charset="0"/>
                <a:cs typeface="Times New Roman" pitchFamily="18" charset="0"/>
              </a:rPr>
              <a:t>S &lt;- </a:t>
            </a:r>
            <a:r>
              <a:rPr lang="en-US" altLang="zh-CN" sz="1100" dirty="0" err="1">
                <a:latin typeface="Consolas" pitchFamily="49" charset="0"/>
                <a:cs typeface="Times New Roman" pitchFamily="18" charset="0"/>
              </a:rPr>
              <a:t>seq</a:t>
            </a:r>
            <a:r>
              <a:rPr lang="en-US" altLang="zh-CN" sz="1100" dirty="0">
                <a:latin typeface="Consolas" pitchFamily="49" charset="0"/>
                <a:cs typeface="Times New Roman" pitchFamily="18" charset="0"/>
              </a:rPr>
              <a:t>(from = 0, to = 800, by = 100)</a:t>
            </a:r>
          </a:p>
          <a:p>
            <a:pPr>
              <a:lnSpc>
                <a:spcPct val="200000"/>
              </a:lnSpc>
            </a:pPr>
            <a:r>
              <a:rPr lang="en-US" altLang="zh-CN" sz="1100" dirty="0" err="1">
                <a:latin typeface="Consolas" pitchFamily="49" charset="0"/>
                <a:cs typeface="Times New Roman" pitchFamily="18" charset="0"/>
              </a:rPr>
              <a:t>cbind</a:t>
            </a:r>
            <a:r>
              <a:rPr lang="en-US" altLang="zh-CN" sz="1100" dirty="0">
                <a:latin typeface="Consolas" pitchFamily="49" charset="0"/>
                <a:cs typeface="Times New Roman" pitchFamily="18" charset="0"/>
              </a:rPr>
              <a:t>(S, diff(Fc))</a:t>
            </a:r>
            <a:endParaRPr lang="zh-CN" altLang="en-US" sz="1100" dirty="0">
              <a:latin typeface="Consolas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492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34647" y="646236"/>
            <a:ext cx="7543800" cy="642466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3333FF"/>
                </a:solidFill>
              </a:rPr>
              <a:t>递推法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p:graphicFrame>
        <p:nvGraphicFramePr>
          <p:cNvPr id="58378" name="Object 10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85386217"/>
              </p:ext>
            </p:extLst>
          </p:nvPr>
        </p:nvGraphicFramePr>
        <p:xfrm>
          <a:off x="179512" y="3172825"/>
          <a:ext cx="8746663" cy="1709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39" name="Equation" r:id="rId3" imgW="4419360" imgH="863280" progId="Equation.DSMT4">
                  <p:embed/>
                </p:oleObj>
              </mc:Choice>
              <mc:Fallback>
                <p:oleObj name="Equation" r:id="rId3" imgW="4419360" imgH="8632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3172825"/>
                        <a:ext cx="8746663" cy="1709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ADDD-7125-4DE1-9C14-B3BD3436BD92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503238" y="1844675"/>
            <a:ext cx="83169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zh-CN" altLang="en-US" sz="2400" b="1" dirty="0"/>
              <a:t>定理：</a:t>
            </a:r>
            <a:r>
              <a:rPr lang="zh-CN" altLang="en-US" sz="2400" b="1" dirty="0">
                <a:solidFill>
                  <a:srgbClr val="FF0000"/>
                </a:solidFill>
              </a:rPr>
              <a:t>假设 </a:t>
            </a:r>
            <a:r>
              <a:rPr lang="en-US" altLang="zh-CN" sz="2400" b="1" i="1" dirty="0">
                <a:solidFill>
                  <a:srgbClr val="FF0000"/>
                </a:solidFill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</a:rPr>
              <a:t>只取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整数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,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最大</a:t>
            </a:r>
            <a:r>
              <a:rPr lang="zh-CN" altLang="en-US" sz="2400" b="1" dirty="0">
                <a:solidFill>
                  <a:srgbClr val="FF0000"/>
                </a:solidFill>
              </a:rPr>
              <a:t>值为</a:t>
            </a:r>
            <a:r>
              <a:rPr lang="en-US" altLang="zh-CN" sz="2400" b="1" i="1" dirty="0">
                <a:solidFill>
                  <a:srgbClr val="FF0000"/>
                </a:solidFill>
              </a:rPr>
              <a:t>m</a:t>
            </a:r>
            <a:r>
              <a:rPr lang="zh-CN" altLang="en-US" sz="2400" b="1" dirty="0">
                <a:solidFill>
                  <a:srgbClr val="FF0000"/>
                </a:solidFill>
              </a:rPr>
              <a:t>。</a:t>
            </a:r>
            <a:r>
              <a:rPr lang="zh-CN" altLang="en-US" sz="2400" b="1" dirty="0"/>
              <a:t>如果损失次数 </a:t>
            </a:r>
            <a:r>
              <a:rPr lang="en-US" altLang="zh-CN" sz="2400" b="1" i="1" dirty="0"/>
              <a:t>N </a:t>
            </a:r>
            <a:r>
              <a:rPr lang="zh-CN" altLang="en-US" sz="2400" b="1" dirty="0"/>
              <a:t>属于 </a:t>
            </a:r>
            <a:r>
              <a:rPr lang="en-US" altLang="zh-CN" sz="2400" b="1" dirty="0"/>
              <a:t>(</a:t>
            </a:r>
            <a:r>
              <a:rPr lang="en-US" altLang="zh-CN" sz="2400" b="1" i="1" dirty="0" smtClean="0"/>
              <a:t>a</a:t>
            </a:r>
            <a:r>
              <a:rPr lang="en-US" altLang="zh-CN" sz="2400" b="1" dirty="0" smtClean="0"/>
              <a:t>,  </a:t>
            </a:r>
            <a:r>
              <a:rPr lang="en-US" altLang="zh-CN" sz="2400" b="1" i="1" dirty="0" smtClean="0"/>
              <a:t>b</a:t>
            </a:r>
            <a:r>
              <a:rPr lang="en-US" altLang="zh-CN" sz="2400" b="1" dirty="0" smtClean="0"/>
              <a:t>,  </a:t>
            </a:r>
            <a:r>
              <a:rPr lang="en-US" altLang="zh-CN" sz="2400" b="1" dirty="0"/>
              <a:t>1) </a:t>
            </a:r>
            <a:r>
              <a:rPr lang="en-US" altLang="zh-CN" sz="2400" b="1" dirty="0" smtClean="0"/>
              <a:t>, </a:t>
            </a:r>
            <a:r>
              <a:rPr lang="zh-CN" altLang="en-US" sz="2400" b="1" dirty="0" smtClean="0"/>
              <a:t>则</a:t>
            </a:r>
            <a:r>
              <a:rPr lang="en-US" altLang="zh-CN" sz="2400" b="1" dirty="0"/>
              <a:t>S</a:t>
            </a:r>
            <a:r>
              <a:rPr lang="zh-CN" altLang="en-US" sz="2400" b="1" dirty="0"/>
              <a:t>的概率分布可递推计算：</a:t>
            </a:r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5364088" y="5346723"/>
            <a:ext cx="28680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i="1" dirty="0" err="1">
                <a:solidFill>
                  <a:srgbClr val="FF0066"/>
                </a:solidFill>
              </a:rPr>
              <a:t>x</a:t>
            </a:r>
            <a:r>
              <a:rPr lang="en-US" altLang="zh-CN" sz="1600" dirty="0" err="1">
                <a:solidFill>
                  <a:srgbClr val="FF0066"/>
                </a:solidFill>
              </a:rPr>
              <a:t>∧</a:t>
            </a:r>
            <a:r>
              <a:rPr lang="en-US" altLang="zh-CN" sz="2400" i="1" dirty="0" err="1">
                <a:solidFill>
                  <a:srgbClr val="FF0066"/>
                </a:solidFill>
              </a:rPr>
              <a:t>m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表示 </a:t>
            </a:r>
            <a:r>
              <a:rPr lang="en-US" altLang="zh-CN" sz="2400" dirty="0" smtClean="0">
                <a:solidFill>
                  <a:srgbClr val="FF0066"/>
                </a:solidFill>
              </a:rPr>
              <a:t>min(</a:t>
            </a:r>
            <a:r>
              <a:rPr lang="en-US" altLang="zh-CN" sz="2400" i="1" dirty="0" smtClean="0">
                <a:solidFill>
                  <a:srgbClr val="FF0066"/>
                </a:solidFill>
              </a:rPr>
              <a:t>x</a:t>
            </a:r>
            <a:r>
              <a:rPr lang="en-US" altLang="zh-CN" sz="2400" dirty="0" smtClean="0">
                <a:solidFill>
                  <a:srgbClr val="FF0066"/>
                </a:solidFill>
              </a:rPr>
              <a:t>,  </a:t>
            </a:r>
            <a:r>
              <a:rPr lang="en-US" altLang="zh-CN" sz="2400" i="1" dirty="0">
                <a:solidFill>
                  <a:srgbClr val="FF0066"/>
                </a:solidFill>
              </a:rPr>
              <a:t>m</a:t>
            </a:r>
            <a:r>
              <a:rPr lang="en-US" altLang="zh-CN" sz="2400" dirty="0">
                <a:solidFill>
                  <a:srgbClr val="FF0066"/>
                </a:solidFill>
              </a:rPr>
              <a:t>)</a:t>
            </a:r>
          </a:p>
        </p:txBody>
      </p:sp>
      <p:graphicFrame>
        <p:nvGraphicFramePr>
          <p:cNvPr id="63525" name="Object 10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16550"/>
              </p:ext>
            </p:extLst>
          </p:nvPr>
        </p:nvGraphicFramePr>
        <p:xfrm>
          <a:off x="323528" y="5227652"/>
          <a:ext cx="257651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40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0" name="Object 1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5227652"/>
                        <a:ext cx="257651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32" name="Text Box 1068"/>
          <p:cNvSpPr txBox="1">
            <a:spLocks noChangeArrowheads="1"/>
          </p:cNvSpPr>
          <p:nvPr/>
        </p:nvSpPr>
        <p:spPr bwMode="auto">
          <a:xfrm>
            <a:off x="503238" y="1276460"/>
            <a:ext cx="15113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600" b="1" dirty="0">
                <a:solidFill>
                  <a:srgbClr val="000099"/>
                </a:solidFill>
              </a:rPr>
              <a:t>递推公式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5" grpId="0"/>
      <p:bldP spid="5837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0339" name="Object 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34290023"/>
              </p:ext>
            </p:extLst>
          </p:nvPr>
        </p:nvGraphicFramePr>
        <p:xfrm>
          <a:off x="827088" y="1489075"/>
          <a:ext cx="792003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55" name="Equation" r:id="rId3" imgW="3898800" imgH="482400" progId="Equation.DSMT4">
                  <p:embed/>
                </p:oleObj>
              </mc:Choice>
              <mc:Fallback>
                <p:oleObj name="Equation" r:id="rId3" imgW="389880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489075"/>
                        <a:ext cx="792003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B2813-1E55-4AAE-964B-45F4A7C0B8A6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270342" name="Text Box 6"/>
          <p:cNvSpPr txBox="1">
            <a:spLocks noChangeArrowheads="1"/>
          </p:cNvSpPr>
          <p:nvPr/>
        </p:nvSpPr>
        <p:spPr bwMode="auto">
          <a:xfrm>
            <a:off x="755650" y="836613"/>
            <a:ext cx="71817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</a:rPr>
              <a:t>如果损失次数</a:t>
            </a:r>
            <a:r>
              <a:rPr lang="en-US" altLang="zh-CN" sz="2400" b="1" i="1" dirty="0">
                <a:solidFill>
                  <a:srgbClr val="0000CC"/>
                </a:solidFill>
              </a:rPr>
              <a:t>N</a:t>
            </a:r>
            <a:r>
              <a:rPr lang="zh-CN" altLang="en-US" sz="2400" b="1" dirty="0">
                <a:solidFill>
                  <a:srgbClr val="0000CC"/>
                </a:solidFill>
              </a:rPr>
              <a:t>属于</a:t>
            </a:r>
            <a:r>
              <a:rPr lang="en-US" altLang="zh-CN" sz="2400" b="1" dirty="0">
                <a:solidFill>
                  <a:srgbClr val="0000CC"/>
                </a:solidFill>
              </a:rPr>
              <a:t>(</a:t>
            </a:r>
            <a:r>
              <a:rPr lang="en-US" altLang="zh-CN" sz="2400" b="1" i="1" dirty="0" smtClean="0">
                <a:solidFill>
                  <a:srgbClr val="0000CC"/>
                </a:solidFill>
              </a:rPr>
              <a:t>a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,  </a:t>
            </a:r>
            <a:r>
              <a:rPr lang="en-US" altLang="zh-CN" sz="2400" b="1" i="1" dirty="0" smtClean="0">
                <a:solidFill>
                  <a:srgbClr val="0000CC"/>
                </a:solidFill>
              </a:rPr>
              <a:t>b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,  </a:t>
            </a:r>
            <a:r>
              <a:rPr lang="en-US" altLang="zh-CN" sz="2400" b="1" dirty="0">
                <a:solidFill>
                  <a:srgbClr val="0000CC"/>
                </a:solidFill>
              </a:rPr>
              <a:t>0) 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, </a:t>
            </a:r>
            <a:r>
              <a:rPr lang="zh-CN" altLang="en-US" sz="2400" b="1" dirty="0" smtClean="0">
                <a:solidFill>
                  <a:srgbClr val="0000CC"/>
                </a:solidFill>
              </a:rPr>
              <a:t>则</a:t>
            </a:r>
            <a:r>
              <a:rPr lang="zh-CN" altLang="en-US" sz="2400" b="1" dirty="0">
                <a:solidFill>
                  <a:srgbClr val="0000CC"/>
                </a:solidFill>
              </a:rPr>
              <a:t>递推公式可简化为</a:t>
            </a:r>
          </a:p>
        </p:txBody>
      </p:sp>
      <p:sp>
        <p:nvSpPr>
          <p:cNvPr id="270344" name="Text Box 8"/>
          <p:cNvSpPr txBox="1">
            <a:spLocks noChangeArrowheads="1"/>
          </p:cNvSpPr>
          <p:nvPr/>
        </p:nvSpPr>
        <p:spPr bwMode="auto">
          <a:xfrm>
            <a:off x="900113" y="3789363"/>
            <a:ext cx="576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</a:rPr>
              <a:t>如果 </a:t>
            </a:r>
            <a:r>
              <a:rPr lang="en-US" altLang="zh-CN" sz="2400" b="1" i="1" dirty="0">
                <a:solidFill>
                  <a:srgbClr val="0000CC"/>
                </a:solidFill>
              </a:rPr>
              <a:t>N </a:t>
            </a:r>
            <a:r>
              <a:rPr lang="zh-CN" altLang="en-US" sz="2400" b="1" dirty="0">
                <a:solidFill>
                  <a:srgbClr val="0000CC"/>
                </a:solidFill>
              </a:rPr>
              <a:t>服从</a:t>
            </a:r>
            <a:r>
              <a:rPr lang="zh-CN" altLang="en-US" sz="2400" b="1" dirty="0" smtClean="0">
                <a:solidFill>
                  <a:srgbClr val="0000CC"/>
                </a:solidFill>
              </a:rPr>
              <a:t>泊松分布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, </a:t>
            </a:r>
            <a:r>
              <a:rPr lang="zh-CN" altLang="en-US" sz="2400" b="1" dirty="0" smtClean="0">
                <a:solidFill>
                  <a:srgbClr val="0000CC"/>
                </a:solidFill>
              </a:rPr>
              <a:t>则</a:t>
            </a:r>
            <a:r>
              <a:rPr lang="zh-CN" altLang="en-US" sz="2400" b="1" dirty="0">
                <a:solidFill>
                  <a:srgbClr val="0000CC"/>
                </a:solidFill>
              </a:rPr>
              <a:t>进一步可简化为</a:t>
            </a:r>
          </a:p>
        </p:txBody>
      </p:sp>
      <p:graphicFrame>
        <p:nvGraphicFramePr>
          <p:cNvPr id="270345" name="Object 9"/>
          <p:cNvGraphicFramePr>
            <a:graphicFrameLocks noChangeAspect="1"/>
          </p:cNvGraphicFramePr>
          <p:nvPr/>
        </p:nvGraphicFramePr>
        <p:xfrm>
          <a:off x="900113" y="4508500"/>
          <a:ext cx="59769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56" name="Equation" r:id="rId5" imgW="2908080" imgH="482400" progId="Equation.DSMT4">
                  <p:embed/>
                </p:oleObj>
              </mc:Choice>
              <mc:Fallback>
                <p:oleObj name="Equation" r:id="rId5" imgW="2908080" imgH="482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508500"/>
                        <a:ext cx="597693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303235"/>
              </p:ext>
            </p:extLst>
          </p:nvPr>
        </p:nvGraphicFramePr>
        <p:xfrm>
          <a:off x="800100" y="2754313"/>
          <a:ext cx="250190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57" name="Equation" r:id="rId7" imgW="1155600" imgH="253800" progId="Equation.DSMT4">
                  <p:embed/>
                </p:oleObj>
              </mc:Choice>
              <mc:Fallback>
                <p:oleObj name="Equation" r:id="rId7" imgW="1155600" imgH="253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2754313"/>
                        <a:ext cx="2501900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8" name="Object 12"/>
          <p:cNvGraphicFramePr>
            <a:graphicFrameLocks noChangeAspect="1"/>
          </p:cNvGraphicFramePr>
          <p:nvPr/>
        </p:nvGraphicFramePr>
        <p:xfrm>
          <a:off x="827088" y="5876925"/>
          <a:ext cx="23034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358" name="Equation" r:id="rId9" imgW="1104840" imgH="241200" progId="Equation.DSMT4">
                  <p:embed/>
                </p:oleObj>
              </mc:Choice>
              <mc:Fallback>
                <p:oleObj name="Equation" r:id="rId9" imgW="1104840" imgH="241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876925"/>
                        <a:ext cx="23034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2" grpId="0"/>
      <p:bldP spid="2703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7A17-426F-4482-97DE-018CCEB57323}" type="slidenum">
              <a:rPr lang="en-US" altLang="zh-CN"/>
              <a:pPr/>
              <a:t>22</a:t>
            </a:fld>
            <a:endParaRPr lang="en-US" altLang="zh-CN"/>
          </a:p>
        </p:txBody>
      </p:sp>
      <p:graphicFrame>
        <p:nvGraphicFramePr>
          <p:cNvPr id="3153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951155"/>
              </p:ext>
            </p:extLst>
          </p:nvPr>
        </p:nvGraphicFramePr>
        <p:xfrm>
          <a:off x="1065213" y="1965325"/>
          <a:ext cx="33401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02" name="Equation" r:id="rId3" imgW="1714320" imgH="253800" progId="Equation.DSMT4">
                  <p:embed/>
                </p:oleObj>
              </mc:Choice>
              <mc:Fallback>
                <p:oleObj name="Equation" r:id="rId3" imgW="1714320" imgH="253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1965325"/>
                        <a:ext cx="33401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7" name="Text Box 5"/>
          <p:cNvSpPr txBox="1">
            <a:spLocks noChangeArrowheads="1"/>
          </p:cNvSpPr>
          <p:nvPr/>
        </p:nvSpPr>
        <p:spPr bwMode="auto">
          <a:xfrm>
            <a:off x="1042988" y="1052513"/>
            <a:ext cx="34347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altLang="zh-CN" sz="2400" b="1" dirty="0">
                <a:solidFill>
                  <a:srgbClr val="000099"/>
                </a:solidFill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</a:rPr>
              <a:t>并入</a:t>
            </a:r>
            <a:r>
              <a:rPr lang="zh-CN" altLang="en-US" sz="2400" b="1" dirty="0" smtClean="0">
                <a:solidFill>
                  <a:srgbClr val="000099"/>
                </a:solidFill>
              </a:rPr>
              <a:t>法（</a:t>
            </a:r>
            <a:r>
              <a:rPr lang="en-US" altLang="zh-CN" sz="2400" b="1" dirty="0" smtClean="0">
                <a:solidFill>
                  <a:srgbClr val="000099"/>
                </a:solidFill>
              </a:rPr>
              <a:t>rounding</a:t>
            </a:r>
            <a:r>
              <a:rPr lang="zh-CN" altLang="en-US" sz="2400" b="1" dirty="0" smtClean="0">
                <a:solidFill>
                  <a:srgbClr val="000099"/>
                </a:solidFill>
              </a:rPr>
              <a:t>）：</a:t>
            </a:r>
            <a:endParaRPr lang="zh-CN" altLang="en-US" sz="2400" b="1" dirty="0">
              <a:solidFill>
                <a:srgbClr val="000099"/>
              </a:solidFill>
            </a:endParaRPr>
          </a:p>
        </p:txBody>
      </p:sp>
      <p:graphicFrame>
        <p:nvGraphicFramePr>
          <p:cNvPr id="3153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177182"/>
              </p:ext>
            </p:extLst>
          </p:nvPr>
        </p:nvGraphicFramePr>
        <p:xfrm>
          <a:off x="1092200" y="2973388"/>
          <a:ext cx="65992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03" name="Equation" r:id="rId5" imgW="3657600" imgH="253800" progId="Equation.DSMT4">
                  <p:embed/>
                </p:oleObj>
              </mc:Choice>
              <mc:Fallback>
                <p:oleObj name="Equation" r:id="rId5" imgW="365760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2973388"/>
                        <a:ext cx="65992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1" name="Line 9"/>
          <p:cNvSpPr>
            <a:spLocks noChangeShapeType="1"/>
          </p:cNvSpPr>
          <p:nvPr/>
        </p:nvSpPr>
        <p:spPr bwMode="auto">
          <a:xfrm>
            <a:off x="1568450" y="5064125"/>
            <a:ext cx="56165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02" name="Line 10"/>
          <p:cNvSpPr>
            <a:spLocks noChangeShapeType="1"/>
          </p:cNvSpPr>
          <p:nvPr/>
        </p:nvSpPr>
        <p:spPr bwMode="auto">
          <a:xfrm>
            <a:off x="1568450" y="4992688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03" name="Line 11"/>
          <p:cNvSpPr>
            <a:spLocks noChangeShapeType="1"/>
          </p:cNvSpPr>
          <p:nvPr/>
        </p:nvSpPr>
        <p:spPr bwMode="auto">
          <a:xfrm>
            <a:off x="2792413" y="4992688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04" name="Line 12"/>
          <p:cNvSpPr>
            <a:spLocks noChangeShapeType="1"/>
          </p:cNvSpPr>
          <p:nvPr/>
        </p:nvSpPr>
        <p:spPr bwMode="auto">
          <a:xfrm>
            <a:off x="3943350" y="4992688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05" name="Line 13"/>
          <p:cNvSpPr>
            <a:spLocks noChangeShapeType="1"/>
          </p:cNvSpPr>
          <p:nvPr/>
        </p:nvSpPr>
        <p:spPr bwMode="auto">
          <a:xfrm>
            <a:off x="5095875" y="4992688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06" name="Line 14"/>
          <p:cNvSpPr>
            <a:spLocks noChangeShapeType="1"/>
          </p:cNvSpPr>
          <p:nvPr/>
        </p:nvSpPr>
        <p:spPr bwMode="auto">
          <a:xfrm>
            <a:off x="6176963" y="4992688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07" name="Text Box 15"/>
          <p:cNvSpPr txBox="1">
            <a:spLocks noChangeArrowheads="1"/>
          </p:cNvSpPr>
          <p:nvPr/>
        </p:nvSpPr>
        <p:spPr bwMode="auto">
          <a:xfrm>
            <a:off x="1423988" y="52085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0</a:t>
            </a:r>
          </a:p>
        </p:txBody>
      </p:sp>
      <p:sp>
        <p:nvSpPr>
          <p:cNvPr id="315408" name="Text Box 16"/>
          <p:cNvSpPr txBox="1">
            <a:spLocks noChangeArrowheads="1"/>
          </p:cNvSpPr>
          <p:nvPr/>
        </p:nvSpPr>
        <p:spPr bwMode="auto">
          <a:xfrm>
            <a:off x="2647950" y="5208588"/>
            <a:ext cx="287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/>
              <a:t>h</a:t>
            </a:r>
          </a:p>
        </p:txBody>
      </p:sp>
      <p:sp>
        <p:nvSpPr>
          <p:cNvPr id="315409" name="Text Box 17"/>
          <p:cNvSpPr txBox="1">
            <a:spLocks noChangeArrowheads="1"/>
          </p:cNvSpPr>
          <p:nvPr/>
        </p:nvSpPr>
        <p:spPr bwMode="auto">
          <a:xfrm>
            <a:off x="3708400" y="51577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  <a:r>
              <a:rPr lang="en-US" altLang="zh-CN" i="1"/>
              <a:t>h</a:t>
            </a:r>
          </a:p>
        </p:txBody>
      </p:sp>
      <p:sp>
        <p:nvSpPr>
          <p:cNvPr id="315410" name="Text Box 18"/>
          <p:cNvSpPr txBox="1">
            <a:spLocks noChangeArrowheads="1"/>
          </p:cNvSpPr>
          <p:nvPr/>
        </p:nvSpPr>
        <p:spPr bwMode="auto">
          <a:xfrm>
            <a:off x="4932363" y="51577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3</a:t>
            </a:r>
            <a:r>
              <a:rPr lang="en-US" altLang="zh-CN" i="1"/>
              <a:t>h</a:t>
            </a:r>
          </a:p>
        </p:txBody>
      </p:sp>
      <p:sp>
        <p:nvSpPr>
          <p:cNvPr id="315411" name="Text Box 19"/>
          <p:cNvSpPr txBox="1">
            <a:spLocks noChangeArrowheads="1"/>
          </p:cNvSpPr>
          <p:nvPr/>
        </p:nvSpPr>
        <p:spPr bwMode="auto">
          <a:xfrm>
            <a:off x="6011863" y="5229225"/>
            <a:ext cx="59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/>
              <a:t>……</a:t>
            </a:r>
          </a:p>
        </p:txBody>
      </p:sp>
      <p:sp>
        <p:nvSpPr>
          <p:cNvPr id="315412" name="Line 20"/>
          <p:cNvSpPr>
            <a:spLocks noChangeShapeType="1"/>
          </p:cNvSpPr>
          <p:nvPr/>
        </p:nvSpPr>
        <p:spPr bwMode="auto">
          <a:xfrm>
            <a:off x="2144713" y="4848225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13" name="Line 21"/>
          <p:cNvSpPr>
            <a:spLocks noChangeShapeType="1"/>
          </p:cNvSpPr>
          <p:nvPr/>
        </p:nvSpPr>
        <p:spPr bwMode="auto">
          <a:xfrm>
            <a:off x="3368675" y="4848225"/>
            <a:ext cx="15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14" name="Line 22"/>
          <p:cNvSpPr>
            <a:spLocks noChangeShapeType="1"/>
          </p:cNvSpPr>
          <p:nvPr/>
        </p:nvSpPr>
        <p:spPr bwMode="auto">
          <a:xfrm>
            <a:off x="4519613" y="4848225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15" name="Line 23"/>
          <p:cNvSpPr>
            <a:spLocks noChangeShapeType="1"/>
          </p:cNvSpPr>
          <p:nvPr/>
        </p:nvSpPr>
        <p:spPr bwMode="auto">
          <a:xfrm>
            <a:off x="5672138" y="4848225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16" name="Line 24"/>
          <p:cNvSpPr>
            <a:spLocks noChangeShapeType="1"/>
          </p:cNvSpPr>
          <p:nvPr/>
        </p:nvSpPr>
        <p:spPr bwMode="auto">
          <a:xfrm>
            <a:off x="6680200" y="4848225"/>
            <a:ext cx="15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17" name="AutoShape 25"/>
          <p:cNvSpPr>
            <a:spLocks/>
          </p:cNvSpPr>
          <p:nvPr/>
        </p:nvSpPr>
        <p:spPr bwMode="auto">
          <a:xfrm rot="5400000">
            <a:off x="1783556" y="5280819"/>
            <a:ext cx="73025" cy="649288"/>
          </a:xfrm>
          <a:prstGeom prst="rightBrace">
            <a:avLst>
              <a:gd name="adj1" fmla="val 740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18" name="AutoShape 26"/>
          <p:cNvSpPr>
            <a:spLocks/>
          </p:cNvSpPr>
          <p:nvPr/>
        </p:nvSpPr>
        <p:spPr bwMode="auto">
          <a:xfrm rot="5400000">
            <a:off x="2755900" y="5029200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19" name="AutoShape 27"/>
          <p:cNvSpPr>
            <a:spLocks/>
          </p:cNvSpPr>
          <p:nvPr/>
        </p:nvSpPr>
        <p:spPr bwMode="auto">
          <a:xfrm rot="5400000">
            <a:off x="3908425" y="5029200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20" name="AutoShape 28"/>
          <p:cNvSpPr>
            <a:spLocks/>
          </p:cNvSpPr>
          <p:nvPr/>
        </p:nvSpPr>
        <p:spPr bwMode="auto">
          <a:xfrm rot="5400000">
            <a:off x="5132388" y="5029200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21" name="Text Box 29"/>
          <p:cNvSpPr txBox="1">
            <a:spLocks noChangeArrowheads="1"/>
          </p:cNvSpPr>
          <p:nvPr/>
        </p:nvSpPr>
        <p:spPr bwMode="auto">
          <a:xfrm>
            <a:off x="1619250" y="56610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0</a:t>
            </a:r>
            <a:endParaRPr lang="en-US" altLang="zh-CN"/>
          </a:p>
        </p:txBody>
      </p:sp>
      <p:sp>
        <p:nvSpPr>
          <p:cNvPr id="315422" name="Text Box 30"/>
          <p:cNvSpPr txBox="1">
            <a:spLocks noChangeArrowheads="1"/>
          </p:cNvSpPr>
          <p:nvPr/>
        </p:nvSpPr>
        <p:spPr bwMode="auto">
          <a:xfrm>
            <a:off x="2647950" y="57118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315423" name="Text Box 31"/>
          <p:cNvSpPr txBox="1">
            <a:spLocks noChangeArrowheads="1"/>
          </p:cNvSpPr>
          <p:nvPr/>
        </p:nvSpPr>
        <p:spPr bwMode="auto">
          <a:xfrm>
            <a:off x="3800475" y="57118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2</a:t>
            </a:r>
            <a:endParaRPr lang="en-US" altLang="zh-CN"/>
          </a:p>
        </p:txBody>
      </p:sp>
      <p:sp>
        <p:nvSpPr>
          <p:cNvPr id="315424" name="Text Box 32"/>
          <p:cNvSpPr txBox="1">
            <a:spLocks noChangeArrowheads="1"/>
          </p:cNvSpPr>
          <p:nvPr/>
        </p:nvSpPr>
        <p:spPr bwMode="auto">
          <a:xfrm>
            <a:off x="5024438" y="57118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3</a:t>
            </a:r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2971800" y="483256"/>
            <a:ext cx="30700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333399"/>
                </a:solidFill>
              </a:rPr>
              <a:t>连续分布的离散化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480689"/>
              </p:ext>
            </p:extLst>
          </p:nvPr>
        </p:nvGraphicFramePr>
        <p:xfrm>
          <a:off x="2015331" y="4172362"/>
          <a:ext cx="261937" cy="67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04" name="Equation" r:id="rId7" imgW="152280" imgH="393480" progId="Equation.DSMT4">
                  <p:embed/>
                </p:oleObj>
              </mc:Choice>
              <mc:Fallback>
                <p:oleObj name="Equation" r:id="rId7" imgW="1522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15331" y="4172362"/>
                        <a:ext cx="261937" cy="675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95332"/>
              </p:ext>
            </p:extLst>
          </p:nvPr>
        </p:nvGraphicFramePr>
        <p:xfrm>
          <a:off x="3059835" y="4159283"/>
          <a:ext cx="617679" cy="660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05" name="Equation" r:id="rId9" imgW="368280" imgH="393480" progId="Equation.DSMT4">
                  <p:embed/>
                </p:oleObj>
              </mc:Choice>
              <mc:Fallback>
                <p:oleObj name="Equation" r:id="rId9" imgW="368280" imgH="3934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5" y="4159283"/>
                        <a:ext cx="617679" cy="660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769518"/>
              </p:ext>
            </p:extLst>
          </p:nvPr>
        </p:nvGraphicFramePr>
        <p:xfrm>
          <a:off x="4067944" y="4136752"/>
          <a:ext cx="7461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06" name="Equation" r:id="rId11" imgW="444240" imgH="393480" progId="Equation.DSMT4">
                  <p:embed/>
                </p:oleObj>
              </mc:Choice>
              <mc:Fallback>
                <p:oleObj name="Equation" r:id="rId11" imgW="444240" imgH="39348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4136752"/>
                        <a:ext cx="74612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078389"/>
              </p:ext>
            </p:extLst>
          </p:nvPr>
        </p:nvGraphicFramePr>
        <p:xfrm>
          <a:off x="5286672" y="4168488"/>
          <a:ext cx="7254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07" name="Equation" r:id="rId13" imgW="431640" imgH="393480" progId="Equation.DSMT4">
                  <p:embed/>
                </p:oleObj>
              </mc:Choice>
              <mc:Fallback>
                <p:oleObj name="Equation" r:id="rId13" imgW="431640" imgH="39348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672" y="4168488"/>
                        <a:ext cx="7254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55A7-6997-4704-9B53-1380F67FEE8C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611188" y="1183938"/>
            <a:ext cx="7561262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5000"/>
              </a:lnSpc>
              <a:buSzPct val="80000"/>
            </a:pPr>
            <a:r>
              <a:rPr lang="zh-CN" altLang="en-US" sz="2400" b="1" dirty="0" smtClean="0"/>
              <a:t>均值配比</a:t>
            </a:r>
            <a:r>
              <a:rPr lang="zh-CN" altLang="en-US" sz="2400" dirty="0" smtClean="0"/>
              <a:t>：要求离散分布</a:t>
            </a:r>
            <a:r>
              <a:rPr lang="zh-CN" altLang="en-US" sz="2400" dirty="0"/>
              <a:t>的概率和均值分别等于真实分布的概率和均值</a:t>
            </a:r>
          </a:p>
        </p:txBody>
      </p:sp>
      <p:sp>
        <p:nvSpPr>
          <p:cNvPr id="121864" name="Line 8"/>
          <p:cNvSpPr>
            <a:spLocks noChangeShapeType="1"/>
          </p:cNvSpPr>
          <p:nvPr/>
        </p:nvSpPr>
        <p:spPr bwMode="auto">
          <a:xfrm>
            <a:off x="1114425" y="385286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5" name="Line 9"/>
          <p:cNvSpPr>
            <a:spLocks noChangeShapeType="1"/>
          </p:cNvSpPr>
          <p:nvPr/>
        </p:nvSpPr>
        <p:spPr bwMode="auto">
          <a:xfrm>
            <a:off x="4356100" y="385286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6" name="Text Box 10"/>
          <p:cNvSpPr txBox="1">
            <a:spLocks noChangeArrowheads="1"/>
          </p:cNvSpPr>
          <p:nvPr/>
        </p:nvSpPr>
        <p:spPr bwMode="auto">
          <a:xfrm>
            <a:off x="971550" y="4070350"/>
            <a:ext cx="3794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0</a:t>
            </a:r>
          </a:p>
        </p:txBody>
      </p:sp>
      <p:sp>
        <p:nvSpPr>
          <p:cNvPr id="121867" name="Text Box 11"/>
          <p:cNvSpPr txBox="1">
            <a:spLocks noChangeArrowheads="1"/>
          </p:cNvSpPr>
          <p:nvPr/>
        </p:nvSpPr>
        <p:spPr bwMode="auto">
          <a:xfrm>
            <a:off x="3995738" y="4070350"/>
            <a:ext cx="1150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    </a:t>
            </a:r>
            <a:r>
              <a:rPr lang="en-US" altLang="zh-CN"/>
              <a:t>3</a:t>
            </a:r>
            <a:r>
              <a:rPr lang="en-US" altLang="zh-CN" i="1"/>
              <a:t>h</a:t>
            </a:r>
          </a:p>
        </p:txBody>
      </p:sp>
      <p:sp>
        <p:nvSpPr>
          <p:cNvPr id="121868" name="Line 12"/>
          <p:cNvSpPr>
            <a:spLocks noChangeShapeType="1"/>
          </p:cNvSpPr>
          <p:nvPr/>
        </p:nvSpPr>
        <p:spPr bwMode="auto">
          <a:xfrm>
            <a:off x="2195513" y="385286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9" name="Line 13"/>
          <p:cNvSpPr>
            <a:spLocks noChangeShapeType="1"/>
          </p:cNvSpPr>
          <p:nvPr/>
        </p:nvSpPr>
        <p:spPr bwMode="auto">
          <a:xfrm>
            <a:off x="3275013" y="385286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0" name="Text Box 14"/>
          <p:cNvSpPr txBox="1">
            <a:spLocks noChangeArrowheads="1"/>
          </p:cNvSpPr>
          <p:nvPr/>
        </p:nvSpPr>
        <p:spPr bwMode="auto">
          <a:xfrm>
            <a:off x="1763713" y="4070350"/>
            <a:ext cx="1150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     h</a:t>
            </a:r>
          </a:p>
        </p:txBody>
      </p:sp>
      <p:sp>
        <p:nvSpPr>
          <p:cNvPr id="121871" name="Text Box 15"/>
          <p:cNvSpPr txBox="1">
            <a:spLocks noChangeArrowheads="1"/>
          </p:cNvSpPr>
          <p:nvPr/>
        </p:nvSpPr>
        <p:spPr bwMode="auto">
          <a:xfrm>
            <a:off x="2843213" y="4070350"/>
            <a:ext cx="1150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    </a:t>
            </a:r>
            <a:r>
              <a:rPr lang="en-US" altLang="zh-CN"/>
              <a:t>2</a:t>
            </a:r>
            <a:r>
              <a:rPr lang="en-US" altLang="zh-CN" i="1"/>
              <a:t>h</a:t>
            </a:r>
          </a:p>
        </p:txBody>
      </p:sp>
      <p:sp>
        <p:nvSpPr>
          <p:cNvPr id="121873" name="Line 17"/>
          <p:cNvSpPr>
            <a:spLocks noChangeShapeType="1"/>
          </p:cNvSpPr>
          <p:nvPr/>
        </p:nvSpPr>
        <p:spPr bwMode="auto">
          <a:xfrm>
            <a:off x="1114425" y="3997325"/>
            <a:ext cx="6697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4" name="Line 18"/>
          <p:cNvSpPr>
            <a:spLocks noChangeShapeType="1"/>
          </p:cNvSpPr>
          <p:nvPr/>
        </p:nvSpPr>
        <p:spPr bwMode="auto">
          <a:xfrm>
            <a:off x="5435600" y="385286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5" name="Text Box 19"/>
          <p:cNvSpPr txBox="1">
            <a:spLocks noChangeArrowheads="1"/>
          </p:cNvSpPr>
          <p:nvPr/>
        </p:nvSpPr>
        <p:spPr bwMode="auto">
          <a:xfrm>
            <a:off x="950913" y="33782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/>
              <a:t>p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121876" name="Text Box 20"/>
          <p:cNvSpPr txBox="1">
            <a:spLocks noChangeArrowheads="1"/>
          </p:cNvSpPr>
          <p:nvPr/>
        </p:nvSpPr>
        <p:spPr bwMode="auto">
          <a:xfrm>
            <a:off x="1979613" y="3357563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/>
              <a:t>q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121877" name="Text Box 21"/>
          <p:cNvSpPr txBox="1">
            <a:spLocks noChangeArrowheads="1"/>
          </p:cNvSpPr>
          <p:nvPr/>
        </p:nvSpPr>
        <p:spPr bwMode="auto">
          <a:xfrm>
            <a:off x="2016125" y="2873375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FF0000"/>
                </a:solidFill>
              </a:rPr>
              <a:t>p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1878" name="Text Box 22"/>
          <p:cNvSpPr txBox="1">
            <a:spLocks noChangeArrowheads="1"/>
          </p:cNvSpPr>
          <p:nvPr/>
        </p:nvSpPr>
        <p:spPr bwMode="auto">
          <a:xfrm>
            <a:off x="3044825" y="2852738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FF0000"/>
                </a:solidFill>
              </a:rPr>
              <a:t>q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1879" name="Text Box 23"/>
          <p:cNvSpPr txBox="1">
            <a:spLocks noChangeArrowheads="1"/>
          </p:cNvSpPr>
          <p:nvPr/>
        </p:nvSpPr>
        <p:spPr bwMode="auto">
          <a:xfrm>
            <a:off x="3059113" y="2297113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000099"/>
                </a:solidFill>
              </a:rPr>
              <a:t>p</a:t>
            </a:r>
            <a:r>
              <a:rPr lang="en-US" altLang="zh-CN" baseline="-25000">
                <a:solidFill>
                  <a:srgbClr val="000099"/>
                </a:solidFill>
              </a:rPr>
              <a:t>3</a:t>
            </a:r>
            <a:endParaRPr lang="en-US" altLang="zh-CN">
              <a:solidFill>
                <a:srgbClr val="000099"/>
              </a:solidFill>
            </a:endParaRPr>
          </a:p>
        </p:txBody>
      </p:sp>
      <p:sp>
        <p:nvSpPr>
          <p:cNvPr id="121880" name="Text Box 24"/>
          <p:cNvSpPr txBox="1">
            <a:spLocks noChangeArrowheads="1"/>
          </p:cNvSpPr>
          <p:nvPr/>
        </p:nvSpPr>
        <p:spPr bwMode="auto">
          <a:xfrm>
            <a:off x="4087813" y="2276475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000099"/>
                </a:solidFill>
              </a:rPr>
              <a:t>q</a:t>
            </a:r>
            <a:r>
              <a:rPr lang="en-US" altLang="zh-CN" baseline="-25000">
                <a:solidFill>
                  <a:srgbClr val="000099"/>
                </a:solidFill>
              </a:rPr>
              <a:t>3</a:t>
            </a:r>
            <a:endParaRPr lang="en-US" altLang="zh-CN">
              <a:solidFill>
                <a:srgbClr val="000099"/>
              </a:solidFill>
            </a:endParaRPr>
          </a:p>
        </p:txBody>
      </p:sp>
      <p:graphicFrame>
        <p:nvGraphicFramePr>
          <p:cNvPr id="121881" name="Object 25"/>
          <p:cNvGraphicFramePr>
            <a:graphicFrameLocks noChangeAspect="1"/>
          </p:cNvGraphicFramePr>
          <p:nvPr/>
        </p:nvGraphicFramePr>
        <p:xfrm>
          <a:off x="971550" y="4797425"/>
          <a:ext cx="475297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33" name="Equation" r:id="rId3" imgW="2997000" imgH="1155600" progId="Equation.DSMT4">
                  <p:embed/>
                </p:oleObj>
              </mc:Choice>
              <mc:Fallback>
                <p:oleObj name="Equation" r:id="rId3" imgW="2997000" imgH="1155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797425"/>
                        <a:ext cx="4752975" cy="183197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515287" y="668298"/>
            <a:ext cx="19159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altLang="zh-CN" sz="2400" b="1" dirty="0">
                <a:solidFill>
                  <a:srgbClr val="000099"/>
                </a:solidFill>
              </a:rPr>
              <a:t> </a:t>
            </a:r>
            <a:r>
              <a:rPr lang="zh-CN" altLang="en-US" sz="2400" b="1" dirty="0" smtClean="0">
                <a:solidFill>
                  <a:srgbClr val="000099"/>
                </a:solidFill>
              </a:rPr>
              <a:t>均值配比：</a:t>
            </a:r>
            <a:endParaRPr lang="zh-CN" altLang="en-US" sz="2400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F1C8-D5B2-43B9-AC4D-A359308EA7C1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96290" name="Text Box 2"/>
          <p:cNvSpPr txBox="1">
            <a:spLocks noChangeArrowheads="1"/>
          </p:cNvSpPr>
          <p:nvPr/>
        </p:nvSpPr>
        <p:spPr bwMode="auto">
          <a:xfrm>
            <a:off x="611188" y="1916832"/>
            <a:ext cx="7561262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5000"/>
              </a:lnSpc>
              <a:buSzPct val="80000"/>
            </a:pPr>
            <a:r>
              <a:rPr lang="zh-CN" altLang="en-US" sz="2400" b="1" dirty="0" smtClean="0"/>
              <a:t>解上述方程组</a:t>
            </a:r>
            <a:r>
              <a:rPr lang="en-US" altLang="zh-CN" sz="2400" b="1" dirty="0" smtClean="0"/>
              <a:t>, </a:t>
            </a:r>
            <a:r>
              <a:rPr lang="zh-CN" altLang="en-US" sz="2400" b="1" dirty="0"/>
              <a:t> </a:t>
            </a:r>
            <a:r>
              <a:rPr lang="zh-CN" altLang="en-US" sz="2400" b="1" dirty="0" smtClean="0"/>
              <a:t> 有</a:t>
            </a:r>
            <a:endParaRPr lang="zh-CN" altLang="en-US" sz="2400" b="1" dirty="0"/>
          </a:p>
        </p:txBody>
      </p:sp>
      <p:graphicFrame>
        <p:nvGraphicFramePr>
          <p:cNvPr id="396291" name="Object 3"/>
          <p:cNvGraphicFramePr>
            <a:graphicFrameLocks noChangeAspect="1"/>
          </p:cNvGraphicFramePr>
          <p:nvPr/>
        </p:nvGraphicFramePr>
        <p:xfrm>
          <a:off x="900113" y="2924175"/>
          <a:ext cx="23050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797" name="Equation" r:id="rId3" imgW="1130040" imgH="393480" progId="Equation.DSMT4">
                  <p:embed/>
                </p:oleObj>
              </mc:Choice>
              <mc:Fallback>
                <p:oleObj name="Equation" r:id="rId3" imgW="113004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924175"/>
                        <a:ext cx="23050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2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873098"/>
              </p:ext>
            </p:extLst>
          </p:nvPr>
        </p:nvGraphicFramePr>
        <p:xfrm>
          <a:off x="920750" y="4197350"/>
          <a:ext cx="7681913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798" name="Equation" r:id="rId5" imgW="3848040" imgH="419040" progId="Equation.DSMT4">
                  <p:embed/>
                </p:oleObj>
              </mc:Choice>
              <mc:Fallback>
                <p:oleObj name="Equation" r:id="rId5" imgW="3848040" imgH="419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4197350"/>
                        <a:ext cx="7681913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296069" y="534647"/>
            <a:ext cx="7543800" cy="500062"/>
          </a:xfrm>
        </p:spPr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</a:rPr>
              <a:t>例：连续分布的离散化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xfrm>
            <a:off x="296069" y="1066006"/>
            <a:ext cx="8229600" cy="17272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Times New Roman" pitchFamily="18" charset="0"/>
              </a:rPr>
              <a:t>假设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 </a:t>
            </a:r>
            <a:r>
              <a:rPr lang="zh-CN" altLang="en-US" b="1" dirty="0">
                <a:latin typeface="Times New Roman" pitchFamily="18" charset="0"/>
              </a:rPr>
              <a:t>服从</a:t>
            </a:r>
            <a:r>
              <a:rPr lang="zh-CN" altLang="en-US" b="1" dirty="0" smtClean="0">
                <a:latin typeface="Times New Roman" pitchFamily="18" charset="0"/>
              </a:rPr>
              <a:t>指数分布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分布函数</a:t>
            </a:r>
            <a:r>
              <a:rPr lang="zh-CN" altLang="en-US" b="1" dirty="0">
                <a:latin typeface="Times New Roman" pitchFamily="18" charset="0"/>
              </a:rPr>
              <a:t>为 </a:t>
            </a:r>
            <a:r>
              <a:rPr lang="en-US" altLang="zh-CN" b="1" i="1" dirty="0">
                <a:latin typeface="Times New Roman" pitchFamily="18" charset="0"/>
              </a:rPr>
              <a:t>F</a:t>
            </a:r>
            <a:r>
              <a:rPr lang="en-US" altLang="zh-CN" b="1" dirty="0">
                <a:latin typeface="Times New Roman" pitchFamily="18" charset="0"/>
              </a:rPr>
              <a:t>(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) = 1</a:t>
            </a:r>
            <a:r>
              <a:rPr lang="zh-CN" altLang="en-US" b="1" dirty="0">
                <a:latin typeface="Times New Roman" pitchFamily="18" charset="0"/>
              </a:rPr>
              <a:t>－</a:t>
            </a:r>
            <a:r>
              <a:rPr lang="en-US" altLang="zh-CN" b="1" dirty="0">
                <a:latin typeface="Times New Roman" pitchFamily="18" charset="0"/>
              </a:rPr>
              <a:t>e</a:t>
            </a:r>
            <a:r>
              <a:rPr lang="en-US" altLang="zh-CN" b="1" baseline="30000" dirty="0">
                <a:latin typeface="Times New Roman" pitchFamily="18" charset="0"/>
              </a:rPr>
              <a:t>-</a:t>
            </a:r>
            <a:r>
              <a:rPr lang="en-US" altLang="zh-CN" b="1" baseline="30000" dirty="0" err="1">
                <a:latin typeface="Times New Roman" pitchFamily="18" charset="0"/>
              </a:rPr>
              <a:t>0.1</a:t>
            </a:r>
            <a:r>
              <a:rPr lang="en-US" altLang="zh-CN" b="1" i="1" baseline="30000" dirty="0" err="1">
                <a:latin typeface="Times New Roman" pitchFamily="18" charset="0"/>
              </a:rPr>
              <a:t>x</a:t>
            </a:r>
            <a:r>
              <a:rPr lang="zh-CN" altLang="en-US" b="1" dirty="0">
                <a:latin typeface="Times New Roman" pitchFamily="18" charset="0"/>
              </a:rPr>
              <a:t>。 应用</a:t>
            </a:r>
            <a:r>
              <a:rPr lang="zh-CN" altLang="en-US" b="1" dirty="0" smtClean="0">
                <a:latin typeface="Times New Roman" pitchFamily="18" charset="0"/>
              </a:rPr>
              <a:t>跨度 </a:t>
            </a:r>
            <a:r>
              <a:rPr lang="en-US" altLang="zh-CN" b="1" i="1" dirty="0">
                <a:latin typeface="Times New Roman" pitchFamily="18" charset="0"/>
              </a:rPr>
              <a:t>h</a:t>
            </a:r>
            <a:r>
              <a:rPr lang="en-US" altLang="zh-CN" b="1" dirty="0">
                <a:latin typeface="Times New Roman" pitchFamily="18" charset="0"/>
              </a:rPr>
              <a:t> = 2 </a:t>
            </a:r>
            <a:r>
              <a:rPr lang="zh-CN" altLang="en-US" b="1" dirty="0">
                <a:latin typeface="Times New Roman" pitchFamily="18" charset="0"/>
              </a:rPr>
              <a:t>对此分布进行离散化处理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b="1" dirty="0" smtClean="0">
                <a:solidFill>
                  <a:srgbClr val="0000CC"/>
                </a:solidFill>
                <a:latin typeface="Times New Roman" pitchFamily="18" charset="0"/>
              </a:rPr>
              <a:t>并入法（</a:t>
            </a:r>
            <a:r>
              <a:rPr lang="en-US" altLang="zh-CN" b="1" dirty="0" smtClean="0">
                <a:solidFill>
                  <a:srgbClr val="0000CC"/>
                </a:solidFill>
                <a:latin typeface="Times New Roman" pitchFamily="18" charset="0"/>
              </a:rPr>
              <a:t>Rounding</a:t>
            </a:r>
            <a:r>
              <a:rPr lang="zh-CN" altLang="en-US" b="1" dirty="0" smtClean="0">
                <a:solidFill>
                  <a:srgbClr val="0000CC"/>
                </a:solidFill>
                <a:latin typeface="Times New Roman" pitchFamily="18" charset="0"/>
              </a:rPr>
              <a:t>）</a:t>
            </a:r>
            <a:r>
              <a:rPr lang="zh-CN" altLang="en-US" dirty="0" smtClean="0">
                <a:latin typeface="Times New Roman" pitchFamily="18" charset="0"/>
              </a:rPr>
              <a:t>：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9CBD-F433-45CC-ADCA-22AACFFA9561}" type="slidenum">
              <a:rPr lang="en-US" altLang="zh-CN"/>
              <a:pPr/>
              <a:t>25</a:t>
            </a:fld>
            <a:endParaRPr lang="en-US" altLang="zh-CN"/>
          </a:p>
        </p:txBody>
      </p:sp>
      <p:graphicFrame>
        <p:nvGraphicFramePr>
          <p:cNvPr id="1187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368290"/>
              </p:ext>
            </p:extLst>
          </p:nvPr>
        </p:nvGraphicFramePr>
        <p:xfrm>
          <a:off x="933261" y="2910263"/>
          <a:ext cx="61928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53" name="Equation" r:id="rId3" imgW="3327120" imgH="241200" progId="Equation.DSMT4">
                  <p:embed/>
                </p:oleObj>
              </mc:Choice>
              <mc:Fallback>
                <p:oleObj name="Equation" r:id="rId3" imgW="332712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261" y="2910263"/>
                        <a:ext cx="619283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81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542164"/>
              </p:ext>
            </p:extLst>
          </p:nvPr>
        </p:nvGraphicFramePr>
        <p:xfrm>
          <a:off x="947721" y="3638550"/>
          <a:ext cx="5535613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54" name="Equation" r:id="rId5" imgW="3149280" imgH="660240" progId="Equation.DSMT4">
                  <p:embed/>
                </p:oleObj>
              </mc:Choice>
              <mc:Fallback>
                <p:oleObj name="Equation" r:id="rId5" imgW="3149280" imgH="66024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21" y="3638550"/>
                        <a:ext cx="5535613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817" name="Line 33"/>
          <p:cNvSpPr>
            <a:spLocks noChangeShapeType="1"/>
          </p:cNvSpPr>
          <p:nvPr/>
        </p:nvSpPr>
        <p:spPr bwMode="auto">
          <a:xfrm>
            <a:off x="1259632" y="5517232"/>
            <a:ext cx="56165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18" name="Line 34"/>
          <p:cNvSpPr>
            <a:spLocks noChangeShapeType="1"/>
          </p:cNvSpPr>
          <p:nvPr/>
        </p:nvSpPr>
        <p:spPr bwMode="auto">
          <a:xfrm>
            <a:off x="1259632" y="5445794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19" name="Line 35"/>
          <p:cNvSpPr>
            <a:spLocks noChangeShapeType="1"/>
          </p:cNvSpPr>
          <p:nvPr/>
        </p:nvSpPr>
        <p:spPr bwMode="auto">
          <a:xfrm>
            <a:off x="2483595" y="5445794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0" name="Line 36"/>
          <p:cNvSpPr>
            <a:spLocks noChangeShapeType="1"/>
          </p:cNvSpPr>
          <p:nvPr/>
        </p:nvSpPr>
        <p:spPr bwMode="auto">
          <a:xfrm>
            <a:off x="3634532" y="5445794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1" name="Line 37"/>
          <p:cNvSpPr>
            <a:spLocks noChangeShapeType="1"/>
          </p:cNvSpPr>
          <p:nvPr/>
        </p:nvSpPr>
        <p:spPr bwMode="auto">
          <a:xfrm>
            <a:off x="4787057" y="5445794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2" name="Line 38"/>
          <p:cNvSpPr>
            <a:spLocks noChangeShapeType="1"/>
          </p:cNvSpPr>
          <p:nvPr/>
        </p:nvSpPr>
        <p:spPr bwMode="auto">
          <a:xfrm>
            <a:off x="5868145" y="5445794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3" name="Text Box 39"/>
          <p:cNvSpPr txBox="1">
            <a:spLocks noChangeArrowheads="1"/>
          </p:cNvSpPr>
          <p:nvPr/>
        </p:nvSpPr>
        <p:spPr bwMode="auto">
          <a:xfrm>
            <a:off x="1115170" y="5661694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0</a:t>
            </a:r>
          </a:p>
        </p:txBody>
      </p:sp>
      <p:sp>
        <p:nvSpPr>
          <p:cNvPr id="118824" name="Text Box 40"/>
          <p:cNvSpPr txBox="1">
            <a:spLocks noChangeArrowheads="1"/>
          </p:cNvSpPr>
          <p:nvPr/>
        </p:nvSpPr>
        <p:spPr bwMode="auto">
          <a:xfrm>
            <a:off x="2318495" y="5610894"/>
            <a:ext cx="287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/>
              <a:t>h</a:t>
            </a:r>
          </a:p>
        </p:txBody>
      </p:sp>
      <p:sp>
        <p:nvSpPr>
          <p:cNvPr id="118825" name="Text Box 41"/>
          <p:cNvSpPr txBox="1">
            <a:spLocks noChangeArrowheads="1"/>
          </p:cNvSpPr>
          <p:nvPr/>
        </p:nvSpPr>
        <p:spPr bwMode="auto">
          <a:xfrm>
            <a:off x="3471020" y="5610894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  <a:r>
              <a:rPr lang="en-US" altLang="zh-CN" i="1"/>
              <a:t>h</a:t>
            </a:r>
          </a:p>
        </p:txBody>
      </p:sp>
      <p:sp>
        <p:nvSpPr>
          <p:cNvPr id="118826" name="Text Box 42"/>
          <p:cNvSpPr txBox="1">
            <a:spLocks noChangeArrowheads="1"/>
          </p:cNvSpPr>
          <p:nvPr/>
        </p:nvSpPr>
        <p:spPr bwMode="auto">
          <a:xfrm>
            <a:off x="4623545" y="5610894"/>
            <a:ext cx="503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3</a:t>
            </a:r>
            <a:r>
              <a:rPr lang="en-US" altLang="zh-CN" i="1"/>
              <a:t>h</a:t>
            </a:r>
          </a:p>
        </p:txBody>
      </p:sp>
      <p:sp>
        <p:nvSpPr>
          <p:cNvPr id="118827" name="Text Box 43"/>
          <p:cNvSpPr txBox="1">
            <a:spLocks noChangeArrowheads="1"/>
          </p:cNvSpPr>
          <p:nvPr/>
        </p:nvSpPr>
        <p:spPr bwMode="auto">
          <a:xfrm>
            <a:off x="5703045" y="5682332"/>
            <a:ext cx="59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/>
              <a:t>……</a:t>
            </a:r>
          </a:p>
        </p:txBody>
      </p:sp>
      <p:sp>
        <p:nvSpPr>
          <p:cNvPr id="118828" name="Line 44"/>
          <p:cNvSpPr>
            <a:spLocks noChangeShapeType="1"/>
          </p:cNvSpPr>
          <p:nvPr/>
        </p:nvSpPr>
        <p:spPr bwMode="auto">
          <a:xfrm>
            <a:off x="1835895" y="5301332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9" name="Line 45"/>
          <p:cNvSpPr>
            <a:spLocks noChangeShapeType="1"/>
          </p:cNvSpPr>
          <p:nvPr/>
        </p:nvSpPr>
        <p:spPr bwMode="auto">
          <a:xfrm>
            <a:off x="3059857" y="5301332"/>
            <a:ext cx="15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30" name="Line 46"/>
          <p:cNvSpPr>
            <a:spLocks noChangeShapeType="1"/>
          </p:cNvSpPr>
          <p:nvPr/>
        </p:nvSpPr>
        <p:spPr bwMode="auto">
          <a:xfrm>
            <a:off x="4210795" y="5301332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31" name="Line 47"/>
          <p:cNvSpPr>
            <a:spLocks noChangeShapeType="1"/>
          </p:cNvSpPr>
          <p:nvPr/>
        </p:nvSpPr>
        <p:spPr bwMode="auto">
          <a:xfrm>
            <a:off x="5363320" y="5301332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32" name="Line 48"/>
          <p:cNvSpPr>
            <a:spLocks noChangeShapeType="1"/>
          </p:cNvSpPr>
          <p:nvPr/>
        </p:nvSpPr>
        <p:spPr bwMode="auto">
          <a:xfrm>
            <a:off x="6371382" y="5301332"/>
            <a:ext cx="15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33" name="AutoShape 49"/>
          <p:cNvSpPr>
            <a:spLocks/>
          </p:cNvSpPr>
          <p:nvPr/>
        </p:nvSpPr>
        <p:spPr bwMode="auto">
          <a:xfrm rot="5400000">
            <a:off x="1474738" y="5733926"/>
            <a:ext cx="73025" cy="649288"/>
          </a:xfrm>
          <a:prstGeom prst="rightBrace">
            <a:avLst>
              <a:gd name="adj1" fmla="val 740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34" name="AutoShape 50"/>
          <p:cNvSpPr>
            <a:spLocks/>
          </p:cNvSpPr>
          <p:nvPr/>
        </p:nvSpPr>
        <p:spPr bwMode="auto">
          <a:xfrm rot="5400000">
            <a:off x="2447082" y="5482307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35" name="AutoShape 51"/>
          <p:cNvSpPr>
            <a:spLocks/>
          </p:cNvSpPr>
          <p:nvPr/>
        </p:nvSpPr>
        <p:spPr bwMode="auto">
          <a:xfrm rot="5400000">
            <a:off x="3599607" y="5482307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36" name="AutoShape 52"/>
          <p:cNvSpPr>
            <a:spLocks/>
          </p:cNvSpPr>
          <p:nvPr/>
        </p:nvSpPr>
        <p:spPr bwMode="auto">
          <a:xfrm rot="5400000">
            <a:off x="4823570" y="5482307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37" name="Text Box 53"/>
          <p:cNvSpPr txBox="1">
            <a:spLocks noChangeArrowheads="1"/>
          </p:cNvSpPr>
          <p:nvPr/>
        </p:nvSpPr>
        <p:spPr bwMode="auto">
          <a:xfrm>
            <a:off x="1310432" y="611413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0</a:t>
            </a:r>
            <a:endParaRPr lang="en-US" altLang="zh-CN"/>
          </a:p>
        </p:txBody>
      </p:sp>
      <p:sp>
        <p:nvSpPr>
          <p:cNvPr id="118838" name="Text Box 54"/>
          <p:cNvSpPr txBox="1">
            <a:spLocks noChangeArrowheads="1"/>
          </p:cNvSpPr>
          <p:nvPr/>
        </p:nvSpPr>
        <p:spPr bwMode="auto">
          <a:xfrm>
            <a:off x="2339132" y="616493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118839" name="Text Box 55"/>
          <p:cNvSpPr txBox="1">
            <a:spLocks noChangeArrowheads="1"/>
          </p:cNvSpPr>
          <p:nvPr/>
        </p:nvSpPr>
        <p:spPr bwMode="auto">
          <a:xfrm>
            <a:off x="3491657" y="616493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2</a:t>
            </a:r>
            <a:endParaRPr lang="en-US" altLang="zh-CN"/>
          </a:p>
        </p:txBody>
      </p:sp>
      <p:sp>
        <p:nvSpPr>
          <p:cNvPr id="118840" name="Text Box 56"/>
          <p:cNvSpPr txBox="1">
            <a:spLocks noChangeArrowheads="1"/>
          </p:cNvSpPr>
          <p:nvPr/>
        </p:nvSpPr>
        <p:spPr bwMode="auto">
          <a:xfrm>
            <a:off x="4715620" y="616493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3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8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8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8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8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8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8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8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8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8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8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8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8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8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8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8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8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8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8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8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8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8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8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8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8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8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8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8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8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18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18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8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8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18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8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18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18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18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18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uiExpand="1" build="p"/>
      <p:bldP spid="118817" grpId="0" animBg="1"/>
      <p:bldP spid="118818" grpId="0" animBg="1"/>
      <p:bldP spid="118819" grpId="0" animBg="1"/>
      <p:bldP spid="118820" grpId="0" animBg="1"/>
      <p:bldP spid="118821" grpId="0" animBg="1"/>
      <p:bldP spid="118822" grpId="0" animBg="1"/>
      <p:bldP spid="118823" grpId="0"/>
      <p:bldP spid="118824" grpId="0"/>
      <p:bldP spid="118825" grpId="0"/>
      <p:bldP spid="118826" grpId="0"/>
      <p:bldP spid="118827" grpId="0"/>
      <p:bldP spid="118828" grpId="0" animBg="1"/>
      <p:bldP spid="118829" grpId="0" animBg="1"/>
      <p:bldP spid="118830" grpId="0" animBg="1"/>
      <p:bldP spid="118831" grpId="0" animBg="1"/>
      <p:bldP spid="118832" grpId="0" animBg="1"/>
      <p:bldP spid="118833" grpId="0" animBg="1"/>
      <p:bldP spid="118834" grpId="0" animBg="1"/>
      <p:bldP spid="118835" grpId="0" animBg="1"/>
      <p:bldP spid="118836" grpId="0" animBg="1"/>
      <p:bldP spid="118837" grpId="0"/>
      <p:bldP spid="118838" grpId="0"/>
      <p:bldP spid="118839" grpId="0"/>
      <p:bldP spid="11884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272B-44E1-403C-BEA4-220B7410B5CE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120834" name="Text Box 2"/>
          <p:cNvSpPr txBox="1">
            <a:spLocks noChangeArrowheads="1"/>
          </p:cNvSpPr>
          <p:nvPr/>
        </p:nvSpPr>
        <p:spPr bwMode="auto">
          <a:xfrm>
            <a:off x="900113" y="981075"/>
            <a:ext cx="36631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00CC"/>
                </a:solidFill>
              </a:rPr>
              <a:t>均值配比</a:t>
            </a:r>
            <a:r>
              <a:rPr lang="zh-CN" altLang="en-US" sz="2400" b="1" dirty="0">
                <a:solidFill>
                  <a:srgbClr val="0000CC"/>
                </a:solidFill>
              </a:rPr>
              <a:t>法 </a:t>
            </a:r>
            <a:r>
              <a:rPr lang="en-US" altLang="zh-CN" sz="2400" b="1" dirty="0">
                <a:solidFill>
                  <a:srgbClr val="0000CC"/>
                </a:solidFill>
              </a:rPr>
              <a:t>: </a:t>
            </a:r>
            <a:r>
              <a:rPr lang="en-US" altLang="zh-CN" sz="2400" b="1" i="1" dirty="0">
                <a:solidFill>
                  <a:srgbClr val="0000CC"/>
                </a:solidFill>
              </a:rPr>
              <a:t>h </a:t>
            </a:r>
            <a:r>
              <a:rPr lang="en-US" altLang="zh-CN" sz="2400" b="1" dirty="0">
                <a:solidFill>
                  <a:srgbClr val="0000CC"/>
                </a:solidFill>
              </a:rPr>
              <a:t>= 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2,  </a:t>
            </a:r>
            <a:r>
              <a:rPr lang="en-US" altLang="zh-CN" sz="2400" b="1" dirty="0">
                <a:solidFill>
                  <a:srgbClr val="0000CC"/>
                </a:solidFill>
                <a:latin typeface="Symbol" pitchFamily="18" charset="2"/>
              </a:rPr>
              <a:t>q = 10</a:t>
            </a:r>
            <a:endParaRPr lang="en-US" altLang="zh-CN" sz="2400" b="1" i="1" dirty="0">
              <a:solidFill>
                <a:srgbClr val="0000CC"/>
              </a:solidFill>
            </a:endParaRPr>
          </a:p>
        </p:txBody>
      </p:sp>
      <p:graphicFrame>
        <p:nvGraphicFramePr>
          <p:cNvPr id="120886" name="Object 54"/>
          <p:cNvGraphicFramePr>
            <a:graphicFrameLocks noChangeAspect="1"/>
          </p:cNvGraphicFramePr>
          <p:nvPr/>
        </p:nvGraphicFramePr>
        <p:xfrm>
          <a:off x="1042988" y="1700213"/>
          <a:ext cx="32496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18" name="Equation" r:id="rId3" imgW="1460160" imgH="228600" progId="Equation.DSMT4">
                  <p:embed/>
                </p:oleObj>
              </mc:Choice>
              <mc:Fallback>
                <p:oleObj name="Equation" r:id="rId3" imgW="1460160" imgH="2286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700213"/>
                        <a:ext cx="32496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87" name="Object 55"/>
          <p:cNvGraphicFramePr>
            <a:graphicFrameLocks noChangeAspect="1"/>
          </p:cNvGraphicFramePr>
          <p:nvPr/>
        </p:nvGraphicFramePr>
        <p:xfrm>
          <a:off x="1042988" y="2636838"/>
          <a:ext cx="3673475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19" name="Equation" r:id="rId5" imgW="1777680" imgH="393480" progId="Equation.DSMT4">
                  <p:embed/>
                </p:oleObj>
              </mc:Choice>
              <mc:Fallback>
                <p:oleObj name="Equation" r:id="rId5" imgW="1777680" imgH="39348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636838"/>
                        <a:ext cx="3673475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88" name="Object 56"/>
          <p:cNvGraphicFramePr>
            <a:graphicFrameLocks noChangeAspect="1"/>
          </p:cNvGraphicFramePr>
          <p:nvPr/>
        </p:nvGraphicFramePr>
        <p:xfrm>
          <a:off x="971550" y="3789363"/>
          <a:ext cx="6696075" cy="130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20" name="Equation" r:id="rId7" imgW="3124080" imgH="609480" progId="Equation.DSMT4">
                  <p:embed/>
                </p:oleObj>
              </mc:Choice>
              <mc:Fallback>
                <p:oleObj name="Equation" r:id="rId7" imgW="3124080" imgH="60948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789363"/>
                        <a:ext cx="6696075" cy="1303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89" name="Text Box 57"/>
          <p:cNvSpPr txBox="1">
            <a:spLocks noChangeArrowheads="1"/>
          </p:cNvSpPr>
          <p:nvPr/>
        </p:nvSpPr>
        <p:spPr bwMode="auto">
          <a:xfrm>
            <a:off x="5056188" y="1778000"/>
            <a:ext cx="2698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指数分布的有限期望函数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E47C-8EC4-4468-A489-23C48CC20ECF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1520" y="620688"/>
            <a:ext cx="151177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" dirty="0"/>
              <a:t># 1. </a:t>
            </a:r>
            <a:r>
              <a:rPr lang="en-US" altLang="zh-CN" sz="200" dirty="0" err="1"/>
              <a:t>rouding</a:t>
            </a:r>
            <a:r>
              <a:rPr lang="en-US" altLang="zh-CN" sz="200" dirty="0"/>
              <a:t> and </a:t>
            </a:r>
            <a:r>
              <a:rPr lang="en-US" altLang="zh-CN" sz="200" dirty="0" err="1"/>
              <a:t>mathcing</a:t>
            </a:r>
            <a:r>
              <a:rPr lang="en-US" altLang="zh-CN" sz="200" dirty="0"/>
              <a:t> method</a:t>
            </a:r>
          </a:p>
          <a:p>
            <a:r>
              <a:rPr lang="en-US" altLang="zh-CN" sz="200" dirty="0"/>
              <a:t>x = 1:30;</a:t>
            </a:r>
          </a:p>
          <a:p>
            <a:r>
              <a:rPr lang="en-US" altLang="zh-CN" sz="200" dirty="0"/>
              <a:t>y1 = 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(-0.1*(2*x-1))-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(-0.1*(2*x+1))</a:t>
            </a:r>
          </a:p>
          <a:p>
            <a:r>
              <a:rPr lang="en-US" altLang="zh-CN" sz="200" dirty="0"/>
              <a:t>y2 = -10*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(-0.2*x) + 5*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(-0.2*(x-1))+5*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(-0.2*(x+1))</a:t>
            </a:r>
          </a:p>
          <a:p>
            <a:r>
              <a:rPr lang="en-US" altLang="zh-CN" sz="200" dirty="0" err="1"/>
              <a:t>y_rounding</a:t>
            </a:r>
            <a:r>
              <a:rPr lang="en-US" altLang="zh-CN" sz="200" dirty="0"/>
              <a:t> = c(0.09516, y1)</a:t>
            </a:r>
          </a:p>
          <a:p>
            <a:r>
              <a:rPr lang="en-US" altLang="zh-CN" sz="200" dirty="0" err="1"/>
              <a:t>y_matching</a:t>
            </a:r>
            <a:r>
              <a:rPr lang="en-US" altLang="zh-CN" sz="200" dirty="0"/>
              <a:t> = c(0.09365, y2)</a:t>
            </a:r>
          </a:p>
          <a:p>
            <a:r>
              <a:rPr lang="en-US" altLang="zh-CN" sz="200" dirty="0"/>
              <a:t>par(</a:t>
            </a:r>
            <a:r>
              <a:rPr lang="en-US" altLang="zh-CN" sz="200" dirty="0" err="1"/>
              <a:t>mfrow</a:t>
            </a:r>
            <a:r>
              <a:rPr lang="en-US" altLang="zh-CN" sz="200" dirty="0"/>
              <a:t> = c(1,2))</a:t>
            </a:r>
          </a:p>
          <a:p>
            <a:r>
              <a:rPr lang="en-US" altLang="zh-CN" sz="200" dirty="0" err="1"/>
              <a:t>matplot</a:t>
            </a:r>
            <a:r>
              <a:rPr lang="en-US" altLang="zh-CN" sz="200" dirty="0"/>
              <a:t>(c(0,x), </a:t>
            </a:r>
            <a:r>
              <a:rPr lang="en-US" altLang="zh-CN" sz="200" dirty="0" err="1"/>
              <a:t>cbind</a:t>
            </a:r>
            <a:r>
              <a:rPr lang="en-US" altLang="zh-CN" sz="200" dirty="0"/>
              <a:t>(</a:t>
            </a:r>
            <a:r>
              <a:rPr lang="en-US" altLang="zh-CN" sz="200" dirty="0" err="1"/>
              <a:t>y_rounding</a:t>
            </a:r>
            <a:r>
              <a:rPr lang="en-US" altLang="zh-CN" sz="200" dirty="0"/>
              <a:t>, </a:t>
            </a:r>
            <a:r>
              <a:rPr lang="en-US" altLang="zh-CN" sz="200" dirty="0" err="1"/>
              <a:t>y_matching</a:t>
            </a:r>
            <a:r>
              <a:rPr lang="en-US" altLang="zh-CN" sz="200" dirty="0"/>
              <a:t>), type = 'h', </a:t>
            </a:r>
            <a:r>
              <a:rPr lang="en-US" altLang="zh-CN" sz="200" dirty="0" err="1"/>
              <a:t>xlab</a:t>
            </a:r>
            <a:r>
              <a:rPr lang="en-US" altLang="zh-CN" sz="200" dirty="0"/>
              <a:t> = '</a:t>
            </a:r>
            <a:r>
              <a:rPr lang="en-US" altLang="zh-CN" sz="200" dirty="0" err="1"/>
              <a:t>i</a:t>
            </a:r>
            <a:r>
              <a:rPr lang="en-US" altLang="zh-CN" sz="200" dirty="0"/>
              <a:t>', </a:t>
            </a:r>
            <a:r>
              <a:rPr lang="en-US" altLang="zh-CN" sz="200" dirty="0" err="1"/>
              <a:t>ylab</a:t>
            </a:r>
            <a:r>
              <a:rPr lang="en-US" altLang="zh-CN" sz="200" dirty="0"/>
              <a:t> = 'fi', col = c(2,4),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2)</a:t>
            </a:r>
          </a:p>
          <a:p>
            <a:r>
              <a:rPr lang="en-US" altLang="zh-CN" sz="200" dirty="0"/>
              <a:t>plot(</a:t>
            </a:r>
            <a:r>
              <a:rPr lang="en-US" altLang="zh-CN" sz="200" dirty="0" err="1"/>
              <a:t>y_rounding</a:t>
            </a:r>
            <a:r>
              <a:rPr lang="en-US" altLang="zh-CN" sz="200" dirty="0"/>
              <a:t>, </a:t>
            </a:r>
            <a:r>
              <a:rPr lang="en-US" altLang="zh-CN" sz="200" dirty="0" err="1"/>
              <a:t>y_matching</a:t>
            </a:r>
            <a:r>
              <a:rPr lang="en-US" altLang="zh-CN" sz="200" dirty="0"/>
              <a:t>)</a:t>
            </a:r>
          </a:p>
          <a:p>
            <a:r>
              <a:rPr lang="en-US" altLang="zh-CN" sz="200" dirty="0" err="1"/>
              <a:t>abline</a:t>
            </a:r>
            <a:r>
              <a:rPr lang="en-US" altLang="zh-CN" sz="200" dirty="0"/>
              <a:t>(0,1)</a:t>
            </a:r>
          </a:p>
          <a:p>
            <a:endParaRPr lang="en-US" altLang="zh-CN" sz="200" dirty="0"/>
          </a:p>
          <a:p>
            <a:r>
              <a:rPr lang="en-US" altLang="zh-CN" sz="200" dirty="0"/>
              <a:t># 2. </a:t>
            </a:r>
            <a:r>
              <a:rPr lang="en-US" altLang="zh-CN" sz="200" dirty="0" err="1"/>
              <a:t>rouding</a:t>
            </a:r>
            <a:r>
              <a:rPr lang="en-US" altLang="zh-CN" sz="200" dirty="0"/>
              <a:t> and </a:t>
            </a:r>
            <a:r>
              <a:rPr lang="en-US" altLang="zh-CN" sz="200" dirty="0" err="1"/>
              <a:t>mathcing</a:t>
            </a:r>
            <a:r>
              <a:rPr lang="en-US" altLang="zh-CN" sz="200" dirty="0"/>
              <a:t> method(</a:t>
            </a:r>
            <a:r>
              <a:rPr lang="zh-CN" altLang="en-US" sz="200" dirty="0"/>
              <a:t>运用 </a:t>
            </a:r>
            <a:r>
              <a:rPr lang="en-US" altLang="zh-CN" sz="200" dirty="0"/>
              <a:t>discretize </a:t>
            </a:r>
            <a:r>
              <a:rPr lang="zh-CN" altLang="en-US" sz="200" dirty="0"/>
              <a:t>函数</a:t>
            </a:r>
            <a:r>
              <a:rPr lang="en-US" altLang="zh-CN" sz="200" dirty="0"/>
              <a:t>)</a:t>
            </a:r>
          </a:p>
          <a:p>
            <a:r>
              <a:rPr lang="en-US" altLang="zh-CN" sz="200" dirty="0"/>
              <a:t>discretize(</a:t>
            </a:r>
            <a:r>
              <a:rPr lang="en-US" altLang="zh-CN" sz="200" dirty="0" err="1"/>
              <a:t>cdf</a:t>
            </a:r>
            <a:r>
              <a:rPr lang="en-US" altLang="zh-CN" sz="200" dirty="0"/>
              <a:t>, from, to, step = 1, </a:t>
            </a:r>
          </a:p>
          <a:p>
            <a:r>
              <a:rPr lang="en-US" altLang="zh-CN" sz="200" dirty="0"/>
              <a:t>           method = c("upper", "lower", "</a:t>
            </a:r>
            <a:r>
              <a:rPr lang="en-US" altLang="zh-CN" sz="200" dirty="0" err="1"/>
              <a:t>rounding","unbiased</a:t>
            </a:r>
            <a:r>
              <a:rPr lang="en-US" altLang="zh-CN" sz="200" dirty="0"/>
              <a:t>"), </a:t>
            </a:r>
          </a:p>
          <a:p>
            <a:r>
              <a:rPr lang="en-US" altLang="zh-CN" sz="200" dirty="0"/>
              <a:t>           lev, by = step, </a:t>
            </a:r>
            <a:r>
              <a:rPr lang="en-US" altLang="zh-CN" sz="200" dirty="0" err="1"/>
              <a:t>xlim</a:t>
            </a:r>
            <a:r>
              <a:rPr lang="en-US" altLang="zh-CN" sz="200" dirty="0"/>
              <a:t> = NULL)</a:t>
            </a:r>
          </a:p>
          <a:p>
            <a:endParaRPr lang="en-US" altLang="zh-CN" sz="200" dirty="0"/>
          </a:p>
          <a:p>
            <a:r>
              <a:rPr lang="en-US" altLang="zh-CN" sz="200" dirty="0"/>
              <a:t>x = 0:60;</a:t>
            </a:r>
          </a:p>
          <a:p>
            <a:r>
              <a:rPr lang="en-US" altLang="zh-CN" sz="200" dirty="0"/>
              <a:t>y_rounding2 &lt;- discretize(</a:t>
            </a:r>
            <a:r>
              <a:rPr lang="en-US" altLang="zh-CN" sz="200" dirty="0" err="1"/>
              <a:t>pexp</a:t>
            </a:r>
            <a:r>
              <a:rPr lang="en-US" altLang="zh-CN" sz="200" dirty="0"/>
              <a:t>(x, rate = 0.1), from = 0, to = 60, step = 2, method = "rounding")</a:t>
            </a:r>
          </a:p>
          <a:p>
            <a:r>
              <a:rPr lang="en-US" altLang="zh-CN" sz="200" dirty="0"/>
              <a:t>y_rounding2</a:t>
            </a:r>
          </a:p>
          <a:p>
            <a:r>
              <a:rPr lang="en-US" altLang="zh-CN" sz="200" dirty="0"/>
              <a:t>par(</a:t>
            </a:r>
            <a:r>
              <a:rPr lang="en-US" altLang="zh-CN" sz="200" dirty="0" err="1"/>
              <a:t>mfrow</a:t>
            </a:r>
            <a:r>
              <a:rPr lang="en-US" altLang="zh-CN" sz="200" dirty="0"/>
              <a:t> = c(1,1))</a:t>
            </a:r>
          </a:p>
          <a:p>
            <a:r>
              <a:rPr lang="en-US" altLang="zh-CN" sz="200" dirty="0"/>
              <a:t>plot(</a:t>
            </a:r>
            <a:r>
              <a:rPr lang="en-US" altLang="zh-CN" sz="200" dirty="0" err="1"/>
              <a:t>y_rounding</a:t>
            </a:r>
            <a:r>
              <a:rPr lang="en-US" altLang="zh-CN" sz="200" dirty="0"/>
              <a:t>[1:30], y_rounding2[1:30]) # </a:t>
            </a:r>
            <a:r>
              <a:rPr lang="zh-CN" altLang="en-US" sz="200" dirty="0"/>
              <a:t>两种方法求得的结果是一样的</a:t>
            </a:r>
          </a:p>
          <a:p>
            <a:endParaRPr lang="zh-CN" altLang="en-US" sz="200" dirty="0"/>
          </a:p>
          <a:p>
            <a:endParaRPr lang="zh-CN" altLang="en-US" sz="200" dirty="0"/>
          </a:p>
        </p:txBody>
      </p:sp>
      <p:pic>
        <p:nvPicPr>
          <p:cNvPr id="399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4" y="1268760"/>
            <a:ext cx="8970963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E47C-8EC4-4468-A489-23C48CC20ECF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1520" y="620688"/>
            <a:ext cx="151177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" dirty="0"/>
              <a:t># 3. </a:t>
            </a:r>
            <a:r>
              <a:rPr lang="zh-CN" altLang="en-US" sz="200" dirty="0"/>
              <a:t>连续型分布 </a:t>
            </a:r>
            <a:r>
              <a:rPr lang="en-US" altLang="zh-CN" sz="200" dirty="0"/>
              <a:t>VS </a:t>
            </a:r>
            <a:r>
              <a:rPr lang="zh-CN" altLang="en-US" sz="200" dirty="0"/>
              <a:t>离散型分布</a:t>
            </a:r>
          </a:p>
          <a:p>
            <a:r>
              <a:rPr lang="en-US" altLang="zh-CN" sz="200" dirty="0"/>
              <a:t>par(</a:t>
            </a:r>
            <a:r>
              <a:rPr lang="en-US" altLang="zh-CN" sz="200" dirty="0" err="1"/>
              <a:t>mfrow</a:t>
            </a:r>
            <a:r>
              <a:rPr lang="en-US" altLang="zh-CN" sz="200" dirty="0"/>
              <a:t> = c(1,1))</a:t>
            </a:r>
          </a:p>
          <a:p>
            <a:r>
              <a:rPr lang="en-US" altLang="zh-CN" sz="200" dirty="0"/>
              <a:t>x &lt;- </a:t>
            </a:r>
            <a:r>
              <a:rPr lang="en-US" altLang="zh-CN" sz="200" dirty="0" err="1"/>
              <a:t>seq</a:t>
            </a:r>
            <a:r>
              <a:rPr lang="en-US" altLang="zh-CN" sz="200" dirty="0"/>
              <a:t>(0, 50, 2)</a:t>
            </a:r>
          </a:p>
          <a:p>
            <a:r>
              <a:rPr lang="en-US" altLang="zh-CN" sz="200" dirty="0"/>
              <a:t>curve(</a:t>
            </a:r>
            <a:r>
              <a:rPr lang="en-US" altLang="zh-CN" sz="200" dirty="0" err="1"/>
              <a:t>pexp</a:t>
            </a:r>
            <a:r>
              <a:rPr lang="en-US" altLang="zh-CN" sz="200" dirty="0"/>
              <a:t>(x, rate = 0.1), </a:t>
            </a:r>
            <a:r>
              <a:rPr lang="en-US" altLang="zh-CN" sz="200" dirty="0" err="1"/>
              <a:t>xlim</a:t>
            </a:r>
            <a:r>
              <a:rPr lang="en-US" altLang="zh-CN" sz="200" dirty="0"/>
              <a:t> = c(0, 50), type = 'l', </a:t>
            </a:r>
            <a:r>
              <a:rPr lang="en-US" altLang="zh-CN" sz="200" dirty="0" err="1"/>
              <a:t>ylim</a:t>
            </a:r>
            <a:r>
              <a:rPr lang="en-US" altLang="zh-CN" sz="200" dirty="0"/>
              <a:t> = c(0, 1),</a:t>
            </a:r>
          </a:p>
          <a:p>
            <a:r>
              <a:rPr lang="en-US" altLang="zh-CN" sz="200" dirty="0"/>
              <a:t>     </a:t>
            </a:r>
            <a:r>
              <a:rPr lang="en-US" altLang="zh-CN" sz="200" dirty="0" err="1"/>
              <a:t>ylab</a:t>
            </a:r>
            <a:r>
              <a:rPr lang="en-US" altLang="zh-CN" sz="200" dirty="0"/>
              <a:t> = '</a:t>
            </a:r>
            <a:r>
              <a:rPr lang="zh-CN" altLang="en-US" sz="200" dirty="0"/>
              <a:t>指数分布的累积分布函数</a:t>
            </a:r>
            <a:r>
              <a:rPr lang="en-US" altLang="zh-CN" sz="200" dirty="0"/>
              <a:t>')</a:t>
            </a:r>
          </a:p>
          <a:p>
            <a:r>
              <a:rPr lang="en-US" altLang="zh-CN" sz="200" dirty="0" err="1"/>
              <a:t>fr</a:t>
            </a:r>
            <a:r>
              <a:rPr lang="en-US" altLang="zh-CN" sz="200" dirty="0"/>
              <a:t> &lt;- discretize(</a:t>
            </a:r>
            <a:r>
              <a:rPr lang="en-US" altLang="zh-CN" sz="200" dirty="0" err="1"/>
              <a:t>pexp</a:t>
            </a:r>
            <a:r>
              <a:rPr lang="en-US" altLang="zh-CN" sz="200" dirty="0"/>
              <a:t>(x, rate = 0.1), from = 0, to = 50, step = 2, method = "rounding") # </a:t>
            </a:r>
            <a:r>
              <a:rPr lang="zh-CN" altLang="en-US" sz="200" dirty="0"/>
              <a:t>离散化分布后的概率函数</a:t>
            </a:r>
          </a:p>
          <a:p>
            <a:r>
              <a:rPr lang="en-US" altLang="zh-CN" sz="200" dirty="0" err="1"/>
              <a:t>fu</a:t>
            </a:r>
            <a:r>
              <a:rPr lang="en-US" altLang="zh-CN" sz="200" dirty="0"/>
              <a:t> &lt;- discretize(</a:t>
            </a:r>
            <a:r>
              <a:rPr lang="en-US" altLang="zh-CN" sz="200" dirty="0" err="1"/>
              <a:t>pexp</a:t>
            </a:r>
            <a:r>
              <a:rPr lang="en-US" altLang="zh-CN" sz="200" dirty="0"/>
              <a:t>(x, rate = 0.1), from = 0, to = 50, step = 2, method = "unbiased", lev = </a:t>
            </a:r>
            <a:r>
              <a:rPr lang="en-US" altLang="zh-CN" sz="200" dirty="0" err="1"/>
              <a:t>levexp</a:t>
            </a:r>
            <a:r>
              <a:rPr lang="en-US" altLang="zh-CN" sz="200" dirty="0"/>
              <a:t>(x, rate = 0.1)) # </a:t>
            </a:r>
            <a:r>
              <a:rPr lang="zh-CN" altLang="en-US" sz="200" dirty="0"/>
              <a:t>离散化分布后的概率函数</a:t>
            </a:r>
          </a:p>
          <a:p>
            <a:r>
              <a:rPr lang="en-US" altLang="zh-CN" sz="200" dirty="0"/>
              <a:t>plot(</a:t>
            </a:r>
            <a:r>
              <a:rPr lang="en-US" altLang="zh-CN" sz="200" dirty="0" err="1"/>
              <a:t>stepfun</a:t>
            </a:r>
            <a:r>
              <a:rPr lang="en-US" altLang="zh-CN" sz="200" dirty="0"/>
              <a:t>(head(x,-1), </a:t>
            </a:r>
            <a:r>
              <a:rPr lang="en-US" altLang="zh-CN" sz="200" dirty="0" err="1"/>
              <a:t>diffinv</a:t>
            </a:r>
            <a:r>
              <a:rPr lang="en-US" altLang="zh-CN" sz="200" dirty="0"/>
              <a:t>(</a:t>
            </a:r>
            <a:r>
              <a:rPr lang="en-US" altLang="zh-CN" sz="200" dirty="0" err="1"/>
              <a:t>fr</a:t>
            </a:r>
            <a:r>
              <a:rPr lang="en-US" altLang="zh-CN" sz="200" dirty="0"/>
              <a:t>)), </a:t>
            </a:r>
            <a:r>
              <a:rPr lang="en-US" altLang="zh-CN" sz="200" dirty="0" err="1"/>
              <a:t>pch</a:t>
            </a:r>
            <a:r>
              <a:rPr lang="en-US" altLang="zh-CN" sz="200" dirty="0"/>
              <a:t> = 18,</a:t>
            </a:r>
          </a:p>
          <a:p>
            <a:r>
              <a:rPr lang="en-US" altLang="zh-CN" sz="200" dirty="0"/>
              <a:t>     add = TRUE,</a:t>
            </a:r>
          </a:p>
          <a:p>
            <a:r>
              <a:rPr lang="en-US" altLang="zh-CN" sz="200" dirty="0"/>
              <a:t>     col = 'red')</a:t>
            </a:r>
          </a:p>
          <a:p>
            <a:r>
              <a:rPr lang="en-US" altLang="zh-CN" sz="200" dirty="0"/>
              <a:t>plot(</a:t>
            </a:r>
            <a:r>
              <a:rPr lang="en-US" altLang="zh-CN" sz="200" dirty="0" err="1"/>
              <a:t>stepfun</a:t>
            </a:r>
            <a:r>
              <a:rPr lang="en-US" altLang="zh-CN" sz="200" dirty="0"/>
              <a:t>(x, </a:t>
            </a:r>
            <a:r>
              <a:rPr lang="en-US" altLang="zh-CN" sz="200" dirty="0" err="1"/>
              <a:t>diffinv</a:t>
            </a:r>
            <a:r>
              <a:rPr lang="en-US" altLang="zh-CN" sz="200" dirty="0"/>
              <a:t>(</a:t>
            </a:r>
            <a:r>
              <a:rPr lang="en-US" altLang="zh-CN" sz="200" dirty="0" err="1"/>
              <a:t>fu</a:t>
            </a:r>
            <a:r>
              <a:rPr lang="en-US" altLang="zh-CN" sz="200" dirty="0"/>
              <a:t>)), </a:t>
            </a:r>
            <a:r>
              <a:rPr lang="en-US" altLang="zh-CN" sz="200" dirty="0" err="1"/>
              <a:t>pch</a:t>
            </a:r>
            <a:r>
              <a:rPr lang="en-US" altLang="zh-CN" sz="200" dirty="0"/>
              <a:t> = 18,</a:t>
            </a:r>
          </a:p>
          <a:p>
            <a:r>
              <a:rPr lang="en-US" altLang="zh-CN" sz="200" dirty="0"/>
              <a:t>     add = TRUE,</a:t>
            </a:r>
          </a:p>
          <a:p>
            <a:r>
              <a:rPr lang="en-US" altLang="zh-CN" sz="200" dirty="0"/>
              <a:t>     col = 'blue')</a:t>
            </a:r>
          </a:p>
          <a:p>
            <a:endParaRPr lang="en-US" altLang="zh-CN" sz="200" dirty="0"/>
          </a:p>
          <a:p>
            <a:r>
              <a:rPr lang="en-US" altLang="zh-CN" sz="200" dirty="0"/>
              <a:t>legend(30, 0.4, </a:t>
            </a:r>
          </a:p>
          <a:p>
            <a:r>
              <a:rPr lang="en-US" altLang="zh-CN" sz="200" dirty="0"/>
              <a:t>       legend = c("</a:t>
            </a:r>
            <a:r>
              <a:rPr lang="zh-CN" altLang="en-US" sz="200" dirty="0"/>
              <a:t>连续分布</a:t>
            </a:r>
            <a:r>
              <a:rPr lang="en-US" altLang="zh-CN" sz="200" dirty="0"/>
              <a:t>", "Rounding", "Unbiased"),</a:t>
            </a:r>
          </a:p>
          <a:p>
            <a:r>
              <a:rPr lang="en-US" altLang="zh-CN" sz="200" dirty="0"/>
              <a:t>       col = c('black', "red", "blue"), </a:t>
            </a:r>
          </a:p>
          <a:p>
            <a:r>
              <a:rPr lang="en-US" altLang="zh-CN" sz="200" dirty="0"/>
              <a:t>       </a:t>
            </a:r>
            <a:r>
              <a:rPr lang="en-US" altLang="zh-CN" sz="200" dirty="0" err="1"/>
              <a:t>pch</a:t>
            </a:r>
            <a:r>
              <a:rPr lang="en-US" altLang="zh-CN" sz="200" dirty="0"/>
              <a:t> = 19,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1)</a:t>
            </a:r>
            <a:endParaRPr lang="zh-CN" altLang="en-US" sz="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19980"/>
            <a:ext cx="7685714" cy="5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0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E47C-8EC4-4468-A489-23C48CC20ECF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9512" y="530770"/>
            <a:ext cx="2304256" cy="151216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1" kern="0" dirty="0" smtClean="0">
                <a:solidFill>
                  <a:srgbClr val="3333FF"/>
                </a:solidFill>
                <a:latin typeface="Times New Roman" pitchFamily="18" charset="0"/>
              </a:rPr>
              <a:t>向上离散化</a:t>
            </a:r>
            <a:endParaRPr lang="en-US" altLang="zh-CN" b="1" kern="0" dirty="0" smtClean="0">
              <a:solidFill>
                <a:srgbClr val="3333FF"/>
              </a:solidFill>
              <a:latin typeface="Times New Roman" pitchFamily="18" charset="0"/>
            </a:endParaRPr>
          </a:p>
          <a:p>
            <a:r>
              <a:rPr lang="zh-CN" altLang="en-US" b="1" kern="0" dirty="0" smtClean="0">
                <a:latin typeface="Times New Roman" pitchFamily="18" charset="0"/>
              </a:rPr>
              <a:t>向下离散化</a:t>
            </a:r>
            <a:endParaRPr lang="en-US" altLang="zh-CN" b="1" kern="0" dirty="0" smtClean="0">
              <a:latin typeface="Times New Roman" pitchFamily="18" charset="0"/>
            </a:endParaRPr>
          </a:p>
          <a:p>
            <a:r>
              <a:rPr lang="zh-CN" altLang="en-US" b="1" kern="0" dirty="0" smtClean="0">
                <a:latin typeface="Times New Roman" pitchFamily="18" charset="0"/>
              </a:rPr>
              <a:t>折中离散化</a:t>
            </a:r>
            <a:endParaRPr lang="zh-CN" altLang="en-US" b="1" kern="0" dirty="0">
              <a:latin typeface="Times New Roman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085595" y="2182988"/>
            <a:ext cx="792088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" dirty="0"/>
              <a:t># 4. 各种离散化结果的比较</a:t>
            </a:r>
          </a:p>
          <a:p>
            <a:r>
              <a:rPr lang="zh-CN" altLang="en-US" sz="100" dirty="0"/>
              <a:t>library(actuar)</a:t>
            </a:r>
          </a:p>
          <a:p>
            <a:r>
              <a:rPr lang="zh-CN" altLang="en-US" sz="100" dirty="0"/>
              <a:t>fu &lt;- discretize(cdf = pexp(x, rate = 0.1), </a:t>
            </a:r>
          </a:p>
          <a:p>
            <a:r>
              <a:rPr lang="zh-CN" altLang="en-US" sz="100" dirty="0"/>
              <a:t>                 method = 'upper', </a:t>
            </a:r>
          </a:p>
          <a:p>
            <a:r>
              <a:rPr lang="zh-CN" altLang="en-US" sz="100" dirty="0"/>
              <a:t>                 from = 0, to = 50, step = 2) # 向上离散化</a:t>
            </a:r>
          </a:p>
          <a:p>
            <a:r>
              <a:rPr lang="zh-CN" altLang="en-US" sz="100" dirty="0"/>
              <a:t>fl &lt;- discretize(cdf = pexp(x, rate = 0.1), </a:t>
            </a:r>
          </a:p>
          <a:p>
            <a:r>
              <a:rPr lang="zh-CN" altLang="en-US" sz="100" dirty="0"/>
              <a:t>                 method = 'lower', </a:t>
            </a:r>
          </a:p>
          <a:p>
            <a:r>
              <a:rPr lang="zh-CN" altLang="en-US" sz="100" dirty="0"/>
              <a:t>                 from = 0, to = 50, step = 2) # 向下离散化</a:t>
            </a:r>
          </a:p>
          <a:p>
            <a:r>
              <a:rPr lang="zh-CN" altLang="en-US" sz="100" dirty="0"/>
              <a:t>fr &lt;- discretize(cdf = pexp(x, rate = 0.1), </a:t>
            </a:r>
          </a:p>
          <a:p>
            <a:r>
              <a:rPr lang="zh-CN" altLang="en-US" sz="100" dirty="0"/>
              <a:t>                 method = 'rounding', </a:t>
            </a:r>
          </a:p>
          <a:p>
            <a:r>
              <a:rPr lang="zh-CN" altLang="en-US" sz="100" dirty="0"/>
              <a:t>                 from = 0, to = 50, step = 2) # 折中离散化</a:t>
            </a:r>
          </a:p>
          <a:p>
            <a:endParaRPr lang="zh-CN" altLang="en-US" sz="100" dirty="0"/>
          </a:p>
          <a:p>
            <a:r>
              <a:rPr lang="zh-CN" altLang="en-US" sz="100" dirty="0"/>
              <a:t>par(col = "blue")</a:t>
            </a:r>
          </a:p>
          <a:p>
            <a:r>
              <a:rPr lang="zh-CN" altLang="en-US" sz="100" dirty="0"/>
              <a:t>x &lt;- seq(0, 50, 2)</a:t>
            </a:r>
          </a:p>
          <a:p>
            <a:r>
              <a:rPr lang="zh-CN" altLang="en-US" sz="100" dirty="0"/>
              <a:t>curve(pexp(x, rate = 0.1), xlim = c(0, 50),</a:t>
            </a:r>
          </a:p>
          <a:p>
            <a:r>
              <a:rPr lang="zh-CN" altLang="en-US" sz="100" dirty="0"/>
              <a:t>      ylab = '指数分布分布函数')</a:t>
            </a:r>
          </a:p>
          <a:p>
            <a:r>
              <a:rPr lang="zh-CN" altLang="en-US" sz="100" dirty="0"/>
              <a:t>plot(stepfun(head(x, -1), diffinv(fu)), pch = 19, </a:t>
            </a:r>
          </a:p>
          <a:p>
            <a:r>
              <a:rPr lang="zh-CN" altLang="en-US" sz="100" dirty="0"/>
              <a:t>     col = "red",</a:t>
            </a:r>
          </a:p>
          <a:p>
            <a:r>
              <a:rPr lang="zh-CN" altLang="en-US" sz="100" dirty="0"/>
              <a:t>     add = TRUE)</a:t>
            </a:r>
          </a:p>
          <a:p>
            <a:r>
              <a:rPr lang="zh-CN" altLang="en-US" sz="100" dirty="0"/>
              <a:t>plot(stepfun(x, diffinv(fl)), pch = 18,</a:t>
            </a:r>
          </a:p>
          <a:p>
            <a:r>
              <a:rPr lang="zh-CN" altLang="en-US" sz="100" dirty="0"/>
              <a:t>     add = TRUE,</a:t>
            </a:r>
          </a:p>
          <a:p>
            <a:r>
              <a:rPr lang="zh-CN" altLang="en-US" sz="100" dirty="0"/>
              <a:t>     col = 'blue'</a:t>
            </a:r>
          </a:p>
          <a:p>
            <a:r>
              <a:rPr lang="zh-CN" altLang="en-US" sz="100" dirty="0"/>
              <a:t>)</a:t>
            </a:r>
          </a:p>
          <a:p>
            <a:r>
              <a:rPr lang="zh-CN" altLang="en-US" sz="100" dirty="0"/>
              <a:t>plot(stepfun(head(x,-1), diffinv(fr)), pch = 17,</a:t>
            </a:r>
          </a:p>
          <a:p>
            <a:r>
              <a:rPr lang="zh-CN" altLang="en-US" sz="100" dirty="0"/>
              <a:t>     add = TRUE,</a:t>
            </a:r>
          </a:p>
          <a:p>
            <a:r>
              <a:rPr lang="zh-CN" altLang="en-US" sz="100" dirty="0"/>
              <a:t>     col = 'yellow'</a:t>
            </a:r>
          </a:p>
          <a:p>
            <a:r>
              <a:rPr lang="zh-CN" altLang="en-US" sz="100" dirty="0"/>
              <a:t>)</a:t>
            </a:r>
          </a:p>
          <a:p>
            <a:r>
              <a:rPr lang="zh-CN" altLang="en-US" sz="100" dirty="0"/>
              <a:t>legend(30, 0.4, </a:t>
            </a:r>
          </a:p>
          <a:p>
            <a:r>
              <a:rPr lang="zh-CN" altLang="en-US" sz="100" dirty="0"/>
              <a:t>       legend = c("Upper", "Lower", "Rounding"),</a:t>
            </a:r>
          </a:p>
          <a:p>
            <a:r>
              <a:rPr lang="zh-CN" altLang="en-US" sz="100" dirty="0"/>
              <a:t>       col = c("red", "blue", "yellow"), </a:t>
            </a:r>
          </a:p>
          <a:p>
            <a:r>
              <a:rPr lang="zh-CN" altLang="en-US" sz="100" dirty="0"/>
              <a:t>       pch = 19, lty = 1)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38" y="1928849"/>
            <a:ext cx="7342857" cy="4800000"/>
          </a:xfrm>
          <a:prstGeom prst="rect">
            <a:avLst/>
          </a:prstGeom>
        </p:spPr>
      </p:pic>
      <p:sp>
        <p:nvSpPr>
          <p:cNvPr id="8" name="Line 33"/>
          <p:cNvSpPr>
            <a:spLocks noChangeShapeType="1"/>
          </p:cNvSpPr>
          <p:nvPr/>
        </p:nvSpPr>
        <p:spPr bwMode="auto">
          <a:xfrm>
            <a:off x="2647876" y="1340768"/>
            <a:ext cx="56165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34"/>
          <p:cNvSpPr>
            <a:spLocks noChangeShapeType="1"/>
          </p:cNvSpPr>
          <p:nvPr/>
        </p:nvSpPr>
        <p:spPr bwMode="auto">
          <a:xfrm>
            <a:off x="2647876" y="1269330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35"/>
          <p:cNvSpPr>
            <a:spLocks noChangeShapeType="1"/>
          </p:cNvSpPr>
          <p:nvPr/>
        </p:nvSpPr>
        <p:spPr bwMode="auto">
          <a:xfrm>
            <a:off x="3871839" y="1269330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36"/>
          <p:cNvSpPr>
            <a:spLocks noChangeShapeType="1"/>
          </p:cNvSpPr>
          <p:nvPr/>
        </p:nvSpPr>
        <p:spPr bwMode="auto">
          <a:xfrm>
            <a:off x="5022776" y="1269330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37"/>
          <p:cNvSpPr>
            <a:spLocks noChangeShapeType="1"/>
          </p:cNvSpPr>
          <p:nvPr/>
        </p:nvSpPr>
        <p:spPr bwMode="auto">
          <a:xfrm>
            <a:off x="6175301" y="1269330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38"/>
          <p:cNvSpPr>
            <a:spLocks noChangeShapeType="1"/>
          </p:cNvSpPr>
          <p:nvPr/>
        </p:nvSpPr>
        <p:spPr bwMode="auto">
          <a:xfrm>
            <a:off x="7256389" y="1269330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39"/>
          <p:cNvSpPr txBox="1">
            <a:spLocks noChangeArrowheads="1"/>
          </p:cNvSpPr>
          <p:nvPr/>
        </p:nvSpPr>
        <p:spPr bwMode="auto">
          <a:xfrm>
            <a:off x="2503414" y="148523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0</a:t>
            </a:r>
          </a:p>
        </p:txBody>
      </p:sp>
      <p:sp>
        <p:nvSpPr>
          <p:cNvPr id="15" name="Text Box 40"/>
          <p:cNvSpPr txBox="1">
            <a:spLocks noChangeArrowheads="1"/>
          </p:cNvSpPr>
          <p:nvPr/>
        </p:nvSpPr>
        <p:spPr bwMode="auto">
          <a:xfrm>
            <a:off x="3706739" y="1434430"/>
            <a:ext cx="287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/>
              <a:t>h</a:t>
            </a:r>
          </a:p>
        </p:txBody>
      </p:sp>
      <p:sp>
        <p:nvSpPr>
          <p:cNvPr id="16" name="Text Box 41"/>
          <p:cNvSpPr txBox="1">
            <a:spLocks noChangeArrowheads="1"/>
          </p:cNvSpPr>
          <p:nvPr/>
        </p:nvSpPr>
        <p:spPr bwMode="auto">
          <a:xfrm>
            <a:off x="4859264" y="143443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  <a:r>
              <a:rPr lang="en-US" altLang="zh-CN" i="1"/>
              <a:t>h</a:t>
            </a:r>
          </a:p>
        </p:txBody>
      </p:sp>
      <p:sp>
        <p:nvSpPr>
          <p:cNvPr id="17" name="Text Box 42"/>
          <p:cNvSpPr txBox="1">
            <a:spLocks noChangeArrowheads="1"/>
          </p:cNvSpPr>
          <p:nvPr/>
        </p:nvSpPr>
        <p:spPr bwMode="auto">
          <a:xfrm>
            <a:off x="6011789" y="1434430"/>
            <a:ext cx="503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3</a:t>
            </a:r>
            <a:r>
              <a:rPr lang="en-US" altLang="zh-CN" i="1"/>
              <a:t>h</a:t>
            </a:r>
          </a:p>
        </p:txBody>
      </p:sp>
      <p:sp>
        <p:nvSpPr>
          <p:cNvPr id="18" name="Text Box 43"/>
          <p:cNvSpPr txBox="1">
            <a:spLocks noChangeArrowheads="1"/>
          </p:cNvSpPr>
          <p:nvPr/>
        </p:nvSpPr>
        <p:spPr bwMode="auto">
          <a:xfrm>
            <a:off x="7091289" y="1505868"/>
            <a:ext cx="59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/>
              <a:t>……</a:t>
            </a:r>
          </a:p>
        </p:txBody>
      </p:sp>
      <p:sp>
        <p:nvSpPr>
          <p:cNvPr id="24" name="AutoShape 49"/>
          <p:cNvSpPr>
            <a:spLocks/>
          </p:cNvSpPr>
          <p:nvPr/>
        </p:nvSpPr>
        <p:spPr bwMode="auto">
          <a:xfrm rot="5400000">
            <a:off x="3248596" y="1296525"/>
            <a:ext cx="71735" cy="1171575"/>
          </a:xfrm>
          <a:prstGeom prst="rightBrace">
            <a:avLst>
              <a:gd name="adj1" fmla="val 740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AutoShape 50"/>
          <p:cNvSpPr>
            <a:spLocks/>
          </p:cNvSpPr>
          <p:nvPr/>
        </p:nvSpPr>
        <p:spPr bwMode="auto">
          <a:xfrm rot="5400000">
            <a:off x="4410001" y="1296317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AutoShape 51"/>
          <p:cNvSpPr>
            <a:spLocks/>
          </p:cNvSpPr>
          <p:nvPr/>
        </p:nvSpPr>
        <p:spPr bwMode="auto">
          <a:xfrm rot="5400000">
            <a:off x="5558209" y="1287939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AutoShape 52"/>
          <p:cNvSpPr>
            <a:spLocks/>
          </p:cNvSpPr>
          <p:nvPr/>
        </p:nvSpPr>
        <p:spPr bwMode="auto">
          <a:xfrm rot="5400000">
            <a:off x="6736680" y="1296317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Text Box 53"/>
          <p:cNvSpPr txBox="1">
            <a:spLocks noChangeArrowheads="1"/>
          </p:cNvSpPr>
          <p:nvPr/>
        </p:nvSpPr>
        <p:spPr bwMode="auto">
          <a:xfrm>
            <a:off x="3150518" y="194397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 dirty="0"/>
              <a:t>f</a:t>
            </a:r>
            <a:r>
              <a:rPr lang="en-US" altLang="zh-CN" baseline="-25000" dirty="0"/>
              <a:t>0</a:t>
            </a:r>
            <a:endParaRPr lang="en-US" altLang="zh-CN" dirty="0"/>
          </a:p>
        </p:txBody>
      </p:sp>
      <p:sp>
        <p:nvSpPr>
          <p:cNvPr id="29" name="Text Box 54"/>
          <p:cNvSpPr txBox="1">
            <a:spLocks noChangeArrowheads="1"/>
          </p:cNvSpPr>
          <p:nvPr/>
        </p:nvSpPr>
        <p:spPr bwMode="auto">
          <a:xfrm>
            <a:off x="4252242" y="197894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30" name="Text Box 55"/>
          <p:cNvSpPr txBox="1">
            <a:spLocks noChangeArrowheads="1"/>
          </p:cNvSpPr>
          <p:nvPr/>
        </p:nvSpPr>
        <p:spPr bwMode="auto">
          <a:xfrm>
            <a:off x="5404767" y="197894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endParaRPr lang="en-US" altLang="zh-CN" dirty="0"/>
          </a:p>
        </p:txBody>
      </p:sp>
      <p:sp>
        <p:nvSpPr>
          <p:cNvPr id="31" name="Text Box 56"/>
          <p:cNvSpPr txBox="1">
            <a:spLocks noChangeArrowheads="1"/>
          </p:cNvSpPr>
          <p:nvPr/>
        </p:nvSpPr>
        <p:spPr bwMode="auto">
          <a:xfrm>
            <a:off x="6628730" y="197894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3</a:t>
            </a:r>
            <a:endParaRPr lang="en-US" altLang="zh-CN"/>
          </a:p>
        </p:txBody>
      </p:sp>
      <p:graphicFrame>
        <p:nvGraphicFramePr>
          <p:cNvPr id="32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846699"/>
              </p:ext>
            </p:extLst>
          </p:nvPr>
        </p:nvGraphicFramePr>
        <p:xfrm>
          <a:off x="2698676" y="750658"/>
          <a:ext cx="41513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55" name="Equation" r:id="rId4" imgW="1866600" imgH="203040" progId="Equation.DSMT4">
                  <p:embed/>
                </p:oleObj>
              </mc:Choice>
              <mc:Fallback>
                <p:oleObj name="Equation" r:id="rId4" imgW="1866600" imgH="203040" progId="Equation.DSMT4">
                  <p:embed/>
                  <p:pic>
                    <p:nvPicPr>
                      <p:cNvPr id="120886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676" y="750658"/>
                        <a:ext cx="415131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924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18498" y="804875"/>
            <a:ext cx="7543800" cy="498450"/>
          </a:xfrm>
        </p:spPr>
        <p:txBody>
          <a:bodyPr/>
          <a:lstStyle/>
          <a:p>
            <a:r>
              <a:rPr lang="zh-CN" altLang="en-US" sz="2400" dirty="0"/>
              <a:t>例：递推法的应用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8229600" cy="3887787"/>
          </a:xfrm>
        </p:spPr>
        <p:txBody>
          <a:bodyPr/>
          <a:lstStyle/>
          <a:p>
            <a:r>
              <a:rPr lang="zh-CN" altLang="en-US" b="1" dirty="0">
                <a:latin typeface="Times New Roman" pitchFamily="18" charset="0"/>
              </a:rPr>
              <a:t>损失次数</a:t>
            </a:r>
            <a:r>
              <a:rPr lang="en-US" altLang="zh-CN" b="1" i="1" dirty="0">
                <a:latin typeface="Times New Roman" pitchFamily="18" charset="0"/>
              </a:rPr>
              <a:t>N</a:t>
            </a:r>
            <a:r>
              <a:rPr lang="en-US" altLang="zh-CN" b="1" dirty="0">
                <a:latin typeface="Times New Roman" pitchFamily="18" charset="0"/>
              </a:rPr>
              <a:t>: </a:t>
            </a:r>
            <a:r>
              <a:rPr lang="zh-CN" altLang="en-US" b="1" dirty="0">
                <a:latin typeface="Times New Roman" pitchFamily="18" charset="0"/>
              </a:rPr>
              <a:t>泊松 </a:t>
            </a:r>
            <a:r>
              <a:rPr lang="en-US" altLang="zh-CN" b="1" dirty="0">
                <a:latin typeface="Times New Roman" pitchFamily="18" charset="0"/>
              </a:rPr>
              <a:t>(</a:t>
            </a:r>
            <a:r>
              <a:rPr lang="en-US" altLang="zh-CN" b="1" dirty="0">
                <a:latin typeface="Symbol" pitchFamily="18" charset="2"/>
              </a:rPr>
              <a:t>l = 3)</a:t>
            </a:r>
            <a:endParaRPr lang="en-US" altLang="zh-CN" b="1" i="1" dirty="0">
              <a:latin typeface="Times New Roman" pitchFamily="18" charset="0"/>
            </a:endParaRPr>
          </a:p>
          <a:p>
            <a:r>
              <a:rPr lang="zh-CN" altLang="en-US" b="1" dirty="0">
                <a:latin typeface="Times New Roman" pitchFamily="18" charset="0"/>
              </a:rPr>
              <a:t>损失金额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i="1" baseline="-25000" dirty="0">
                <a:latin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</a:rPr>
              <a:t>: </a:t>
            </a:r>
            <a:r>
              <a:rPr lang="zh-CN" altLang="en-US" b="1" dirty="0">
                <a:latin typeface="Times New Roman" pitchFamily="18" charset="0"/>
              </a:rPr>
              <a:t>帕累托</a:t>
            </a:r>
            <a:r>
              <a:rPr lang="en-US" altLang="zh-CN" b="1" dirty="0">
                <a:latin typeface="Times New Roman" pitchFamily="18" charset="0"/>
              </a:rPr>
              <a:t>(</a:t>
            </a:r>
            <a:r>
              <a:rPr lang="en-US" altLang="zh-CN" b="1" dirty="0">
                <a:latin typeface="Symbol" pitchFamily="18" charset="2"/>
              </a:rPr>
              <a:t>a = </a:t>
            </a:r>
            <a:r>
              <a:rPr lang="en-US" altLang="zh-CN" b="1" dirty="0" smtClean="0">
                <a:latin typeface="Symbol" pitchFamily="18" charset="2"/>
              </a:rPr>
              <a:t>4,  </a:t>
            </a:r>
            <a:r>
              <a:rPr lang="en-US" altLang="zh-CN" b="1" dirty="0">
                <a:latin typeface="Symbol" pitchFamily="18" charset="2"/>
              </a:rPr>
              <a:t>q =10)</a:t>
            </a:r>
          </a:p>
          <a:p>
            <a:r>
              <a:rPr lang="zh-CN" altLang="en-US" b="1" dirty="0">
                <a:latin typeface="Times New Roman" pitchFamily="18" charset="0"/>
              </a:rPr>
              <a:t>对每次损失的一般免赔额</a:t>
            </a:r>
            <a:r>
              <a:rPr lang="en-US" altLang="zh-CN" b="1" dirty="0">
                <a:latin typeface="Times New Roman" pitchFamily="18" charset="0"/>
              </a:rPr>
              <a:t>: </a:t>
            </a:r>
            <a:r>
              <a:rPr lang="en-US" altLang="zh-CN" b="1" i="1" dirty="0">
                <a:latin typeface="Times New Roman" pitchFamily="18" charset="0"/>
              </a:rPr>
              <a:t>d</a:t>
            </a:r>
            <a:r>
              <a:rPr lang="en-US" altLang="zh-CN" b="1" dirty="0">
                <a:latin typeface="Times New Roman" pitchFamily="18" charset="0"/>
              </a:rPr>
              <a:t> = 6</a:t>
            </a:r>
          </a:p>
          <a:p>
            <a:r>
              <a:rPr lang="zh-CN" altLang="en-US" b="1" dirty="0">
                <a:latin typeface="Times New Roman" pitchFamily="18" charset="0"/>
              </a:rPr>
              <a:t>对每次损失的赔偿限额：</a:t>
            </a:r>
            <a:r>
              <a:rPr lang="en-US" altLang="zh-CN" b="1" dirty="0" smtClean="0">
                <a:latin typeface="Times New Roman" pitchFamily="18" charset="0"/>
              </a:rPr>
              <a:t>18, </a:t>
            </a:r>
            <a:r>
              <a:rPr lang="zh-CN" altLang="en-US" b="1" dirty="0" smtClean="0">
                <a:latin typeface="Times New Roman" pitchFamily="18" charset="0"/>
              </a:rPr>
              <a:t>故 </a:t>
            </a:r>
            <a:r>
              <a:rPr lang="en-US" altLang="zh-CN" b="1" i="1" dirty="0">
                <a:latin typeface="Times New Roman" pitchFamily="18" charset="0"/>
              </a:rPr>
              <a:t>u</a:t>
            </a:r>
            <a:r>
              <a:rPr lang="en-US" altLang="zh-CN" b="1" dirty="0">
                <a:latin typeface="Times New Roman" pitchFamily="18" charset="0"/>
              </a:rPr>
              <a:t> = 24</a:t>
            </a:r>
          </a:p>
          <a:p>
            <a:r>
              <a:rPr lang="zh-CN" altLang="en-US" b="1" dirty="0">
                <a:latin typeface="Times New Roman" pitchFamily="18" charset="0"/>
              </a:rPr>
              <a:t>共保比例</a:t>
            </a:r>
            <a:r>
              <a:rPr lang="en-US" altLang="zh-CN" b="1" dirty="0">
                <a:latin typeface="Times New Roman" pitchFamily="18" charset="0"/>
              </a:rPr>
              <a:t>: 75%</a:t>
            </a:r>
          </a:p>
          <a:p>
            <a:r>
              <a:rPr lang="zh-CN" altLang="en-US" b="1" dirty="0" smtClean="0">
                <a:latin typeface="Times New Roman" pitchFamily="18" charset="0"/>
              </a:rPr>
              <a:t>求保险公司</a:t>
            </a:r>
            <a:r>
              <a:rPr lang="zh-CN" altLang="en-US" b="1" dirty="0">
                <a:latin typeface="Times New Roman" pitchFamily="18" charset="0"/>
              </a:rPr>
              <a:t>累积赔款</a:t>
            </a:r>
            <a:r>
              <a:rPr lang="en-US" altLang="zh-CN" b="1" dirty="0">
                <a:latin typeface="Times New Roman" pitchFamily="18" charset="0"/>
              </a:rPr>
              <a:t>S</a:t>
            </a:r>
            <a:r>
              <a:rPr lang="zh-CN" altLang="en-US" b="1" dirty="0">
                <a:latin typeface="Times New Roman" pitchFamily="18" charset="0"/>
              </a:rPr>
              <a:t>的分布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2268-5335-4518-A183-843CE16153E8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64866" name="Text Box 2"/>
          <p:cNvSpPr txBox="1">
            <a:spLocks noChangeArrowheads="1"/>
          </p:cNvSpPr>
          <p:nvPr/>
        </p:nvSpPr>
        <p:spPr bwMode="auto">
          <a:xfrm>
            <a:off x="346075" y="5516563"/>
            <a:ext cx="75200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3333FF"/>
                </a:solidFill>
              </a:rPr>
              <a:t>注：保险公司对每次损失的最大赔款</a:t>
            </a:r>
            <a:r>
              <a:rPr lang="zh-CN" altLang="en-US" sz="2400" dirty="0" smtClean="0">
                <a:solidFill>
                  <a:srgbClr val="3333FF"/>
                </a:solidFill>
              </a:rPr>
              <a:t>为 </a:t>
            </a:r>
            <a:r>
              <a:rPr lang="en-US" altLang="zh-CN" sz="2400" dirty="0" smtClean="0">
                <a:solidFill>
                  <a:srgbClr val="3333FF"/>
                </a:solidFill>
              </a:rPr>
              <a:t>18×75</a:t>
            </a:r>
            <a:r>
              <a:rPr lang="en-US" altLang="zh-CN" sz="2400" dirty="0">
                <a:solidFill>
                  <a:srgbClr val="3333FF"/>
                </a:solidFill>
              </a:rPr>
              <a:t>%</a:t>
            </a:r>
            <a:r>
              <a:rPr lang="zh-CN" altLang="en-US" sz="2400" dirty="0">
                <a:solidFill>
                  <a:srgbClr val="3333FF"/>
                </a:solidFill>
              </a:rPr>
              <a:t>＝</a:t>
            </a:r>
            <a:r>
              <a:rPr lang="en-US" altLang="zh-CN" sz="2400" dirty="0">
                <a:solidFill>
                  <a:srgbClr val="3333FF"/>
                </a:solidFill>
              </a:rPr>
              <a:t>13.5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uiExpand="1" build="p"/>
      <p:bldP spid="16486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1F66E-C1B1-47AF-BAA7-2BC66D7263BD}" type="slidenum">
              <a:rPr lang="en-US" altLang="zh-CN"/>
              <a:pPr/>
              <a:t>31</a:t>
            </a:fld>
            <a:endParaRPr lang="en-US" altLang="zh-CN"/>
          </a:p>
        </p:txBody>
      </p:sp>
      <p:graphicFrame>
        <p:nvGraphicFramePr>
          <p:cNvPr id="716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133581"/>
              </p:ext>
            </p:extLst>
          </p:nvPr>
        </p:nvGraphicFramePr>
        <p:xfrm>
          <a:off x="1187450" y="2794179"/>
          <a:ext cx="424815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4" name="Equation" r:id="rId3" imgW="2273040" imgH="469800" progId="Equation.DSMT4">
                  <p:embed/>
                </p:oleObj>
              </mc:Choice>
              <mc:Fallback>
                <p:oleObj name="Equation" r:id="rId3" imgW="2273040" imgH="469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794179"/>
                        <a:ext cx="424815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387820"/>
              </p:ext>
            </p:extLst>
          </p:nvPr>
        </p:nvGraphicFramePr>
        <p:xfrm>
          <a:off x="1187450" y="5734050"/>
          <a:ext cx="42957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5" name="Equation" r:id="rId5" imgW="2260440" imgH="228600" progId="Equation.DSMT4">
                  <p:embed/>
                </p:oleObj>
              </mc:Choice>
              <mc:Fallback>
                <p:oleObj name="Equation" r:id="rId5" imgW="226044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734050"/>
                        <a:ext cx="42957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646842"/>
              </p:ext>
            </p:extLst>
          </p:nvPr>
        </p:nvGraphicFramePr>
        <p:xfrm>
          <a:off x="1187450" y="4724400"/>
          <a:ext cx="23558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6" name="Equation" r:id="rId7" imgW="1155600" imgH="228600" progId="Equation.DSMT4">
                  <p:embed/>
                </p:oleObj>
              </mc:Choice>
              <mc:Fallback>
                <p:oleObj name="Equation" r:id="rId7" imgW="11556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724400"/>
                        <a:ext cx="23558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4" name="Text Box 14"/>
          <p:cNvSpPr txBox="1">
            <a:spLocks noChangeArrowheads="1"/>
          </p:cNvSpPr>
          <p:nvPr/>
        </p:nvSpPr>
        <p:spPr bwMode="auto">
          <a:xfrm>
            <a:off x="971550" y="1557338"/>
            <a:ext cx="70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/>
              <a:t>S</a:t>
            </a:r>
            <a:r>
              <a:rPr lang="zh-CN" altLang="en-US" sz="2400" b="1" dirty="0"/>
              <a:t>是复合</a:t>
            </a:r>
            <a:r>
              <a:rPr lang="zh-CN" altLang="en-US" sz="2400" b="1" dirty="0" smtClean="0"/>
              <a:t>泊松分布</a:t>
            </a:r>
            <a:r>
              <a:rPr lang="en-US" altLang="zh-CN" sz="2400" b="1" dirty="0" smtClean="0"/>
              <a:t>, </a:t>
            </a:r>
            <a:r>
              <a:rPr lang="zh-CN" altLang="en-US" sz="2400" b="1" dirty="0" smtClean="0"/>
              <a:t>首</a:t>
            </a:r>
            <a:r>
              <a:rPr lang="zh-CN" altLang="en-US" sz="2400" b="1" dirty="0"/>
              <a:t>分布为泊松</a:t>
            </a:r>
            <a:r>
              <a:rPr lang="en-US" altLang="zh-CN" sz="2400" b="1" i="1" dirty="0" smtClean="0"/>
              <a:t>N</a:t>
            </a:r>
            <a:r>
              <a:rPr lang="en-US" altLang="zh-CN" sz="2400" b="1" i="1" baseline="30000" dirty="0" smtClean="0"/>
              <a:t>P</a:t>
            </a:r>
            <a:r>
              <a:rPr lang="en-US" altLang="zh-CN" sz="2400" b="1" dirty="0" smtClean="0"/>
              <a:t>, </a:t>
            </a:r>
            <a:r>
              <a:rPr lang="zh-CN" altLang="en-US" sz="2400" b="1" dirty="0" smtClean="0"/>
              <a:t>次</a:t>
            </a:r>
            <a:r>
              <a:rPr lang="zh-CN" altLang="en-US" sz="2400" b="1" dirty="0"/>
              <a:t>分布为</a:t>
            </a:r>
            <a:r>
              <a:rPr lang="en-US" altLang="zh-CN" sz="2400" b="1" i="1" dirty="0" err="1"/>
              <a:t>Y</a:t>
            </a:r>
            <a:r>
              <a:rPr lang="en-US" altLang="zh-CN" sz="2400" b="1" i="1" baseline="30000" dirty="0" err="1"/>
              <a:t>P</a:t>
            </a:r>
            <a:endParaRPr lang="en-US" altLang="zh-CN" sz="2400" b="1" i="1" baseline="30000" dirty="0"/>
          </a:p>
        </p:txBody>
      </p:sp>
      <p:sp>
        <p:nvSpPr>
          <p:cNvPr id="71695" name="Text Box 15"/>
          <p:cNvSpPr txBox="1">
            <a:spLocks noChangeArrowheads="1"/>
          </p:cNvSpPr>
          <p:nvPr/>
        </p:nvSpPr>
        <p:spPr bwMode="auto">
          <a:xfrm>
            <a:off x="1023938" y="2276475"/>
            <a:ext cx="42066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一次损失导致赔款的概率为：</a:t>
            </a:r>
          </a:p>
        </p:txBody>
      </p:sp>
      <p:sp>
        <p:nvSpPr>
          <p:cNvPr id="71696" name="Text Box 16"/>
          <p:cNvSpPr txBox="1">
            <a:spLocks noChangeArrowheads="1"/>
          </p:cNvSpPr>
          <p:nvPr/>
        </p:nvSpPr>
        <p:spPr bwMode="auto">
          <a:xfrm>
            <a:off x="1023938" y="3860800"/>
            <a:ext cx="20409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故首分布为：</a:t>
            </a:r>
          </a:p>
        </p:txBody>
      </p:sp>
      <p:sp>
        <p:nvSpPr>
          <p:cNvPr id="71697" name="Text Box 17"/>
          <p:cNvSpPr txBox="1">
            <a:spLocks noChangeArrowheads="1"/>
          </p:cNvSpPr>
          <p:nvPr/>
        </p:nvSpPr>
        <p:spPr bwMode="auto">
          <a:xfrm>
            <a:off x="6732588" y="4797425"/>
            <a:ext cx="13468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3333FF"/>
                </a:solidFill>
              </a:rPr>
              <a:t>（首分布）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4" grpId="0"/>
      <p:bldP spid="71695" grpId="0"/>
      <p:bldP spid="71696" grpId="0"/>
      <p:bldP spid="7169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1F2D-DA47-4459-996C-3F39C1FE4528}" type="slidenum">
              <a:rPr lang="en-US" altLang="zh-CN" b="1"/>
              <a:pPr/>
              <a:t>32</a:t>
            </a:fld>
            <a:endParaRPr lang="en-US" altLang="zh-CN" b="1"/>
          </a:p>
        </p:txBody>
      </p:sp>
      <p:sp>
        <p:nvSpPr>
          <p:cNvPr id="345094" name="Text Box 6"/>
          <p:cNvSpPr txBox="1">
            <a:spLocks noChangeArrowheads="1"/>
          </p:cNvSpPr>
          <p:nvPr/>
        </p:nvSpPr>
        <p:spPr bwMode="auto">
          <a:xfrm>
            <a:off x="971550" y="836613"/>
            <a:ext cx="47500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令 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 = </a:t>
            </a:r>
            <a:r>
              <a:rPr lang="en-US" altLang="zh-CN" sz="2400" b="1" i="1" dirty="0"/>
              <a:t>X </a:t>
            </a:r>
            <a:r>
              <a:rPr lang="zh-CN" altLang="en-US" b="1" dirty="0"/>
              <a:t>－</a:t>
            </a:r>
            <a:r>
              <a:rPr lang="en-US" altLang="zh-CN" sz="2400" b="1" dirty="0"/>
              <a:t>6 | </a:t>
            </a:r>
            <a:r>
              <a:rPr lang="en-US" altLang="zh-CN" sz="2400" b="1" i="1" dirty="0"/>
              <a:t>X </a:t>
            </a:r>
            <a:r>
              <a:rPr lang="en-US" altLang="zh-CN" sz="2400" b="1" dirty="0"/>
              <a:t>&gt; 6  </a:t>
            </a:r>
            <a:r>
              <a:rPr lang="zh-CN" altLang="en-US" sz="2400" b="1" dirty="0"/>
              <a:t>（</a:t>
            </a:r>
            <a:r>
              <a:rPr lang="zh-CN" altLang="en-US" sz="2400" b="1" dirty="0">
                <a:solidFill>
                  <a:srgbClr val="000099"/>
                </a:solidFill>
              </a:rPr>
              <a:t>免赔</a:t>
            </a:r>
            <a:r>
              <a:rPr lang="zh-CN" altLang="en-US" sz="2400" b="1" dirty="0" smtClean="0"/>
              <a:t>）</a:t>
            </a:r>
            <a:r>
              <a:rPr lang="en-US" altLang="zh-CN" sz="2400" b="1" dirty="0" smtClean="0"/>
              <a:t>,   </a:t>
            </a:r>
            <a:r>
              <a:rPr lang="zh-CN" altLang="en-US" sz="2400" b="1" dirty="0"/>
              <a:t>则 </a:t>
            </a:r>
          </a:p>
        </p:txBody>
      </p:sp>
      <p:graphicFrame>
        <p:nvGraphicFramePr>
          <p:cNvPr id="3450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855911"/>
              </p:ext>
            </p:extLst>
          </p:nvPr>
        </p:nvGraphicFramePr>
        <p:xfrm>
          <a:off x="1547813" y="1557338"/>
          <a:ext cx="309721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856" name="Equation" r:id="rId3" imgW="1625400" imgH="431640" progId="Equation.DSMT4">
                  <p:embed/>
                </p:oleObj>
              </mc:Choice>
              <mc:Fallback>
                <p:oleObj name="Equation" r:id="rId3" imgW="162540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557338"/>
                        <a:ext cx="3097212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096" name="Text Box 8"/>
          <p:cNvSpPr txBox="1">
            <a:spLocks noChangeArrowheads="1"/>
          </p:cNvSpPr>
          <p:nvPr/>
        </p:nvSpPr>
        <p:spPr bwMode="auto">
          <a:xfrm>
            <a:off x="971550" y="2708275"/>
            <a:ext cx="43861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故次分布 </a:t>
            </a:r>
            <a:r>
              <a:rPr lang="en-US" altLang="zh-CN" sz="2400" b="1" i="1"/>
              <a:t>Y</a:t>
            </a:r>
            <a:r>
              <a:rPr lang="en-US" altLang="zh-CN" sz="2400" b="1" i="1" baseline="30000"/>
              <a:t>P</a:t>
            </a:r>
            <a:r>
              <a:rPr lang="en-US" altLang="zh-CN" sz="2400" b="1" baseline="30000"/>
              <a:t> </a:t>
            </a:r>
            <a:r>
              <a:rPr lang="en-US" altLang="zh-CN" sz="2400" b="1"/>
              <a:t> = 0.75</a:t>
            </a:r>
            <a:r>
              <a:rPr lang="en-US" altLang="zh-CN" sz="2400" b="1" i="1"/>
              <a:t>Z   </a:t>
            </a:r>
            <a:r>
              <a:rPr lang="zh-CN" altLang="en-US" sz="2400" b="1"/>
              <a:t>（</a:t>
            </a:r>
            <a:r>
              <a:rPr lang="zh-CN" altLang="en-US" sz="2400" b="1">
                <a:solidFill>
                  <a:srgbClr val="000099"/>
                </a:solidFill>
              </a:rPr>
              <a:t>共保</a:t>
            </a:r>
            <a:r>
              <a:rPr lang="zh-CN" altLang="en-US" sz="2400" b="1"/>
              <a:t>）</a:t>
            </a:r>
          </a:p>
        </p:txBody>
      </p:sp>
      <p:graphicFrame>
        <p:nvGraphicFramePr>
          <p:cNvPr id="3450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635523"/>
              </p:ext>
            </p:extLst>
          </p:nvPr>
        </p:nvGraphicFramePr>
        <p:xfrm>
          <a:off x="1547813" y="3644900"/>
          <a:ext cx="4646612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857" name="Equation" r:id="rId5" imgW="2450880" imgH="863280" progId="Equation.DSMT4">
                  <p:embed/>
                </p:oleObj>
              </mc:Choice>
              <mc:Fallback>
                <p:oleObj name="Equation" r:id="rId5" imgW="2450880" imgH="8632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644900"/>
                        <a:ext cx="4646612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098" name="Text Box 10"/>
          <p:cNvSpPr txBox="1">
            <a:spLocks noChangeArrowheads="1"/>
          </p:cNvSpPr>
          <p:nvPr/>
        </p:nvSpPr>
        <p:spPr bwMode="auto">
          <a:xfrm>
            <a:off x="611188" y="5300663"/>
            <a:ext cx="820896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/>
              <a:t>最大赔款</a:t>
            </a:r>
            <a:r>
              <a:rPr lang="en-US" altLang="zh-CN" sz="2400" b="1" dirty="0"/>
              <a:t>max(</a:t>
            </a:r>
            <a:r>
              <a:rPr lang="en-US" altLang="zh-CN" sz="2400" b="1" i="1" dirty="0" err="1"/>
              <a:t>Y</a:t>
            </a:r>
            <a:r>
              <a:rPr lang="en-US" altLang="zh-CN" sz="2400" b="1" i="1" baseline="30000" dirty="0" err="1"/>
              <a:t>P</a:t>
            </a:r>
            <a:r>
              <a:rPr lang="en-US" altLang="zh-CN" sz="2400" b="1" dirty="0"/>
              <a:t>) = </a:t>
            </a:r>
            <a:r>
              <a:rPr lang="en-US" altLang="zh-CN" sz="2400" b="1" dirty="0" smtClean="0"/>
              <a:t>13.5, </a:t>
            </a:r>
            <a:r>
              <a:rPr lang="zh-CN" altLang="en-US" sz="2400" b="1" dirty="0" smtClean="0"/>
              <a:t>故</a:t>
            </a:r>
            <a:r>
              <a:rPr lang="zh-CN" altLang="en-US" sz="2400" b="1" dirty="0"/>
              <a:t>在上式</a:t>
            </a:r>
            <a:r>
              <a:rPr lang="zh-CN" altLang="en-US" sz="2400" b="1" dirty="0" smtClean="0"/>
              <a:t>中</a:t>
            </a:r>
            <a:r>
              <a:rPr lang="en-US" altLang="zh-CN" sz="2400" b="1" dirty="0" smtClean="0"/>
              <a:t>, </a:t>
            </a:r>
            <a:r>
              <a:rPr lang="en-US" altLang="zh-CN" sz="2400" b="1" i="1" dirty="0" smtClean="0"/>
              <a:t>y</a:t>
            </a:r>
            <a:r>
              <a:rPr lang="en-US" altLang="zh-CN" sz="2400" b="1" dirty="0" smtClean="0"/>
              <a:t> </a:t>
            </a:r>
            <a:r>
              <a:rPr lang="en-US" altLang="zh-CN" sz="2400" b="1" dirty="0"/>
              <a:t>&lt; 13.5</a:t>
            </a:r>
            <a:r>
              <a:rPr lang="zh-CN" altLang="en-US" sz="2400" b="1" dirty="0"/>
              <a:t>。当 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 </a:t>
            </a:r>
            <a:r>
              <a:rPr lang="en-US" altLang="zh-CN" sz="2400" b="1" dirty="0" smtClean="0">
                <a:sym typeface="Symbol"/>
              </a:rPr>
              <a:t></a:t>
            </a:r>
            <a:r>
              <a:rPr lang="en-US" altLang="zh-CN" sz="2400" b="1" dirty="0" smtClean="0"/>
              <a:t> </a:t>
            </a:r>
            <a:r>
              <a:rPr lang="en-US" altLang="zh-CN" sz="2400" b="1" dirty="0"/>
              <a:t>13.5</a:t>
            </a:r>
            <a:r>
              <a:rPr lang="zh-CN" altLang="en-US" sz="2400" b="1" dirty="0" smtClean="0"/>
              <a:t>时</a:t>
            </a:r>
            <a:r>
              <a:rPr lang="en-US" altLang="zh-CN" sz="2400" b="1" dirty="0" smtClean="0"/>
              <a:t>, </a:t>
            </a:r>
            <a:endParaRPr lang="zh-CN" altLang="en-US" sz="2400" b="1" dirty="0"/>
          </a:p>
        </p:txBody>
      </p:sp>
      <p:graphicFrame>
        <p:nvGraphicFramePr>
          <p:cNvPr id="3450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412467"/>
              </p:ext>
            </p:extLst>
          </p:nvPr>
        </p:nvGraphicFramePr>
        <p:xfrm>
          <a:off x="827584" y="5949280"/>
          <a:ext cx="12239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858" name="Equation" r:id="rId7" imgW="660240" imgH="241200" progId="Equation.DSMT4">
                  <p:embed/>
                </p:oleObj>
              </mc:Choice>
              <mc:Fallback>
                <p:oleObj name="Equation" r:id="rId7" imgW="660240" imgH="24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949280"/>
                        <a:ext cx="12239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5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5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4" grpId="0"/>
      <p:bldP spid="345096" grpId="0"/>
      <p:bldP spid="34509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F97C-0B8D-4DAF-A421-7F9868CE80D2}" type="slidenum">
              <a:rPr lang="en-US" altLang="zh-CN" b="1"/>
              <a:pPr/>
              <a:t>33</a:t>
            </a:fld>
            <a:endParaRPr lang="en-US" altLang="zh-CN" b="1"/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971550" y="620713"/>
            <a:ext cx="18838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CC"/>
                </a:solidFill>
              </a:rPr>
              <a:t>对于 </a:t>
            </a:r>
            <a:r>
              <a:rPr lang="en-US" altLang="zh-CN" sz="2400" b="1" i="1">
                <a:solidFill>
                  <a:srgbClr val="0000CC"/>
                </a:solidFill>
              </a:rPr>
              <a:t>y</a:t>
            </a:r>
            <a:r>
              <a:rPr lang="en-US" altLang="zh-CN" sz="2400" b="1">
                <a:solidFill>
                  <a:srgbClr val="0000CC"/>
                </a:solidFill>
              </a:rPr>
              <a:t> &lt; 13.5</a:t>
            </a:r>
          </a:p>
        </p:txBody>
      </p:sp>
      <p:graphicFrame>
        <p:nvGraphicFramePr>
          <p:cNvPr id="727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840393"/>
              </p:ext>
            </p:extLst>
          </p:nvPr>
        </p:nvGraphicFramePr>
        <p:xfrm>
          <a:off x="2195513" y="1341438"/>
          <a:ext cx="3805237" cy="178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51" name="Equation" r:id="rId3" imgW="2006280" imgH="939600" progId="Equation.DSMT4">
                  <p:embed/>
                </p:oleObj>
              </mc:Choice>
              <mc:Fallback>
                <p:oleObj name="Equation" r:id="rId3" imgW="2006280" imgH="939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341438"/>
                        <a:ext cx="3805237" cy="178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1116013" y="3068638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CC"/>
                </a:solidFill>
              </a:rPr>
              <a:t>对于  </a:t>
            </a:r>
            <a:r>
              <a:rPr lang="en-US" altLang="zh-CN" sz="2400" b="1" i="1">
                <a:solidFill>
                  <a:srgbClr val="0000CC"/>
                </a:solidFill>
              </a:rPr>
              <a:t>y </a:t>
            </a:r>
            <a:r>
              <a:rPr lang="en-US" altLang="zh-CN" sz="2400" b="1">
                <a:solidFill>
                  <a:srgbClr val="0000CC"/>
                </a:solidFill>
              </a:rPr>
              <a:t> ≥ 13.5</a:t>
            </a:r>
          </a:p>
        </p:txBody>
      </p:sp>
      <p:graphicFrame>
        <p:nvGraphicFramePr>
          <p:cNvPr id="727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355123"/>
              </p:ext>
            </p:extLst>
          </p:nvPr>
        </p:nvGraphicFramePr>
        <p:xfrm>
          <a:off x="2051050" y="3716338"/>
          <a:ext cx="13684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52" name="Equation" r:id="rId5" imgW="660240" imgH="241200" progId="Equation.DSMT4">
                  <p:embed/>
                </p:oleObj>
              </mc:Choice>
              <mc:Fallback>
                <p:oleObj name="Equation" r:id="rId5" imgW="66024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716338"/>
                        <a:ext cx="136842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2" name="Text Box 8"/>
          <p:cNvSpPr txBox="1">
            <a:spLocks noChangeArrowheads="1"/>
          </p:cNvSpPr>
          <p:nvPr/>
        </p:nvSpPr>
        <p:spPr bwMode="auto">
          <a:xfrm>
            <a:off x="0" y="4437063"/>
            <a:ext cx="856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/>
              <a:t>         </a:t>
            </a:r>
            <a:r>
              <a:rPr lang="zh-CN" altLang="en-US" sz="2400" b="1" dirty="0">
                <a:solidFill>
                  <a:srgbClr val="FF0000"/>
                </a:solidFill>
              </a:rPr>
              <a:t>结论：</a:t>
            </a:r>
            <a:r>
              <a:rPr lang="en-US" altLang="zh-CN" sz="2400" b="1" i="1" dirty="0">
                <a:solidFill>
                  <a:srgbClr val="FF0000"/>
                </a:solidFill>
              </a:rPr>
              <a:t>S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是复合泊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松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,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泊</a:t>
            </a:r>
            <a:r>
              <a:rPr lang="zh-CN" altLang="en-US" sz="2400" b="1" dirty="0">
                <a:solidFill>
                  <a:srgbClr val="FF0000"/>
                </a:solidFill>
              </a:rPr>
              <a:t>松参数为</a:t>
            </a:r>
            <a:r>
              <a:rPr lang="en-US" altLang="zh-CN" sz="2400" b="1" dirty="0">
                <a:solidFill>
                  <a:srgbClr val="FF0000"/>
                </a:solidFill>
              </a:rPr>
              <a:t>0.45776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,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次</a:t>
            </a:r>
            <a:r>
              <a:rPr lang="zh-CN" altLang="en-US" sz="2400" b="1" dirty="0">
                <a:solidFill>
                  <a:srgbClr val="FF0000"/>
                </a:solidFill>
              </a:rPr>
              <a:t>分布为</a:t>
            </a:r>
          </a:p>
        </p:txBody>
      </p:sp>
      <p:graphicFrame>
        <p:nvGraphicFramePr>
          <p:cNvPr id="727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57134"/>
              </p:ext>
            </p:extLst>
          </p:nvPr>
        </p:nvGraphicFramePr>
        <p:xfrm>
          <a:off x="7705725" y="4438651"/>
          <a:ext cx="8636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53" name="Equation" r:id="rId7" imgW="457200" imgH="241200" progId="Equation.DSMT4">
                  <p:embed/>
                </p:oleObj>
              </mc:Choice>
              <mc:Fallback>
                <p:oleObj name="Equation" r:id="rId7" imgW="45720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5725" y="4438651"/>
                        <a:ext cx="8636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4" name="Text Box 10"/>
          <p:cNvSpPr txBox="1">
            <a:spLocks noChangeArrowheads="1"/>
          </p:cNvSpPr>
          <p:nvPr/>
        </p:nvSpPr>
        <p:spPr bwMode="auto">
          <a:xfrm>
            <a:off x="755650" y="5300663"/>
            <a:ext cx="80660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 smtClean="0"/>
              <a:t>对             进行</a:t>
            </a:r>
            <a:r>
              <a:rPr lang="zh-CN" altLang="en-US" sz="2400" b="1" dirty="0"/>
              <a:t>离散化处理</a:t>
            </a:r>
            <a:r>
              <a:rPr lang="zh-CN" altLang="en-US" sz="2400" b="1" dirty="0" smtClean="0"/>
              <a:t>后</a:t>
            </a:r>
            <a:r>
              <a:rPr lang="en-US" altLang="zh-CN" sz="2400" b="1" dirty="0" smtClean="0"/>
              <a:t>, </a:t>
            </a:r>
            <a:r>
              <a:rPr lang="zh-CN" altLang="en-US" sz="2400" b="1" dirty="0" smtClean="0"/>
              <a:t>应用</a:t>
            </a:r>
            <a:r>
              <a:rPr lang="zh-CN" altLang="en-US" sz="2400" b="1" dirty="0"/>
              <a:t>复合泊松分布的递推公式即可近似计算</a:t>
            </a:r>
            <a:r>
              <a:rPr lang="en-US" altLang="zh-CN" sz="2400" b="1" dirty="0"/>
              <a:t>S</a:t>
            </a:r>
            <a:r>
              <a:rPr lang="zh-CN" altLang="en-US" sz="2400" b="1" dirty="0"/>
              <a:t>的分布</a:t>
            </a:r>
            <a:r>
              <a:rPr lang="zh-CN" altLang="en-US" sz="2400" b="1" dirty="0">
                <a:solidFill>
                  <a:srgbClr val="3333FF"/>
                </a:solidFill>
              </a:rPr>
              <a:t>（见下页）</a:t>
            </a:r>
            <a:r>
              <a:rPr lang="zh-CN" altLang="en-US" sz="2400" b="1" dirty="0"/>
              <a:t>。</a:t>
            </a:r>
            <a:endParaRPr lang="zh-CN" altLang="en-US" sz="2400" b="1" dirty="0">
              <a:solidFill>
                <a:schemeClr val="hlink"/>
              </a:solidFill>
            </a:endParaRPr>
          </a:p>
        </p:txBody>
      </p:sp>
      <p:graphicFrame>
        <p:nvGraphicFramePr>
          <p:cNvPr id="727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659603"/>
              </p:ext>
            </p:extLst>
          </p:nvPr>
        </p:nvGraphicFramePr>
        <p:xfrm>
          <a:off x="1187624" y="5300663"/>
          <a:ext cx="8636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54" name="Equation" r:id="rId9" imgW="457200" imgH="241200" progId="Equation.DSMT4">
                  <p:embed/>
                </p:oleObj>
              </mc:Choice>
              <mc:Fallback>
                <p:oleObj name="Equation" r:id="rId9" imgW="457200" imgH="24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300663"/>
                        <a:ext cx="8636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2" name="Text Box 2"/>
          <p:cNvSpPr txBox="1">
            <a:spLocks noChangeArrowheads="1"/>
          </p:cNvSpPr>
          <p:nvPr/>
        </p:nvSpPr>
        <p:spPr bwMode="auto">
          <a:xfrm>
            <a:off x="6351588" y="2586038"/>
            <a:ext cx="18396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i="1" dirty="0"/>
              <a:t>X</a:t>
            </a:r>
            <a:r>
              <a:rPr lang="en-US" altLang="zh-CN" b="1" dirty="0"/>
              <a:t> ~ </a:t>
            </a:r>
            <a:r>
              <a:rPr lang="en-US" altLang="zh-CN" b="1" dirty="0" smtClean="0"/>
              <a:t>Pareto(4, 10</a:t>
            </a:r>
            <a:r>
              <a:rPr lang="en-US" altLang="zh-CN" b="1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/>
      <p:bldP spid="72712" grpId="0"/>
      <p:bldP spid="72714" grpId="0"/>
      <p:bldP spid="16384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146" name="Object 34"/>
          <p:cNvGraphicFramePr>
            <a:graphicFrameLocks noGrp="1" noChangeAspect="1"/>
          </p:cNvGraphicFramePr>
          <p:nvPr>
            <p:ph/>
          </p:nvPr>
        </p:nvGraphicFramePr>
        <p:xfrm>
          <a:off x="1204913" y="4868863"/>
          <a:ext cx="5219700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04" name="Equation" r:id="rId3" imgW="2400120" imgH="482400" progId="Equation.DSMT4">
                  <p:embed/>
                </p:oleObj>
              </mc:Choice>
              <mc:Fallback>
                <p:oleObj name="Equation" r:id="rId3" imgW="2400120" imgH="4824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4868863"/>
                        <a:ext cx="5219700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3FFA-88D2-4E10-99D2-13348B230949}" type="slidenum">
              <a:rPr lang="en-US" altLang="zh-CN"/>
              <a:pPr/>
              <a:t>34</a:t>
            </a:fld>
            <a:endParaRPr lang="en-US" altLang="zh-CN"/>
          </a:p>
        </p:txBody>
      </p:sp>
      <p:graphicFrame>
        <p:nvGraphicFramePr>
          <p:cNvPr id="218116" name="Object 4"/>
          <p:cNvGraphicFramePr>
            <a:graphicFrameLocks noChangeAspect="1"/>
          </p:cNvGraphicFramePr>
          <p:nvPr/>
        </p:nvGraphicFramePr>
        <p:xfrm>
          <a:off x="1042988" y="1196975"/>
          <a:ext cx="32400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05" name="Equation" r:id="rId5" imgW="1663560" imgH="228600" progId="Equation.DSMT4">
                  <p:embed/>
                </p:oleObj>
              </mc:Choice>
              <mc:Fallback>
                <p:oleObj name="Equation" r:id="rId5" imgW="166356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196975"/>
                        <a:ext cx="324008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17" name="Text Box 5"/>
          <p:cNvSpPr txBox="1">
            <a:spLocks noChangeArrowheads="1"/>
          </p:cNvSpPr>
          <p:nvPr/>
        </p:nvSpPr>
        <p:spPr bwMode="auto">
          <a:xfrm>
            <a:off x="261937" y="620688"/>
            <a:ext cx="6892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</a:rPr>
              <a:t>应用并入法（</a:t>
            </a:r>
            <a:r>
              <a:rPr lang="en-US" altLang="zh-CN" sz="2400" b="1" dirty="0">
                <a:solidFill>
                  <a:srgbClr val="0000CC"/>
                </a:solidFill>
              </a:rPr>
              <a:t>Rounding</a:t>
            </a:r>
            <a:r>
              <a:rPr lang="zh-CN" altLang="en-US" sz="2400" b="1" dirty="0">
                <a:solidFill>
                  <a:srgbClr val="0000CC"/>
                </a:solidFill>
              </a:rPr>
              <a:t>）进行离散化处理</a:t>
            </a:r>
            <a:r>
              <a:rPr lang="en-US" altLang="zh-CN" sz="2400" b="1" dirty="0">
                <a:solidFill>
                  <a:srgbClr val="0000CC"/>
                </a:solidFill>
              </a:rPr>
              <a:t>:</a:t>
            </a:r>
            <a:r>
              <a:rPr lang="en-US" altLang="zh-CN" sz="2400" b="1" i="1" dirty="0">
                <a:solidFill>
                  <a:srgbClr val="0000CC"/>
                </a:solidFill>
              </a:rPr>
              <a:t>h </a:t>
            </a:r>
            <a:r>
              <a:rPr lang="en-US" altLang="zh-CN" sz="2400" b="1" dirty="0">
                <a:solidFill>
                  <a:srgbClr val="0000CC"/>
                </a:solidFill>
              </a:rPr>
              <a:t>= 2.25</a:t>
            </a:r>
          </a:p>
        </p:txBody>
      </p:sp>
      <p:graphicFrame>
        <p:nvGraphicFramePr>
          <p:cNvPr id="218119" name="Object 7"/>
          <p:cNvGraphicFramePr>
            <a:graphicFrameLocks noChangeAspect="1"/>
          </p:cNvGraphicFramePr>
          <p:nvPr/>
        </p:nvGraphicFramePr>
        <p:xfrm>
          <a:off x="1116013" y="1844675"/>
          <a:ext cx="68516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06" name="Equation" r:id="rId7" imgW="3797280" imgH="241200" progId="Equation.DSMT4">
                  <p:embed/>
                </p:oleObj>
              </mc:Choice>
              <mc:Fallback>
                <p:oleObj name="Equation" r:id="rId7" imgW="379728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844675"/>
                        <a:ext cx="68516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0" name="Line 8"/>
          <p:cNvSpPr>
            <a:spLocks noChangeShapeType="1"/>
          </p:cNvSpPr>
          <p:nvPr/>
        </p:nvSpPr>
        <p:spPr bwMode="auto">
          <a:xfrm>
            <a:off x="1568450" y="3192463"/>
            <a:ext cx="56165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1" name="Line 9"/>
          <p:cNvSpPr>
            <a:spLocks noChangeShapeType="1"/>
          </p:cNvSpPr>
          <p:nvPr/>
        </p:nvSpPr>
        <p:spPr bwMode="auto">
          <a:xfrm>
            <a:off x="1568450" y="3121025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2" name="Line 10"/>
          <p:cNvSpPr>
            <a:spLocks noChangeShapeType="1"/>
          </p:cNvSpPr>
          <p:nvPr/>
        </p:nvSpPr>
        <p:spPr bwMode="auto">
          <a:xfrm>
            <a:off x="2792413" y="3121025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3" name="Line 11"/>
          <p:cNvSpPr>
            <a:spLocks noChangeShapeType="1"/>
          </p:cNvSpPr>
          <p:nvPr/>
        </p:nvSpPr>
        <p:spPr bwMode="auto">
          <a:xfrm>
            <a:off x="3943350" y="3121025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4" name="Line 12"/>
          <p:cNvSpPr>
            <a:spLocks noChangeShapeType="1"/>
          </p:cNvSpPr>
          <p:nvPr/>
        </p:nvSpPr>
        <p:spPr bwMode="auto">
          <a:xfrm>
            <a:off x="5095875" y="3121025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5" name="Line 13"/>
          <p:cNvSpPr>
            <a:spLocks noChangeShapeType="1"/>
          </p:cNvSpPr>
          <p:nvPr/>
        </p:nvSpPr>
        <p:spPr bwMode="auto">
          <a:xfrm>
            <a:off x="6176963" y="3121025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6" name="Text Box 14"/>
          <p:cNvSpPr txBox="1">
            <a:spLocks noChangeArrowheads="1"/>
          </p:cNvSpPr>
          <p:nvPr/>
        </p:nvSpPr>
        <p:spPr bwMode="auto">
          <a:xfrm>
            <a:off x="1423988" y="33369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0</a:t>
            </a:r>
          </a:p>
        </p:txBody>
      </p:sp>
      <p:sp>
        <p:nvSpPr>
          <p:cNvPr id="218127" name="Text Box 15"/>
          <p:cNvSpPr txBox="1">
            <a:spLocks noChangeArrowheads="1"/>
          </p:cNvSpPr>
          <p:nvPr/>
        </p:nvSpPr>
        <p:spPr bwMode="auto">
          <a:xfrm>
            <a:off x="2555875" y="335756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/>
              <a:t>2.25</a:t>
            </a:r>
          </a:p>
        </p:txBody>
      </p:sp>
      <p:sp>
        <p:nvSpPr>
          <p:cNvPr id="218128" name="Text Box 16"/>
          <p:cNvSpPr txBox="1">
            <a:spLocks noChangeArrowheads="1"/>
          </p:cNvSpPr>
          <p:nvPr/>
        </p:nvSpPr>
        <p:spPr bwMode="auto">
          <a:xfrm>
            <a:off x="3708400" y="3286125"/>
            <a:ext cx="469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4.5</a:t>
            </a:r>
          </a:p>
        </p:txBody>
      </p:sp>
      <p:sp>
        <p:nvSpPr>
          <p:cNvPr id="218129" name="Text Box 17"/>
          <p:cNvSpPr txBox="1">
            <a:spLocks noChangeArrowheads="1"/>
          </p:cNvSpPr>
          <p:nvPr/>
        </p:nvSpPr>
        <p:spPr bwMode="auto">
          <a:xfrm>
            <a:off x="4859338" y="3284538"/>
            <a:ext cx="584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6.75</a:t>
            </a:r>
            <a:endParaRPr lang="en-US" altLang="zh-CN" i="1"/>
          </a:p>
        </p:txBody>
      </p:sp>
      <p:sp>
        <p:nvSpPr>
          <p:cNvPr id="218130" name="Text Box 18"/>
          <p:cNvSpPr txBox="1">
            <a:spLocks noChangeArrowheads="1"/>
          </p:cNvSpPr>
          <p:nvPr/>
        </p:nvSpPr>
        <p:spPr bwMode="auto">
          <a:xfrm>
            <a:off x="6011863" y="3357563"/>
            <a:ext cx="59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/>
              <a:t>……</a:t>
            </a:r>
          </a:p>
        </p:txBody>
      </p:sp>
      <p:sp>
        <p:nvSpPr>
          <p:cNvPr id="218131" name="Line 19"/>
          <p:cNvSpPr>
            <a:spLocks noChangeShapeType="1"/>
          </p:cNvSpPr>
          <p:nvPr/>
        </p:nvSpPr>
        <p:spPr bwMode="auto">
          <a:xfrm>
            <a:off x="2144713" y="2976563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32" name="Line 20"/>
          <p:cNvSpPr>
            <a:spLocks noChangeShapeType="1"/>
          </p:cNvSpPr>
          <p:nvPr/>
        </p:nvSpPr>
        <p:spPr bwMode="auto">
          <a:xfrm>
            <a:off x="3368675" y="2976563"/>
            <a:ext cx="15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33" name="Line 21"/>
          <p:cNvSpPr>
            <a:spLocks noChangeShapeType="1"/>
          </p:cNvSpPr>
          <p:nvPr/>
        </p:nvSpPr>
        <p:spPr bwMode="auto">
          <a:xfrm>
            <a:off x="4519613" y="2976563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34" name="Line 22"/>
          <p:cNvSpPr>
            <a:spLocks noChangeShapeType="1"/>
          </p:cNvSpPr>
          <p:nvPr/>
        </p:nvSpPr>
        <p:spPr bwMode="auto">
          <a:xfrm>
            <a:off x="5672138" y="2976563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35" name="Line 23"/>
          <p:cNvSpPr>
            <a:spLocks noChangeShapeType="1"/>
          </p:cNvSpPr>
          <p:nvPr/>
        </p:nvSpPr>
        <p:spPr bwMode="auto">
          <a:xfrm>
            <a:off x="6680200" y="2976563"/>
            <a:ext cx="15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36" name="AutoShape 24"/>
          <p:cNvSpPr>
            <a:spLocks/>
          </p:cNvSpPr>
          <p:nvPr/>
        </p:nvSpPr>
        <p:spPr bwMode="auto">
          <a:xfrm rot="5400000">
            <a:off x="1783556" y="3409157"/>
            <a:ext cx="73025" cy="649288"/>
          </a:xfrm>
          <a:prstGeom prst="rightBrace">
            <a:avLst>
              <a:gd name="adj1" fmla="val 740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37" name="AutoShape 25"/>
          <p:cNvSpPr>
            <a:spLocks/>
          </p:cNvSpPr>
          <p:nvPr/>
        </p:nvSpPr>
        <p:spPr bwMode="auto">
          <a:xfrm rot="5400000">
            <a:off x="2755900" y="3157538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38" name="AutoShape 26"/>
          <p:cNvSpPr>
            <a:spLocks/>
          </p:cNvSpPr>
          <p:nvPr/>
        </p:nvSpPr>
        <p:spPr bwMode="auto">
          <a:xfrm rot="5400000">
            <a:off x="3908425" y="3157538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39" name="AutoShape 27"/>
          <p:cNvSpPr>
            <a:spLocks/>
          </p:cNvSpPr>
          <p:nvPr/>
        </p:nvSpPr>
        <p:spPr bwMode="auto">
          <a:xfrm rot="5400000">
            <a:off x="5132388" y="3157538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40" name="Text Box 28"/>
          <p:cNvSpPr txBox="1">
            <a:spLocks noChangeArrowheads="1"/>
          </p:cNvSpPr>
          <p:nvPr/>
        </p:nvSpPr>
        <p:spPr bwMode="auto">
          <a:xfrm>
            <a:off x="1619250" y="37893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0</a:t>
            </a:r>
            <a:endParaRPr lang="en-US" altLang="zh-CN"/>
          </a:p>
        </p:txBody>
      </p:sp>
      <p:sp>
        <p:nvSpPr>
          <p:cNvPr id="218141" name="Text Box 29"/>
          <p:cNvSpPr txBox="1">
            <a:spLocks noChangeArrowheads="1"/>
          </p:cNvSpPr>
          <p:nvPr/>
        </p:nvSpPr>
        <p:spPr bwMode="auto">
          <a:xfrm>
            <a:off x="2647950" y="38401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218142" name="Text Box 30"/>
          <p:cNvSpPr txBox="1">
            <a:spLocks noChangeArrowheads="1"/>
          </p:cNvSpPr>
          <p:nvPr/>
        </p:nvSpPr>
        <p:spPr bwMode="auto">
          <a:xfrm>
            <a:off x="3800475" y="38401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2</a:t>
            </a:r>
            <a:endParaRPr lang="en-US" altLang="zh-CN"/>
          </a:p>
        </p:txBody>
      </p:sp>
      <p:sp>
        <p:nvSpPr>
          <p:cNvPr id="218143" name="Text Box 31"/>
          <p:cNvSpPr txBox="1">
            <a:spLocks noChangeArrowheads="1"/>
          </p:cNvSpPr>
          <p:nvPr/>
        </p:nvSpPr>
        <p:spPr bwMode="auto">
          <a:xfrm>
            <a:off x="5024438" y="38401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3</a:t>
            </a:r>
            <a:endParaRPr lang="en-US" altLang="zh-CN"/>
          </a:p>
        </p:txBody>
      </p:sp>
      <p:sp>
        <p:nvSpPr>
          <p:cNvPr id="218148" name="Text Box 36"/>
          <p:cNvSpPr txBox="1">
            <a:spLocks noChangeArrowheads="1"/>
          </p:cNvSpPr>
          <p:nvPr/>
        </p:nvSpPr>
        <p:spPr bwMode="auto">
          <a:xfrm>
            <a:off x="1527175" y="572770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/>
              <a:t>……</a:t>
            </a:r>
          </a:p>
        </p:txBody>
      </p:sp>
      <p:sp>
        <p:nvSpPr>
          <p:cNvPr id="218151" name="Text Box 39"/>
          <p:cNvSpPr txBox="1">
            <a:spLocks noChangeArrowheads="1"/>
          </p:cNvSpPr>
          <p:nvPr/>
        </p:nvSpPr>
        <p:spPr bwMode="auto">
          <a:xfrm>
            <a:off x="1835150" y="2636838"/>
            <a:ext cx="698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66"/>
                </a:solidFill>
              </a:rPr>
              <a:t>1.125</a:t>
            </a:r>
          </a:p>
        </p:txBody>
      </p:sp>
      <p:sp>
        <p:nvSpPr>
          <p:cNvPr id="218152" name="Text Box 40"/>
          <p:cNvSpPr txBox="1">
            <a:spLocks noChangeArrowheads="1"/>
          </p:cNvSpPr>
          <p:nvPr/>
        </p:nvSpPr>
        <p:spPr bwMode="auto">
          <a:xfrm>
            <a:off x="3059113" y="2636838"/>
            <a:ext cx="698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66"/>
                </a:solidFill>
              </a:rPr>
              <a:t>3.375</a:t>
            </a:r>
          </a:p>
        </p:txBody>
      </p:sp>
      <p:sp>
        <p:nvSpPr>
          <p:cNvPr id="218153" name="Text Box 41"/>
          <p:cNvSpPr txBox="1">
            <a:spLocks noChangeArrowheads="1"/>
          </p:cNvSpPr>
          <p:nvPr/>
        </p:nvSpPr>
        <p:spPr bwMode="auto">
          <a:xfrm>
            <a:off x="4211638" y="2636838"/>
            <a:ext cx="698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66"/>
                </a:solidFill>
              </a:rPr>
              <a:t>5.625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AB9F-DD5A-43F1-85AD-35D0C68C4764}" type="slidenum">
              <a:rPr lang="en-US" altLang="zh-CN"/>
              <a:pPr/>
              <a:t>35</a:t>
            </a:fld>
            <a:endParaRPr lang="en-US" altLang="zh-CN"/>
          </a:p>
        </p:txBody>
      </p:sp>
      <p:graphicFrame>
        <p:nvGraphicFramePr>
          <p:cNvPr id="220478" name="Group 3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653823"/>
              </p:ext>
            </p:extLst>
          </p:nvPr>
        </p:nvGraphicFramePr>
        <p:xfrm>
          <a:off x="1326807" y="1598676"/>
          <a:ext cx="6840537" cy="4498848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区间端点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jh+h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连续分布函数在端点的值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jh+h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/2)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离散化后的概率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1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  <a:endParaRPr kumimoji="0" lang="en-US" altLang="zh-CN" sz="1800" b="0" i="1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复合分布的概率值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</a:t>
                      </a:r>
                      <a:r>
                        <a:rPr kumimoji="0" lang="en-US" altLang="zh-CN" sz="1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0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15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0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  <a:endParaRPr kumimoji="0" lang="en-US" altLang="zh-CN" sz="1800" b="0" i="1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1.125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0.30124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0.30124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0.72625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hlinkClick r:id="rId3" action="ppaction://hlinkfile"/>
                        </a:rPr>
                        <a:t> 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3.375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0.628923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0.327682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0.10894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5.625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0.785114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0.156191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0.06010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7.875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0.867109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0.081995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0.03546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10.125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0.913465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0.046356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0.02196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12.375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0.941258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0.027793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0.01412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14.625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0.058742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0.02308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7+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0.00462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0309" name="Text Box 149"/>
          <p:cNvSpPr txBox="1">
            <a:spLocks noChangeArrowheads="1"/>
          </p:cNvSpPr>
          <p:nvPr/>
        </p:nvSpPr>
        <p:spPr bwMode="auto">
          <a:xfrm>
            <a:off x="1433513" y="6369933"/>
            <a:ext cx="3438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对每次损失的最大赔款 </a:t>
            </a:r>
            <a:r>
              <a:rPr lang="en-US" altLang="zh-CN" sz="2000" dirty="0">
                <a:solidFill>
                  <a:srgbClr val="FF0000"/>
                </a:solidFill>
              </a:rPr>
              <a:t>= 13.5</a:t>
            </a:r>
          </a:p>
        </p:txBody>
      </p:sp>
      <p:sp>
        <p:nvSpPr>
          <p:cNvPr id="220310" name="AutoShape 150"/>
          <p:cNvSpPr>
            <a:spLocks noChangeArrowheads="1"/>
          </p:cNvSpPr>
          <p:nvPr/>
        </p:nvSpPr>
        <p:spPr bwMode="auto">
          <a:xfrm>
            <a:off x="2555776" y="5668963"/>
            <a:ext cx="142875" cy="576262"/>
          </a:xfrm>
          <a:prstGeom prst="upArrow">
            <a:avLst>
              <a:gd name="adj1" fmla="val 50000"/>
              <a:gd name="adj2" fmla="val 100833"/>
            </a:avLst>
          </a:prstGeom>
          <a:solidFill>
            <a:srgbClr val="FF3300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rgbClr val="FF3300"/>
              </a:solidFill>
            </a:endParaRPr>
          </a:p>
        </p:txBody>
      </p:sp>
      <p:graphicFrame>
        <p:nvGraphicFramePr>
          <p:cNvPr id="220361" name="Object 201"/>
          <p:cNvGraphicFramePr>
            <a:graphicFrameLocks noChangeAspect="1"/>
          </p:cNvGraphicFramePr>
          <p:nvPr/>
        </p:nvGraphicFramePr>
        <p:xfrm>
          <a:off x="1320800" y="549275"/>
          <a:ext cx="3551238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979" name="Equation" r:id="rId4" imgW="1993680" imgH="444240" progId="Equation.DSMT4">
                  <p:embed/>
                </p:oleObj>
              </mc:Choice>
              <mc:Fallback>
                <p:oleObj name="Equation" r:id="rId4" imgW="1993680" imgH="444240" progId="Equation.DSMT4">
                  <p:embed/>
                  <p:pic>
                    <p:nvPicPr>
                      <p:cNvPr id="0" name="Object 2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549275"/>
                        <a:ext cx="3551238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362" name="Object 202"/>
          <p:cNvGraphicFramePr>
            <a:graphicFrameLocks noChangeAspect="1"/>
          </p:cNvGraphicFramePr>
          <p:nvPr/>
        </p:nvGraphicFramePr>
        <p:xfrm>
          <a:off x="5940425" y="765175"/>
          <a:ext cx="15128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980" name="Equation" r:id="rId6" imgW="787320" imgH="241200" progId="Equation.DSMT4">
                  <p:embed/>
                </p:oleObj>
              </mc:Choice>
              <mc:Fallback>
                <p:oleObj name="Equation" r:id="rId6" imgW="787320" imgH="241200" progId="Equation.DSMT4">
                  <p:embed/>
                  <p:pic>
                    <p:nvPicPr>
                      <p:cNvPr id="0" name="Object 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765175"/>
                        <a:ext cx="15128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467" name="Text Box 307"/>
          <p:cNvSpPr txBox="1">
            <a:spLocks noChangeArrowheads="1"/>
          </p:cNvSpPr>
          <p:nvPr/>
        </p:nvSpPr>
        <p:spPr bwMode="auto">
          <a:xfrm>
            <a:off x="395288" y="188913"/>
            <a:ext cx="48244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latin typeface="Symbol" pitchFamily="18" charset="2"/>
              </a:rPr>
              <a:t>应用复合泊松分布的递推公式：</a:t>
            </a:r>
            <a:r>
              <a:rPr lang="en-US" altLang="zh-CN" dirty="0">
                <a:solidFill>
                  <a:srgbClr val="FFFF00"/>
                </a:solidFill>
                <a:latin typeface="Symbol" pitchFamily="18" charset="2"/>
              </a:rPr>
              <a:t>l </a:t>
            </a:r>
            <a:r>
              <a:rPr lang="en-US" altLang="zh-CN" dirty="0">
                <a:solidFill>
                  <a:srgbClr val="FFFF00"/>
                </a:solidFill>
              </a:rPr>
              <a:t>= 0.45776</a:t>
            </a:r>
          </a:p>
        </p:txBody>
      </p:sp>
      <p:sp>
        <p:nvSpPr>
          <p:cNvPr id="220468" name="Text Box 308"/>
          <p:cNvSpPr txBox="1">
            <a:spLocks noChangeArrowheads="1"/>
          </p:cNvSpPr>
          <p:nvPr/>
        </p:nvSpPr>
        <p:spPr bwMode="auto">
          <a:xfrm>
            <a:off x="179388" y="1989138"/>
            <a:ext cx="941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rgbClr val="FF0066"/>
                </a:solidFill>
              </a:rPr>
              <a:t>h </a:t>
            </a:r>
            <a:r>
              <a:rPr lang="en-US" altLang="zh-CN" dirty="0">
                <a:solidFill>
                  <a:srgbClr val="FF0066"/>
                </a:solidFill>
              </a:rPr>
              <a:t>= 2.25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写出上述例题的 </a:t>
            </a:r>
            <a:r>
              <a:rPr lang="en-US" altLang="zh-CN" dirty="0" smtClean="0"/>
              <a:t>R </a:t>
            </a:r>
            <a:r>
              <a:rPr lang="zh-CN" altLang="en-US" dirty="0" smtClean="0"/>
              <a:t>程序代码。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B0E7-2579-429D-BCBA-C28DD1218EAD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3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37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251520" y="612110"/>
            <a:ext cx="8280920" cy="6109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800" i="1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# </a:t>
            </a:r>
            <a:r>
              <a:rPr lang="en-US" altLang="zh-CN" sz="800" i="1" dirty="0" err="1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对</a:t>
            </a:r>
            <a:r>
              <a:rPr lang="en-US" altLang="zh-CN" sz="800" i="1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pareto</a:t>
            </a:r>
            <a:r>
              <a:rPr lang="en-US" altLang="zh-CN" sz="800" i="1" dirty="0" err="1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离散化后，求复合分布</a:t>
            </a:r>
            <a:r>
              <a:rPr lang="en-US" altLang="zh-CN" sz="800" i="1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S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dpareto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&lt;-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function(x) {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L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^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)/((x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)^(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return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(L)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}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ppareto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&lt;-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function(x) {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L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/(x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))^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return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(L)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}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v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ppareto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6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lambda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3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v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Yp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&lt;-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function(y) {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if (y &lt;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13.5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 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    L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ppareto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(y/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0.75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6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))/v else L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return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(L)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}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i="1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# </a:t>
            </a:r>
            <a:r>
              <a:rPr lang="en-US" altLang="zh-CN" sz="800" i="1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pareto</a:t>
            </a:r>
            <a:r>
              <a:rPr lang="en-US" altLang="zh-CN" sz="800" i="1" dirty="0" err="1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分布的离散化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h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2.25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f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Yp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(h/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k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repeat {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k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k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last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Yp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((k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0.5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h)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Yp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((k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0.5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h)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f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(f, last)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if (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sum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(f) &gt;=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0.99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 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    break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}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i="1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# </a:t>
            </a:r>
            <a:r>
              <a:rPr lang="en-US" altLang="zh-CN" sz="800" i="1" dirty="0" err="1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递推公式求</a:t>
            </a:r>
            <a:r>
              <a:rPr lang="en-US" altLang="zh-CN" sz="800" i="1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S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g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exp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(-lambda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f[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]))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k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repeat {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k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k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</a:t>
            </a: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summ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if (k &lt;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length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(f)) 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    upper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k else upper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length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(f)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for (j in </a:t>
            </a:r>
            <a:r>
              <a:rPr lang="en-US" altLang="zh-CN" sz="800" dirty="0" err="1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:upper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 {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    </a:t>
            </a: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summ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summ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j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f[j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]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g[k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j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]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}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g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(g, </a:t>
            </a: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summ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lambda/k)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if (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sum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(g) &gt;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0.999999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 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    break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}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sum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(g)</a:t>
            </a:r>
            <a:endParaRPr lang="zh-CN" altLang="zh-CN" sz="800" dirty="0">
              <a:latin typeface="Consolas"/>
              <a:ea typeface="宋体"/>
              <a:cs typeface="Times New Roman"/>
            </a:endParaRPr>
          </a:p>
          <a:p>
            <a:pPr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800" dirty="0">
                <a:latin typeface="Consolas"/>
                <a:ea typeface="宋体"/>
                <a:cs typeface="Times New Roman"/>
              </a:rPr>
              <a:t>## [1] 0.9999995</a:t>
            </a:r>
            <a:endParaRPr lang="zh-CN" altLang="zh-CN" sz="800" dirty="0">
              <a:effectLst/>
              <a:latin typeface="Consolas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3181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38</a:t>
            </a:fld>
            <a:endParaRPr lang="en-US" altLang="zh-CN"/>
          </a:p>
        </p:txBody>
      </p:sp>
      <p:pic>
        <p:nvPicPr>
          <p:cNvPr id="5" name="Picture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71600" y="1124744"/>
            <a:ext cx="6984776" cy="496855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8012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39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836124" y="2132856"/>
            <a:ext cx="47175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3333FF"/>
                </a:solidFill>
              </a:rPr>
              <a:t>随机模拟</a:t>
            </a:r>
            <a:r>
              <a:rPr lang="zh-CN" altLang="en-US" sz="4000" b="1" dirty="0">
                <a:solidFill>
                  <a:srgbClr val="3333FF"/>
                </a:solidFill>
              </a:rPr>
              <a:t>法</a:t>
            </a:r>
            <a:endParaRPr lang="en-US" altLang="zh-CN" sz="4000" b="1" dirty="0" smtClean="0">
              <a:solidFill>
                <a:srgbClr val="3333FF"/>
              </a:solidFill>
            </a:endParaRPr>
          </a:p>
          <a:p>
            <a:pPr algn="ctr"/>
            <a:r>
              <a:rPr lang="en-US" altLang="zh-CN" sz="4000" b="1" dirty="0" smtClean="0">
                <a:solidFill>
                  <a:srgbClr val="3333FF"/>
                </a:solidFill>
              </a:rPr>
              <a:t>Simulation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6379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400" b="1" dirty="0" smtClean="0"/>
              <a:t>例（随机模拟）：损失次数</a:t>
            </a:r>
            <a:r>
              <a:rPr lang="zh-CN" altLang="en-US" sz="2400" b="1" dirty="0"/>
              <a:t>服从参数为</a:t>
            </a:r>
            <a:r>
              <a:rPr lang="en-US" altLang="zh-CN" sz="2400" b="1" dirty="0" smtClean="0"/>
              <a:t>lam = 3</a:t>
            </a:r>
            <a:r>
              <a:rPr lang="zh-CN" altLang="en-US" sz="2400" b="1" dirty="0" smtClean="0"/>
              <a:t>的</a:t>
            </a:r>
            <a:r>
              <a:rPr lang="zh-CN" altLang="en-US" sz="2400" b="1" dirty="0"/>
              <a:t>泊松分布，损失金额服从参数为</a:t>
            </a:r>
            <a:r>
              <a:rPr lang="en-US" altLang="zh-CN" sz="2400" b="1" dirty="0" smtClean="0"/>
              <a:t>(mu = 6, sigma = 1)</a:t>
            </a:r>
            <a:r>
              <a:rPr lang="zh-CN" altLang="en-US" sz="2400" b="1" dirty="0" smtClean="0"/>
              <a:t>的对数正态分布</a:t>
            </a:r>
            <a:r>
              <a:rPr lang="zh-CN" altLang="en-US" sz="2400" b="1" dirty="0"/>
              <a:t>，假设每次索赔的限额是</a:t>
            </a:r>
            <a:r>
              <a:rPr lang="en-US" altLang="zh-CN" sz="2400" b="1" dirty="0"/>
              <a:t>1000</a:t>
            </a:r>
            <a:r>
              <a:rPr lang="zh-CN" altLang="en-US" sz="2400" b="1" dirty="0"/>
              <a:t>，求累积索赔金额的分布。</a:t>
            </a:r>
          </a:p>
          <a:p>
            <a:pPr>
              <a:lnSpc>
                <a:spcPct val="200000"/>
              </a:lnSpc>
            </a:pPr>
            <a:endParaRPr lang="zh-CN" altLang="en-US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40</a:t>
            </a:fld>
            <a:endParaRPr lang="en-US" altLang="zh-CN"/>
          </a:p>
        </p:txBody>
      </p:sp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421463" y="362078"/>
            <a:ext cx="8229600" cy="789140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例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76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C01E-CA9E-4187-9252-2E548696C1BB}" type="slidenum">
              <a:rPr lang="en-US" altLang="zh-CN" smtClean="0"/>
              <a:pPr/>
              <a:t>41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503934" y="692696"/>
            <a:ext cx="849694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latin typeface="Consolas"/>
                <a:ea typeface="宋体"/>
                <a:cs typeface="Times New Roman"/>
              </a:rPr>
              <a:t>lam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3                   #</a:t>
            </a:r>
            <a:r>
              <a:rPr lang="zh-CN" altLang="en-US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泊松参数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 smtClean="0">
                <a:latin typeface="Consolas"/>
                <a:ea typeface="宋体"/>
                <a:cs typeface="Times New Roman"/>
              </a:rPr>
              <a:t>mu 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6;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 sigma =</a:t>
            </a:r>
            <a:r>
              <a:rPr lang="en-US" altLang="zh-CN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1.5</a:t>
            </a:r>
            <a:r>
              <a:rPr lang="zh-CN" altLang="en-US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      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#</a:t>
            </a:r>
            <a:r>
              <a:rPr lang="zh-CN" altLang="en-US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对数正态分布的参数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 smtClean="0">
                <a:latin typeface="Consolas"/>
                <a:ea typeface="宋体"/>
                <a:cs typeface="Times New Roman"/>
              </a:rPr>
              <a:t>u 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1000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 smtClean="0">
                <a:latin typeface="Consolas"/>
                <a:ea typeface="宋体"/>
                <a:cs typeface="Times New Roman"/>
              </a:rPr>
              <a:t>s 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n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NULL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>
                <a:latin typeface="Consolas"/>
                <a:ea typeface="宋体"/>
                <a:cs typeface="Times New Roman"/>
              </a:rPr>
              <a:t>for ( </a:t>
            </a:r>
            <a:r>
              <a:rPr lang="en-US" altLang="zh-CN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 in </a:t>
            </a:r>
            <a:r>
              <a:rPr lang="en-US" altLang="zh-CN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10000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) {</a:t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>
                <a:latin typeface="Consolas"/>
                <a:ea typeface="宋体"/>
                <a:cs typeface="Times New Roman"/>
              </a:rPr>
              <a:t>    n[</a:t>
            </a:r>
            <a:r>
              <a:rPr lang="en-US" altLang="zh-CN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]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rpois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lambda =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 lam)</a:t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>
                <a:latin typeface="Consolas"/>
                <a:ea typeface="宋体"/>
                <a:cs typeface="Times New Roman"/>
              </a:rPr>
              <a:t>    s[</a:t>
            </a:r>
            <a:r>
              <a:rPr lang="en-US" altLang="zh-CN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]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sum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pmin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rlnorm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(n[</a:t>
            </a:r>
            <a:r>
              <a:rPr lang="en-US" altLang="zh-CN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], </a:t>
            </a:r>
            <a:r>
              <a:rPr lang="en-US" altLang="zh-CN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meanlog</a:t>
            </a:r>
            <a:r>
              <a:rPr lang="en-US" altLang="zh-CN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 mu, </a:t>
            </a:r>
            <a:r>
              <a:rPr lang="en-US" altLang="zh-CN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sdlog</a:t>
            </a:r>
            <a:r>
              <a:rPr lang="en-US" altLang="zh-CN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 sigma), u))</a:t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>
                <a:latin typeface="Consolas"/>
                <a:ea typeface="宋体"/>
                <a:cs typeface="Times New Roman"/>
              </a:rPr>
              <a:t>    s[</a:t>
            </a:r>
            <a:r>
              <a:rPr lang="en-US" altLang="zh-CN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]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round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(s[</a:t>
            </a:r>
            <a:r>
              <a:rPr lang="en-US" altLang="zh-CN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])</a:t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>
                <a:latin typeface="Consolas"/>
                <a:ea typeface="宋体"/>
                <a:cs typeface="Times New Roman"/>
              </a:rPr>
              <a:t>    }</a:t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hist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(s, </a:t>
            </a:r>
            <a:r>
              <a:rPr lang="en-US" altLang="zh-CN" dirty="0" err="1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freq</a:t>
            </a:r>
            <a:r>
              <a:rPr lang="en-US" altLang="zh-CN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F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breaks =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1000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col =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)</a:t>
            </a:r>
          </a:p>
          <a:p>
            <a:pPr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latin typeface="Consolas"/>
                <a:ea typeface="宋体"/>
                <a:cs typeface="Times New Roman"/>
              </a:rPr>
              <a:t>s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sort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(s)</a:t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plot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(s, </a:t>
            </a:r>
            <a:r>
              <a:rPr lang="en-US" altLang="zh-CN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cumsum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(s)/</a:t>
            </a:r>
            <a:r>
              <a:rPr lang="en-US" altLang="zh-CN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sum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(s), </a:t>
            </a:r>
            <a:r>
              <a:rPr lang="en-US" altLang="zh-CN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type = 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's'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col =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)</a:t>
            </a:r>
            <a:endParaRPr lang="zh-CN" altLang="zh-CN" dirty="0">
              <a:latin typeface="Consolas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098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42</a:t>
            </a:fld>
            <a:endParaRPr lang="en-US" altLang="zh-CN"/>
          </a:p>
        </p:txBody>
      </p:sp>
      <p:pic>
        <p:nvPicPr>
          <p:cNvPr id="405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90693"/>
            <a:ext cx="8560521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11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43</a:t>
            </a:fld>
            <a:endParaRPr lang="en-US" altLang="zh-CN"/>
          </a:p>
        </p:txBody>
      </p:sp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421463" y="362078"/>
            <a:ext cx="8229600" cy="789140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课堂练习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内容占位符 3"/>
          <p:cNvSpPr>
            <a:spLocks noGrp="1"/>
          </p:cNvSpPr>
          <p:nvPr>
            <p:ph idx="1"/>
          </p:nvPr>
        </p:nvSpPr>
        <p:spPr>
          <a:xfrm>
            <a:off x="323528" y="1431404"/>
            <a:ext cx="8229600" cy="45259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1800" b="1" dirty="0" smtClean="0"/>
              <a:t>假设某保单规定，对每次损失有一个免赔额 </a:t>
            </a:r>
            <a:r>
              <a:rPr lang="en-US" altLang="zh-CN" sz="1800" b="1" dirty="0" smtClean="0"/>
              <a:t>d = 250</a:t>
            </a:r>
            <a:r>
              <a:rPr lang="zh-CN" altLang="en-US" sz="1800" b="1" dirty="0" smtClean="0"/>
              <a:t>，但在一年内，保单持有人的自负额不超过 </a:t>
            </a:r>
            <a:r>
              <a:rPr lang="en-US" altLang="zh-CN" sz="1800" b="1" dirty="0" smtClean="0"/>
              <a:t>u = 1000</a:t>
            </a:r>
          </a:p>
          <a:p>
            <a:pPr>
              <a:lnSpc>
                <a:spcPct val="200000"/>
              </a:lnSpc>
            </a:pPr>
            <a:r>
              <a:rPr lang="zh-CN" altLang="en-US" sz="1800" b="1" dirty="0" smtClean="0"/>
              <a:t>如果损失次数服从负二项分布，参数为 </a:t>
            </a:r>
            <a:r>
              <a:rPr lang="en-US" altLang="zh-CN" sz="1800" b="1" dirty="0" smtClean="0"/>
              <a:t>r = 3, beta = 2; </a:t>
            </a:r>
            <a:r>
              <a:rPr lang="zh-CN" altLang="en-US" sz="1800" b="1" dirty="0" smtClean="0"/>
              <a:t>每次损失金额服从伽马分布，参数为 </a:t>
            </a:r>
            <a:r>
              <a:rPr lang="en-US" altLang="zh-CN" sz="1800" b="1" dirty="0" smtClean="0"/>
              <a:t>alpha = 100</a:t>
            </a:r>
            <a:r>
              <a:rPr lang="zh-CN" altLang="en-US" sz="1800" b="1" dirty="0" smtClean="0"/>
              <a:t>（</a:t>
            </a:r>
            <a:r>
              <a:rPr lang="en-US" altLang="zh-CN" sz="1800" b="1" dirty="0" smtClean="0"/>
              <a:t>shape</a:t>
            </a:r>
            <a:r>
              <a:rPr lang="zh-CN" altLang="en-US" sz="1800" b="1" dirty="0" smtClean="0"/>
              <a:t>）</a:t>
            </a:r>
            <a:r>
              <a:rPr lang="en-US" altLang="zh-CN" sz="1800" b="1" dirty="0" smtClean="0"/>
              <a:t>, theta = 0.2</a:t>
            </a:r>
            <a:r>
              <a:rPr lang="zh-CN" altLang="en-US" sz="1800" b="1" dirty="0" smtClean="0"/>
              <a:t>（</a:t>
            </a:r>
            <a:r>
              <a:rPr lang="en-US" altLang="zh-CN" sz="1800" b="1" dirty="0" smtClean="0"/>
              <a:t>rate</a:t>
            </a:r>
            <a:r>
              <a:rPr lang="zh-CN" altLang="en-US" sz="1800" b="1" dirty="0" smtClean="0"/>
              <a:t>）</a:t>
            </a:r>
            <a:endParaRPr lang="zh-CN" altLang="en-US" sz="1800" dirty="0"/>
          </a:p>
          <a:p>
            <a:pPr>
              <a:lnSpc>
                <a:spcPct val="200000"/>
              </a:lnSpc>
            </a:pPr>
            <a:r>
              <a:rPr lang="zh-CN" altLang="en-US" sz="1800" b="1" dirty="0"/>
              <a:t>请</a:t>
            </a:r>
            <a:r>
              <a:rPr lang="zh-CN" altLang="en-US" sz="1800" b="1" dirty="0" smtClean="0"/>
              <a:t>确定保险人年度累积赔款的均值和 </a:t>
            </a:r>
            <a:r>
              <a:rPr lang="en-US" altLang="zh-CN" sz="1800" b="1" dirty="0" smtClean="0"/>
              <a:t>95% </a:t>
            </a:r>
            <a:r>
              <a:rPr lang="zh-CN" altLang="en-US" sz="1800" b="1" dirty="0" smtClean="0"/>
              <a:t>的分位数</a:t>
            </a:r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64537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44</a:t>
            </a:fld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116632"/>
            <a:ext cx="8869814" cy="6604843"/>
          </a:xfrm>
        </p:spPr>
        <p:txBody>
          <a:bodyPr/>
          <a:lstStyle/>
          <a:p>
            <a:pPr algn="l" latinLnBrk="1">
              <a:spcAft>
                <a:spcPts val="1000"/>
              </a:spcAft>
            </a:pP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set.seed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321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1800" i="1" dirty="0" smtClean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设定随机种子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iter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10000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1800" i="1" dirty="0" smtClean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模拟次数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250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u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1000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1800" i="1" dirty="0" smtClean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免赔额和限额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beta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1800" i="1" dirty="0" smtClean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负二项分布的参数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alpha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theta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0.2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i="1" dirty="0" smtClean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伽马分布的参数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</a:t>
            </a:r>
            <a:r>
              <a:rPr lang="en-US" altLang="zh-CN" sz="1800" i="1" dirty="0" smtClean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保险人的年度累积赔款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开始模拟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 (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:iter){</a:t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n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rnbinom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mu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r*beta)  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模拟损失次数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x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rgamma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shape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alpha,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rate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theta) 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模拟每次事故的损失额，x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是一个向量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w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pmin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(x, d)  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保单持有人对每次损失的自负金额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v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min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(w), u) 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保单持有人自负的总金额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\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S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(x)   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保单持有人的总损失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P[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 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 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保单持有人的年度累积赔款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hist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(P,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breaks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col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'grey'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prob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''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ylab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1800" dirty="0" err="1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频率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xlab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1800" dirty="0" err="1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累积赔款</a:t>
            </a:r>
            <a:r>
              <a:rPr lang="en-US" altLang="zh-CN" sz="1800" dirty="0" smtClean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zh-CN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endParaRPr lang="zh-CN" alt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57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45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36712"/>
            <a:ext cx="7552381" cy="4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9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483768" y="289527"/>
            <a:ext cx="3312368" cy="498450"/>
          </a:xfrm>
        </p:spPr>
        <p:txBody>
          <a:bodyPr/>
          <a:lstStyle/>
          <a:p>
            <a:r>
              <a:rPr lang="zh-CN" altLang="en-US" sz="3200" b="1" dirty="0" smtClean="0">
                <a:solidFill>
                  <a:srgbClr val="3333FF"/>
                </a:solidFill>
              </a:rPr>
              <a:t>作业：随机</a:t>
            </a:r>
            <a:r>
              <a:rPr lang="zh-CN" altLang="en-US" sz="3200" b="1" dirty="0">
                <a:solidFill>
                  <a:srgbClr val="3333FF"/>
                </a:solidFill>
              </a:rPr>
              <a:t>模拟</a:t>
            </a:r>
            <a:endParaRPr lang="zh-CN" altLang="en-US" sz="3200" b="1" dirty="0">
              <a:solidFill>
                <a:srgbClr val="3333FF"/>
              </a:solidFill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74018"/>
            <a:ext cx="8229600" cy="3887787"/>
          </a:xfrm>
        </p:spPr>
        <p:txBody>
          <a:bodyPr/>
          <a:lstStyle/>
          <a:p>
            <a:r>
              <a:rPr lang="zh-CN" altLang="en-US" b="1" dirty="0">
                <a:latin typeface="Times New Roman" pitchFamily="18" charset="0"/>
              </a:rPr>
              <a:t>损失次数</a:t>
            </a:r>
            <a:r>
              <a:rPr lang="en-US" altLang="zh-CN" b="1" i="1" dirty="0">
                <a:latin typeface="Times New Roman" pitchFamily="18" charset="0"/>
              </a:rPr>
              <a:t>N</a:t>
            </a:r>
            <a:r>
              <a:rPr lang="en-US" altLang="zh-CN" b="1" dirty="0">
                <a:latin typeface="Times New Roman" pitchFamily="18" charset="0"/>
              </a:rPr>
              <a:t>: </a:t>
            </a:r>
            <a:r>
              <a:rPr lang="zh-CN" altLang="en-US" b="1" dirty="0">
                <a:latin typeface="Times New Roman" pitchFamily="18" charset="0"/>
              </a:rPr>
              <a:t>泊松 </a:t>
            </a:r>
            <a:r>
              <a:rPr lang="en-US" altLang="zh-CN" b="1" dirty="0">
                <a:latin typeface="Times New Roman" pitchFamily="18" charset="0"/>
              </a:rPr>
              <a:t>(</a:t>
            </a:r>
            <a:r>
              <a:rPr lang="en-US" altLang="zh-CN" b="1" dirty="0">
                <a:latin typeface="Symbol" pitchFamily="18" charset="2"/>
              </a:rPr>
              <a:t>l = 3)</a:t>
            </a:r>
            <a:endParaRPr lang="en-US" altLang="zh-CN" b="1" i="1" dirty="0">
              <a:latin typeface="Times New Roman" pitchFamily="18" charset="0"/>
            </a:endParaRPr>
          </a:p>
          <a:p>
            <a:r>
              <a:rPr lang="zh-CN" altLang="en-US" b="1" dirty="0">
                <a:latin typeface="Times New Roman" pitchFamily="18" charset="0"/>
              </a:rPr>
              <a:t>损失金额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i="1" baseline="-25000" dirty="0">
                <a:latin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</a:rPr>
              <a:t>: </a:t>
            </a:r>
            <a:r>
              <a:rPr lang="zh-CN" altLang="en-US" b="1" dirty="0">
                <a:latin typeface="Times New Roman" pitchFamily="18" charset="0"/>
              </a:rPr>
              <a:t>帕累托</a:t>
            </a:r>
            <a:r>
              <a:rPr lang="en-US" altLang="zh-CN" b="1" dirty="0">
                <a:latin typeface="Times New Roman" pitchFamily="18" charset="0"/>
              </a:rPr>
              <a:t>(</a:t>
            </a:r>
            <a:r>
              <a:rPr lang="en-US" altLang="zh-CN" b="1" dirty="0">
                <a:latin typeface="Symbol" pitchFamily="18" charset="2"/>
              </a:rPr>
              <a:t>a = </a:t>
            </a:r>
            <a:r>
              <a:rPr lang="en-US" altLang="zh-CN" b="1" dirty="0" smtClean="0">
                <a:latin typeface="Symbol" pitchFamily="18" charset="2"/>
              </a:rPr>
              <a:t>4,  </a:t>
            </a:r>
            <a:r>
              <a:rPr lang="en-US" altLang="zh-CN" b="1" dirty="0">
                <a:latin typeface="Symbol" pitchFamily="18" charset="2"/>
              </a:rPr>
              <a:t>q =10)</a:t>
            </a:r>
          </a:p>
          <a:p>
            <a:r>
              <a:rPr lang="zh-CN" altLang="en-US" b="1" dirty="0">
                <a:latin typeface="Times New Roman" pitchFamily="18" charset="0"/>
              </a:rPr>
              <a:t>对每次损失的一般免赔额</a:t>
            </a:r>
            <a:r>
              <a:rPr lang="en-US" altLang="zh-CN" b="1" dirty="0">
                <a:latin typeface="Times New Roman" pitchFamily="18" charset="0"/>
              </a:rPr>
              <a:t>: </a:t>
            </a:r>
            <a:r>
              <a:rPr lang="en-US" altLang="zh-CN" b="1" i="1" dirty="0">
                <a:latin typeface="Times New Roman" pitchFamily="18" charset="0"/>
              </a:rPr>
              <a:t>d</a:t>
            </a:r>
            <a:r>
              <a:rPr lang="en-US" altLang="zh-CN" b="1" dirty="0">
                <a:latin typeface="Times New Roman" pitchFamily="18" charset="0"/>
              </a:rPr>
              <a:t> = 6</a:t>
            </a:r>
          </a:p>
          <a:p>
            <a:r>
              <a:rPr lang="zh-CN" altLang="en-US" b="1" dirty="0">
                <a:latin typeface="Times New Roman" pitchFamily="18" charset="0"/>
              </a:rPr>
              <a:t>对每次损失的赔偿限额：</a:t>
            </a:r>
            <a:r>
              <a:rPr lang="en-US" altLang="zh-CN" b="1" dirty="0" smtClean="0">
                <a:latin typeface="Times New Roman" pitchFamily="18" charset="0"/>
              </a:rPr>
              <a:t>18, </a:t>
            </a:r>
            <a:r>
              <a:rPr lang="zh-CN" altLang="en-US" b="1" dirty="0" smtClean="0">
                <a:latin typeface="Times New Roman" pitchFamily="18" charset="0"/>
              </a:rPr>
              <a:t>故 </a:t>
            </a:r>
            <a:r>
              <a:rPr lang="en-US" altLang="zh-CN" b="1" i="1" dirty="0">
                <a:latin typeface="Times New Roman" pitchFamily="18" charset="0"/>
              </a:rPr>
              <a:t>u</a:t>
            </a:r>
            <a:r>
              <a:rPr lang="en-US" altLang="zh-CN" b="1" dirty="0">
                <a:latin typeface="Times New Roman" pitchFamily="18" charset="0"/>
              </a:rPr>
              <a:t> = 24</a:t>
            </a:r>
          </a:p>
          <a:p>
            <a:r>
              <a:rPr lang="zh-CN" altLang="en-US" b="1" dirty="0">
                <a:latin typeface="Times New Roman" pitchFamily="18" charset="0"/>
              </a:rPr>
              <a:t>共保比例</a:t>
            </a:r>
            <a:r>
              <a:rPr lang="en-US" altLang="zh-CN" b="1" dirty="0">
                <a:latin typeface="Times New Roman" pitchFamily="18" charset="0"/>
              </a:rPr>
              <a:t>: 75%</a:t>
            </a:r>
          </a:p>
          <a:p>
            <a:r>
              <a:rPr lang="zh-CN" altLang="en-US" b="1" dirty="0" smtClean="0">
                <a:latin typeface="Times New Roman" pitchFamily="18" charset="0"/>
              </a:rPr>
              <a:t>求保险公司</a:t>
            </a:r>
            <a:r>
              <a:rPr lang="zh-CN" altLang="en-US" b="1" dirty="0">
                <a:latin typeface="Times New Roman" pitchFamily="18" charset="0"/>
              </a:rPr>
              <a:t>累积赔款</a:t>
            </a:r>
            <a:r>
              <a:rPr lang="en-US" altLang="zh-CN" b="1" dirty="0">
                <a:latin typeface="Times New Roman" pitchFamily="18" charset="0"/>
              </a:rPr>
              <a:t>S</a:t>
            </a:r>
            <a:r>
              <a:rPr lang="zh-CN" altLang="en-US" b="1" dirty="0">
                <a:latin typeface="Times New Roman" pitchFamily="18" charset="0"/>
              </a:rPr>
              <a:t>的分布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2268-5335-4518-A183-843CE16153E8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164866" name="Text Box 2"/>
          <p:cNvSpPr txBox="1">
            <a:spLocks noChangeArrowheads="1"/>
          </p:cNvSpPr>
          <p:nvPr/>
        </p:nvSpPr>
        <p:spPr bwMode="auto">
          <a:xfrm>
            <a:off x="250537" y="5141849"/>
            <a:ext cx="75200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3333FF"/>
                </a:solidFill>
              </a:rPr>
              <a:t>注：保险公司对每次损失的最大赔款</a:t>
            </a:r>
            <a:r>
              <a:rPr lang="zh-CN" altLang="en-US" sz="2400" dirty="0" smtClean="0">
                <a:solidFill>
                  <a:srgbClr val="3333FF"/>
                </a:solidFill>
              </a:rPr>
              <a:t>为 </a:t>
            </a:r>
            <a:r>
              <a:rPr lang="en-US" altLang="zh-CN" sz="2400" dirty="0" smtClean="0">
                <a:solidFill>
                  <a:srgbClr val="3333FF"/>
                </a:solidFill>
              </a:rPr>
              <a:t>18×75</a:t>
            </a:r>
            <a:r>
              <a:rPr lang="en-US" altLang="zh-CN" sz="2400" dirty="0">
                <a:solidFill>
                  <a:srgbClr val="3333FF"/>
                </a:solidFill>
              </a:rPr>
              <a:t>%</a:t>
            </a:r>
            <a:r>
              <a:rPr lang="zh-CN" altLang="en-US" sz="2400" dirty="0">
                <a:solidFill>
                  <a:srgbClr val="3333FF"/>
                </a:solidFill>
              </a:rPr>
              <a:t>＝</a:t>
            </a:r>
            <a:r>
              <a:rPr lang="en-US" altLang="zh-CN" sz="2400" dirty="0">
                <a:solidFill>
                  <a:srgbClr val="3333FF"/>
                </a:solidFill>
              </a:rPr>
              <a:t>13.5</a:t>
            </a:r>
          </a:p>
        </p:txBody>
      </p:sp>
    </p:spTree>
    <p:extLst>
      <p:ext uri="{BB962C8B-B14F-4D97-AF65-F5344CB8AC3E}">
        <p14:creationId xmlns:p14="http://schemas.microsoft.com/office/powerpoint/2010/main" val="262176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uiExpand="1" build="p"/>
      <p:bldP spid="16486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703288"/>
            <a:ext cx="7543800" cy="858837"/>
          </a:xfrm>
        </p:spPr>
        <p:txBody>
          <a:bodyPr/>
          <a:lstStyle/>
          <a:p>
            <a:r>
              <a:rPr lang="en-US" altLang="zh-CN" dirty="0">
                <a:latin typeface="Times New Roman" pitchFamily="18" charset="0"/>
              </a:rPr>
              <a:t>4. </a:t>
            </a:r>
            <a:r>
              <a:rPr lang="zh-CN" altLang="en-US" dirty="0">
                <a:latin typeface="Times New Roman" pitchFamily="18" charset="0"/>
              </a:rPr>
              <a:t>个体风险模型</a:t>
            </a:r>
          </a:p>
        </p:txBody>
      </p:sp>
      <p:sp>
        <p:nvSpPr>
          <p:cNvPr id="330755" name="Rectangle 3"/>
          <p:cNvSpPr>
            <a:spLocks noGrp="1" noChangeArrowheads="1"/>
          </p:cNvSpPr>
          <p:nvPr>
            <p:ph idx="1"/>
          </p:nvPr>
        </p:nvSpPr>
        <p:spPr>
          <a:xfrm>
            <a:off x="744537" y="2000275"/>
            <a:ext cx="7942263" cy="44830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 smtClean="0"/>
              <a:t>参数近似</a:t>
            </a:r>
            <a:endParaRPr lang="en-US" altLang="zh-CN" b="1" dirty="0" smtClean="0"/>
          </a:p>
          <a:p>
            <a:pPr lvl="1">
              <a:lnSpc>
                <a:spcPct val="120000"/>
              </a:lnSpc>
            </a:pPr>
            <a:r>
              <a:rPr lang="en-US" altLang="zh-CN" b="1" dirty="0" smtClean="0"/>
              <a:t>Normal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Lognormal</a:t>
            </a:r>
          </a:p>
          <a:p>
            <a:pPr lvl="1">
              <a:lnSpc>
                <a:spcPct val="120000"/>
              </a:lnSpc>
            </a:pPr>
            <a:r>
              <a:rPr lang="en-US" altLang="zh-CN" b="1" dirty="0"/>
              <a:t>Translated gamma</a:t>
            </a:r>
          </a:p>
          <a:p>
            <a:pPr lvl="1">
              <a:lnSpc>
                <a:spcPct val="120000"/>
              </a:lnSpc>
            </a:pPr>
            <a:r>
              <a:rPr lang="en-US" altLang="zh-CN" b="1" dirty="0"/>
              <a:t>Normal power (NP</a:t>
            </a:r>
            <a:r>
              <a:rPr lang="en-US" altLang="zh-CN" b="1" dirty="0" smtClean="0"/>
              <a:t>)</a:t>
            </a:r>
            <a:endParaRPr lang="en-US" altLang="zh-CN" b="1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BFAB-FC91-423F-98E7-F6C341B92618}" type="slidenum">
              <a:rPr lang="en-US" altLang="zh-CN"/>
              <a:pPr/>
              <a:t>47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655663"/>
            <a:ext cx="7543800" cy="498450"/>
          </a:xfrm>
        </p:spPr>
        <p:txBody>
          <a:bodyPr/>
          <a:lstStyle/>
          <a:p>
            <a:pPr marL="609600" indent="-609600"/>
            <a:r>
              <a:rPr lang="en-US" altLang="zh-CN" sz="2800" dirty="0">
                <a:solidFill>
                  <a:srgbClr val="3333FF"/>
                </a:solidFill>
              </a:rPr>
              <a:t>4.1  </a:t>
            </a:r>
            <a:r>
              <a:rPr lang="zh-CN" altLang="en-US" sz="2800" dirty="0">
                <a:solidFill>
                  <a:srgbClr val="3333FF"/>
                </a:solidFill>
              </a:rPr>
              <a:t>个体风险模型的参数近似</a:t>
            </a:r>
            <a:r>
              <a:rPr lang="en-US" altLang="zh-CN" sz="1800" dirty="0">
                <a:solidFill>
                  <a:srgbClr val="3333FF"/>
                </a:solidFill>
              </a:rPr>
              <a:t>(</a:t>
            </a:r>
            <a:r>
              <a:rPr lang="zh-CN" altLang="en-US" sz="1800" dirty="0">
                <a:solidFill>
                  <a:srgbClr val="3333FF"/>
                </a:solidFill>
              </a:rPr>
              <a:t>需要</a:t>
            </a:r>
            <a:r>
              <a:rPr lang="en-US" altLang="zh-CN" sz="1800" dirty="0">
                <a:solidFill>
                  <a:srgbClr val="3333FF"/>
                </a:solidFill>
              </a:rPr>
              <a:t>S</a:t>
            </a:r>
            <a:r>
              <a:rPr lang="zh-CN" altLang="en-US" sz="1800" dirty="0">
                <a:solidFill>
                  <a:srgbClr val="3333FF"/>
                </a:solidFill>
              </a:rPr>
              <a:t>的均值和方差）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29600" cy="486251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itchFamily="18" charset="0"/>
              </a:rPr>
              <a:t>个体风险模型</a:t>
            </a:r>
            <a:r>
              <a:rPr lang="zh-CN" altLang="en-US" dirty="0" smtClean="0">
                <a:latin typeface="Times New Roman" pitchFamily="18" charset="0"/>
              </a:rPr>
              <a:t>：独立</a:t>
            </a:r>
            <a:r>
              <a:rPr lang="zh-CN" altLang="en-US" dirty="0">
                <a:latin typeface="Times New Roman" pitchFamily="18" charset="0"/>
              </a:rPr>
              <a:t>（但不一定同分布）随机变量之和。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         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1</a:t>
            </a:r>
            <a:r>
              <a:rPr lang="en-US" altLang="zh-CN" baseline="-25000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+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2</a:t>
            </a:r>
            <a:r>
              <a:rPr lang="en-US" altLang="zh-CN" baseline="-25000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+…+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i="1" baseline="-25000" dirty="0" err="1">
                <a:latin typeface="Times New Roman" pitchFamily="18" charset="0"/>
              </a:rPr>
              <a:t>n</a:t>
            </a:r>
            <a:endParaRPr lang="en-US" altLang="zh-CN" i="1" baseline="-25000" dirty="0">
              <a:latin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itchFamily="18" charset="0"/>
              </a:rPr>
              <a:t>通常用于</a:t>
            </a:r>
            <a:r>
              <a:rPr lang="zh-CN" altLang="en-US" dirty="0" smtClean="0">
                <a:latin typeface="Times New Roman" pitchFamily="18" charset="0"/>
              </a:rPr>
              <a:t>描述 </a:t>
            </a:r>
            <a:r>
              <a:rPr lang="en-US" altLang="zh-CN" i="1" dirty="0" smtClean="0">
                <a:latin typeface="Times New Roman" pitchFamily="18" charset="0"/>
              </a:rPr>
              <a:t>n </a:t>
            </a:r>
            <a:r>
              <a:rPr lang="zh-CN" altLang="en-US" dirty="0" smtClean="0">
                <a:latin typeface="Times New Roman" pitchFamily="18" charset="0"/>
              </a:rPr>
              <a:t>份</a:t>
            </a:r>
            <a:r>
              <a:rPr lang="zh-CN" altLang="en-US" dirty="0">
                <a:latin typeface="Times New Roman" pitchFamily="18" charset="0"/>
              </a:rPr>
              <a:t>保单的累积损失。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itchFamily="18" charset="0"/>
              </a:rPr>
              <a:t>最初起源于</a:t>
            </a:r>
            <a:r>
              <a:rPr lang="zh-CN" altLang="en-US" dirty="0" smtClean="0">
                <a:latin typeface="Times New Roman" pitchFamily="18" charset="0"/>
              </a:rPr>
              <a:t>人寿保险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有关</a:t>
            </a:r>
            <a:r>
              <a:rPr lang="zh-CN" altLang="en-US" dirty="0">
                <a:latin typeface="Times New Roman" pitchFamily="18" charset="0"/>
              </a:rPr>
              <a:t>符号如下：</a:t>
            </a:r>
          </a:p>
          <a:p>
            <a:pPr lvl="1">
              <a:lnSpc>
                <a:spcPct val="120000"/>
              </a:lnSpc>
            </a:pPr>
            <a:r>
              <a:rPr lang="en-US" altLang="zh-CN" i="1" dirty="0" err="1">
                <a:latin typeface="Times New Roman" pitchFamily="18" charset="0"/>
              </a:rPr>
              <a:t>q</a:t>
            </a:r>
            <a:r>
              <a:rPr lang="en-US" altLang="zh-CN" i="1" baseline="-25000" dirty="0" err="1">
                <a:latin typeface="Times New Roman" pitchFamily="18" charset="0"/>
              </a:rPr>
              <a:t>j</a:t>
            </a:r>
            <a:r>
              <a:rPr lang="en-US" altLang="zh-CN" dirty="0">
                <a:latin typeface="Times New Roman" pitchFamily="18" charset="0"/>
              </a:rPr>
              <a:t>: </a:t>
            </a:r>
            <a:r>
              <a:rPr lang="zh-CN" altLang="en-US" dirty="0">
                <a:latin typeface="Times New Roman" pitchFamily="18" charset="0"/>
              </a:rPr>
              <a:t>第 </a:t>
            </a:r>
            <a:r>
              <a:rPr lang="en-US" altLang="zh-CN" i="1" dirty="0">
                <a:latin typeface="Times New Roman" pitchFamily="18" charset="0"/>
              </a:rPr>
              <a:t>j</a:t>
            </a:r>
            <a:r>
              <a:rPr lang="zh-CN" altLang="en-US" dirty="0">
                <a:latin typeface="Times New Roman" pitchFamily="18" charset="0"/>
              </a:rPr>
              <a:t>个人在一年内死亡的概率。</a:t>
            </a:r>
          </a:p>
          <a:p>
            <a:pPr lvl="1">
              <a:lnSpc>
                <a:spcPct val="120000"/>
              </a:lnSpc>
            </a:pPr>
            <a:r>
              <a:rPr lang="en-US" altLang="zh-CN" i="1" dirty="0" err="1">
                <a:latin typeface="Times New Roman" pitchFamily="18" charset="0"/>
              </a:rPr>
              <a:t>b</a:t>
            </a:r>
            <a:r>
              <a:rPr lang="en-US" altLang="zh-CN" i="1" baseline="-25000" dirty="0" err="1">
                <a:latin typeface="Times New Roman" pitchFamily="18" charset="0"/>
              </a:rPr>
              <a:t>j</a:t>
            </a:r>
            <a:r>
              <a:rPr lang="en-US" altLang="zh-CN" dirty="0">
                <a:latin typeface="Times New Roman" pitchFamily="18" charset="0"/>
              </a:rPr>
              <a:t>: </a:t>
            </a:r>
            <a:r>
              <a:rPr lang="zh-CN" altLang="en-US" dirty="0">
                <a:latin typeface="Times New Roman" pitchFamily="18" charset="0"/>
              </a:rPr>
              <a:t>第 </a:t>
            </a:r>
            <a:r>
              <a:rPr lang="en-US" altLang="zh-CN" i="1" dirty="0">
                <a:latin typeface="Times New Roman" pitchFamily="18" charset="0"/>
              </a:rPr>
              <a:t>j</a:t>
            </a:r>
            <a:r>
              <a:rPr lang="zh-CN" altLang="en-US" dirty="0">
                <a:latin typeface="Times New Roman" pitchFamily="18" charset="0"/>
              </a:rPr>
              <a:t>个人死亡后的保险金。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itchFamily="18" charset="0"/>
              </a:rPr>
              <a:t>对第 </a:t>
            </a:r>
            <a:r>
              <a:rPr lang="en-US" altLang="zh-CN" i="1" dirty="0">
                <a:latin typeface="Times New Roman" pitchFamily="18" charset="0"/>
              </a:rPr>
              <a:t>j</a:t>
            </a:r>
            <a:r>
              <a:rPr lang="zh-CN" altLang="en-US" dirty="0">
                <a:latin typeface="Times New Roman" pitchFamily="18" charset="0"/>
              </a:rPr>
              <a:t>份保单的损失分布为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6992-A725-4546-9D86-54D276175F26}" type="slidenum">
              <a:rPr lang="en-US" altLang="zh-CN"/>
              <a:pPr/>
              <a:t>48</a:t>
            </a:fld>
            <a:endParaRPr lang="en-US" altLang="zh-CN"/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754627"/>
              </p:ext>
            </p:extLst>
          </p:nvPr>
        </p:nvGraphicFramePr>
        <p:xfrm>
          <a:off x="1835696" y="5301208"/>
          <a:ext cx="31686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69" name="Equation" r:id="rId3" imgW="1574640" imgH="507960" progId="Equation.DSMT4">
                  <p:embed/>
                </p:oleObj>
              </mc:Choice>
              <mc:Fallback>
                <p:oleObj name="Equation" r:id="rId3" imgW="1574640" imgH="5079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301208"/>
                        <a:ext cx="316865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0405-CDCC-45C8-983E-0BE1BF2EA04A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1268413"/>
            <a:ext cx="8532812" cy="5113337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i="1" baseline="-25000" dirty="0" err="1">
                <a:latin typeface="Times New Roman" pitchFamily="18" charset="0"/>
              </a:rPr>
              <a:t>j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的均值和方差分别为 ：</a:t>
            </a:r>
          </a:p>
          <a:p>
            <a:pPr>
              <a:lnSpc>
                <a:spcPct val="140000"/>
              </a:lnSpc>
            </a:pP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40000"/>
              </a:lnSpc>
            </a:pP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40000"/>
              </a:lnSpc>
            </a:pP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itchFamily="18" charset="0"/>
              </a:rPr>
              <a:t>由于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i="1" baseline="-25000" dirty="0" err="1">
                <a:latin typeface="Times New Roman" pitchFamily="18" charset="0"/>
              </a:rPr>
              <a:t>j</a:t>
            </a:r>
            <a:r>
              <a:rPr lang="zh-CN" altLang="en-US" dirty="0">
                <a:latin typeface="Times New Roman" pitchFamily="18" charset="0"/>
              </a:rPr>
              <a:t>相互</a:t>
            </a:r>
            <a:r>
              <a:rPr lang="zh-CN" altLang="en-US" dirty="0" smtClean="0">
                <a:latin typeface="Times New Roman" pitchFamily="18" charset="0"/>
              </a:rPr>
              <a:t>独立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故</a:t>
            </a:r>
            <a:r>
              <a:rPr lang="zh-CN" altLang="en-US" dirty="0">
                <a:latin typeface="Times New Roman" pitchFamily="18" charset="0"/>
              </a:rPr>
              <a:t>累积损失的均值、方差分别为：</a:t>
            </a:r>
          </a:p>
        </p:txBody>
      </p:sp>
      <p:graphicFrame>
        <p:nvGraphicFramePr>
          <p:cNvPr id="279557" name="Object 5"/>
          <p:cNvGraphicFramePr>
            <a:graphicFrameLocks noChangeAspect="1"/>
          </p:cNvGraphicFramePr>
          <p:nvPr/>
        </p:nvGraphicFramePr>
        <p:xfrm>
          <a:off x="1042988" y="2133600"/>
          <a:ext cx="16859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37" name="Equation" r:id="rId3" imgW="838080" imgH="241200" progId="Equation.DSMT4">
                  <p:embed/>
                </p:oleObj>
              </mc:Choice>
              <mc:Fallback>
                <p:oleObj name="Equation" r:id="rId3" imgW="83808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133600"/>
                        <a:ext cx="16859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783212"/>
              </p:ext>
            </p:extLst>
          </p:nvPr>
        </p:nvGraphicFramePr>
        <p:xfrm>
          <a:off x="952500" y="2944813"/>
          <a:ext cx="78867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38" name="Equation" r:id="rId5" imgW="3835080" imgH="304560" progId="Equation.DSMT4">
                  <p:embed/>
                </p:oleObj>
              </mc:Choice>
              <mc:Fallback>
                <p:oleObj name="Equation" r:id="rId5" imgW="3835080" imgH="3045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944813"/>
                        <a:ext cx="78867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075894"/>
              </p:ext>
            </p:extLst>
          </p:nvPr>
        </p:nvGraphicFramePr>
        <p:xfrm>
          <a:off x="4895850" y="625258"/>
          <a:ext cx="309562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39" name="Equation" r:id="rId7" imgW="1574640" imgH="507960" progId="Equation.DSMT4">
                  <p:embed/>
                </p:oleObj>
              </mc:Choice>
              <mc:Fallback>
                <p:oleObj name="Equation" r:id="rId7" imgW="1574640" imgH="507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625258"/>
                        <a:ext cx="3095625" cy="9985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609158"/>
              </p:ext>
            </p:extLst>
          </p:nvPr>
        </p:nvGraphicFramePr>
        <p:xfrm>
          <a:off x="1606550" y="4305300"/>
          <a:ext cx="1951038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40" name="Equation" r:id="rId9" imgW="939600" imgH="444240" progId="Equation.DSMT4">
                  <p:embed/>
                </p:oleObj>
              </mc:Choice>
              <mc:Fallback>
                <p:oleObj name="Equation" r:id="rId9" imgW="939600" imgH="4442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4305300"/>
                        <a:ext cx="1951038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05247"/>
              </p:ext>
            </p:extLst>
          </p:nvPr>
        </p:nvGraphicFramePr>
        <p:xfrm>
          <a:off x="1606550" y="5233987"/>
          <a:ext cx="307816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41" name="Equation" r:id="rId11" imgW="1549080" imgH="444240" progId="Equation.DSMT4">
                  <p:embed/>
                </p:oleObj>
              </mc:Choice>
              <mc:Fallback>
                <p:oleObj name="Equation" r:id="rId11" imgW="1549080" imgH="4442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5233987"/>
                        <a:ext cx="307816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9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9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9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9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CA94-C998-4CC8-A2AC-10D6DD3BDB88}" type="slidenum">
              <a:rPr lang="en-US" altLang="zh-CN"/>
              <a:pPr/>
              <a:t>50</a:t>
            </a:fld>
            <a:endParaRPr lang="en-US" altLang="zh-CN" dirty="0"/>
          </a:p>
        </p:txBody>
      </p:sp>
      <p:graphicFrame>
        <p:nvGraphicFramePr>
          <p:cNvPr id="322562" name="Object 2"/>
          <p:cNvGraphicFramePr>
            <a:graphicFrameLocks noChangeAspect="1"/>
          </p:cNvGraphicFramePr>
          <p:nvPr/>
        </p:nvGraphicFramePr>
        <p:xfrm>
          <a:off x="1187450" y="2565400"/>
          <a:ext cx="1944688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21" name="Equation" r:id="rId3" imgW="990360" imgH="507960" progId="Equation.DSMT4">
                  <p:embed/>
                </p:oleObj>
              </mc:Choice>
              <mc:Fallback>
                <p:oleObj name="Equation" r:id="rId3" imgW="990360" imgH="5079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565400"/>
                        <a:ext cx="1944688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3" name="Text Box 3"/>
          <p:cNvSpPr txBox="1">
            <a:spLocks noChangeArrowheads="1"/>
          </p:cNvSpPr>
          <p:nvPr/>
        </p:nvSpPr>
        <p:spPr bwMode="auto">
          <a:xfrm>
            <a:off x="971550" y="958850"/>
            <a:ext cx="740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3399"/>
                </a:solidFill>
              </a:rPr>
              <a:t>个体风险模型的推广</a:t>
            </a:r>
            <a:r>
              <a:rPr lang="en-US" altLang="zh-CN" sz="2400" b="1">
                <a:solidFill>
                  <a:srgbClr val="003399"/>
                </a:solidFill>
              </a:rPr>
              <a:t>: </a:t>
            </a:r>
            <a:r>
              <a:rPr lang="zh-CN" altLang="en-US" sz="2400" b="1">
                <a:solidFill>
                  <a:srgbClr val="003399"/>
                </a:solidFill>
              </a:rPr>
              <a:t>保险金是随机变量（如意外险）</a:t>
            </a:r>
          </a:p>
        </p:txBody>
      </p:sp>
      <p:sp>
        <p:nvSpPr>
          <p:cNvPr id="322564" name="Text Box 4"/>
          <p:cNvSpPr txBox="1">
            <a:spLocks noChangeArrowheads="1"/>
          </p:cNvSpPr>
          <p:nvPr/>
        </p:nvSpPr>
        <p:spPr bwMode="auto">
          <a:xfrm>
            <a:off x="1187450" y="3716338"/>
            <a:ext cx="7345363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i="1" dirty="0"/>
              <a:t> </a:t>
            </a:r>
            <a:r>
              <a:rPr lang="en-US" altLang="zh-CN" sz="2400" dirty="0"/>
              <a:t>: </a:t>
            </a:r>
            <a:r>
              <a:rPr lang="zh-CN" altLang="en-US" sz="2400" dirty="0"/>
              <a:t>对第 </a:t>
            </a:r>
            <a:r>
              <a:rPr lang="en-US" altLang="zh-CN" sz="2400" i="1" dirty="0"/>
              <a:t>j</a:t>
            </a:r>
            <a:r>
              <a:rPr lang="zh-CN" altLang="en-US" sz="2400" dirty="0"/>
              <a:t>份保单支付的保险金（</a:t>
            </a:r>
            <a:r>
              <a:rPr lang="zh-CN" altLang="en-US" sz="2400" dirty="0" smtClean="0"/>
              <a:t>如发生事故）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是</a:t>
            </a:r>
            <a:r>
              <a:rPr lang="zh-CN" altLang="en-US" sz="2400" dirty="0"/>
              <a:t>一个随机变量。</a:t>
            </a:r>
          </a:p>
        </p:txBody>
      </p:sp>
      <p:sp>
        <p:nvSpPr>
          <p:cNvPr id="322565" name="Text Box 5"/>
          <p:cNvSpPr txBox="1">
            <a:spLocks noChangeArrowheads="1"/>
          </p:cNvSpPr>
          <p:nvPr/>
        </p:nvSpPr>
        <p:spPr bwMode="auto">
          <a:xfrm>
            <a:off x="4572000" y="5217209"/>
            <a:ext cx="40575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dirty="0"/>
              <a:t>在人寿保险</a:t>
            </a:r>
            <a:r>
              <a:rPr lang="zh-CN" altLang="en-US" sz="2000" dirty="0" smtClean="0"/>
              <a:t>中</a:t>
            </a:r>
            <a:r>
              <a:rPr lang="en-US" altLang="zh-CN" sz="2000" dirty="0" smtClean="0"/>
              <a:t>, </a:t>
            </a:r>
            <a:r>
              <a:rPr lang="en-US" altLang="zh-CN" sz="2000" i="1" dirty="0" err="1" smtClean="0"/>
              <a:t>B</a:t>
            </a:r>
            <a:r>
              <a:rPr lang="en-US" altLang="zh-CN" sz="2000" i="1" baseline="-25000" dirty="0" err="1" smtClean="0"/>
              <a:t>j</a:t>
            </a:r>
            <a:r>
              <a:rPr lang="zh-CN" altLang="en-US" sz="2000" dirty="0"/>
              <a:t>退化</a:t>
            </a:r>
            <a:r>
              <a:rPr lang="zh-CN" altLang="en-US" sz="2000" dirty="0" smtClean="0"/>
              <a:t>为</a:t>
            </a:r>
            <a:r>
              <a:rPr lang="zh-CN" altLang="en-US" sz="2000" dirty="0" smtClean="0">
                <a:solidFill>
                  <a:srgbClr val="FF0000"/>
                </a:solidFill>
              </a:rPr>
              <a:t>常数 </a:t>
            </a:r>
            <a:r>
              <a:rPr lang="en-US" altLang="zh-CN" sz="2000" i="1" dirty="0" err="1" smtClean="0"/>
              <a:t>B</a:t>
            </a:r>
            <a:r>
              <a:rPr lang="en-US" altLang="zh-CN" sz="2000" i="1" baseline="-25000" dirty="0" err="1" smtClean="0"/>
              <a:t>j</a:t>
            </a:r>
            <a:r>
              <a:rPr lang="en-US" altLang="zh-CN" sz="2000" i="1" dirty="0" smtClean="0"/>
              <a:t> </a:t>
            </a:r>
            <a:r>
              <a:rPr lang="en-US" altLang="zh-CN" sz="2000" dirty="0"/>
              <a:t>= </a:t>
            </a:r>
            <a:r>
              <a:rPr lang="en-US" altLang="zh-CN" sz="2000" i="1" dirty="0" err="1"/>
              <a:t>b</a:t>
            </a:r>
            <a:r>
              <a:rPr lang="en-US" altLang="zh-CN" sz="2000" i="1" baseline="-25000" dirty="0" err="1"/>
              <a:t>j</a:t>
            </a:r>
            <a:endParaRPr lang="en-US" altLang="zh-CN" sz="2000" i="1" dirty="0"/>
          </a:p>
        </p:txBody>
      </p:sp>
      <p:sp>
        <p:nvSpPr>
          <p:cNvPr id="322566" name="Text Box 6"/>
          <p:cNvSpPr txBox="1">
            <a:spLocks noChangeArrowheads="1"/>
          </p:cNvSpPr>
          <p:nvPr/>
        </p:nvSpPr>
        <p:spPr bwMode="auto">
          <a:xfrm>
            <a:off x="1116013" y="1773238"/>
            <a:ext cx="5453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/>
              <a:t>令  </a:t>
            </a:r>
            <a:r>
              <a:rPr lang="zh-CN" altLang="en-US" sz="2400" i="1" dirty="0"/>
              <a:t>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j</a:t>
            </a:r>
            <a:r>
              <a:rPr lang="en-US" altLang="zh-CN" sz="2400" i="1" baseline="-25000" dirty="0"/>
              <a:t> </a:t>
            </a:r>
            <a:r>
              <a:rPr lang="en-US" altLang="zh-CN" sz="2400" dirty="0"/>
              <a:t>=</a:t>
            </a:r>
            <a:r>
              <a:rPr lang="en-US" altLang="zh-CN" sz="2400" i="1" dirty="0"/>
              <a:t> </a:t>
            </a:r>
            <a:r>
              <a:rPr lang="en-US" altLang="zh-CN" sz="2400" i="1" dirty="0" err="1"/>
              <a:t>I</a:t>
            </a:r>
            <a:r>
              <a:rPr lang="en-US" altLang="zh-CN" sz="2400" i="1" baseline="-25000" dirty="0" err="1"/>
              <a:t>j</a:t>
            </a:r>
            <a:r>
              <a:rPr lang="en-US" altLang="zh-CN" sz="2400" i="1" baseline="-25000" dirty="0"/>
              <a:t> 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zh-CN" altLang="en-US" sz="2400" dirty="0"/>
              <a:t>表示第</a:t>
            </a:r>
            <a:r>
              <a:rPr lang="en-US" altLang="zh-CN" sz="2400" i="1" dirty="0"/>
              <a:t>j</a:t>
            </a:r>
            <a:r>
              <a:rPr lang="zh-CN" altLang="en-US" sz="2400" dirty="0"/>
              <a:t>份保单的</a:t>
            </a:r>
            <a:r>
              <a:rPr lang="zh-CN" altLang="en-US" sz="2400" dirty="0" smtClean="0"/>
              <a:t>损失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其中</a:t>
            </a:r>
            <a:endParaRPr lang="zh-CN" altLang="en-US" sz="2400" i="1" baseline="-25000" dirty="0"/>
          </a:p>
        </p:txBody>
      </p:sp>
      <p:sp>
        <p:nvSpPr>
          <p:cNvPr id="322567" name="Text Box 7"/>
          <p:cNvSpPr txBox="1">
            <a:spLocks noChangeArrowheads="1"/>
          </p:cNvSpPr>
          <p:nvPr/>
        </p:nvSpPr>
        <p:spPr bwMode="auto">
          <a:xfrm>
            <a:off x="1187450" y="5284546"/>
            <a:ext cx="2389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i="1" dirty="0" err="1"/>
              <a:t>I</a:t>
            </a:r>
            <a:r>
              <a:rPr lang="en-US" altLang="zh-CN" sz="2400" i="1" baseline="-25000" dirty="0" err="1"/>
              <a:t>j</a:t>
            </a:r>
            <a:r>
              <a:rPr lang="en-US" altLang="zh-CN" sz="2400" i="1" baseline="-25000" dirty="0"/>
              <a:t> </a:t>
            </a:r>
            <a:r>
              <a:rPr lang="en-US" altLang="zh-CN" sz="2400" i="1" dirty="0"/>
              <a:t> </a:t>
            </a:r>
            <a:r>
              <a:rPr lang="zh-CN" altLang="en-US" sz="2400" dirty="0"/>
              <a:t>与</a:t>
            </a:r>
            <a:r>
              <a:rPr lang="zh-CN" altLang="en-US" sz="2400" i="1" dirty="0"/>
              <a:t> 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i="1" dirty="0"/>
              <a:t> </a:t>
            </a:r>
            <a:r>
              <a:rPr lang="zh-CN" altLang="en-US" sz="2400" dirty="0"/>
              <a:t>相互独立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4" grpId="0"/>
      <p:bldP spid="322565" grpId="0"/>
      <p:bldP spid="322566" grpId="0"/>
      <p:bldP spid="32256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1773-D056-4851-ACCE-4BFCACE4F0C4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323586" name="Text Box 2"/>
          <p:cNvSpPr txBox="1">
            <a:spLocks noChangeArrowheads="1"/>
          </p:cNvSpPr>
          <p:nvPr/>
        </p:nvSpPr>
        <p:spPr bwMode="auto">
          <a:xfrm>
            <a:off x="1116013" y="692150"/>
            <a:ext cx="6192837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400" dirty="0"/>
              <a:t>令 </a:t>
            </a:r>
            <a:r>
              <a:rPr lang="en-US" altLang="zh-CN" sz="2400" i="1" dirty="0" err="1">
                <a:latin typeface="Symbol" pitchFamily="18" charset="2"/>
              </a:rPr>
              <a:t>m</a:t>
            </a:r>
            <a:r>
              <a:rPr lang="en-US" altLang="zh-CN" sz="2400" i="1" baseline="-25000" dirty="0" err="1"/>
              <a:t>j</a:t>
            </a:r>
            <a:r>
              <a:rPr lang="en-US" altLang="zh-CN" sz="2400" dirty="0">
                <a:latin typeface="Symbol" pitchFamily="18" charset="2"/>
              </a:rPr>
              <a:t> = </a:t>
            </a:r>
            <a:r>
              <a:rPr lang="en-US" altLang="zh-CN" sz="2400" i="1" dirty="0">
                <a:latin typeface="Symbol" pitchFamily="18" charset="2"/>
              </a:rPr>
              <a:t>E </a:t>
            </a:r>
            <a:r>
              <a:rPr lang="en-US" altLang="zh-CN" sz="2400" dirty="0">
                <a:latin typeface="Symbol" pitchFamily="18" charset="2"/>
              </a:rPr>
              <a:t>(</a:t>
            </a:r>
            <a:r>
              <a:rPr lang="en-US" altLang="zh-CN" sz="2400" i="1" dirty="0" err="1">
                <a:latin typeface="Symbol" pitchFamily="18" charset="2"/>
              </a:rPr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dirty="0" smtClean="0">
                <a:latin typeface="Symbol" pitchFamily="18" charset="2"/>
              </a:rPr>
              <a:t>),      </a:t>
            </a:r>
            <a:r>
              <a:rPr lang="en-US" altLang="zh-CN" sz="2400" dirty="0" err="1">
                <a:latin typeface="Symbol" pitchFamily="18" charset="2"/>
              </a:rPr>
              <a:t>s</a:t>
            </a:r>
            <a:r>
              <a:rPr lang="en-US" altLang="zh-CN" sz="2400" i="1" baseline="-25000" dirty="0" err="1"/>
              <a:t>j</a:t>
            </a:r>
            <a:r>
              <a:rPr lang="en-US" altLang="zh-CN" sz="2400" baseline="30000" dirty="0" err="1">
                <a:latin typeface="Symbol" pitchFamily="18" charset="2"/>
              </a:rPr>
              <a:t>2</a:t>
            </a:r>
            <a:r>
              <a:rPr lang="en-US" altLang="zh-CN" sz="2400" dirty="0">
                <a:latin typeface="Symbol" pitchFamily="18" charset="2"/>
              </a:rPr>
              <a:t>= </a:t>
            </a:r>
            <a:r>
              <a:rPr lang="en-US" altLang="zh-CN" sz="2400" dirty="0" err="1"/>
              <a:t>Var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dirty="0" smtClean="0"/>
              <a:t>),    </a:t>
            </a:r>
            <a:endParaRPr lang="en-US" altLang="zh-CN" sz="2400" dirty="0"/>
          </a:p>
          <a:p>
            <a:pPr>
              <a:lnSpc>
                <a:spcPct val="135000"/>
              </a:lnSpc>
            </a:pPr>
            <a:r>
              <a:rPr lang="zh-CN" altLang="en-US" sz="2400" dirty="0"/>
              <a:t>则累积损失的均值和方差分别为</a:t>
            </a:r>
          </a:p>
        </p:txBody>
      </p:sp>
      <p:graphicFrame>
        <p:nvGraphicFramePr>
          <p:cNvPr id="323587" name="Object 3"/>
          <p:cNvGraphicFramePr>
            <a:graphicFrameLocks noChangeAspect="1"/>
          </p:cNvGraphicFramePr>
          <p:nvPr/>
        </p:nvGraphicFramePr>
        <p:xfrm>
          <a:off x="1476375" y="1989138"/>
          <a:ext cx="19796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96" name="Equation" r:id="rId3" imgW="965160" imgH="444240" progId="Equation.DSMT4">
                  <p:embed/>
                </p:oleObj>
              </mc:Choice>
              <mc:Fallback>
                <p:oleObj name="Equation" r:id="rId3" imgW="965160" imgH="4442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989138"/>
                        <a:ext cx="1979613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462116"/>
              </p:ext>
            </p:extLst>
          </p:nvPr>
        </p:nvGraphicFramePr>
        <p:xfrm>
          <a:off x="1425575" y="3141663"/>
          <a:ext cx="42814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97" name="Equation" r:id="rId5" imgW="2120760" imgH="444240" progId="Equation.DSMT4">
                  <p:embed/>
                </p:oleObj>
              </mc:Choice>
              <mc:Fallback>
                <p:oleObj name="Equation" r:id="rId5" imgW="212076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3141663"/>
                        <a:ext cx="428148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89" name="Text Box 5"/>
          <p:cNvSpPr txBox="1">
            <a:spLocks noChangeArrowheads="1"/>
          </p:cNvSpPr>
          <p:nvPr/>
        </p:nvSpPr>
        <p:spPr bwMode="auto">
          <a:xfrm>
            <a:off x="6804025" y="3357563"/>
            <a:ext cx="1784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3399FF"/>
                </a:solidFill>
              </a:rPr>
              <a:t>（证明见下页）</a:t>
            </a:r>
          </a:p>
        </p:txBody>
      </p:sp>
      <p:sp>
        <p:nvSpPr>
          <p:cNvPr id="323590" name="Text Box 6"/>
          <p:cNvSpPr txBox="1">
            <a:spLocks noChangeArrowheads="1"/>
          </p:cNvSpPr>
          <p:nvPr/>
        </p:nvSpPr>
        <p:spPr bwMode="auto">
          <a:xfrm>
            <a:off x="1331913" y="5157788"/>
            <a:ext cx="70056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/>
              <a:t>注</a:t>
            </a:r>
            <a:r>
              <a:rPr lang="zh-CN" altLang="en-US" sz="2400" dirty="0"/>
              <a:t>：求得个体</a:t>
            </a:r>
            <a:r>
              <a:rPr lang="zh-CN" altLang="en-US" sz="2400" dirty="0" smtClean="0"/>
              <a:t>损失 </a:t>
            </a:r>
            <a:r>
              <a:rPr lang="en-US" altLang="zh-CN" sz="2400" i="1" dirty="0" smtClean="0"/>
              <a:t>X </a:t>
            </a:r>
            <a:r>
              <a:rPr lang="zh-CN" altLang="en-US" sz="2400" dirty="0" smtClean="0"/>
              <a:t>的均值</a:t>
            </a:r>
            <a:r>
              <a:rPr lang="zh-CN" altLang="en-US" sz="2400" dirty="0"/>
              <a:t>和</a:t>
            </a:r>
            <a:r>
              <a:rPr lang="zh-CN" altLang="en-US" sz="2400" dirty="0" smtClean="0"/>
              <a:t>方差后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即</a:t>
            </a:r>
            <a:r>
              <a:rPr lang="zh-CN" altLang="en-US" sz="2400" dirty="0"/>
              <a:t>可应用上述公式求得累积损失的均值和方差。</a:t>
            </a:r>
          </a:p>
        </p:txBody>
      </p:sp>
      <p:sp>
        <p:nvSpPr>
          <p:cNvPr id="323591" name="Text Box 7"/>
          <p:cNvSpPr txBox="1">
            <a:spLocks noChangeArrowheads="1"/>
          </p:cNvSpPr>
          <p:nvPr/>
        </p:nvSpPr>
        <p:spPr bwMode="auto">
          <a:xfrm>
            <a:off x="1398166" y="4370388"/>
            <a:ext cx="55595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其中，</a:t>
            </a:r>
            <a:r>
              <a:rPr lang="en-US" altLang="zh-CN" sz="2400" i="1" dirty="0" err="1" smtClean="0"/>
              <a:t>q</a:t>
            </a:r>
            <a:r>
              <a:rPr lang="en-US" altLang="zh-CN" sz="2400" i="1" baseline="-25000" dirty="0" err="1" smtClean="0"/>
              <a:t>j</a:t>
            </a:r>
            <a:r>
              <a:rPr lang="zh-CN" altLang="en-US" sz="2400" dirty="0"/>
              <a:t>是第 </a:t>
            </a:r>
            <a:r>
              <a:rPr lang="en-US" altLang="zh-CN" sz="2400" i="1" dirty="0"/>
              <a:t>j </a:t>
            </a:r>
            <a:r>
              <a:rPr lang="zh-CN" altLang="en-US" sz="2400" dirty="0"/>
              <a:t>份保单发生索赔的概率。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/>
      <p:bldP spid="323589" grpId="0"/>
      <p:bldP spid="32359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CADF-72A2-4BB4-9A24-19C8523F69A2}" type="slidenum">
              <a:rPr lang="en-US" altLang="zh-CN"/>
              <a:pPr/>
              <a:t>52</a:t>
            </a:fld>
            <a:endParaRPr lang="en-US" altLang="zh-CN"/>
          </a:p>
        </p:txBody>
      </p:sp>
      <p:graphicFrame>
        <p:nvGraphicFramePr>
          <p:cNvPr id="282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464392"/>
              </p:ext>
            </p:extLst>
          </p:nvPr>
        </p:nvGraphicFramePr>
        <p:xfrm>
          <a:off x="958850" y="3041650"/>
          <a:ext cx="5813425" cy="357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392" name="Equation" r:id="rId3" imgW="2730240" imgH="1676160" progId="Equation.DSMT4">
                  <p:embed/>
                </p:oleObj>
              </mc:Choice>
              <mc:Fallback>
                <p:oleObj name="Equation" r:id="rId3" imgW="2730240" imgH="16761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3041650"/>
                        <a:ext cx="5813425" cy="357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6" name="Text Box 12"/>
          <p:cNvSpPr txBox="1">
            <a:spLocks noChangeArrowheads="1"/>
          </p:cNvSpPr>
          <p:nvPr/>
        </p:nvSpPr>
        <p:spPr bwMode="auto">
          <a:xfrm>
            <a:off x="827088" y="476250"/>
            <a:ext cx="272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3399"/>
                </a:solidFill>
              </a:rPr>
              <a:t>证明（略去下标）</a:t>
            </a:r>
            <a:r>
              <a:rPr lang="en-US" altLang="zh-CN" sz="2400" b="1">
                <a:solidFill>
                  <a:srgbClr val="003399"/>
                </a:solidFill>
              </a:rPr>
              <a:t>:</a:t>
            </a:r>
          </a:p>
        </p:txBody>
      </p:sp>
      <p:graphicFrame>
        <p:nvGraphicFramePr>
          <p:cNvPr id="2826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9859109"/>
              </p:ext>
            </p:extLst>
          </p:nvPr>
        </p:nvGraphicFramePr>
        <p:xfrm>
          <a:off x="857250" y="1038226"/>
          <a:ext cx="4794870" cy="492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393" name="Equation" r:id="rId5" imgW="2222280" imgH="228600" progId="Equation.DSMT4">
                  <p:embed/>
                </p:oleObj>
              </mc:Choice>
              <mc:Fallback>
                <p:oleObj name="Equation" r:id="rId5" imgW="222228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038226"/>
                        <a:ext cx="4794870" cy="492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751784"/>
              </p:ext>
            </p:extLst>
          </p:nvPr>
        </p:nvGraphicFramePr>
        <p:xfrm>
          <a:off x="887413" y="1700213"/>
          <a:ext cx="23622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394" name="Equation" r:id="rId7" imgW="1117440" imgH="520560" progId="Equation.DSMT4">
                  <p:embed/>
                </p:oleObj>
              </mc:Choice>
              <mc:Fallback>
                <p:oleObj name="Equation" r:id="rId7" imgW="1117440" imgH="5205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1700213"/>
                        <a:ext cx="2362200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2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2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2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2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idx="1"/>
          </p:nvPr>
        </p:nvSpPr>
        <p:spPr>
          <a:xfrm>
            <a:off x="251520" y="1772816"/>
            <a:ext cx="8137525" cy="460881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Times New Roman" pitchFamily="18" charset="0"/>
              </a:rPr>
              <a:t>例</a:t>
            </a:r>
            <a:r>
              <a:rPr lang="zh-CN" altLang="en-US" dirty="0">
                <a:latin typeface="Times New Roman" pitchFamily="18" charset="0"/>
              </a:rPr>
              <a:t>：假设</a:t>
            </a:r>
            <a:r>
              <a:rPr lang="en-US" altLang="zh-CN" dirty="0">
                <a:latin typeface="Times New Roman" pitchFamily="18" charset="0"/>
              </a:rPr>
              <a:t>1000 </a:t>
            </a:r>
            <a:r>
              <a:rPr lang="zh-CN" altLang="en-US" dirty="0">
                <a:latin typeface="Times New Roman" pitchFamily="18" charset="0"/>
              </a:rPr>
              <a:t>个人购买</a:t>
            </a:r>
            <a:r>
              <a:rPr lang="en-US" altLang="zh-CN" dirty="0">
                <a:latin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</a:rPr>
              <a:t>年期的</a:t>
            </a:r>
            <a:r>
              <a:rPr lang="zh-CN" altLang="en-US" dirty="0" smtClean="0">
                <a:latin typeface="Times New Roman" pitchFamily="18" charset="0"/>
              </a:rPr>
              <a:t>人寿保险</a:t>
            </a:r>
            <a:r>
              <a:rPr lang="en-US" altLang="zh-CN" dirty="0" smtClean="0">
                <a:latin typeface="Times New Roman" pitchFamily="18" charset="0"/>
              </a:rPr>
              <a:t>,  </a:t>
            </a:r>
            <a:r>
              <a:rPr lang="zh-CN" altLang="en-US" dirty="0">
                <a:latin typeface="Times New Roman" pitchFamily="18" charset="0"/>
              </a:rPr>
              <a:t>保险金</a:t>
            </a:r>
            <a:r>
              <a:rPr lang="zh-CN" altLang="en-US" dirty="0" smtClean="0">
                <a:latin typeface="Times New Roman" pitchFamily="18" charset="0"/>
              </a:rPr>
              <a:t>为 </a:t>
            </a:r>
            <a:r>
              <a:rPr lang="en-US" altLang="zh-CN" dirty="0" smtClean="0">
                <a:latin typeface="Times New Roman" pitchFamily="18" charset="0"/>
              </a:rPr>
              <a:t>1</a:t>
            </a:r>
            <a:r>
              <a:rPr lang="en-US" altLang="zh-CN" dirty="0" smtClean="0">
                <a:latin typeface="Times New Roman" pitchFamily="18" charset="0"/>
              </a:rPr>
              <a:t>,  </a:t>
            </a:r>
            <a:r>
              <a:rPr lang="zh-CN" altLang="en-US" dirty="0">
                <a:latin typeface="Times New Roman" pitchFamily="18" charset="0"/>
              </a:rPr>
              <a:t>发生索赔的概率均为 </a:t>
            </a:r>
            <a:r>
              <a:rPr lang="en-US" altLang="zh-CN" i="1" dirty="0">
                <a:latin typeface="Times New Roman" pitchFamily="18" charset="0"/>
              </a:rPr>
              <a:t>q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 smtClean="0">
                <a:latin typeface="Times New Roman" pitchFamily="18" charset="0"/>
              </a:rPr>
              <a:t>0.001, </a:t>
            </a:r>
            <a:r>
              <a:rPr lang="zh-CN" altLang="en-US" dirty="0" smtClean="0">
                <a:latin typeface="Times New Roman" pitchFamily="18" charset="0"/>
              </a:rPr>
              <a:t>则</a:t>
            </a:r>
            <a:r>
              <a:rPr lang="zh-CN" altLang="en-US" dirty="0">
                <a:latin typeface="Times New Roman" pitchFamily="18" charset="0"/>
              </a:rPr>
              <a:t>总赔款 </a:t>
            </a:r>
            <a:r>
              <a:rPr lang="en-US" altLang="zh-CN" i="1" dirty="0">
                <a:latin typeface="Times New Roman" pitchFamily="18" charset="0"/>
              </a:rPr>
              <a:t>S </a:t>
            </a:r>
            <a:r>
              <a:rPr lang="zh-CN" altLang="en-US" dirty="0">
                <a:latin typeface="Times New Roman" pitchFamily="18" charset="0"/>
              </a:rPr>
              <a:t>服从二项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dirty="0" smtClean="0">
                <a:latin typeface="Times New Roman" pitchFamily="18" charset="0"/>
              </a:rPr>
              <a:t>1000,  </a:t>
            </a:r>
            <a:r>
              <a:rPr lang="en-US" altLang="zh-CN" dirty="0">
                <a:latin typeface="Times New Roman" pitchFamily="18" charset="0"/>
              </a:rPr>
              <a:t>0.001</a:t>
            </a:r>
            <a:r>
              <a:rPr lang="en-US" altLang="zh-CN" dirty="0" smtClean="0">
                <a:latin typeface="Times New Roman" pitchFamily="18" charset="0"/>
              </a:rPr>
              <a:t>), </a:t>
            </a:r>
            <a:r>
              <a:rPr lang="zh-CN" altLang="en-US" dirty="0" smtClean="0">
                <a:latin typeface="Times New Roman" pitchFamily="18" charset="0"/>
              </a:rPr>
              <a:t>可用</a:t>
            </a:r>
            <a:r>
              <a:rPr lang="zh-CN" altLang="en-US" dirty="0">
                <a:latin typeface="Times New Roman" pitchFamily="18" charset="0"/>
              </a:rPr>
              <a:t>参数等于</a:t>
            </a:r>
            <a:r>
              <a:rPr lang="en-US" altLang="zh-CN" dirty="0">
                <a:latin typeface="Times New Roman" pitchFamily="18" charset="0"/>
              </a:rPr>
              <a:t>1 </a:t>
            </a:r>
            <a:r>
              <a:rPr lang="zh-CN" altLang="en-US" dirty="0">
                <a:latin typeface="Times New Roman" pitchFamily="18" charset="0"/>
              </a:rPr>
              <a:t>的泊松近似（两者几乎</a:t>
            </a:r>
            <a:r>
              <a:rPr lang="zh-CN" altLang="en-US" dirty="0" smtClean="0">
                <a:latin typeface="Times New Roman" pitchFamily="18" charset="0"/>
              </a:rPr>
              <a:t>相等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下面</a:t>
            </a:r>
            <a:r>
              <a:rPr lang="zh-CN" altLang="en-US" dirty="0">
                <a:latin typeface="Times New Roman" pitchFamily="18" charset="0"/>
              </a:rPr>
              <a:t>直接用泊松代替）。 故总赔款大于</a:t>
            </a:r>
            <a:r>
              <a:rPr lang="en-US" altLang="zh-CN" dirty="0">
                <a:latin typeface="Times New Roman" pitchFamily="18" charset="0"/>
              </a:rPr>
              <a:t>3.5</a:t>
            </a:r>
            <a:r>
              <a:rPr lang="zh-CN" altLang="en-US" dirty="0">
                <a:latin typeface="Times New Roman" pitchFamily="18" charset="0"/>
              </a:rPr>
              <a:t>的概率为</a:t>
            </a:r>
            <a:r>
              <a:rPr lang="zh-CN" altLang="en-US" dirty="0" smtClean="0">
                <a:latin typeface="Times New Roman" pitchFamily="18" charset="0"/>
              </a:rPr>
              <a:t>：</a:t>
            </a:r>
            <a:endParaRPr lang="zh-CN" altLang="en-US" dirty="0">
              <a:latin typeface="Times New Roman" pitchFamily="18" charset="0"/>
            </a:endParaRPr>
          </a:p>
          <a:p>
            <a:pPr lvl="1"/>
            <a:r>
              <a:rPr lang="zh-CN" altLang="en-US" dirty="0">
                <a:latin typeface="Times New Roman" pitchFamily="18" charset="0"/>
              </a:rPr>
              <a:t>精确值：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S </a:t>
            </a:r>
            <a:r>
              <a:rPr lang="en-US" altLang="zh-CN" i="1" dirty="0" smtClean="0">
                <a:latin typeface="Times New Roman" pitchFamily="18" charset="0"/>
              </a:rPr>
              <a:t> </a:t>
            </a:r>
            <a:r>
              <a:rPr lang="en-US" altLang="zh-CN" dirty="0" smtClean="0">
                <a:latin typeface="Times New Roman" pitchFamily="18" charset="0"/>
              </a:rPr>
              <a:t>≥ 3.5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dirty="0" smtClean="0">
                <a:latin typeface="Times New Roman" pitchFamily="18" charset="0"/>
              </a:rPr>
              <a:t>0.019</a:t>
            </a:r>
            <a:endParaRPr lang="en-US" altLang="zh-CN" dirty="0">
              <a:solidFill>
                <a:srgbClr val="003399"/>
              </a:solidFill>
              <a:latin typeface="Times New Roman" pitchFamily="18" charset="0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8B99-C952-435D-A9D2-18ACE3A7484A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207875" name="Rectangle 3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77" name="Rectangle 5"/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78" name="Rectangle 6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79" name="Rectangle 7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80" name="Rectangle 8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82" name="Rectangle 10"/>
          <p:cNvSpPr>
            <a:spLocks noChangeArrowheads="1"/>
          </p:cNvSpPr>
          <p:nvPr/>
        </p:nvSpPr>
        <p:spPr bwMode="auto">
          <a:xfrm>
            <a:off x="433871" y="1038225"/>
            <a:ext cx="4779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3399"/>
                </a:solidFill>
              </a:rPr>
              <a:t>个体风险模型参数近似的比较：例</a:t>
            </a:r>
          </a:p>
        </p:txBody>
      </p:sp>
      <p:sp>
        <p:nvSpPr>
          <p:cNvPr id="2" name="矩形 1"/>
          <p:cNvSpPr/>
          <p:nvPr/>
        </p:nvSpPr>
        <p:spPr>
          <a:xfrm>
            <a:off x="5436096" y="5229200"/>
            <a:ext cx="2664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" dirty="0"/>
              <a:t>q &lt;- 0.001</a:t>
            </a:r>
          </a:p>
          <a:p>
            <a:r>
              <a:rPr lang="zh-CN" altLang="en-US" sz="400" dirty="0"/>
              <a:t>n &lt;- 1000</a:t>
            </a:r>
          </a:p>
          <a:p>
            <a:r>
              <a:rPr lang="zh-CN" altLang="en-US" sz="400" dirty="0"/>
              <a:t># 总赔款 S 服从二项分布(1000,0.001)，也可以近似服从lambda = 1的泊松分布</a:t>
            </a:r>
          </a:p>
          <a:p>
            <a:r>
              <a:rPr lang="zh-CN" altLang="en-US" sz="400" dirty="0"/>
              <a:t># P(S&gt;=3.5)的概率为</a:t>
            </a:r>
          </a:p>
          <a:p>
            <a:r>
              <a:rPr lang="zh-CN" altLang="en-US" sz="400" dirty="0"/>
              <a:t>1 - pbinom(3.5, 1000, 0.001)</a:t>
            </a:r>
          </a:p>
          <a:p>
            <a:r>
              <a:rPr lang="zh-CN" altLang="en-US" sz="400" dirty="0"/>
              <a:t>ps1 &lt;- 1 - ppois(3.5, 1)</a:t>
            </a:r>
          </a:p>
          <a:p>
            <a:r>
              <a:rPr lang="zh-CN" altLang="en-US" sz="400" dirty="0"/>
              <a:t>ps1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idx="1"/>
          </p:nvPr>
        </p:nvSpPr>
        <p:spPr>
          <a:xfrm>
            <a:off x="538931" y="1628800"/>
            <a:ext cx="8137525" cy="4031654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rgbClr val="003399"/>
                </a:solidFill>
                <a:latin typeface="Times New Roman" pitchFamily="18" charset="0"/>
              </a:rPr>
              <a:t>正</a:t>
            </a:r>
            <a:r>
              <a:rPr lang="zh-CN" altLang="en-US" b="1" dirty="0">
                <a:solidFill>
                  <a:srgbClr val="003399"/>
                </a:solidFill>
                <a:latin typeface="Times New Roman" pitchFamily="18" charset="0"/>
              </a:rPr>
              <a:t>态近似：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altLang="zh-CN" dirty="0" err="1" smtClean="0">
                <a:latin typeface="Times New Roman" pitchFamily="18" charset="0"/>
              </a:rPr>
              <a:t>Pr</a:t>
            </a:r>
            <a:r>
              <a:rPr lang="en-US" altLang="zh-CN" dirty="0" smtClean="0">
                <a:latin typeface="Times New Roman" pitchFamily="18" charset="0"/>
              </a:rPr>
              <a:t>[</a:t>
            </a:r>
            <a:r>
              <a:rPr lang="en-US" altLang="zh-CN" i="1" dirty="0" smtClean="0">
                <a:latin typeface="Times New Roman" pitchFamily="18" charset="0"/>
              </a:rPr>
              <a:t>S </a:t>
            </a:r>
            <a:r>
              <a:rPr lang="en-US" altLang="zh-CN" dirty="0">
                <a:latin typeface="Times New Roman" pitchFamily="18" charset="0"/>
              </a:rPr>
              <a:t>≥ 3.5] =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[(</a:t>
            </a:r>
            <a:r>
              <a:rPr lang="en-US" altLang="zh-CN" i="1" dirty="0" smtClean="0">
                <a:latin typeface="Times New Roman" pitchFamily="18" charset="0"/>
              </a:rPr>
              <a:t>Z </a:t>
            </a:r>
            <a:r>
              <a:rPr lang="en-US" altLang="zh-CN" dirty="0" smtClean="0">
                <a:latin typeface="Times New Roman" pitchFamily="18" charset="0"/>
              </a:rPr>
              <a:t>≥ (</a:t>
            </a:r>
            <a:r>
              <a:rPr lang="en-US" altLang="zh-CN" dirty="0">
                <a:latin typeface="Times New Roman" pitchFamily="18" charset="0"/>
              </a:rPr>
              <a:t>3.5−</a:t>
            </a:r>
            <a:r>
              <a:rPr lang="en-US" altLang="zh-CN" dirty="0">
                <a:latin typeface="Symbol" pitchFamily="18" charset="2"/>
              </a:rPr>
              <a:t>m</a:t>
            </a:r>
            <a:r>
              <a:rPr lang="en-US" altLang="zh-CN" dirty="0">
                <a:latin typeface="Times New Roman" pitchFamily="18" charset="0"/>
              </a:rPr>
              <a:t>)/</a:t>
            </a:r>
            <a:r>
              <a:rPr lang="en-US" altLang="zh-CN" dirty="0">
                <a:latin typeface="Symbol" pitchFamily="18" charset="2"/>
              </a:rPr>
              <a:t>s</a:t>
            </a:r>
            <a:r>
              <a:rPr lang="en-US" altLang="zh-CN" dirty="0">
                <a:latin typeface="Times New Roman" pitchFamily="18" charset="0"/>
              </a:rPr>
              <a:t>] ≈ 1</a:t>
            </a:r>
            <a:r>
              <a:rPr lang="en-US" altLang="zh-CN" dirty="0" smtClean="0">
                <a:latin typeface="Times New Roman" pitchFamily="18" charset="0"/>
              </a:rPr>
              <a:t>− </a:t>
            </a:r>
            <a:r>
              <a:rPr lang="en-US" altLang="zh-CN" dirty="0" smtClean="0">
                <a:latin typeface="Symbol" pitchFamily="18" charset="2"/>
              </a:rPr>
              <a:t>F</a:t>
            </a:r>
            <a:r>
              <a:rPr lang="en-US" altLang="zh-CN" dirty="0" smtClean="0">
                <a:latin typeface="Times New Roman" pitchFamily="18" charset="0"/>
              </a:rPr>
              <a:t>(2.5</a:t>
            </a:r>
            <a:r>
              <a:rPr lang="en-US" altLang="zh-CN" dirty="0">
                <a:latin typeface="Times New Roman" pitchFamily="18" charset="0"/>
              </a:rPr>
              <a:t>) = 0.0062</a:t>
            </a:r>
            <a:r>
              <a:rPr lang="zh-CN" altLang="en-US" dirty="0" smtClean="0">
                <a:latin typeface="Times New Roman" pitchFamily="18" charset="0"/>
              </a:rPr>
              <a:t>。</a:t>
            </a:r>
            <a:endParaRPr lang="en-US" altLang="zh-CN" dirty="0" smtClean="0">
              <a:latin typeface="Times New Roman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  <a:buClr>
                <a:schemeClr val="tx1"/>
              </a:buClr>
            </a:pPr>
            <a:r>
              <a:rPr lang="zh-CN" altLang="en-US" dirty="0" smtClean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尽管人数</a:t>
            </a:r>
            <a:r>
              <a:rPr lang="zh-CN" altLang="en-US" dirty="0" smtClean="0">
                <a:latin typeface="Times New Roman" pitchFamily="18" charset="0"/>
              </a:rPr>
              <a:t>很多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但</a:t>
            </a:r>
            <a:r>
              <a:rPr lang="zh-CN" altLang="en-US" dirty="0">
                <a:latin typeface="Times New Roman" pitchFamily="18" charset="0"/>
              </a:rPr>
              <a:t>误差仍然较大</a:t>
            </a:r>
            <a:r>
              <a:rPr lang="zh-CN" altLang="en-US" dirty="0" smtClean="0">
                <a:latin typeface="Times New Roman" pitchFamily="18" charset="0"/>
              </a:rPr>
              <a:t>。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</a:rPr>
              <a:t>中心极限定理？</a:t>
            </a:r>
            <a:endParaRPr lang="zh-CN" altLang="en-US" dirty="0">
              <a:solidFill>
                <a:srgbClr val="FF0000"/>
              </a:solidFill>
              <a:latin typeface="Times New Roman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  <a:buClr>
                <a:schemeClr val="tx1"/>
              </a:buClr>
            </a:pPr>
            <a:r>
              <a:rPr lang="zh-CN" altLang="en-US" dirty="0">
                <a:latin typeface="Times New Roman" pitchFamily="18" charset="0"/>
              </a:rPr>
              <a:t>注</a:t>
            </a:r>
            <a:r>
              <a:rPr lang="en-US" altLang="zh-CN" dirty="0">
                <a:latin typeface="Times New Roman" pitchFamily="18" charset="0"/>
              </a:rPr>
              <a:t>: 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 ~ Poisson (1</a:t>
            </a:r>
            <a:r>
              <a:rPr lang="en-US" altLang="zh-CN" dirty="0" smtClean="0">
                <a:latin typeface="Times New Roman" pitchFamily="18" charset="0"/>
              </a:rPr>
              <a:t>),   </a:t>
            </a:r>
            <a:r>
              <a:rPr lang="zh-CN" altLang="en-US" dirty="0">
                <a:latin typeface="Times New Roman" pitchFamily="18" charset="0"/>
              </a:rPr>
              <a:t>故</a:t>
            </a:r>
            <a:r>
              <a:rPr lang="en-US" altLang="zh-CN" dirty="0">
                <a:latin typeface="Times New Roman" pitchFamily="18" charset="0"/>
              </a:rPr>
              <a:t>E(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) = </a:t>
            </a:r>
            <a:r>
              <a:rPr lang="en-US" altLang="zh-CN" dirty="0" err="1">
                <a:latin typeface="Times New Roman" pitchFamily="18" charset="0"/>
              </a:rPr>
              <a:t>Var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) = 1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8B99-C952-435D-A9D2-18ACE3A7484A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207875" name="Rectangle 3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77" name="Rectangle 5"/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78" name="Rectangle 6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79" name="Rectangle 7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80" name="Rectangle 8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95536" y="5321898"/>
            <a:ext cx="648072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700" dirty="0"/>
              <a:t># </a:t>
            </a:r>
            <a:r>
              <a:rPr lang="zh-CN" altLang="en-US" sz="700" dirty="0"/>
              <a:t>根据矩估计得到正态分布的两个参数 </a:t>
            </a:r>
            <a:r>
              <a:rPr lang="en-US" altLang="zh-CN" sz="700" dirty="0"/>
              <a:t>mu </a:t>
            </a:r>
            <a:r>
              <a:rPr lang="zh-CN" altLang="en-US" sz="700" dirty="0"/>
              <a:t>和 </a:t>
            </a:r>
            <a:r>
              <a:rPr lang="en-US" altLang="zh-CN" sz="700" dirty="0"/>
              <a:t>sigma</a:t>
            </a:r>
          </a:p>
          <a:p>
            <a:r>
              <a:rPr lang="en-US" altLang="zh-CN" sz="700" dirty="0"/>
              <a:t>mu &lt;- 1</a:t>
            </a:r>
          </a:p>
          <a:p>
            <a:r>
              <a:rPr lang="en-US" altLang="zh-CN" sz="700" dirty="0"/>
              <a:t>sigma2 &lt;- 0.999</a:t>
            </a:r>
          </a:p>
          <a:p>
            <a:r>
              <a:rPr lang="en-US" altLang="zh-CN" sz="700" dirty="0"/>
              <a:t>ps2 &lt;- 1 - </a:t>
            </a:r>
            <a:r>
              <a:rPr lang="en-US" altLang="zh-CN" sz="700" dirty="0" err="1"/>
              <a:t>pnorm</a:t>
            </a:r>
            <a:r>
              <a:rPr lang="en-US" altLang="zh-CN" sz="700" dirty="0"/>
              <a:t>(3.5, mean = mu, </a:t>
            </a:r>
            <a:r>
              <a:rPr lang="en-US" altLang="zh-CN" sz="700" dirty="0" err="1"/>
              <a:t>sd</a:t>
            </a:r>
            <a:r>
              <a:rPr lang="en-US" altLang="zh-CN" sz="700" dirty="0"/>
              <a:t> = </a:t>
            </a:r>
            <a:r>
              <a:rPr lang="en-US" altLang="zh-CN" sz="700" dirty="0" err="1"/>
              <a:t>sqrt</a:t>
            </a:r>
            <a:r>
              <a:rPr lang="en-US" altLang="zh-CN" sz="700" dirty="0"/>
              <a:t>(sigma2))</a:t>
            </a:r>
          </a:p>
          <a:p>
            <a:r>
              <a:rPr lang="en-US" altLang="zh-CN" sz="700" dirty="0"/>
              <a:t>ps2</a:t>
            </a:r>
            <a:endParaRPr lang="zh-CN" altLang="en-US" sz="700" dirty="0"/>
          </a:p>
        </p:txBody>
      </p:sp>
    </p:spTree>
    <p:extLst>
      <p:ext uri="{BB962C8B-B14F-4D97-AF65-F5344CB8AC3E}">
        <p14:creationId xmlns:p14="http://schemas.microsoft.com/office/powerpoint/2010/main" val="293737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B0E7-2579-429D-BCBA-C28DD1218EAD}" type="slidenum">
              <a:rPr lang="en-US" altLang="zh-CN" smtClean="0"/>
              <a:pPr/>
              <a:t>55</a:t>
            </a:fld>
            <a:endParaRPr lang="en-US" altLang="zh-CN"/>
          </a:p>
        </p:txBody>
      </p:sp>
      <p:pic>
        <p:nvPicPr>
          <p:cNvPr id="405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84784"/>
            <a:ext cx="6942564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775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B0E7-2579-429D-BCBA-C28DD1218EAD}" type="slidenum">
              <a:rPr lang="en-US" altLang="zh-CN" smtClean="0"/>
              <a:pPr/>
              <a:t>56</a:t>
            </a:fld>
            <a:endParaRPr lang="en-US" altLang="zh-CN"/>
          </a:p>
        </p:txBody>
      </p:sp>
      <p:pic>
        <p:nvPicPr>
          <p:cNvPr id="406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268760"/>
            <a:ext cx="7344816" cy="4570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179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57</a:t>
            </a:fld>
            <a:endParaRPr lang="en-US" altLang="zh-CN"/>
          </a:p>
        </p:txBody>
      </p:sp>
      <p:pic>
        <p:nvPicPr>
          <p:cNvPr id="404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24744"/>
            <a:ext cx="7636822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1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B0E7-2579-429D-BCBA-C28DD1218EAD}" type="slidenum">
              <a:rPr lang="en-US" altLang="zh-CN" smtClean="0"/>
              <a:pPr/>
              <a:t>58</a:t>
            </a:fld>
            <a:endParaRPr lang="en-US" altLang="zh-CN"/>
          </a:p>
        </p:txBody>
      </p:sp>
      <p:pic>
        <p:nvPicPr>
          <p:cNvPr id="407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96752"/>
            <a:ext cx="7632848" cy="47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42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7859713" cy="4933950"/>
          </a:xfrm>
        </p:spPr>
        <p:txBody>
          <a:bodyPr/>
          <a:lstStyle/>
          <a:p>
            <a:pPr>
              <a:lnSpc>
                <a:spcPct val="160000"/>
              </a:lnSpc>
              <a:buClr>
                <a:schemeClr val="tx1"/>
              </a:buClr>
            </a:pPr>
            <a:r>
              <a:rPr lang="zh-CN" altLang="en-US" b="1" dirty="0">
                <a:solidFill>
                  <a:srgbClr val="000099"/>
                </a:solidFill>
                <a:latin typeface="Times New Roman" pitchFamily="18" charset="0"/>
              </a:rPr>
              <a:t>对数正态近似</a:t>
            </a:r>
            <a:r>
              <a:rPr lang="zh-CN" altLang="en-US" sz="1400" b="1" dirty="0">
                <a:solidFill>
                  <a:srgbClr val="000099"/>
                </a:solidFill>
                <a:latin typeface="Times New Roman" pitchFamily="18" charset="0"/>
              </a:rPr>
              <a:t>（</a:t>
            </a:r>
            <a:r>
              <a:rPr lang="en-US" altLang="zh-CN" sz="1400" b="1" dirty="0">
                <a:solidFill>
                  <a:srgbClr val="000099"/>
                </a:solidFill>
                <a:latin typeface="Times New Roman" pitchFamily="18" charset="0"/>
              </a:rPr>
              <a:t>S</a:t>
            </a:r>
            <a:r>
              <a:rPr lang="zh-CN" altLang="en-US" sz="1400" b="1" dirty="0">
                <a:solidFill>
                  <a:srgbClr val="000099"/>
                </a:solidFill>
                <a:latin typeface="Times New Roman" pitchFamily="18" charset="0"/>
              </a:rPr>
              <a:t>的均值和方差均为</a:t>
            </a:r>
            <a:r>
              <a:rPr lang="en-US" altLang="zh-CN" sz="1400" b="1" dirty="0" smtClean="0">
                <a:solidFill>
                  <a:srgbClr val="000099"/>
                </a:solidFill>
                <a:latin typeface="Times New Roman" pitchFamily="18" charset="0"/>
              </a:rPr>
              <a:t>1, </a:t>
            </a:r>
            <a:r>
              <a:rPr lang="zh-CN" altLang="en-US" sz="1400" b="1" dirty="0" smtClean="0">
                <a:solidFill>
                  <a:srgbClr val="000099"/>
                </a:solidFill>
                <a:latin typeface="Times New Roman" pitchFamily="18" charset="0"/>
              </a:rPr>
              <a:t>故</a:t>
            </a:r>
            <a:r>
              <a:rPr lang="zh-CN" altLang="en-US" sz="1400" b="1" dirty="0">
                <a:solidFill>
                  <a:srgbClr val="000099"/>
                </a:solidFill>
                <a:latin typeface="Times New Roman" pitchFamily="18" charset="0"/>
              </a:rPr>
              <a:t>由矩估计可以求得两个参数值）</a:t>
            </a:r>
          </a:p>
          <a:p>
            <a:pPr lvl="1">
              <a:lnSpc>
                <a:spcPct val="16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S </a:t>
            </a:r>
            <a:r>
              <a:rPr lang="en-US" altLang="zh-CN" dirty="0">
                <a:latin typeface="Times New Roman" pitchFamily="18" charset="0"/>
              </a:rPr>
              <a:t>≥ 3.5] </a:t>
            </a:r>
          </a:p>
          <a:p>
            <a:pPr lvl="1">
              <a:lnSpc>
                <a:spcPct val="16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=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[(</a:t>
            </a:r>
            <a:r>
              <a:rPr lang="en-US" altLang="zh-CN" i="1" dirty="0" smtClean="0">
                <a:latin typeface="Times New Roman" pitchFamily="18" charset="0"/>
              </a:rPr>
              <a:t>Z </a:t>
            </a:r>
            <a:r>
              <a:rPr lang="en-US" altLang="zh-CN" dirty="0" smtClean="0">
                <a:latin typeface="Times New Roman" pitchFamily="18" charset="0"/>
              </a:rPr>
              <a:t>≥ (</a:t>
            </a:r>
            <a:r>
              <a:rPr lang="en-US" altLang="zh-CN" dirty="0" err="1" smtClean="0">
                <a:latin typeface="Times New Roman" pitchFamily="18" charset="0"/>
              </a:rPr>
              <a:t>ln3.5</a:t>
            </a:r>
            <a:r>
              <a:rPr lang="en-US" altLang="zh-CN" dirty="0" smtClean="0">
                <a:latin typeface="Times New Roman" pitchFamily="18" charset="0"/>
              </a:rPr>
              <a:t> + 0.34657) / </a:t>
            </a:r>
            <a:r>
              <a:rPr lang="en-US" altLang="zh-CN" dirty="0" smtClean="0">
                <a:latin typeface="Symbol" pitchFamily="18" charset="2"/>
              </a:rPr>
              <a:t>0.83256</a:t>
            </a:r>
            <a:r>
              <a:rPr lang="en-US" altLang="zh-CN" dirty="0">
                <a:latin typeface="Times New Roman" pitchFamily="18" charset="0"/>
              </a:rPr>
              <a:t>] </a:t>
            </a:r>
          </a:p>
          <a:p>
            <a:pPr lvl="1">
              <a:lnSpc>
                <a:spcPct val="16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≈ 1−</a:t>
            </a:r>
            <a:r>
              <a:rPr lang="en-US" altLang="zh-CN" dirty="0">
                <a:latin typeface="Symbol" pitchFamily="18" charset="2"/>
              </a:rPr>
              <a:t>F</a:t>
            </a:r>
            <a:r>
              <a:rPr lang="en-US" altLang="zh-CN" dirty="0">
                <a:latin typeface="Times New Roman" pitchFamily="18" charset="0"/>
              </a:rPr>
              <a:t>(1.920995) </a:t>
            </a:r>
          </a:p>
          <a:p>
            <a:pPr lvl="1">
              <a:lnSpc>
                <a:spcPct val="16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= 0.0274.  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A64F-2EA4-4EDD-A6B8-5B2AEE19CFB6}" type="slidenum">
              <a:rPr lang="en-US" altLang="zh-CN"/>
              <a:pPr/>
              <a:t>59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76250"/>
            <a:ext cx="8229600" cy="5832475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003399"/>
                </a:solidFill>
                <a:latin typeface="Times New Roman" pitchFamily="18" charset="0"/>
              </a:rPr>
              <a:t>平移伽玛近似</a:t>
            </a:r>
            <a:r>
              <a:rPr lang="en-US" altLang="zh-CN" dirty="0">
                <a:solidFill>
                  <a:srgbClr val="003399"/>
                </a:solidFill>
                <a:latin typeface="Times New Roman" pitchFamily="18" charset="0"/>
              </a:rPr>
              <a:t>: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dirty="0" smtClean="0">
                <a:latin typeface="Times New Roman" pitchFamily="18" charset="0"/>
              </a:rPr>
              <a:t>用</a:t>
            </a:r>
            <a:r>
              <a:rPr lang="en-US" altLang="zh-CN" i="1" dirty="0">
                <a:latin typeface="Times New Roman" pitchFamily="18" charset="0"/>
              </a:rPr>
              <a:t>W </a:t>
            </a:r>
            <a:r>
              <a:rPr lang="en-US" altLang="zh-CN" dirty="0">
                <a:latin typeface="Times New Roman" pitchFamily="18" charset="0"/>
              </a:rPr>
              <a:t>+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0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近似 </a:t>
            </a:r>
            <a:r>
              <a:rPr lang="en-US" altLang="zh-CN" i="1" dirty="0">
                <a:latin typeface="Times New Roman" pitchFamily="18" charset="0"/>
              </a:rPr>
              <a:t>S </a:t>
            </a:r>
            <a:r>
              <a:rPr lang="en-US" altLang="zh-CN" i="1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其中 </a:t>
            </a:r>
            <a:r>
              <a:rPr lang="en-US" altLang="zh-CN" i="1" dirty="0">
                <a:latin typeface="Times New Roman" pitchFamily="18" charset="0"/>
              </a:rPr>
              <a:t>W </a:t>
            </a:r>
            <a:r>
              <a:rPr lang="en-US" altLang="zh-CN" dirty="0">
                <a:latin typeface="Times New Roman" pitchFamily="18" charset="0"/>
              </a:rPr>
              <a:t>~ Gamma (</a:t>
            </a:r>
            <a:r>
              <a:rPr lang="en-US" altLang="zh-CN" dirty="0" smtClean="0">
                <a:latin typeface="Symbol" pitchFamily="18" charset="2"/>
              </a:rPr>
              <a:t>a</a:t>
            </a:r>
            <a:r>
              <a:rPr lang="en-US" altLang="zh-CN" dirty="0" smtClean="0">
                <a:latin typeface="Times New Roman" pitchFamily="18" charset="0"/>
              </a:rPr>
              <a:t>,  </a:t>
            </a:r>
            <a:r>
              <a:rPr lang="en-US" altLang="zh-CN" dirty="0">
                <a:latin typeface="Symbol" pitchFamily="18" charset="2"/>
              </a:rPr>
              <a:t>b</a:t>
            </a:r>
            <a:r>
              <a:rPr lang="en-US" altLang="zh-CN" dirty="0" smtClean="0">
                <a:latin typeface="Times New Roman" pitchFamily="18" charset="0"/>
              </a:rPr>
              <a:t>), </a:t>
            </a:r>
            <a:r>
              <a:rPr lang="zh-CN" altLang="en-US" dirty="0" smtClean="0">
                <a:latin typeface="Times New Roman" pitchFamily="18" charset="0"/>
              </a:rPr>
              <a:t>均值</a:t>
            </a:r>
            <a:r>
              <a:rPr lang="zh-CN" altLang="en-US" dirty="0">
                <a:latin typeface="Times New Roman" pitchFamily="18" charset="0"/>
              </a:rPr>
              <a:t>为</a:t>
            </a:r>
            <a:r>
              <a:rPr lang="en-US" altLang="zh-CN" dirty="0">
                <a:latin typeface="Symbol" pitchFamily="18" charset="2"/>
              </a:rPr>
              <a:t>a/b</a:t>
            </a:r>
            <a:r>
              <a:rPr lang="zh-CN" altLang="en-US" dirty="0">
                <a:latin typeface="Symbol" pitchFamily="18" charset="2"/>
              </a:rPr>
              <a:t>。</a:t>
            </a:r>
            <a:endParaRPr lang="zh-CN" altLang="en-US" baseline="30000" dirty="0">
              <a:latin typeface="Symbol" pitchFamily="18" charset="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dirty="0">
                <a:latin typeface="Symbol" pitchFamily="18" charset="2"/>
              </a:rPr>
              <a:t>要求</a:t>
            </a:r>
            <a:r>
              <a:rPr lang="en-US" altLang="zh-CN" dirty="0" smtClean="0">
                <a:latin typeface="Symbol" pitchFamily="18" charset="2"/>
              </a:rPr>
              <a:t>a</a:t>
            </a:r>
            <a:r>
              <a:rPr lang="en-US" altLang="zh-CN" dirty="0" smtClean="0">
                <a:latin typeface="Times New Roman" pitchFamily="18" charset="0"/>
              </a:rPr>
              <a:t>,  </a:t>
            </a:r>
            <a:r>
              <a:rPr lang="en-US" altLang="zh-CN" dirty="0" smtClean="0">
                <a:latin typeface="Symbol" pitchFamily="18" charset="2"/>
              </a:rPr>
              <a:t>b</a:t>
            </a:r>
            <a:r>
              <a:rPr lang="en-US" altLang="zh-CN" dirty="0" smtClean="0">
                <a:latin typeface="Times New Roman" pitchFamily="18" charset="0"/>
              </a:rPr>
              <a:t>, 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0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的取值使得 </a:t>
            </a:r>
            <a:r>
              <a:rPr lang="en-US" altLang="zh-CN" i="1" dirty="0">
                <a:latin typeface="Times New Roman" pitchFamily="18" charset="0"/>
              </a:rPr>
              <a:t>S </a:t>
            </a:r>
            <a:r>
              <a:rPr lang="zh-CN" altLang="en-US" dirty="0">
                <a:latin typeface="Times New Roman" pitchFamily="18" charset="0"/>
              </a:rPr>
              <a:t>和 </a:t>
            </a:r>
            <a:r>
              <a:rPr lang="en-US" altLang="zh-CN" i="1" dirty="0">
                <a:latin typeface="Times New Roman" pitchFamily="18" charset="0"/>
              </a:rPr>
              <a:t>W </a:t>
            </a:r>
            <a:r>
              <a:rPr lang="en-US" altLang="zh-CN" dirty="0">
                <a:latin typeface="Times New Roman" pitchFamily="18" charset="0"/>
              </a:rPr>
              <a:t>+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0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的三阶矩</a:t>
            </a:r>
            <a:r>
              <a:rPr lang="zh-CN" altLang="en-US" dirty="0" smtClean="0">
                <a:latin typeface="Times New Roman" pitchFamily="18" charset="0"/>
              </a:rPr>
              <a:t>相等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即</a:t>
            </a:r>
            <a:r>
              <a:rPr lang="zh-CN" altLang="en-US" dirty="0">
                <a:latin typeface="Times New Roman" pitchFamily="18" charset="0"/>
              </a:rPr>
              <a:t>均值、方差和偏度分别</a:t>
            </a:r>
            <a:r>
              <a:rPr lang="zh-CN" altLang="en-US" dirty="0" smtClean="0">
                <a:latin typeface="Times New Roman" pitchFamily="18" charset="0"/>
              </a:rPr>
              <a:t>相等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则</a:t>
            </a: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30000"/>
              </a:lnSpc>
              <a:buFont typeface="Symbol" pitchFamily="18" charset="2"/>
              <a:buChar char=" "/>
            </a:pP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30000"/>
              </a:lnSpc>
              <a:buFont typeface="Symbol" pitchFamily="18" charset="2"/>
              <a:buChar char=" "/>
            </a:pPr>
            <a:r>
              <a:rPr lang="zh-CN" altLang="en-US" i="1" dirty="0">
                <a:latin typeface="Times New Roman" pitchFamily="18" charset="0"/>
              </a:rPr>
              <a:t>  </a:t>
            </a:r>
          </a:p>
          <a:p>
            <a:pPr>
              <a:lnSpc>
                <a:spcPct val="130000"/>
              </a:lnSpc>
              <a:buFont typeface="Symbol" pitchFamily="18" charset="2"/>
              <a:buChar char=" "/>
            </a:pPr>
            <a:r>
              <a:rPr lang="zh-CN" altLang="en-US" i="1" dirty="0">
                <a:latin typeface="Times New Roman" pitchFamily="18" charset="0"/>
              </a:rPr>
              <a:t>  </a:t>
            </a: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故 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7EE-B4EA-453C-AE5D-CBCB60D2ED5E}" type="slidenum">
              <a:rPr lang="en-US" altLang="zh-CN"/>
              <a:pPr/>
              <a:t>60</a:t>
            </a:fld>
            <a:endParaRPr lang="en-US" altLang="zh-CN"/>
          </a:p>
        </p:txBody>
      </p:sp>
      <p:graphicFrame>
        <p:nvGraphicFramePr>
          <p:cNvPr id="3266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032028"/>
              </p:ext>
            </p:extLst>
          </p:nvPr>
        </p:nvGraphicFramePr>
        <p:xfrm>
          <a:off x="1619672" y="5467350"/>
          <a:ext cx="6826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45" name="Equation" r:id="rId3" imgW="469800" imgH="419040" progId="Equation.DSMT4">
                  <p:embed/>
                </p:oleObj>
              </mc:Choice>
              <mc:Fallback>
                <p:oleObj name="Equation" r:id="rId3" imgW="469800" imgH="419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5467350"/>
                        <a:ext cx="682625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085080"/>
              </p:ext>
            </p:extLst>
          </p:nvPr>
        </p:nvGraphicFramePr>
        <p:xfrm>
          <a:off x="3787337" y="5481666"/>
          <a:ext cx="7207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46" name="公式" r:id="rId5" imgW="508000" imgH="419100" progId="Equation.3">
                  <p:embed/>
                </p:oleObj>
              </mc:Choice>
              <mc:Fallback>
                <p:oleObj name="公式" r:id="rId5" imgW="5080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337" y="5481666"/>
                        <a:ext cx="720725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770785"/>
              </p:ext>
            </p:extLst>
          </p:nvPr>
        </p:nvGraphicFramePr>
        <p:xfrm>
          <a:off x="6016624" y="5400381"/>
          <a:ext cx="13684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47" name="公式" r:id="rId7" imgW="812447" imgH="418918" progId="Equation.3">
                  <p:embed/>
                </p:oleObj>
              </mc:Choice>
              <mc:Fallback>
                <p:oleObj name="公式" r:id="rId7" imgW="812447" imgH="41891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24" y="5400381"/>
                        <a:ext cx="1368425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15539"/>
              </p:ext>
            </p:extLst>
          </p:nvPr>
        </p:nvGraphicFramePr>
        <p:xfrm>
          <a:off x="1405632" y="4162777"/>
          <a:ext cx="125472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48" name="Equation" r:id="rId9" imgW="698400" imgH="419040" progId="Equation.DSMT4">
                  <p:embed/>
                </p:oleObj>
              </mc:Choice>
              <mc:Fallback>
                <p:oleObj name="Equation" r:id="rId9" imgW="698400" imgH="419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5632" y="4162777"/>
                        <a:ext cx="1254720" cy="8493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436811"/>
              </p:ext>
            </p:extLst>
          </p:nvPr>
        </p:nvGraphicFramePr>
        <p:xfrm>
          <a:off x="3687425" y="4219927"/>
          <a:ext cx="920551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49" name="Equation" r:id="rId11" imgW="558720" imgH="419040" progId="Equation.DSMT4">
                  <p:embed/>
                </p:oleObj>
              </mc:Choice>
              <mc:Fallback>
                <p:oleObj name="Equation" r:id="rId11" imgW="558720" imgH="4190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425" y="4219927"/>
                        <a:ext cx="920551" cy="7921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477875"/>
              </p:ext>
            </p:extLst>
          </p:nvPr>
        </p:nvGraphicFramePr>
        <p:xfrm>
          <a:off x="6016624" y="4162777"/>
          <a:ext cx="10731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50" name="Equation" r:id="rId13" imgW="520560" imgH="419040" progId="Equation.DSMT4">
                  <p:embed/>
                </p:oleObj>
              </mc:Choice>
              <mc:Fallback>
                <p:oleObj name="Equation" r:id="rId13" imgW="520560" imgH="4190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24" y="4162777"/>
                        <a:ext cx="107315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 smtClean="0">
                <a:latin typeface="Times New Roman" pitchFamily="18" charset="0"/>
              </a:rPr>
              <a:t>       S </a:t>
            </a:r>
            <a:r>
              <a:rPr lang="en-US" altLang="zh-CN" dirty="0">
                <a:latin typeface="Times New Roman" pitchFamily="18" charset="0"/>
              </a:rPr>
              <a:t>~ Poisson (1</a:t>
            </a:r>
            <a:r>
              <a:rPr lang="en-US" altLang="zh-CN" dirty="0" smtClean="0">
                <a:latin typeface="Times New Roman" pitchFamily="18" charset="0"/>
              </a:rPr>
              <a:t>),   </a:t>
            </a:r>
            <a:r>
              <a:rPr lang="zh-CN" altLang="en-US" dirty="0">
                <a:latin typeface="Times New Roman" pitchFamily="18" charset="0"/>
              </a:rPr>
              <a:t>故 </a:t>
            </a:r>
            <a:r>
              <a:rPr lang="en-US" altLang="zh-CN" dirty="0">
                <a:latin typeface="Symbol" pitchFamily="18" charset="2"/>
              </a:rPr>
              <a:t>m = s = g = </a:t>
            </a:r>
            <a:r>
              <a:rPr lang="en-US" altLang="zh-CN" dirty="0" smtClean="0">
                <a:latin typeface="Symbol" pitchFamily="18" charset="2"/>
              </a:rPr>
              <a:t>1,   </a:t>
            </a:r>
            <a:r>
              <a:rPr lang="zh-CN" altLang="en-US" dirty="0">
                <a:latin typeface="Symbol" pitchFamily="18" charset="2"/>
              </a:rPr>
              <a:t>由此可以求得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Symbol" pitchFamily="18" charset="2"/>
              </a:rPr>
              <a:t>         </a:t>
            </a:r>
            <a:r>
              <a:rPr lang="en-US" altLang="zh-CN" dirty="0" smtClean="0">
                <a:latin typeface="Symbol" pitchFamily="18" charset="2"/>
              </a:rPr>
              <a:t>a </a:t>
            </a:r>
            <a:r>
              <a:rPr lang="en-US" altLang="zh-CN" dirty="0" smtClean="0">
                <a:latin typeface="Times New Roman" pitchFamily="18" charset="0"/>
              </a:rPr>
              <a:t>= 4,     </a:t>
            </a:r>
            <a:r>
              <a:rPr lang="en-US" altLang="zh-CN" dirty="0" smtClean="0">
                <a:latin typeface="Symbol" pitchFamily="18" charset="2"/>
              </a:rPr>
              <a:t>b </a:t>
            </a:r>
            <a:r>
              <a:rPr lang="en-US" altLang="zh-CN" dirty="0" smtClean="0">
                <a:latin typeface="Times New Roman" pitchFamily="18" charset="0"/>
              </a:rPr>
              <a:t>= 2,      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0</a:t>
            </a:r>
            <a:r>
              <a:rPr lang="en-US" altLang="zh-CN" dirty="0">
                <a:latin typeface="Times New Roman" pitchFamily="18" charset="0"/>
              </a:rPr>
              <a:t> = −</a:t>
            </a:r>
            <a:r>
              <a:rPr lang="en-US" altLang="zh-CN" dirty="0" smtClean="0">
                <a:latin typeface="Times New Roman" pitchFamily="18" charset="0"/>
              </a:rPr>
              <a:t>1,  </a:t>
            </a:r>
            <a:endParaRPr lang="en-US" altLang="zh-CN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</a:t>
            </a:r>
            <a:r>
              <a:rPr lang="zh-CN" altLang="en-US" dirty="0">
                <a:latin typeface="Times New Roman" pitchFamily="18" charset="0"/>
              </a:rPr>
              <a:t>从而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    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S </a:t>
            </a:r>
            <a:r>
              <a:rPr lang="en-US" altLang="en-US" dirty="0">
                <a:latin typeface="Times New Roman" pitchFamily="18" charset="0"/>
              </a:rPr>
              <a:t>≥</a:t>
            </a:r>
            <a:r>
              <a:rPr lang="en-US" altLang="zh-CN" dirty="0">
                <a:latin typeface="Times New Roman" pitchFamily="18" charset="0"/>
              </a:rPr>
              <a:t> 3.5] </a:t>
            </a:r>
            <a:r>
              <a:rPr lang="en-US" altLang="en-US" dirty="0">
                <a:latin typeface="Times New Roman" pitchFamily="18" charset="0"/>
              </a:rPr>
              <a:t>≈</a:t>
            </a:r>
            <a:r>
              <a:rPr lang="en-US" altLang="zh-CN" dirty="0">
                <a:latin typeface="Times New Roman" pitchFamily="18" charset="0"/>
              </a:rPr>
              <a:t> 1 −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(S &lt; 3.5)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                 = </a:t>
            </a:r>
            <a:r>
              <a:rPr lang="en-US" altLang="zh-CN" dirty="0" smtClean="0">
                <a:latin typeface="Times New Roman" pitchFamily="18" charset="0"/>
              </a:rPr>
              <a:t>1</a:t>
            </a:r>
            <a:r>
              <a:rPr lang="en-US" altLang="zh-CN" dirty="0" smtClean="0">
                <a:latin typeface="Symbol" pitchFamily="18" charset="2"/>
              </a:rPr>
              <a:t>- </a:t>
            </a:r>
            <a:r>
              <a:rPr lang="en-US" altLang="zh-CN" dirty="0" smtClean="0">
                <a:latin typeface="Times New Roman" pitchFamily="18" charset="0"/>
              </a:rPr>
              <a:t>Gamma(</a:t>
            </a:r>
            <a:r>
              <a:rPr lang="en-US" altLang="zh-CN" i="1" dirty="0" smtClean="0">
                <a:latin typeface="Times New Roman" pitchFamily="18" charset="0"/>
              </a:rPr>
              <a:t>W</a:t>
            </a:r>
            <a:r>
              <a:rPr lang="en-US" altLang="zh-CN" dirty="0" smtClean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+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0</a:t>
            </a:r>
            <a:r>
              <a:rPr lang="en-US" altLang="zh-CN" dirty="0">
                <a:latin typeface="Times New Roman" pitchFamily="18" charset="0"/>
              </a:rPr>
              <a:t>  &lt; 3.5)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                 = </a:t>
            </a:r>
            <a:r>
              <a:rPr lang="en-US" altLang="zh-CN" dirty="0" smtClean="0">
                <a:latin typeface="Times New Roman" pitchFamily="18" charset="0"/>
              </a:rPr>
              <a:t>1</a:t>
            </a:r>
            <a:r>
              <a:rPr lang="en-US" altLang="zh-CN" dirty="0" smtClean="0">
                <a:latin typeface="Symbol" pitchFamily="18" charset="2"/>
              </a:rPr>
              <a:t>- </a:t>
            </a:r>
            <a:r>
              <a:rPr lang="en-US" altLang="zh-CN" dirty="0" smtClean="0">
                <a:latin typeface="Times New Roman" pitchFamily="18" charset="0"/>
              </a:rPr>
              <a:t>Gamma(</a:t>
            </a:r>
            <a:r>
              <a:rPr lang="en-US" altLang="zh-CN" i="1" dirty="0" smtClean="0">
                <a:latin typeface="Times New Roman" pitchFamily="18" charset="0"/>
              </a:rPr>
              <a:t>W </a:t>
            </a:r>
            <a:r>
              <a:rPr lang="en-US" altLang="zh-CN" dirty="0" smtClean="0">
                <a:latin typeface="Times New Roman" pitchFamily="18" charset="0"/>
              </a:rPr>
              <a:t>&lt; </a:t>
            </a:r>
            <a:r>
              <a:rPr lang="en-US" altLang="zh-CN" dirty="0">
                <a:latin typeface="Times New Roman" pitchFamily="18" charset="0"/>
              </a:rPr>
              <a:t>4.5)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                 = 0.0212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F544-A605-4C18-ADAC-DF3F9D980BB4}" type="slidenum">
              <a:rPr lang="en-US" altLang="zh-CN"/>
              <a:pPr/>
              <a:t>61</a:t>
            </a:fld>
            <a:endParaRPr lang="en-US" altLang="zh-CN"/>
          </a:p>
        </p:txBody>
      </p:sp>
      <p:graphicFrame>
        <p:nvGraphicFramePr>
          <p:cNvPr id="327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335716"/>
              </p:ext>
            </p:extLst>
          </p:nvPr>
        </p:nvGraphicFramePr>
        <p:xfrm>
          <a:off x="1427163" y="750888"/>
          <a:ext cx="564038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37" name="Equation" r:id="rId3" imgW="2616120" imgH="228600" progId="Equation.DSMT4">
                  <p:embed/>
                </p:oleObj>
              </mc:Choice>
              <mc:Fallback>
                <p:oleObj name="Equation" r:id="rId3" imgW="261612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163" y="750888"/>
                        <a:ext cx="5640387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5" name="Text Box 5"/>
          <p:cNvSpPr txBox="1">
            <a:spLocks noChangeArrowheads="1"/>
          </p:cNvSpPr>
          <p:nvPr/>
        </p:nvSpPr>
        <p:spPr bwMode="auto">
          <a:xfrm>
            <a:off x="971550" y="811213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/>
              <a:t>注：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idx="1"/>
          </p:nvPr>
        </p:nvSpPr>
        <p:spPr>
          <a:xfrm>
            <a:off x="395288" y="836613"/>
            <a:ext cx="8280400" cy="4608512"/>
          </a:xfrm>
        </p:spPr>
        <p:txBody>
          <a:bodyPr/>
          <a:lstStyle/>
          <a:p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b="1" dirty="0" smtClean="0">
                <a:solidFill>
                  <a:srgbClr val="003399"/>
                </a:solidFill>
              </a:rPr>
              <a:t>NP </a:t>
            </a:r>
            <a:r>
              <a:rPr lang="zh-CN" altLang="en-US" b="1" dirty="0" smtClean="0">
                <a:solidFill>
                  <a:srgbClr val="003399"/>
                </a:solidFill>
              </a:rPr>
              <a:t>近似</a:t>
            </a:r>
            <a:r>
              <a:rPr lang="zh-CN" altLang="en-US" b="1" dirty="0">
                <a:solidFill>
                  <a:srgbClr val="003399"/>
                </a:solidFill>
              </a:rPr>
              <a:t>：</a:t>
            </a:r>
            <a:endParaRPr lang="zh-CN" altLang="en-US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 如果</a:t>
            </a:r>
            <a:r>
              <a:rPr lang="en-US" altLang="zh-CN" dirty="0">
                <a:latin typeface="Times New Roman" pitchFamily="18" charset="0"/>
              </a:rPr>
              <a:t>E[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dirty="0" smtClean="0">
                <a:latin typeface="Symbol" pitchFamily="18" charset="2"/>
              </a:rPr>
              <a:t>m</a:t>
            </a:r>
            <a:r>
              <a:rPr lang="en-US" altLang="zh-CN" dirty="0" smtClean="0">
                <a:latin typeface="Times New Roman" pitchFamily="18" charset="0"/>
              </a:rPr>
              <a:t>,   </a:t>
            </a:r>
            <a:r>
              <a:rPr lang="en-US" altLang="zh-CN" dirty="0" err="1">
                <a:latin typeface="Times New Roman" pitchFamily="18" charset="0"/>
              </a:rPr>
              <a:t>Var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dirty="0" err="1">
                <a:latin typeface="Symbol" pitchFamily="18" charset="2"/>
              </a:rPr>
              <a:t>s</a:t>
            </a:r>
            <a:r>
              <a:rPr lang="en-US" altLang="zh-CN" baseline="30000" dirty="0" err="1">
                <a:latin typeface="Times New Roman" pitchFamily="18" charset="0"/>
              </a:rPr>
              <a:t>2</a:t>
            </a:r>
            <a:r>
              <a:rPr lang="en-US" altLang="zh-CN" baseline="30000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 </a:t>
            </a:r>
            <a:r>
              <a:rPr lang="en-US" altLang="zh-CN" dirty="0" err="1">
                <a:latin typeface="Symbol" pitchFamily="18" charset="2"/>
              </a:rPr>
              <a:t>g</a:t>
            </a:r>
            <a:r>
              <a:rPr lang="en-US" altLang="zh-CN" i="1" baseline="-25000" dirty="0" err="1">
                <a:latin typeface="Times New Roman" pitchFamily="18" charset="0"/>
              </a:rPr>
              <a:t>S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>
                <a:latin typeface="Symbol" pitchFamily="18" charset="2"/>
              </a:rPr>
              <a:t>g </a:t>
            </a:r>
            <a:r>
              <a:rPr lang="en-US" altLang="zh-CN" dirty="0">
                <a:latin typeface="Times New Roman" pitchFamily="18" charset="0"/>
              </a:rPr>
              <a:t>&gt; </a:t>
            </a:r>
            <a:r>
              <a:rPr lang="en-US" altLang="zh-CN" dirty="0" smtClean="0">
                <a:latin typeface="Times New Roman" pitchFamily="18" charset="0"/>
              </a:rPr>
              <a:t>0,  </a:t>
            </a:r>
            <a:r>
              <a:rPr lang="zh-CN" altLang="en-US" dirty="0">
                <a:latin typeface="Times New Roman" pitchFamily="18" charset="0"/>
              </a:rPr>
              <a:t>则</a:t>
            </a:r>
          </a:p>
          <a:p>
            <a:pPr>
              <a:buFont typeface="Wingdings" pitchFamily="2" charset="2"/>
              <a:buNone/>
            </a:pPr>
            <a:endParaRPr lang="zh-CN" altLang="en-US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   </a:t>
            </a:r>
          </a:p>
          <a:p>
            <a:pPr>
              <a:buFont typeface="Wingdings" pitchFamily="2" charset="2"/>
              <a:buNone/>
            </a:pPr>
            <a:endParaRPr lang="zh-CN" altLang="en-US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zh-CN" altLang="en-US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2AD5-9B4B-4EA9-8AD4-5268E8CA3F91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210947" name="Rectangle 3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109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303951"/>
              </p:ext>
            </p:extLst>
          </p:nvPr>
        </p:nvGraphicFramePr>
        <p:xfrm>
          <a:off x="1762125" y="2708275"/>
          <a:ext cx="439737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06" name="Equation" r:id="rId3" imgW="2387520" imgH="507960" progId="Equation.DSMT4">
                  <p:embed/>
                </p:oleObj>
              </mc:Choice>
              <mc:Fallback>
                <p:oleObj name="Equation" r:id="rId3" imgW="2387520" imgH="5079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2708275"/>
                        <a:ext cx="4397375" cy="928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49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0951" name="Rectangle 7"/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0952" name="Rectangle 8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91513" cy="4411662"/>
          </a:xfrm>
        </p:spPr>
        <p:txBody>
          <a:bodyPr/>
          <a:lstStyle/>
          <a:p>
            <a:r>
              <a:rPr lang="zh-CN" altLang="en-US" b="1" dirty="0" smtClean="0"/>
              <a:t> </a:t>
            </a:r>
            <a:r>
              <a:rPr lang="zh-CN" altLang="en-US" dirty="0" smtClean="0">
                <a:latin typeface="Times New Roman" pitchFamily="18" charset="0"/>
              </a:rPr>
              <a:t>对于</a:t>
            </a:r>
            <a:r>
              <a:rPr lang="en-US" altLang="zh-CN" dirty="0">
                <a:latin typeface="Times New Roman" pitchFamily="18" charset="0"/>
              </a:rPr>
              <a:t>S ~ Poisson (1</a:t>
            </a:r>
            <a:r>
              <a:rPr lang="en-US" altLang="zh-CN" dirty="0" smtClean="0">
                <a:latin typeface="Times New Roman" pitchFamily="18" charset="0"/>
              </a:rPr>
              <a:t>), </a:t>
            </a:r>
            <a:r>
              <a:rPr lang="zh-CN" altLang="en-US" dirty="0" smtClean="0">
                <a:latin typeface="Times New Roman" pitchFamily="18" charset="0"/>
              </a:rPr>
              <a:t>有 </a:t>
            </a:r>
            <a:r>
              <a:rPr lang="en-US" altLang="zh-CN" dirty="0">
                <a:latin typeface="Symbol" pitchFamily="18" charset="2"/>
              </a:rPr>
              <a:t>m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>
                <a:latin typeface="Symbol" pitchFamily="18" charset="2"/>
              </a:rPr>
              <a:t>s </a:t>
            </a:r>
            <a:r>
              <a:rPr lang="en-US" altLang="zh-CN" dirty="0">
                <a:latin typeface="Times New Roman" pitchFamily="18" charset="0"/>
              </a:rPr>
              <a:t>=  </a:t>
            </a:r>
            <a:r>
              <a:rPr lang="en-US" altLang="zh-CN" dirty="0">
                <a:latin typeface="Symbol" pitchFamily="18" charset="2"/>
              </a:rPr>
              <a:t>g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 smtClean="0">
                <a:latin typeface="Times New Roman" pitchFamily="18" charset="0"/>
              </a:rPr>
              <a:t>1,  </a:t>
            </a:r>
            <a:r>
              <a:rPr lang="zh-CN" altLang="en-US" dirty="0">
                <a:latin typeface="Times New Roman" pitchFamily="18" charset="0"/>
              </a:rPr>
              <a:t>故</a:t>
            </a:r>
          </a:p>
        </p:txBody>
      </p:sp>
      <p:graphicFrame>
        <p:nvGraphicFramePr>
          <p:cNvPr id="328708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77452370"/>
              </p:ext>
            </p:extLst>
          </p:nvPr>
        </p:nvGraphicFramePr>
        <p:xfrm>
          <a:off x="2124075" y="2708275"/>
          <a:ext cx="4427538" cy="310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62" name="Equation" r:id="rId3" imgW="2603160" imgH="1828800" progId="Equation.DSMT4">
                  <p:embed/>
                </p:oleObj>
              </mc:Choice>
              <mc:Fallback>
                <p:oleObj name="Equation" r:id="rId3" imgW="2603160" imgH="1828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708275"/>
                        <a:ext cx="4427538" cy="310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C71F-F757-4F46-8565-6465FE959951}" type="slidenum">
              <a:rPr lang="en-US" altLang="zh-CN"/>
              <a:pPr/>
              <a:t>63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3A786-847E-4D06-A327-2E3D53FE76E5}" type="slidenum">
              <a:rPr lang="en-US" altLang="zh-CN"/>
              <a:pPr/>
              <a:t>64</a:t>
            </a:fld>
            <a:endParaRPr lang="en-US" altLang="zh-CN"/>
          </a:p>
        </p:txBody>
      </p:sp>
      <p:sp>
        <p:nvSpPr>
          <p:cNvPr id="211972" name="Text Box 4"/>
          <p:cNvSpPr txBox="1">
            <a:spLocks noChangeArrowheads="1"/>
          </p:cNvSpPr>
          <p:nvPr/>
        </p:nvSpPr>
        <p:spPr bwMode="auto">
          <a:xfrm>
            <a:off x="2916238" y="1033463"/>
            <a:ext cx="33988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本例近似结果的比较</a:t>
            </a:r>
          </a:p>
        </p:txBody>
      </p:sp>
      <p:graphicFrame>
        <p:nvGraphicFramePr>
          <p:cNvPr id="212076" name="Group 108"/>
          <p:cNvGraphicFramePr>
            <a:graphicFrameLocks noGrp="1"/>
          </p:cNvGraphicFramePr>
          <p:nvPr/>
        </p:nvGraphicFramePr>
        <p:xfrm>
          <a:off x="1258888" y="1700213"/>
          <a:ext cx="6481762" cy="4064000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近似方法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精确值＝</a:t>
                      </a: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0.0190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误差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Normal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0.0062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-0.0128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Lognormal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0.0274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0.0084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Normal power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0.0228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0.0038 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Translated gamma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0.0212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0.0022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2072" name="Line 104"/>
          <p:cNvSpPr>
            <a:spLocks noChangeShapeType="1"/>
          </p:cNvSpPr>
          <p:nvPr/>
        </p:nvSpPr>
        <p:spPr bwMode="auto">
          <a:xfrm>
            <a:off x="8101013" y="2492375"/>
            <a:ext cx="0" cy="288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073" name="Text Box 105"/>
          <p:cNvSpPr txBox="1">
            <a:spLocks noChangeArrowheads="1"/>
          </p:cNvSpPr>
          <p:nvPr/>
        </p:nvSpPr>
        <p:spPr bwMode="auto">
          <a:xfrm>
            <a:off x="8243888" y="3429000"/>
            <a:ext cx="45878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/>
          <a:p>
            <a:r>
              <a:rPr lang="zh-CN" altLang="en-US"/>
              <a:t>误差减小</a:t>
            </a:r>
          </a:p>
        </p:txBody>
      </p:sp>
      <p:sp>
        <p:nvSpPr>
          <p:cNvPr id="2" name="矩形 1"/>
          <p:cNvSpPr/>
          <p:nvPr/>
        </p:nvSpPr>
        <p:spPr>
          <a:xfrm>
            <a:off x="323528" y="761494"/>
            <a:ext cx="6461471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" dirty="0"/>
              <a:t># =============================================================================</a:t>
            </a:r>
          </a:p>
          <a:p>
            <a:r>
              <a:rPr lang="zh-CN" altLang="en-US" sz="100" dirty="0"/>
              <a:t># 二、个体风险模型</a:t>
            </a:r>
          </a:p>
          <a:p>
            <a:r>
              <a:rPr lang="zh-CN" altLang="en-US" sz="100" dirty="0"/>
              <a:t># ============================================================================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1. 二项分布和泊松分布(精确分布)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q &lt;- 0.001</a:t>
            </a:r>
          </a:p>
          <a:p>
            <a:r>
              <a:rPr lang="zh-CN" altLang="en-US" sz="100" dirty="0"/>
              <a:t>n &lt;- 1000</a:t>
            </a:r>
          </a:p>
          <a:p>
            <a:r>
              <a:rPr lang="zh-CN" altLang="en-US" sz="100" dirty="0"/>
              <a:t># 总赔款 S 服从二项分布(1000,0.001)，也可以近似服从lambda = 1的泊松分布</a:t>
            </a:r>
          </a:p>
          <a:p>
            <a:r>
              <a:rPr lang="zh-CN" altLang="en-US" sz="100" dirty="0"/>
              <a:t># P(S&gt;=3.5)的概率为</a:t>
            </a:r>
          </a:p>
          <a:p>
            <a:r>
              <a:rPr lang="zh-CN" altLang="en-US" sz="100" dirty="0"/>
              <a:t>1 - pbinom(3.5, 1000, 0.001)</a:t>
            </a:r>
          </a:p>
          <a:p>
            <a:r>
              <a:rPr lang="zh-CN" altLang="en-US" sz="100" dirty="0"/>
              <a:t>ps1 &lt;- 1 - ppois(3.5, 1)</a:t>
            </a:r>
          </a:p>
          <a:p>
            <a:r>
              <a:rPr lang="zh-CN" altLang="en-US" sz="100" dirty="0"/>
              <a:t>ps1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2. 正态近似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根据矩估计得到正态分布的两个参数 mu 和 sigma</a:t>
            </a:r>
          </a:p>
          <a:p>
            <a:r>
              <a:rPr lang="zh-CN" altLang="en-US" sz="100" dirty="0"/>
              <a:t>mu &lt;- 1</a:t>
            </a:r>
          </a:p>
          <a:p>
            <a:r>
              <a:rPr lang="zh-CN" altLang="en-US" sz="100" dirty="0"/>
              <a:t>sigma2 &lt;- 0.999</a:t>
            </a:r>
          </a:p>
          <a:p>
            <a:r>
              <a:rPr lang="zh-CN" altLang="en-US" sz="100" dirty="0"/>
              <a:t>ps2 &lt;- 1 - pnorm(3.5, mean = mu, sd = sqrt(sigma2))</a:t>
            </a:r>
          </a:p>
          <a:p>
            <a:r>
              <a:rPr lang="zh-CN" altLang="en-US" sz="100" dirty="0"/>
              <a:t>ps2</a:t>
            </a:r>
          </a:p>
          <a:p>
            <a:endParaRPr lang="zh-CN" altLang="en-US" sz="100" dirty="0"/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3. 对数正态近似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根据矩估计得到对数正态分布的两个参数 mu 和 sigma</a:t>
            </a:r>
          </a:p>
          <a:p>
            <a:r>
              <a:rPr lang="zh-CN" altLang="en-US" sz="100" dirty="0"/>
              <a:t>mu &lt;- -0.34657</a:t>
            </a:r>
          </a:p>
          <a:p>
            <a:r>
              <a:rPr lang="zh-CN" altLang="en-US" sz="100" dirty="0"/>
              <a:t>sigma &lt;- 0.83256</a:t>
            </a:r>
          </a:p>
          <a:p>
            <a:r>
              <a:rPr lang="zh-CN" altLang="en-US" sz="100" dirty="0"/>
              <a:t>ps3 &lt;- 1 - plnorm(3.5, mu, sigma)</a:t>
            </a:r>
          </a:p>
          <a:p>
            <a:r>
              <a:rPr lang="zh-CN" altLang="en-US" sz="100" dirty="0"/>
              <a:t>ps3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4. 平移伽马近似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根据矩估计得到平移伽马分布的三个参数 x0 alpha beta</a:t>
            </a:r>
          </a:p>
          <a:p>
            <a:r>
              <a:rPr lang="zh-CN" altLang="en-US" sz="100" dirty="0"/>
              <a:t>x0 &lt;- -1</a:t>
            </a:r>
          </a:p>
          <a:p>
            <a:r>
              <a:rPr lang="zh-CN" altLang="en-US" sz="100" dirty="0"/>
              <a:t>alpha &lt;- 4 </a:t>
            </a:r>
          </a:p>
          <a:p>
            <a:r>
              <a:rPr lang="zh-CN" altLang="en-US" sz="100" dirty="0"/>
              <a:t>beta &lt;- 2</a:t>
            </a:r>
          </a:p>
          <a:p>
            <a:r>
              <a:rPr lang="zh-CN" altLang="en-US" sz="100" dirty="0"/>
              <a:t># S + 1 服从参数为 (4,2) 的伽马分布</a:t>
            </a:r>
          </a:p>
          <a:p>
            <a:r>
              <a:rPr lang="zh-CN" altLang="en-US" sz="100" dirty="0"/>
              <a:t>ps4 &lt;- 1 - pgamma(4.5, shape = 4, rate = 2)</a:t>
            </a:r>
          </a:p>
          <a:p>
            <a:r>
              <a:rPr lang="zh-CN" altLang="en-US" sz="100" dirty="0"/>
              <a:t>ps4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5. NP 近似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泊松分布的均值、方差、偏度系数为 1</a:t>
            </a:r>
          </a:p>
          <a:p>
            <a:r>
              <a:rPr lang="zh-CN" altLang="en-US" sz="100" dirty="0"/>
              <a:t>mu &lt;- sigma &lt;- gamma &lt;- 1</a:t>
            </a:r>
          </a:p>
          <a:p>
            <a:r>
              <a:rPr lang="zh-CN" altLang="en-US" sz="100" dirty="0"/>
              <a:t>a &lt;- - 3/gamma + sqrt(9/gamma^2 + 1 + 6/gamma * (3.5 - mu)/ sigma)</a:t>
            </a:r>
          </a:p>
          <a:p>
            <a:r>
              <a:rPr lang="zh-CN" altLang="en-US" sz="100" dirty="0"/>
              <a:t>ps5 &lt;- 1 - pnorm(a)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6. 比较结果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dt &lt;- data.frame(rbind(ps2, ps3, ps5, ps4))</a:t>
            </a:r>
          </a:p>
          <a:p>
            <a:r>
              <a:rPr lang="zh-CN" altLang="en-US" sz="100" dirty="0"/>
              <a:t>rownames(dt) &lt;- c('Normal', 'Lognormal', 'Normal power', 'Translated gamma')</a:t>
            </a:r>
          </a:p>
          <a:p>
            <a:r>
              <a:rPr lang="zh-CN" altLang="en-US" sz="100" dirty="0"/>
              <a:t>colnames(dt) &lt;- '精确值＝0.0190'</a:t>
            </a:r>
          </a:p>
          <a:p>
            <a:r>
              <a:rPr lang="zh-CN" altLang="en-US" sz="100" dirty="0"/>
              <a:t>dt$Error &lt;- rbind(ps2, ps3, ps5, ps4) - ps1</a:t>
            </a:r>
          </a:p>
          <a:p>
            <a:r>
              <a:rPr lang="zh-CN" altLang="en-US" sz="100" dirty="0"/>
              <a:t>round(dt, 4)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65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3563888" y="2564904"/>
            <a:ext cx="33843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 smtClean="0"/>
              <a:t>课后作业</a:t>
            </a:r>
            <a:endParaRPr lang="zh-CN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57786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66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683568" y="889913"/>
            <a:ext cx="727280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 smtClean="0"/>
              <a:t>、假设</a:t>
            </a:r>
            <a:r>
              <a:rPr lang="zh-CN" altLang="en-US" dirty="0"/>
              <a:t>损失次数服从</a:t>
            </a:r>
            <a:r>
              <a:rPr lang="zh-CN" altLang="en-US" dirty="0" smtClean="0"/>
              <a:t>负二项分布</a:t>
            </a:r>
            <a:r>
              <a:rPr lang="en-US" altLang="zh-CN" dirty="0" smtClean="0"/>
              <a:t>, </a:t>
            </a:r>
            <a:r>
              <a:rPr lang="zh-CN" altLang="en-US" dirty="0" smtClean="0"/>
              <a:t>参数</a:t>
            </a:r>
            <a:r>
              <a:rPr lang="zh-CN" altLang="en-US" dirty="0"/>
              <a:t>为（</a:t>
            </a:r>
            <a:r>
              <a:rPr lang="en-US" altLang="zh-CN" i="1" dirty="0" smtClean="0"/>
              <a:t>r</a:t>
            </a:r>
            <a:r>
              <a:rPr lang="en-US" altLang="zh-CN" dirty="0" smtClean="0"/>
              <a:t> = 2,  β = 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,  </a:t>
            </a:r>
            <a:r>
              <a:rPr lang="zh-CN" altLang="en-US" dirty="0"/>
              <a:t>每次损失的金额服从</a:t>
            </a:r>
            <a:r>
              <a:rPr lang="zh-CN" altLang="en-US" dirty="0" smtClean="0"/>
              <a:t>对数正态分布</a:t>
            </a:r>
            <a:r>
              <a:rPr lang="en-US" altLang="zh-CN" dirty="0" smtClean="0"/>
              <a:t>, </a:t>
            </a:r>
            <a:r>
              <a:rPr lang="zh-CN" altLang="en-US" dirty="0" smtClean="0"/>
              <a:t>参数</a:t>
            </a:r>
            <a:r>
              <a:rPr lang="zh-CN" altLang="en-US" dirty="0"/>
              <a:t>为（</a:t>
            </a:r>
            <a:r>
              <a:rPr lang="en-US" altLang="zh-CN" dirty="0" smtClean="0"/>
              <a:t>μ=5, σ=2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, </a:t>
            </a:r>
            <a:r>
              <a:rPr lang="zh-CN" altLang="en-US" dirty="0" smtClean="0"/>
              <a:t>计算</a:t>
            </a:r>
            <a:r>
              <a:rPr lang="zh-CN" altLang="en-US" dirty="0"/>
              <a:t>累积损失在</a:t>
            </a:r>
            <a:r>
              <a:rPr lang="en-US" altLang="zh-CN" dirty="0"/>
              <a:t>90%</a:t>
            </a:r>
            <a:r>
              <a:rPr lang="zh-CN" altLang="en-US" dirty="0"/>
              <a:t>、</a:t>
            </a:r>
            <a:r>
              <a:rPr lang="en-US" altLang="zh-CN" dirty="0"/>
              <a:t>95%</a:t>
            </a:r>
            <a:r>
              <a:rPr lang="zh-CN" altLang="en-US" dirty="0"/>
              <a:t>和</a:t>
            </a:r>
            <a:r>
              <a:rPr lang="en-US" altLang="zh-CN" dirty="0"/>
              <a:t>99% </a:t>
            </a:r>
            <a:r>
              <a:rPr lang="zh-CN" altLang="en-US" dirty="0"/>
              <a:t>水平下</a:t>
            </a:r>
            <a:r>
              <a:rPr lang="zh-CN" altLang="en-US" dirty="0" smtClean="0"/>
              <a:t>的 </a:t>
            </a:r>
            <a:r>
              <a:rPr lang="en-US" altLang="zh-CN" dirty="0" smtClean="0"/>
              <a:t>VaR </a:t>
            </a:r>
            <a:r>
              <a:rPr lang="zh-CN" altLang="en-US" dirty="0" smtClean="0"/>
              <a:t>和 </a:t>
            </a:r>
            <a:r>
              <a:rPr lang="en-US" altLang="zh-CN" dirty="0" err="1" smtClean="0"/>
              <a:t>TVaR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注</a:t>
            </a:r>
            <a:r>
              <a:rPr lang="zh-CN" altLang="en-US" dirty="0"/>
              <a:t>：累积损失的分布用随机</a:t>
            </a:r>
            <a:r>
              <a:rPr lang="zh-CN" altLang="en-US" dirty="0" smtClean="0"/>
              <a:t>模拟。</a:t>
            </a:r>
            <a:endParaRPr lang="en-US" altLang="zh-CN" dirty="0" smtClean="0"/>
          </a:p>
          <a:p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 smtClean="0"/>
              <a:t>、某</a:t>
            </a:r>
            <a:r>
              <a:rPr lang="zh-CN" altLang="en-US" dirty="0"/>
              <a:t>团体意外伤害保险的有关数据如下：</a:t>
            </a:r>
          </a:p>
          <a:p>
            <a:r>
              <a:rPr lang="zh-CN" altLang="en-US" dirty="0"/>
              <a:t>类别	人数	</a:t>
            </a:r>
            <a:r>
              <a:rPr lang="zh-CN" altLang="en-US" dirty="0" smtClean="0"/>
              <a:t>概率</a:t>
            </a:r>
            <a:r>
              <a:rPr lang="zh-CN" altLang="en-US" dirty="0"/>
              <a:t>	保险金（万元）</a:t>
            </a:r>
          </a:p>
          <a:p>
            <a:r>
              <a:rPr lang="en-US" altLang="zh-CN" dirty="0"/>
              <a:t>1	100	0.01	50</a:t>
            </a:r>
          </a:p>
          <a:p>
            <a:r>
              <a:rPr lang="en-US" altLang="zh-CN" dirty="0"/>
              <a:t>2	120	0.02	40</a:t>
            </a:r>
          </a:p>
          <a:p>
            <a:r>
              <a:rPr lang="en-US" altLang="zh-CN" dirty="0"/>
              <a:t>3	200	0.025	45</a:t>
            </a:r>
          </a:p>
          <a:p>
            <a:r>
              <a:rPr lang="en-US" altLang="zh-CN" dirty="0"/>
              <a:t>4	400	0.018	55</a:t>
            </a:r>
          </a:p>
          <a:p>
            <a:r>
              <a:rPr lang="en-US" altLang="zh-CN" dirty="0"/>
              <a:t>5	260	0.015	60</a:t>
            </a:r>
          </a:p>
          <a:p>
            <a:r>
              <a:rPr lang="en-US" altLang="zh-CN" dirty="0"/>
              <a:t>6	150	0.01	65</a:t>
            </a:r>
          </a:p>
          <a:p>
            <a:r>
              <a:rPr lang="zh-CN" altLang="en-US" dirty="0" smtClean="0"/>
              <a:t>计算</a:t>
            </a:r>
            <a:r>
              <a:rPr lang="zh-CN" altLang="en-US" dirty="0"/>
              <a:t>：保险公司收取多少保险费</a:t>
            </a:r>
            <a:r>
              <a:rPr lang="zh-CN" altLang="en-US" dirty="0" smtClean="0"/>
              <a:t>可以保证</a:t>
            </a:r>
            <a:r>
              <a:rPr lang="zh-CN" altLang="en-US" dirty="0"/>
              <a:t>保费不足支付保险金的概率不超过</a:t>
            </a:r>
            <a:r>
              <a:rPr lang="en-US" altLang="zh-CN" dirty="0"/>
              <a:t>1%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3、</a:t>
            </a:r>
            <a:r>
              <a:rPr lang="zh-CN" altLang="en-US" dirty="0"/>
              <a:t>损失次数服从泊松 </a:t>
            </a:r>
            <a:r>
              <a:rPr lang="en-US" altLang="zh-CN" dirty="0"/>
              <a:t>(</a:t>
            </a:r>
            <a:r>
              <a:rPr lang="en-US" altLang="zh-CN" dirty="0">
                <a:latin typeface="Symbol" pitchFamily="18" charset="2"/>
              </a:rPr>
              <a:t>l = 3)，</a:t>
            </a:r>
            <a:r>
              <a:rPr lang="zh-CN" altLang="en-US" dirty="0"/>
              <a:t>损失金额服从帕累托</a:t>
            </a:r>
            <a:r>
              <a:rPr lang="en-US" altLang="zh-CN" dirty="0"/>
              <a:t>(</a:t>
            </a:r>
            <a:r>
              <a:rPr lang="en-US" altLang="zh-CN" dirty="0">
                <a:latin typeface="Symbol" pitchFamily="18" charset="2"/>
              </a:rPr>
              <a:t>a = 4,  q =10)，</a:t>
            </a:r>
            <a:r>
              <a:rPr lang="zh-CN" altLang="en-US" dirty="0"/>
              <a:t>对每次损失的一般免赔额为</a:t>
            </a:r>
            <a:r>
              <a:rPr lang="en-US" altLang="zh-CN" dirty="0"/>
              <a:t>6，</a:t>
            </a:r>
            <a:r>
              <a:rPr lang="zh-CN" altLang="en-US" dirty="0"/>
              <a:t>对每次损失的赔偿限额为</a:t>
            </a:r>
            <a:r>
              <a:rPr lang="en-US" altLang="zh-CN" dirty="0"/>
              <a:t>18，</a:t>
            </a:r>
            <a:r>
              <a:rPr lang="zh-CN" altLang="en-US" dirty="0"/>
              <a:t>共保比例为</a:t>
            </a:r>
            <a:r>
              <a:rPr lang="en-US" altLang="zh-CN" dirty="0"/>
              <a:t> 75%。</a:t>
            </a:r>
            <a:r>
              <a:rPr lang="zh-CN" altLang="en-US" dirty="0"/>
              <a:t>应用随机模拟求保险公司累积</a:t>
            </a:r>
            <a:r>
              <a:rPr lang="zh-CN" altLang="en-US" dirty="0" smtClean="0"/>
              <a:t>赔款 </a:t>
            </a:r>
            <a:r>
              <a:rPr lang="en-US" altLang="zh-CN" dirty="0" smtClean="0"/>
              <a:t>S </a:t>
            </a:r>
            <a:r>
              <a:rPr lang="zh-CN" altLang="en-US" dirty="0" smtClean="0"/>
              <a:t>的</a:t>
            </a:r>
            <a:r>
              <a:rPr lang="zh-CN" altLang="en-US" dirty="0"/>
              <a:t>分布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083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产线精算定价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产线精算定价" id="{61B68ACB-516F-47B8-BA98-2AB8B18EF9C2}" vid="{DE78A694-AA7A-40BF-A9BA-1328DC3E8B9F}"/>
    </a:ext>
  </a:extLst>
</a:theme>
</file>

<file path=ppt/theme/theme3.xml><?xml version="1.0" encoding="utf-8"?>
<a:theme xmlns:a="http://schemas.openxmlformats.org/drawingml/2006/main" name="演示文稿9">
  <a:themeElements>
    <a:clrScheme name="演示文稿9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演示文稿9">
      <a:majorFont>
        <a:latin typeface="Arial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演示文稿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11547</TotalTime>
  <Words>3586</Words>
  <Application>Microsoft Office PowerPoint</Application>
  <PresentationFormat>全屏显示(4:3)</PresentationFormat>
  <Paragraphs>549</Paragraphs>
  <Slides>66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66</vt:i4>
      </vt:variant>
    </vt:vector>
  </HeadingPairs>
  <TitlesOfParts>
    <vt:vector size="88" baseType="lpstr">
      <vt:lpstr>黑体</vt:lpstr>
      <vt:lpstr>华文楷体</vt:lpstr>
      <vt:lpstr>华文新魏</vt:lpstr>
      <vt:lpstr>楷体</vt:lpstr>
      <vt:lpstr>宋体</vt:lpstr>
      <vt:lpstr>Arial</vt:lpstr>
      <vt:lpstr>Calibri</vt:lpstr>
      <vt:lpstr>Cambria</vt:lpstr>
      <vt:lpstr>Cambria Math</vt:lpstr>
      <vt:lpstr>Consolas</vt:lpstr>
      <vt:lpstr>Symbol</vt:lpstr>
      <vt:lpstr>Times New Roman</vt:lpstr>
      <vt:lpstr>Verdana</vt:lpstr>
      <vt:lpstr>Wingdings</vt:lpstr>
      <vt:lpstr>Wingdings 2</vt:lpstr>
      <vt:lpstr>ZWAdobeF</vt:lpstr>
      <vt:lpstr>默认设计模板</vt:lpstr>
      <vt:lpstr>产线精算定价</vt:lpstr>
      <vt:lpstr>演示文稿9</vt:lpstr>
      <vt:lpstr>Equation</vt:lpstr>
      <vt:lpstr>公式</vt:lpstr>
      <vt:lpstr>MathType 6.0 Equation</vt:lpstr>
      <vt:lpstr>累积损失模型 Aggregate  loss  models</vt:lpstr>
      <vt:lpstr>引言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模型选择</vt:lpstr>
      <vt:lpstr>位置-尺度分布</vt:lpstr>
      <vt:lpstr>尺度分布</vt:lpstr>
      <vt:lpstr>集体风险模型的计算 Collective risk model</vt:lpstr>
      <vt:lpstr>PowerPoint 演示文稿</vt:lpstr>
      <vt:lpstr>PowerPoint 演示文稿</vt:lpstr>
      <vt:lpstr>PowerPoint 演示文稿</vt:lpstr>
      <vt:lpstr>解析法：计算卷积</vt:lpstr>
      <vt:lpstr>解析法：计算卷积</vt:lpstr>
      <vt:lpstr>PowerPoint 演示文稿</vt:lpstr>
      <vt:lpstr>PowerPoint 演示文稿</vt:lpstr>
      <vt:lpstr>递推法</vt:lpstr>
      <vt:lpstr>PowerPoint 演示文稿</vt:lpstr>
      <vt:lpstr>PowerPoint 演示文稿</vt:lpstr>
      <vt:lpstr>PowerPoint 演示文稿</vt:lpstr>
      <vt:lpstr>PowerPoint 演示文稿</vt:lpstr>
      <vt:lpstr>例：连续分布的离散化</vt:lpstr>
      <vt:lpstr>PowerPoint 演示文稿</vt:lpstr>
      <vt:lpstr>PowerPoint 演示文稿</vt:lpstr>
      <vt:lpstr>PowerPoint 演示文稿</vt:lpstr>
      <vt:lpstr>PowerPoint 演示文稿</vt:lpstr>
      <vt:lpstr>例：递推法的应用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课堂练习</vt:lpstr>
      <vt:lpstr>PowerPoint 演示文稿</vt:lpstr>
      <vt:lpstr>PowerPoint 演示文稿</vt:lpstr>
      <vt:lpstr>PowerPoint 演示文稿</vt:lpstr>
      <vt:lpstr>例</vt:lpstr>
      <vt:lpstr>PowerPoint 演示文稿</vt:lpstr>
      <vt:lpstr>PowerPoint 演示文稿</vt:lpstr>
      <vt:lpstr>课堂练习</vt:lpstr>
      <vt:lpstr>set.seed(321)                  # 设定随机种子 iter &lt;- 10000                  # 模拟次数 d &lt;- 250; u &lt;- 1000              # 免赔额和限额 r &lt;- 3; beta &lt;- 2                  # 负二项分布的参数 alpha &lt;- 100; theta &lt;- 0.2         # 伽马分布的参数 P &lt;- NULL                         # 保险人的年度累积赔款  # 开始模拟 for (i in 1:iter){   n &lt;- rnbinom(1, size = r, mu = r*beta)  # 模拟损失次数   x &lt;- rgamma(n, shape = alpha, rate = theta) # 模拟每次事故的损失额，x 是一个向量   w &lt;- pmin(x, d)  # 保单持有人对每次损失的自负金额   v &lt;- min(sum(w), u) # 保单持有人自负的总金额\   S &lt;- sum(x)   # 保单持有人的总损失   P[i] &lt;- S - v # 保单持有人的年度累积赔款 }  hist(P, breaks = 50, col = 'grey', prob = T, main = '',      ylab = '频率', xlab = '累积赔款') </vt:lpstr>
      <vt:lpstr>PowerPoint 演示文稿</vt:lpstr>
      <vt:lpstr>作业：随机模拟</vt:lpstr>
      <vt:lpstr>4. 个体风险模型</vt:lpstr>
      <vt:lpstr>4.1  个体风险模型的参数近似(需要S的均值和方差）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Lenovo (Beijing)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Aggregate loss models</dc:title>
  <dc:creator>Guest</dc:creator>
  <cp:lastModifiedBy>李 政宵</cp:lastModifiedBy>
  <cp:revision>779</cp:revision>
  <cp:lastPrinted>2011-10-06T01:41:03Z</cp:lastPrinted>
  <dcterms:created xsi:type="dcterms:W3CDTF">2005-10-20T03:25:18Z</dcterms:created>
  <dcterms:modified xsi:type="dcterms:W3CDTF">2018-10-22T11:05:49Z</dcterms:modified>
</cp:coreProperties>
</file>