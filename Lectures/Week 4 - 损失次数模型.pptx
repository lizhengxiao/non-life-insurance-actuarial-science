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1"/>
    <p:sldMasterId id="2147483752" r:id="rId2"/>
  </p:sldMasterIdLst>
  <p:notesMasterIdLst>
    <p:notesMasterId r:id="rId87"/>
  </p:notesMasterIdLst>
  <p:handoutMasterIdLst>
    <p:handoutMasterId r:id="rId88"/>
  </p:handoutMasterIdLst>
  <p:sldIdLst>
    <p:sldId id="604" r:id="rId3"/>
    <p:sldId id="533" r:id="rId4"/>
    <p:sldId id="260" r:id="rId5"/>
    <p:sldId id="408" r:id="rId6"/>
    <p:sldId id="409" r:id="rId7"/>
    <p:sldId id="568" r:id="rId8"/>
    <p:sldId id="268" r:id="rId9"/>
    <p:sldId id="557" r:id="rId10"/>
    <p:sldId id="280" r:id="rId11"/>
    <p:sldId id="548" r:id="rId12"/>
    <p:sldId id="270" r:id="rId13"/>
    <p:sldId id="558" r:id="rId14"/>
    <p:sldId id="559" r:id="rId15"/>
    <p:sldId id="560" r:id="rId16"/>
    <p:sldId id="272" r:id="rId17"/>
    <p:sldId id="611" r:id="rId18"/>
    <p:sldId id="357" r:id="rId19"/>
    <p:sldId id="554" r:id="rId20"/>
    <p:sldId id="555" r:id="rId21"/>
    <p:sldId id="328" r:id="rId22"/>
    <p:sldId id="612" r:id="rId23"/>
    <p:sldId id="327" r:id="rId24"/>
    <p:sldId id="348" r:id="rId25"/>
    <p:sldId id="371" r:id="rId26"/>
    <p:sldId id="370" r:id="rId27"/>
    <p:sldId id="378" r:id="rId28"/>
    <p:sldId id="382" r:id="rId29"/>
    <p:sldId id="563" r:id="rId30"/>
    <p:sldId id="561" r:id="rId31"/>
    <p:sldId id="564" r:id="rId32"/>
    <p:sldId id="562" r:id="rId33"/>
    <p:sldId id="421" r:id="rId34"/>
    <p:sldId id="422" r:id="rId35"/>
    <p:sldId id="423" r:id="rId36"/>
    <p:sldId id="556" r:id="rId37"/>
    <p:sldId id="425" r:id="rId38"/>
    <p:sldId id="567" r:id="rId39"/>
    <p:sldId id="426" r:id="rId40"/>
    <p:sldId id="427" r:id="rId41"/>
    <p:sldId id="428" r:id="rId42"/>
    <p:sldId id="429" r:id="rId43"/>
    <p:sldId id="430" r:id="rId44"/>
    <p:sldId id="431" r:id="rId45"/>
    <p:sldId id="432" r:id="rId46"/>
    <p:sldId id="433" r:id="rId47"/>
    <p:sldId id="434" r:id="rId48"/>
    <p:sldId id="435" r:id="rId49"/>
    <p:sldId id="436" r:id="rId50"/>
    <p:sldId id="572" r:id="rId51"/>
    <p:sldId id="573" r:id="rId52"/>
    <p:sldId id="442" r:id="rId53"/>
    <p:sldId id="443" r:id="rId54"/>
    <p:sldId id="516" r:id="rId55"/>
    <p:sldId id="444" r:id="rId56"/>
    <p:sldId id="449" r:id="rId57"/>
    <p:sldId id="606" r:id="rId58"/>
    <p:sldId id="450" r:id="rId59"/>
    <p:sldId id="607" r:id="rId60"/>
    <p:sldId id="608" r:id="rId61"/>
    <p:sldId id="609" r:id="rId62"/>
    <p:sldId id="458" r:id="rId63"/>
    <p:sldId id="574" r:id="rId64"/>
    <p:sldId id="571" r:id="rId65"/>
    <p:sldId id="461" r:id="rId66"/>
    <p:sldId id="613" r:id="rId67"/>
    <p:sldId id="470" r:id="rId68"/>
    <p:sldId id="474" r:id="rId69"/>
    <p:sldId id="476" r:id="rId70"/>
    <p:sldId id="477" r:id="rId71"/>
    <p:sldId id="576" r:id="rId72"/>
    <p:sldId id="510" r:id="rId73"/>
    <p:sldId id="517" r:id="rId74"/>
    <p:sldId id="518" r:id="rId75"/>
    <p:sldId id="590" r:id="rId76"/>
    <p:sldId id="589" r:id="rId77"/>
    <p:sldId id="610" r:id="rId78"/>
    <p:sldId id="519" r:id="rId79"/>
    <p:sldId id="520" r:id="rId80"/>
    <p:sldId id="527" r:id="rId81"/>
    <p:sldId id="528" r:id="rId82"/>
    <p:sldId id="529" r:id="rId83"/>
    <p:sldId id="531" r:id="rId84"/>
    <p:sldId id="601" r:id="rId85"/>
    <p:sldId id="541" r:id="rId86"/>
  </p:sldIdLst>
  <p:sldSz cx="9144000" cy="6858000" type="screen4x3"/>
  <p:notesSz cx="9942513" cy="6761163"/>
  <p:defaultTextStyle>
    <a:defPPr>
      <a:defRPr lang="zh-CN"/>
    </a:defPPr>
    <a:lvl1pPr algn="ctr" rtl="0" fontAlgn="ctr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ctr" rtl="0" fontAlgn="ctr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ctr" rtl="0" fontAlgn="ctr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ctr" rtl="0" fontAlgn="ctr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ctr" rtl="0" fontAlgn="ctr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FF"/>
    <a:srgbClr val="B3E6EB"/>
    <a:srgbClr val="FFCCFF"/>
    <a:srgbClr val="336600"/>
    <a:srgbClr val="000066"/>
    <a:srgbClr val="FDFFD1"/>
    <a:srgbClr val="E7F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198" cy="7619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viewProps" Target="viewProps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handoutMaster" Target="handoutMasters/handout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5.wmf"/><Relationship Id="rId4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4" Type="http://schemas.openxmlformats.org/officeDocument/2006/relationships/image" Target="../media/image31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Relationship Id="rId5" Type="http://schemas.openxmlformats.org/officeDocument/2006/relationships/image" Target="../media/image44.wmf"/><Relationship Id="rId4" Type="http://schemas.openxmlformats.org/officeDocument/2006/relationships/image" Target="../media/image4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w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wmf"/><Relationship Id="rId1" Type="http://schemas.openxmlformats.org/officeDocument/2006/relationships/image" Target="../media/image57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68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7" Type="http://schemas.openxmlformats.org/officeDocument/2006/relationships/image" Target="../media/image75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4" Type="http://schemas.openxmlformats.org/officeDocument/2006/relationships/image" Target="../media/image8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6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7.w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wmf"/><Relationship Id="rId1" Type="http://schemas.openxmlformats.org/officeDocument/2006/relationships/image" Target="../media/image89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1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wmf"/><Relationship Id="rId1" Type="http://schemas.openxmlformats.org/officeDocument/2006/relationships/image" Target="../media/image96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wmf"/><Relationship Id="rId1" Type="http://schemas.openxmlformats.org/officeDocument/2006/relationships/image" Target="../media/image98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wmf"/><Relationship Id="rId1" Type="http://schemas.openxmlformats.org/officeDocument/2006/relationships/image" Target="../media/image101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wmf"/><Relationship Id="rId2" Type="http://schemas.openxmlformats.org/officeDocument/2006/relationships/image" Target="../media/image105.wmf"/><Relationship Id="rId1" Type="http://schemas.openxmlformats.org/officeDocument/2006/relationships/image" Target="../media/image103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7.w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9428" cy="338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974" tIns="43987" rIns="87974" bIns="43987" numCol="1" anchor="t" anchorCtr="0" compatLnSpc="1">
            <a:prstTxWarp prst="textNoShape">
              <a:avLst/>
            </a:prstTxWarp>
          </a:bodyPr>
          <a:lstStyle>
            <a:lvl1pPr algn="l" defTabSz="879475" fontAlgn="base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768" y="0"/>
            <a:ext cx="4309426" cy="338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974" tIns="43987" rIns="87974" bIns="43987" numCol="1" anchor="t" anchorCtr="0" compatLnSpc="1">
            <a:prstTxWarp prst="textNoShape">
              <a:avLst/>
            </a:prstTxWarp>
          </a:bodyPr>
          <a:lstStyle>
            <a:lvl1pPr algn="r" defTabSz="879475" fontAlgn="base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422943"/>
            <a:ext cx="4309428" cy="337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974" tIns="43987" rIns="87974" bIns="43987" numCol="1" anchor="b" anchorCtr="0" compatLnSpc="1">
            <a:prstTxWarp prst="textNoShape">
              <a:avLst/>
            </a:prstTxWarp>
          </a:bodyPr>
          <a:lstStyle>
            <a:lvl1pPr algn="l" defTabSz="879475" fontAlgn="base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51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768" y="6422943"/>
            <a:ext cx="4309426" cy="337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974" tIns="43987" rIns="87974" bIns="43987" numCol="1" anchor="b" anchorCtr="0" compatLnSpc="1">
            <a:prstTxWarp prst="textNoShape">
              <a:avLst/>
            </a:prstTxWarp>
          </a:bodyPr>
          <a:lstStyle>
            <a:lvl1pPr algn="r" defTabSz="879475" fontAlgn="base">
              <a:defRPr sz="1200" smtClean="0"/>
            </a:lvl1pPr>
          </a:lstStyle>
          <a:p>
            <a:pPr>
              <a:defRPr/>
            </a:pPr>
            <a:fld id="{71EBC3C9-768B-4372-8983-A46778431E4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83104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309428" cy="338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974" tIns="43987" rIns="87974" bIns="43987" numCol="1" anchor="t" anchorCtr="0" compatLnSpc="1">
            <a:prstTxWarp prst="textNoShape">
              <a:avLst/>
            </a:prstTxWarp>
          </a:bodyPr>
          <a:lstStyle>
            <a:lvl1pPr algn="l" defTabSz="879475" fontAlgn="base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768" y="0"/>
            <a:ext cx="4309426" cy="3382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974" tIns="43987" rIns="87974" bIns="43987" numCol="1" anchor="t" anchorCtr="0" compatLnSpc="1">
            <a:prstTxWarp prst="textNoShape">
              <a:avLst/>
            </a:prstTxWarp>
          </a:bodyPr>
          <a:lstStyle>
            <a:lvl1pPr algn="r" defTabSz="879475" fontAlgn="base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24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282950" y="508000"/>
            <a:ext cx="3379788" cy="2535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4101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994485" y="3211472"/>
            <a:ext cx="7953546" cy="3041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974" tIns="43987" rIns="87974" bIns="4398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422943"/>
            <a:ext cx="4309428" cy="337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974" tIns="43987" rIns="87974" bIns="43987" numCol="1" anchor="b" anchorCtr="0" compatLnSpc="1">
            <a:prstTxWarp prst="textNoShape">
              <a:avLst/>
            </a:prstTxWarp>
          </a:bodyPr>
          <a:lstStyle>
            <a:lvl1pPr algn="l" defTabSz="879475" fontAlgn="base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768" y="6422943"/>
            <a:ext cx="4309426" cy="3371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7974" tIns="43987" rIns="87974" bIns="43987" numCol="1" anchor="b" anchorCtr="0" compatLnSpc="1">
            <a:prstTxWarp prst="textNoShape">
              <a:avLst/>
            </a:prstTxWarp>
          </a:bodyPr>
          <a:lstStyle>
            <a:lvl1pPr algn="r" defTabSz="879475" fontAlgn="base">
              <a:defRPr sz="1200" smtClean="0"/>
            </a:lvl1pPr>
          </a:lstStyle>
          <a:p>
            <a:pPr>
              <a:defRPr/>
            </a:pPr>
            <a:fld id="{406DF06F-BF8F-41BE-BEC3-DD72285C1C2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80360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0A520B-1857-41B1-97D3-DA3A336EC44E}" type="slidenum">
              <a:rPr lang="en-US" altLang="zh-CN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634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6DF06F-BF8F-41BE-BEC3-DD72285C1C2C}" type="slidenum">
              <a:rPr lang="zh-CN" altLang="en-US" smtClean="0"/>
              <a:pPr>
                <a:defRPr/>
              </a:pPr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0101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B619FA60-9CB7-4AFC-9A40-DF8B979F86F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5595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11797"/>
            <a:ext cx="8229600" cy="789140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84255"/>
            <a:ext cx="8229600" cy="4382717"/>
          </a:xfrm>
        </p:spPr>
        <p:txBody>
          <a:bodyPr/>
          <a:lstStyle>
            <a:lvl1pPr>
              <a:lnSpc>
                <a:spcPct val="150000"/>
              </a:lnSpc>
              <a:spcBef>
                <a:spcPts val="0"/>
              </a:spcBef>
              <a:defRPr sz="2800" b="1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lnSpc>
                <a:spcPct val="150000"/>
              </a:lnSpc>
              <a:spcBef>
                <a:spcPts val="0"/>
              </a:spcBef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lnSpc>
                <a:spcPct val="150000"/>
              </a:lnSpc>
              <a:spcBef>
                <a:spcPts val="0"/>
              </a:spcBef>
              <a:defRPr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4pPr>
            <a:lvl5pPr>
              <a:lnSpc>
                <a:spcPct val="150000"/>
              </a:lnSpc>
              <a:spcBef>
                <a:spcPts val="0"/>
              </a:spcBef>
              <a:defRPr>
                <a:latin typeface="楷体" pitchFamily="49" charset="-122"/>
                <a:ea typeface="楷体" pitchFamily="49" charset="-122"/>
              </a:defRPr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87F939C6-56B5-4C59-A8F1-006D8D67E4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962344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2222EC68-029F-46FA-B535-7D82201B316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43564" y="76288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272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>
              <a:defRPr sz="2000"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pPr>
              <a:defRPr/>
            </a:pPr>
            <a:fld id="{AE712280-C1E5-4034-8096-72A65B4CAA4E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943564" y="-12561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4457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62A15140-449D-4733-AC44-497379A3FA3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999081" y="-17417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46265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2018/9/25 Tuesday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 lang="en-US" altLang="zh-CN" smtClean="0">
                <a:solidFill>
                  <a:srgbClr val="000000"/>
                </a:solidFill>
              </a:rPr>
              <a:pPr>
                <a:buFontTx/>
                <a:buNone/>
              </a:pPr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989261" y="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5682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53B605FB-8C78-456B-BFC1-2A5FBAB1FF6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867366" y="-8293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727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zh-CN" altLang="en-US" smtClean="0"/>
            </a:lvl1pPr>
          </a:lstStyle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943564" y="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9826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D85710AB-85EE-4018-9B02-13B6A173605D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986737" y="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6753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6038257A-26AF-47F3-9D37-2EA0C17C4A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8" name="矩形 7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994982" y="10401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56284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3C8AC6C4-6230-4F64-8202-73DFBE1CD22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19800" y="-8738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666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defRPr/>
            </a:pPr>
            <a:fld id="{5545ED8E-5D20-4BE6-8A57-CF6C9E03E80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矩形 6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019800" y="46970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0154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1E395E-9852-4F5C-B10C-290EDA4F61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83326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AC66A-7389-4AA5-AF53-07E643891D8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79471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6DF532-C828-4265-8EA1-9D6F90637A8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56493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B53EB7-ED33-42CA-8027-3CFA0554400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31207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78A34-AFB8-45FC-ADCB-4D963920A7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69227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3783A4D-8CC0-4218-BC96-A24A66EA9BD2}" type="datetime1">
              <a:rPr lang="zh-CN" altLang="en-US" smtClean="0">
                <a:solidFill>
                  <a:srgbClr val="000000"/>
                </a:solidFill>
              </a:rPr>
              <a:pPr>
                <a:defRPr/>
              </a:pPr>
              <a:t>2018/9/25 Tuesday</a:t>
            </a:fld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 dirty="0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altLang="zh-CN" smtClean="0"/>
            </a:lvl1pPr>
          </a:lstStyle>
          <a:p>
            <a:pPr>
              <a:buFontTx/>
              <a:buNone/>
            </a:pPr>
            <a:fld id="{62BE8675-7E1E-4F0D-99E8-4CEF8F868FF2}" type="slidenum">
              <a:rPr>
                <a:solidFill>
                  <a:srgbClr val="000000"/>
                </a:solidFill>
              </a:rPr>
              <a:pPr>
                <a:buFontTx/>
                <a:buNone/>
              </a:pPr>
              <a:t>‹#›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51131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 bwMode="auto"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5724525" y="212726"/>
            <a:ext cx="3455988" cy="58477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FFFFFF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FFFFFF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41062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8339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08372467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3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4213" y="1700213"/>
            <a:ext cx="4038600" cy="43926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46550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091220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598530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08746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595763669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05338187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03127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62714" y="404813"/>
            <a:ext cx="2070100" cy="568801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50826" y="404813"/>
            <a:ext cx="6059488" cy="5688012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743240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6" y="404815"/>
            <a:ext cx="6626225" cy="75247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303213" y="1700213"/>
            <a:ext cx="8229600" cy="4392612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单击图标添加表格</a:t>
            </a:r>
          </a:p>
        </p:txBody>
      </p:sp>
    </p:spTree>
    <p:extLst>
      <p:ext uri="{BB962C8B-B14F-4D97-AF65-F5344CB8AC3E}">
        <p14:creationId xmlns:p14="http://schemas.microsoft.com/office/powerpoint/2010/main" val="319531448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buNone/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ea"/>
                <a:ea typeface="+mn-ea"/>
              </a:defRPr>
            </a:lvl1pPr>
          </a:lstStyle>
          <a:p>
            <a:pPr>
              <a:defRPr/>
            </a:pPr>
            <a:fld id="{48B53EB7-ED33-42CA-8027-3CFA0554400C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7" name="Picture 5" descr="082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9" t="33676" r="7799" b="55194"/>
          <a:stretch>
            <a:fillRect/>
          </a:stretch>
        </p:blipFill>
        <p:spPr bwMode="auto">
          <a:xfrm>
            <a:off x="6446839" y="-26988"/>
            <a:ext cx="2733675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6" descr="082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16" t="33676" r="9175" b="55194"/>
          <a:stretch>
            <a:fillRect/>
          </a:stretch>
        </p:blipFill>
        <p:spPr bwMode="auto">
          <a:xfrm>
            <a:off x="0" y="-26988"/>
            <a:ext cx="6465888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/>
          <p:cNvSpPr/>
          <p:nvPr/>
        </p:nvSpPr>
        <p:spPr>
          <a:xfrm>
            <a:off x="6019800" y="-17417"/>
            <a:ext cx="2978331" cy="511187"/>
          </a:xfrm>
          <a:prstGeom prst="rect">
            <a:avLst/>
          </a:prstGeom>
          <a:solidFill>
            <a:srgbClr val="A83240"/>
          </a:solidFill>
          <a:ln>
            <a:solidFill>
              <a:srgbClr val="A832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967725" y="17198"/>
            <a:ext cx="3727269" cy="565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ZWAdobeF" pitchFamily="2" charset="0"/>
              </a:rPr>
              <a:t>对外经济贸易大学</a:t>
            </a:r>
            <a:endParaRPr lang="zh-CN" altLang="en-US" sz="24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ZWAdobeF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762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  <p:sldLayoutId id="2147483746" r:id="rId13"/>
    <p:sldLayoutId id="2147483747" r:id="rId14"/>
    <p:sldLayoutId id="2147483749" r:id="rId15"/>
    <p:sldLayoutId id="2147483750" r:id="rId16"/>
    <p:sldLayoutId id="2147483751" r:id="rId17"/>
    <p:sldLayoutId id="2147483732" r:id="rId18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楷体" pitchFamily="49" charset="-122"/>
          <a:ea typeface="楷体" pitchFamily="49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楷体" pitchFamily="49" charset="-122"/>
          <a:ea typeface="楷体" pitchFamily="49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50826" y="404815"/>
            <a:ext cx="662622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3213" y="1700213"/>
            <a:ext cx="8229600" cy="439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8" name="Text Box 6"/>
          <p:cNvSpPr txBox="1">
            <a:spLocks noChangeArrowheads="1"/>
          </p:cNvSpPr>
          <p:nvPr/>
        </p:nvSpPr>
        <p:spPr bwMode="auto">
          <a:xfrm>
            <a:off x="5580063" y="6332538"/>
            <a:ext cx="3600450" cy="33655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  <a:defRPr/>
            </a:pPr>
            <a:r>
              <a:rPr lang="zh-CN" altLang="en-US" sz="1600" smtClean="0">
                <a:solidFill>
                  <a:srgbClr val="000000"/>
                </a:solidFill>
                <a:ea typeface="黑体" panose="02010609060101010101" pitchFamily="49" charset="-122"/>
              </a:rPr>
              <a:t>统计学院“十年腾飞”学科规划汇报</a:t>
            </a:r>
            <a:endParaRPr lang="en-US" altLang="zh-CN" sz="1600" smtClean="0">
              <a:solidFill>
                <a:srgbClr val="000000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551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ransition>
    <p:fade/>
  </p:transition>
  <p:timing>
    <p:tnLst>
      <p:par>
        <p:cTn id="1" dur="indefinite" restart="never" nodeType="tmRoot"/>
      </p:par>
    </p:tnLst>
  </p:timing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FFFFFF"/>
          </a:solidFill>
          <a:latin typeface="Arial" pitchFamily="34" charset="0"/>
          <a:ea typeface="黑体" pitchFamily="49" charset="-122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3000" b="1">
          <a:solidFill>
            <a:srgbClr val="000000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600" b="1">
          <a:solidFill>
            <a:srgbClr val="000000"/>
          </a:solidFill>
          <a:latin typeface="+mn-lt"/>
          <a:ea typeface="+mn-ea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o"/>
        <a:defRPr sz="2300" b="1">
          <a:solidFill>
            <a:srgbClr val="000000"/>
          </a:solidFill>
          <a:latin typeface="+mn-lt"/>
          <a:ea typeface="+mn-ea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rgbClr val="0066FF"/>
        </a:buClr>
        <a:buFont typeface="Wingdings" pitchFamily="2" charset="2"/>
        <a:buChar char="n"/>
        <a:defRPr sz="2000" b="1">
          <a:solidFill>
            <a:srgbClr val="000000"/>
          </a:solidFill>
          <a:latin typeface="+mn-lt"/>
          <a:ea typeface="+mn-ea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rgbClr val="0066FF"/>
        </a:buClr>
        <a:buFont typeface="Wingdings" pitchFamily="2" charset="2"/>
        <a:buChar char="§"/>
        <a:defRPr sz="2000" b="1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9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5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21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22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4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6.wm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4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26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33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35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3.wmf"/><Relationship Id="rId4" Type="http://schemas.openxmlformats.org/officeDocument/2006/relationships/image" Target="../media/image40.wmf"/><Relationship Id="rId9" Type="http://schemas.openxmlformats.org/officeDocument/2006/relationships/oleObject" Target="../embeddings/oleObject36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4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47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8.w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4.bin"/><Relationship Id="rId4" Type="http://schemas.openxmlformats.org/officeDocument/2006/relationships/image" Target="../media/image51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4" Type="http://schemas.openxmlformats.org/officeDocument/2006/relationships/image" Target="../media/image54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55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56.w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58.wmf"/><Relationship Id="rId5" Type="http://schemas.openxmlformats.org/officeDocument/2006/relationships/oleObject" Target="../embeddings/oleObject50.bin"/><Relationship Id="rId4" Type="http://schemas.openxmlformats.org/officeDocument/2006/relationships/image" Target="../media/image57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2.bin"/><Relationship Id="rId4" Type="http://schemas.openxmlformats.org/officeDocument/2006/relationships/image" Target="../media/image59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63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62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65.wmf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4" Type="http://schemas.openxmlformats.org/officeDocument/2006/relationships/image" Target="../media/image68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13" Type="http://schemas.openxmlformats.org/officeDocument/2006/relationships/oleObject" Target="../embeddings/oleObject66.bin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12" Type="http://schemas.openxmlformats.org/officeDocument/2006/relationships/image" Target="../media/image73.wmf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75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65.bin"/><Relationship Id="rId5" Type="http://schemas.openxmlformats.org/officeDocument/2006/relationships/oleObject" Target="../embeddings/oleObject62.bin"/><Relationship Id="rId15" Type="http://schemas.openxmlformats.org/officeDocument/2006/relationships/oleObject" Target="../embeddings/oleObject67.bin"/><Relationship Id="rId10" Type="http://schemas.openxmlformats.org/officeDocument/2006/relationships/image" Target="../media/image72.wmf"/><Relationship Id="rId4" Type="http://schemas.openxmlformats.org/officeDocument/2006/relationships/image" Target="../media/image69.wmf"/><Relationship Id="rId9" Type="http://schemas.openxmlformats.org/officeDocument/2006/relationships/oleObject" Target="../embeddings/oleObject64.bin"/><Relationship Id="rId14" Type="http://schemas.openxmlformats.org/officeDocument/2006/relationships/image" Target="../media/image74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8.vml"/><Relationship Id="rId5" Type="http://schemas.openxmlformats.org/officeDocument/2006/relationships/image" Target="../media/image76.wmf"/><Relationship Id="rId4" Type="http://schemas.openxmlformats.org/officeDocument/2006/relationships/oleObject" Target="../embeddings/oleObject68.bin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9.vml"/><Relationship Id="rId4" Type="http://schemas.openxmlformats.org/officeDocument/2006/relationships/image" Target="../media/image78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70.png"/><Relationship Id="rId1" Type="http://schemas.openxmlformats.org/officeDocument/2006/relationships/slideLayout" Target="../slideLayouts/slideLayout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82.wmf"/><Relationship Id="rId5" Type="http://schemas.openxmlformats.org/officeDocument/2006/relationships/oleObject" Target="../embeddings/oleObject71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73.bin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8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86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5.bin"/><Relationship Id="rId2" Type="http://schemas.openxmlformats.org/officeDocument/2006/relationships/slideLayout" Target="../slideLayouts/slideLayout17.xml"/><Relationship Id="rId1" Type="http://schemas.openxmlformats.org/officeDocument/2006/relationships/vmlDrawing" Target="../drawings/vmlDrawing32.vml"/><Relationship Id="rId4" Type="http://schemas.openxmlformats.org/officeDocument/2006/relationships/image" Target="../media/image87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1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89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8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4.vml"/><Relationship Id="rId4" Type="http://schemas.openxmlformats.org/officeDocument/2006/relationships/image" Target="../media/image91.wmf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92.w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1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94.wmf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3.bin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97.w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96.wmf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86.bin"/><Relationship Id="rId4" Type="http://schemas.openxmlformats.org/officeDocument/2006/relationships/image" Target="../media/image98.wmf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8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02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101.wmf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103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0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92.bin"/><Relationship Id="rId5" Type="http://schemas.openxmlformats.org/officeDocument/2006/relationships/image" Target="../media/image103.wmf"/><Relationship Id="rId4" Type="http://schemas.openxmlformats.org/officeDocument/2006/relationships/oleObject" Target="../embeddings/oleObject91.bin"/><Relationship Id="rId9" Type="http://schemas.openxmlformats.org/officeDocument/2006/relationships/image" Target="../media/image106.wmf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4" Type="http://schemas.openxmlformats.org/officeDocument/2006/relationships/image" Target="../media/image107.wmf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4" Type="http://schemas.openxmlformats.org/officeDocument/2006/relationships/image" Target="../media/image10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615696" y="1879057"/>
            <a:ext cx="7772400" cy="1362456"/>
          </a:xfrm>
        </p:spPr>
        <p:txBody>
          <a:bodyPr/>
          <a:lstStyle/>
          <a:p>
            <a:pPr algn="ctr"/>
            <a:r>
              <a:rPr lang="zh-CN" altLang="en-US" sz="4400" smtClean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损失</a:t>
            </a:r>
            <a:r>
              <a:rPr lang="zh-CN" altLang="en-US" sz="440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次数模型</a:t>
            </a:r>
            <a:br>
              <a:rPr lang="zh-CN" altLang="en-US" sz="440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</a:br>
            <a:r>
              <a:rPr lang="en-US" altLang="zh-CN" sz="2000" dirty="0">
                <a:solidFill>
                  <a:srgbClr val="91172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Models of Claim Count</a:t>
            </a:r>
            <a:endParaRPr lang="zh-CN" altLang="en-US" sz="2000" dirty="0">
              <a:solidFill>
                <a:srgbClr val="91172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492252" y="3501008"/>
            <a:ext cx="7854696" cy="1752600"/>
          </a:xfrm>
          <a:prstGeom prst="rect">
            <a:avLst/>
          </a:prstGeom>
        </p:spPr>
        <p:txBody>
          <a:bodyPr vert="horz" lIns="45720" rIns="45720" anchor="t">
            <a:normAutofit/>
          </a:bodyPr>
          <a:lstStyle>
            <a:lvl1pPr marL="0" indent="0" algn="l" rtl="0" eaLnBrk="1" latinLnBrk="0" hangingPunct="1">
              <a:spcBef>
                <a:spcPct val="20000"/>
              </a:spcBef>
              <a:buClr>
                <a:schemeClr val="accent3"/>
              </a:buClr>
              <a:buSzPct val="95000"/>
              <a:buFont typeface="Wingdings 2"/>
              <a:buNone/>
              <a:defRPr kumimoji="0"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46888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46888" algn="l" rtl="0" eaLnBrk="1" latinLnBrk="0" hangingPunct="1">
              <a:spcBef>
                <a:spcPct val="20000"/>
              </a:spcBef>
              <a:buClr>
                <a:schemeClr val="accent2"/>
              </a:buClr>
              <a:buSzPct val="70000"/>
              <a:buFont typeface="Wingdings 2"/>
              <a:buNone/>
              <a:defRPr kumimoji="0"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88720" indent="-210312" algn="l" rtl="0" eaLnBrk="1" latinLnBrk="0" hangingPunct="1">
              <a:spcBef>
                <a:spcPct val="20000"/>
              </a:spcBef>
              <a:buClr>
                <a:schemeClr val="accent3"/>
              </a:buClr>
              <a:buSzPct val="65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463040" indent="-210312" algn="l" rtl="0" eaLnBrk="1" latinLnBrk="0" hangingPunct="1">
              <a:spcBef>
                <a:spcPct val="20000"/>
              </a:spcBef>
              <a:buClr>
                <a:schemeClr val="accent4"/>
              </a:buClr>
              <a:buSzPct val="65000"/>
              <a:buFont typeface="Wingdings 2"/>
              <a:buNone/>
              <a:defRPr kumimoji="0"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37360" indent="-210312" algn="l" rtl="0" eaLnBrk="1" latinLnBrk="0" hangingPunct="1">
              <a:spcBef>
                <a:spcPct val="20000"/>
              </a:spcBef>
              <a:buClr>
                <a:schemeClr val="accent5"/>
              </a:buClr>
              <a:buSzPct val="80000"/>
              <a:buFont typeface="Wingdings 2"/>
              <a:buChar char="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rtl="0" eaLnBrk="1" latinLnBrk="0" hangingPunct="1">
              <a:spcBef>
                <a:spcPct val="20000"/>
              </a:spcBef>
              <a:buClr>
                <a:schemeClr val="accent6"/>
              </a:buClr>
              <a:buSzPct val="80000"/>
              <a:buFont typeface="Wingdings 2"/>
              <a:buChar char="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9456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Char char="•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68880" indent="-182880" algn="l" rtl="0" eaLnBrk="1" latinLnBrk="0" hangingPunct="1">
              <a:spcBef>
                <a:spcPct val="20000"/>
              </a:spcBef>
              <a:buClr>
                <a:schemeClr val="tx2"/>
              </a:buClr>
              <a:buFontTx/>
              <a:buChar char="•"/>
              <a:defRPr kumimoji="0"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lnSpc>
                <a:spcPct val="140000"/>
              </a:lnSpc>
              <a:spcAft>
                <a:spcPts val="0"/>
              </a:spcAft>
              <a:buClr>
                <a:srgbClr val="FFFFFF"/>
              </a:buClr>
            </a:pPr>
            <a:r>
              <a:rPr lang="zh-CN" altLang="en-US" sz="3200" b="0" dirty="0" smtClean="0">
                <a:solidFill>
                  <a:srgbClr val="911720"/>
                </a:solidFill>
                <a:latin typeface="华文新魏" pitchFamily="2" charset="-122"/>
                <a:ea typeface="华文新魏" pitchFamily="2" charset="-122"/>
              </a:rPr>
              <a:t>李政宵</a:t>
            </a:r>
          </a:p>
          <a:p>
            <a:pPr algn="ctr" fontAlgn="auto">
              <a:lnSpc>
                <a:spcPct val="140000"/>
              </a:lnSpc>
              <a:spcAft>
                <a:spcPts val="0"/>
              </a:spcAft>
              <a:buClr>
                <a:srgbClr val="FFFFFF"/>
              </a:buClr>
            </a:pPr>
            <a:r>
              <a:rPr lang="zh-CN" altLang="en-US" sz="3200" b="0" dirty="0" smtClean="0">
                <a:solidFill>
                  <a:srgbClr val="911720"/>
                </a:solidFill>
                <a:latin typeface="华文新魏" pitchFamily="2" charset="-122"/>
                <a:ea typeface="华文新魏" pitchFamily="2" charset="-122"/>
              </a:rPr>
              <a:t>    对外经济贸易大学 保险学院</a:t>
            </a:r>
          </a:p>
        </p:txBody>
      </p:sp>
    </p:spTree>
    <p:extLst>
      <p:ext uri="{BB962C8B-B14F-4D97-AF65-F5344CB8AC3E}">
        <p14:creationId xmlns:p14="http://schemas.microsoft.com/office/powerpoint/2010/main" val="2959976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"/>
    </mc:Choice>
    <mc:Fallback xmlns="">
      <p:transition spd="slow" advTm="1000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691534"/>
            <a:ext cx="8229600" cy="789140"/>
          </a:xfrm>
        </p:spPr>
        <p:txBody>
          <a:bodyPr/>
          <a:lstStyle/>
          <a:p>
            <a:pPr algn="ctr"/>
            <a:r>
              <a:rPr lang="zh-CN" altLang="en-US" dirty="0" smtClean="0"/>
              <a:t>二、主要内容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(a, b, 0)</a:t>
            </a:r>
            <a:r>
              <a:rPr lang="zh-CN" altLang="en-US" dirty="0" smtClean="0"/>
              <a:t>分布类</a:t>
            </a:r>
            <a:endParaRPr lang="en-US" altLang="zh-CN" dirty="0" smtClean="0"/>
          </a:p>
          <a:p>
            <a:r>
              <a:rPr lang="zh-CN" altLang="en-US" dirty="0" smtClean="0"/>
              <a:t>零截断和零调整分布（</a:t>
            </a:r>
            <a:r>
              <a:rPr lang="en-US" altLang="zh-CN" dirty="0" smtClean="0"/>
              <a:t>a, b, 1</a:t>
            </a:r>
            <a:r>
              <a:rPr lang="zh-CN" altLang="en-US" dirty="0" smtClean="0"/>
              <a:t>）分布类</a:t>
            </a:r>
            <a:endParaRPr lang="en-US" altLang="zh-CN" dirty="0"/>
          </a:p>
          <a:p>
            <a:r>
              <a:rPr lang="zh-CN" altLang="en-US" dirty="0" smtClean="0"/>
              <a:t>混合分布：混合泊松分布</a:t>
            </a:r>
            <a:endParaRPr lang="en-US" altLang="zh-CN" dirty="0" smtClean="0"/>
          </a:p>
          <a:p>
            <a:r>
              <a:rPr lang="zh-CN" altLang="en-US" dirty="0" smtClean="0"/>
              <a:t>复合分布：复合泊松分布</a:t>
            </a:r>
            <a:endParaRPr lang="en-US" altLang="zh-CN" dirty="0" smtClean="0"/>
          </a:p>
          <a:p>
            <a:r>
              <a:rPr lang="zh-CN" altLang="en-US" dirty="0">
                <a:latin typeface="Times New Roman" pitchFamily="18" charset="0"/>
              </a:rPr>
              <a:t>免赔额对索赔次数模型的影响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F939C6-56B5-4C59-A8F1-006D8D67E42F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799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符号 </a:t>
            </a:r>
          </a:p>
        </p:txBody>
      </p:sp>
      <p:sp>
        <p:nvSpPr>
          <p:cNvPr id="717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6352D72-3A3F-47BB-8969-9A8A87863820}" type="slidenum">
              <a:rPr lang="zh-CN" altLang="en-US" sz="1400"/>
              <a:pPr eaLnBrk="1" hangingPunct="1"/>
              <a:t>3</a:t>
            </a:fld>
            <a:endParaRPr lang="en-US" altLang="zh-CN" sz="1400"/>
          </a:p>
        </p:txBody>
      </p:sp>
      <p:sp>
        <p:nvSpPr>
          <p:cNvPr id="7172" name="Rectangle 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838200" y="1625749"/>
            <a:ext cx="36006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400" b="1" i="1" dirty="0">
                <a:latin typeface="Times New Roman" pitchFamily="18" charset="0"/>
              </a:rPr>
              <a:t>  </a:t>
            </a:r>
            <a:r>
              <a:rPr lang="en-US" altLang="zh-CN" sz="2400" b="1" i="1" dirty="0">
                <a:latin typeface="Times New Roman" pitchFamily="18" charset="0"/>
              </a:rPr>
              <a:t>N</a:t>
            </a:r>
            <a:r>
              <a:rPr lang="en-US" altLang="zh-CN" sz="2400" b="1" dirty="0"/>
              <a:t>       </a:t>
            </a:r>
            <a:r>
              <a:rPr lang="zh-CN" altLang="en-US" sz="2400" b="1" dirty="0"/>
              <a:t>损失</a:t>
            </a:r>
            <a:r>
              <a:rPr lang="zh-CN" altLang="en-US" sz="2400" b="1" dirty="0" smtClean="0"/>
              <a:t>次数随机变量</a:t>
            </a:r>
            <a:endParaRPr lang="zh-CN" altLang="en-US" sz="2400" b="1" dirty="0"/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0" y="32146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615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157505"/>
              </p:ext>
            </p:extLst>
          </p:nvPr>
        </p:nvGraphicFramePr>
        <p:xfrm>
          <a:off x="2209862" y="3829937"/>
          <a:ext cx="3155950" cy="873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99" name="Equation" r:id="rId3" imgW="1549080" imgH="431640" progId="Equation.DSMT4">
                  <p:embed/>
                </p:oleObj>
              </mc:Choice>
              <mc:Fallback>
                <p:oleObj name="Equation" r:id="rId3" imgW="1549080" imgH="4316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62" y="3829937"/>
                        <a:ext cx="3155950" cy="873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3" name="Rectangle 9"/>
          <p:cNvSpPr>
            <a:spLocks noChangeArrowheads="1"/>
          </p:cNvSpPr>
          <p:nvPr/>
        </p:nvSpPr>
        <p:spPr bwMode="auto">
          <a:xfrm>
            <a:off x="859004" y="2776136"/>
            <a:ext cx="337624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fontAlgn="base"/>
            <a:r>
              <a:rPr lang="zh-CN" altLang="en-US" sz="2400" b="1" dirty="0" smtClean="0">
                <a:solidFill>
                  <a:srgbClr val="FF3300"/>
                </a:solidFill>
              </a:rPr>
              <a:t>概率母函数</a:t>
            </a:r>
            <a:r>
              <a:rPr lang="zh-CN" altLang="en-US" sz="2400" b="1" dirty="0" smtClean="0"/>
              <a:t>（</a:t>
            </a:r>
            <a:r>
              <a:rPr lang="en-US" altLang="zh-CN" sz="2400" b="1" dirty="0" smtClean="0"/>
              <a:t>| </a:t>
            </a:r>
            <a:r>
              <a:rPr lang="en-US" altLang="zh-CN" sz="2400" b="1" i="1" dirty="0" smtClean="0">
                <a:latin typeface="Times New Roman" pitchFamily="18" charset="0"/>
              </a:rPr>
              <a:t>z </a:t>
            </a:r>
            <a:r>
              <a:rPr lang="en-US" altLang="zh-CN" sz="2400" b="1" dirty="0" smtClean="0"/>
              <a:t>| </a:t>
            </a:r>
            <a:r>
              <a:rPr lang="en-US" altLang="zh-CN" sz="2400" b="1" dirty="0" smtClean="0">
                <a:sym typeface="Symbol" pitchFamily="18" charset="2"/>
              </a:rPr>
              <a:t></a:t>
            </a:r>
            <a:r>
              <a:rPr lang="en-US" altLang="zh-CN" sz="2400" b="1" dirty="0" smtClean="0"/>
              <a:t> 1</a:t>
            </a:r>
            <a:r>
              <a:rPr lang="zh-CN" altLang="en-US" sz="2400" b="1" dirty="0" smtClean="0">
                <a:sym typeface="Symbol" pitchFamily="18" charset="2"/>
              </a:rPr>
              <a:t>） </a:t>
            </a:r>
            <a:endParaRPr lang="zh-CN" altLang="en-US" sz="2400" b="1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utoUpdateAnimBg="0"/>
      <p:bldP spid="6153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>
                <a:latin typeface="Times New Roman" pitchFamily="18" charset="0"/>
              </a:rPr>
              <a:t>（</a:t>
            </a:r>
            <a:r>
              <a:rPr lang="en-US" altLang="zh-CN" i="1" dirty="0" smtClean="0">
                <a:latin typeface="Times New Roman" pitchFamily="18" charset="0"/>
              </a:rPr>
              <a:t>a</a:t>
            </a:r>
            <a:r>
              <a:rPr lang="en-US" altLang="zh-CN" dirty="0" smtClean="0">
                <a:latin typeface="Times New Roman" pitchFamily="18" charset="0"/>
              </a:rPr>
              <a:t>,</a:t>
            </a:r>
            <a:r>
              <a:rPr lang="en-US" altLang="zh-CN" i="1" dirty="0" smtClean="0">
                <a:latin typeface="Times New Roman" pitchFamily="18" charset="0"/>
              </a:rPr>
              <a:t> b</a:t>
            </a:r>
            <a:r>
              <a:rPr lang="en-US" altLang="zh-CN" dirty="0" smtClean="0">
                <a:latin typeface="Times New Roman" pitchFamily="18" charset="0"/>
              </a:rPr>
              <a:t>, 0</a:t>
            </a:r>
            <a:r>
              <a:rPr lang="zh-CN" altLang="en-US" dirty="0" smtClean="0">
                <a:latin typeface="Times New Roman" pitchFamily="18" charset="0"/>
              </a:rPr>
              <a:t>）分布</a:t>
            </a:r>
            <a:endParaRPr lang="en-US" altLang="zh-CN" dirty="0" smtClean="0">
              <a:latin typeface="Times New Roman" pitchFamily="18" charset="0"/>
            </a:endParaRPr>
          </a:p>
        </p:txBody>
      </p:sp>
      <p:sp>
        <p:nvSpPr>
          <p:cNvPr id="819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95E7910-3163-4E52-BE7B-CE2FD902D533}" type="slidenum">
              <a:rPr lang="zh-CN" altLang="en-US" sz="1400" b="1"/>
              <a:pPr eaLnBrk="1" hangingPunct="1"/>
              <a:t>4</a:t>
            </a:fld>
            <a:endParaRPr lang="en-US" altLang="zh-CN" sz="1400" b="1"/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804328"/>
              </p:ext>
            </p:extLst>
          </p:nvPr>
        </p:nvGraphicFramePr>
        <p:xfrm>
          <a:off x="1943100" y="2447925"/>
          <a:ext cx="2478088" cy="992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50" r:id="rId3" imgW="1079500" imgH="431800" progId="Equation.DSMT4">
                  <p:embed/>
                </p:oleObj>
              </mc:Choice>
              <mc:Fallback>
                <p:oleObj r:id="rId3" imgW="10795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447925"/>
                        <a:ext cx="2478088" cy="992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57200" y="1692275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满足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下述递推关系：</a:t>
            </a:r>
            <a:endParaRPr lang="zh-CN" altLang="en-US" sz="2400" b="1" dirty="0"/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685800" y="3763963"/>
            <a:ext cx="739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342900" algn="l"/>
            <a:r>
              <a:rPr lang="zh-CN" altLang="en-US" sz="2400" b="1" baseline="-300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zh-CN" altLang="en-US" sz="2400" b="1" i="1" baseline="-30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1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……  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其中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和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为常数。</a:t>
            </a:r>
            <a:endParaRPr lang="zh-CN" altLang="en-US" sz="2400" b="1" dirty="0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1066800" y="4414838"/>
            <a:ext cx="6610350" cy="83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eaLnBrk="0" hangingPunct="0"/>
            <a:r>
              <a:rPr lang="zh-CN" altLang="en-US" sz="2400" b="1" dirty="0">
                <a:latin typeface="Times New Roman" pitchFamily="18" charset="0"/>
              </a:rPr>
              <a:t>对于该类分布，只要已知 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zh-CN" altLang="en-US" sz="2400" b="1" dirty="0">
                <a:latin typeface="Times New Roman" pitchFamily="18" charset="0"/>
              </a:rPr>
              <a:t>，</a:t>
            </a:r>
            <a:r>
              <a:rPr lang="en-US" altLang="zh-CN" sz="2400" b="1" i="1" dirty="0">
                <a:latin typeface="Times New Roman" pitchFamily="18" charset="0"/>
              </a:rPr>
              <a:t>b </a:t>
            </a:r>
            <a:r>
              <a:rPr lang="zh-CN" altLang="en-US" sz="2400" b="1" dirty="0">
                <a:latin typeface="Times New Roman" pitchFamily="18" charset="0"/>
              </a:rPr>
              <a:t>和 </a:t>
            </a:r>
            <a:r>
              <a:rPr lang="en-US" altLang="zh-CN" sz="2400" b="1" i="1" dirty="0" err="1">
                <a:latin typeface="Times New Roman" pitchFamily="18" charset="0"/>
              </a:rPr>
              <a:t>p</a:t>
            </a:r>
            <a:r>
              <a:rPr lang="en-US" altLang="zh-CN" sz="2400" b="1" baseline="-25000" dirty="0" err="1">
                <a:latin typeface="Times New Roman" pitchFamily="18" charset="0"/>
              </a:rPr>
              <a:t>0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，就可以通过上式确定整个概率分布模型。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2273300" y="5561013"/>
            <a:ext cx="15113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zh-CN" altLang="en-US" sz="2400" b="1">
                <a:latin typeface="Times New Roman" pitchFamily="18" charset="0"/>
              </a:rPr>
              <a:t>，</a:t>
            </a:r>
            <a:r>
              <a:rPr lang="en-US" altLang="zh-CN" sz="2400" b="1" i="1">
                <a:latin typeface="Times New Roman" pitchFamily="18" charset="0"/>
              </a:rPr>
              <a:t>b </a:t>
            </a:r>
            <a:r>
              <a:rPr lang="zh-CN" altLang="en-US" sz="2400" b="1">
                <a:latin typeface="Times New Roman" pitchFamily="18" charset="0"/>
              </a:rPr>
              <a:t>， </a:t>
            </a:r>
            <a:r>
              <a:rPr lang="en-US" altLang="zh-CN" sz="2400" b="1" i="1">
                <a:latin typeface="Times New Roman" pitchFamily="18" charset="0"/>
              </a:rPr>
              <a:t>p</a:t>
            </a:r>
            <a:r>
              <a:rPr lang="en-US" altLang="zh-CN" sz="2400" b="1" baseline="-25000">
                <a:latin typeface="Times New Roman" pitchFamily="18" charset="0"/>
              </a:rPr>
              <a:t>0</a:t>
            </a:r>
          </a:p>
        </p:txBody>
      </p:sp>
      <p:sp>
        <p:nvSpPr>
          <p:cNvPr id="8200" name="AutoShape 8"/>
          <p:cNvSpPr>
            <a:spLocks noChangeArrowheads="1"/>
          </p:cNvSpPr>
          <p:nvPr/>
        </p:nvSpPr>
        <p:spPr bwMode="auto">
          <a:xfrm>
            <a:off x="4038600" y="571500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 b="1"/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5049838" y="5561013"/>
            <a:ext cx="2257425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（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a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,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 b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, 0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）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 autoUpdateAnimBg="0"/>
      <p:bldP spid="8197" grpId="0" autoUpdateAnimBg="0"/>
      <p:bldP spid="8198" grpId="0" autoUpdateAnimBg="0"/>
      <p:bldP spid="8199" grpId="0" animBg="1" autoUpdateAnimBg="0"/>
      <p:bldP spid="8200" grpId="0" animBg="1"/>
      <p:bldP spid="8201" grpId="0" animBg="1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229600" cy="4953000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b="1" dirty="0" smtClean="0">
                <a:latin typeface="Times New Roman" pitchFamily="18" charset="0"/>
              </a:rPr>
              <a:t>可以证明</a:t>
            </a:r>
            <a:r>
              <a:rPr lang="en-US" altLang="zh-CN" b="1" dirty="0" smtClean="0">
                <a:latin typeface="Times New Roman" pitchFamily="18" charset="0"/>
                <a:hlinkClick r:id="" action="ppaction://noaction"/>
              </a:rPr>
              <a:t>[1]</a:t>
            </a:r>
            <a:r>
              <a:rPr lang="zh-CN" altLang="en-US" b="1" dirty="0" smtClean="0">
                <a:latin typeface="Times New Roman" pitchFamily="18" charset="0"/>
              </a:rPr>
              <a:t>，（</a:t>
            </a:r>
            <a:r>
              <a:rPr lang="en-US" altLang="zh-CN" b="1" i="1" dirty="0" smtClean="0">
                <a:latin typeface="Times New Roman" pitchFamily="18" charset="0"/>
              </a:rPr>
              <a:t>a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</a:rPr>
              <a:t>b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</a:rPr>
              <a:t>0</a:t>
            </a:r>
            <a:r>
              <a:rPr lang="zh-CN" altLang="en-US" b="1" dirty="0" smtClean="0">
                <a:latin typeface="Times New Roman" pitchFamily="18" charset="0"/>
              </a:rPr>
              <a:t>）分布类仅包括</a:t>
            </a:r>
            <a:r>
              <a:rPr lang="en-US" altLang="zh-CN" b="1" dirty="0" smtClean="0">
                <a:latin typeface="Times New Roman" pitchFamily="18" charset="0"/>
              </a:rPr>
              <a:t>: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b="1" dirty="0" smtClean="0">
                <a:latin typeface="Times New Roman" pitchFamily="18" charset="0"/>
              </a:rPr>
              <a:t>泊松分布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b="1" dirty="0" smtClean="0">
                <a:latin typeface="Times New Roman" pitchFamily="18" charset="0"/>
              </a:rPr>
              <a:t>二项分布</a:t>
            </a:r>
            <a:endParaRPr lang="en-US" altLang="zh-CN" b="1" dirty="0" smtClean="0">
              <a:latin typeface="Times New Roman" pitchFamily="18" charset="0"/>
            </a:endParaRPr>
          </a:p>
          <a:p>
            <a:pPr lvl="1" eaLnBrk="1" hangingPunct="1">
              <a:lnSpc>
                <a:spcPct val="115000"/>
              </a:lnSpc>
            </a:pPr>
            <a:r>
              <a:rPr lang="zh-CN" altLang="en-US" b="1" dirty="0">
                <a:latin typeface="Times New Roman" pitchFamily="18" charset="0"/>
              </a:rPr>
              <a:t>负二项分布</a:t>
            </a:r>
            <a:r>
              <a:rPr lang="zh-CN" altLang="en-US" b="1" dirty="0" smtClean="0">
                <a:latin typeface="Times New Roman" pitchFamily="18" charset="0"/>
              </a:rPr>
              <a:t>（特例：几何分布</a:t>
            </a:r>
            <a:r>
              <a:rPr lang="zh-CN" altLang="en-US" b="1" dirty="0">
                <a:latin typeface="Times New Roman" pitchFamily="18" charset="0"/>
              </a:rPr>
              <a:t>）</a:t>
            </a:r>
          </a:p>
          <a:p>
            <a:pPr lvl="1" eaLnBrk="1" hangingPunct="1">
              <a:lnSpc>
                <a:spcPct val="115000"/>
              </a:lnSpc>
            </a:pPr>
            <a:endParaRPr lang="zh-CN" altLang="en-US" b="1" dirty="0" smtClean="0">
              <a:latin typeface="Times New Roman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b="1" dirty="0" smtClean="0">
                <a:latin typeface="Times New Roman" pitchFamily="18" charset="0"/>
                <a:hlinkClick r:id="" action="ppaction://noaction"/>
              </a:rPr>
              <a:t>[1]</a:t>
            </a:r>
            <a:r>
              <a:rPr lang="en-US" altLang="zh-CN" b="1" dirty="0" smtClean="0">
                <a:latin typeface="Times New Roman" pitchFamily="18" charset="0"/>
              </a:rPr>
              <a:t> </a:t>
            </a:r>
            <a:r>
              <a:rPr lang="en-US" altLang="zh-CN" b="1" dirty="0" err="1" smtClean="0">
                <a:latin typeface="Times New Roman" pitchFamily="18" charset="0"/>
              </a:rPr>
              <a:t>Panjer</a:t>
            </a:r>
            <a:r>
              <a:rPr lang="en-US" altLang="zh-CN" b="1" dirty="0" smtClean="0">
                <a:latin typeface="Times New Roman" pitchFamily="18" charset="0"/>
              </a:rPr>
              <a:t>, H. and </a:t>
            </a:r>
            <a:r>
              <a:rPr lang="en-US" altLang="zh-CN" b="1" dirty="0" err="1" smtClean="0">
                <a:latin typeface="Times New Roman" pitchFamily="18" charset="0"/>
              </a:rPr>
              <a:t>Willmot</a:t>
            </a:r>
            <a:r>
              <a:rPr lang="en-US" altLang="zh-CN" b="1" dirty="0" smtClean="0">
                <a:latin typeface="Times New Roman" pitchFamily="18" charset="0"/>
              </a:rPr>
              <a:t>, G. (1992), “Computational Aspects of Recursive Evaluation of Compound Distribution,” </a:t>
            </a:r>
            <a:r>
              <a:rPr lang="en-US" altLang="zh-CN" b="1" dirty="0" err="1" smtClean="0">
                <a:latin typeface="Times New Roman" pitchFamily="18" charset="0"/>
              </a:rPr>
              <a:t>Insurnace</a:t>
            </a:r>
            <a:r>
              <a:rPr lang="en-US" altLang="zh-CN" b="1" dirty="0" smtClean="0">
                <a:latin typeface="Times New Roman" pitchFamily="18" charset="0"/>
              </a:rPr>
              <a:t>: </a:t>
            </a:r>
            <a:r>
              <a:rPr lang="en-US" altLang="zh-CN" b="1" dirty="0" err="1" smtClean="0">
                <a:latin typeface="Times New Roman" pitchFamily="18" charset="0"/>
              </a:rPr>
              <a:t>Mathamatics</a:t>
            </a:r>
            <a:r>
              <a:rPr lang="en-US" altLang="zh-CN" b="1" dirty="0" smtClean="0">
                <a:latin typeface="Times New Roman" pitchFamily="18" charset="0"/>
              </a:rPr>
              <a:t> and Economics, 5, 113-116</a:t>
            </a:r>
            <a:r>
              <a:rPr lang="zh-CN" altLang="en-US" b="1" dirty="0" smtClean="0">
                <a:latin typeface="Times New Roman" pitchFamily="18" charset="0"/>
              </a:rPr>
              <a:t>。</a:t>
            </a:r>
          </a:p>
        </p:txBody>
      </p:sp>
      <p:sp>
        <p:nvSpPr>
          <p:cNvPr id="92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0FD90FE-7F27-48DB-B30D-7A68D95DCCC7}" type="slidenum">
              <a:rPr lang="zh-CN" altLang="en-US" sz="1400"/>
              <a:pPr eaLnBrk="1" hangingPunct="1"/>
              <a:t>5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110" y="700879"/>
            <a:ext cx="8229600" cy="639762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latin typeface="Times New Roman" pitchFamily="18" charset="0"/>
              </a:rPr>
              <a:t>（</a:t>
            </a:r>
            <a:r>
              <a:rPr lang="en-US" altLang="zh-CN" i="1" dirty="0" smtClean="0">
                <a:latin typeface="Times New Roman" pitchFamily="18" charset="0"/>
              </a:rPr>
              <a:t>a</a:t>
            </a:r>
            <a:r>
              <a:rPr lang="en-US" altLang="zh-CN" dirty="0" smtClean="0">
                <a:latin typeface="Times New Roman" pitchFamily="18" charset="0"/>
              </a:rPr>
              <a:t>,</a:t>
            </a:r>
            <a:r>
              <a:rPr lang="en-US" altLang="zh-CN" i="1" dirty="0" smtClean="0">
                <a:latin typeface="Times New Roman" pitchFamily="18" charset="0"/>
              </a:rPr>
              <a:t> b</a:t>
            </a:r>
            <a:r>
              <a:rPr lang="en-US" altLang="zh-CN" dirty="0" smtClean="0">
                <a:latin typeface="Times New Roman" pitchFamily="18" charset="0"/>
              </a:rPr>
              <a:t>, 0</a:t>
            </a:r>
            <a:r>
              <a:rPr lang="zh-CN" altLang="en-US" dirty="0" smtClean="0">
                <a:latin typeface="Times New Roman" pitchFamily="18" charset="0"/>
              </a:rPr>
              <a:t>）分布</a:t>
            </a:r>
            <a:endParaRPr lang="en-US" altLang="zh-CN" dirty="0" smtClean="0">
              <a:latin typeface="Times New Roman" pitchFamily="18" charset="0"/>
            </a:endParaRPr>
          </a:p>
        </p:txBody>
      </p:sp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C01DFA8-DF72-49E1-A0E9-90524C1B5D59}" type="slidenum">
              <a:rPr lang="zh-CN" altLang="en-US" sz="1400"/>
              <a:pPr eaLnBrk="1" hangingPunct="1"/>
              <a:t>6</a:t>
            </a:fld>
            <a:endParaRPr lang="en-US" altLang="zh-CN" sz="1400"/>
          </a:p>
        </p:txBody>
      </p:sp>
      <p:sp>
        <p:nvSpPr>
          <p:cNvPr id="10244" name="Rectangle 3"/>
          <p:cNvSpPr>
            <a:spLocks noChangeArrowheads="1"/>
          </p:cNvSpPr>
          <p:nvPr/>
        </p:nvSpPr>
        <p:spPr bwMode="auto">
          <a:xfrm>
            <a:off x="1866900" y="2135188"/>
            <a:ext cx="1352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45" name="Rectangle 4"/>
          <p:cNvSpPr>
            <a:spLocks noChangeArrowheads="1"/>
          </p:cNvSpPr>
          <p:nvPr/>
        </p:nvSpPr>
        <p:spPr bwMode="auto">
          <a:xfrm>
            <a:off x="1866900" y="2135188"/>
            <a:ext cx="1352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46" name="Rectangle 5"/>
          <p:cNvSpPr>
            <a:spLocks noChangeArrowheads="1"/>
          </p:cNvSpPr>
          <p:nvPr/>
        </p:nvSpPr>
        <p:spPr bwMode="auto">
          <a:xfrm>
            <a:off x="1866900" y="2135188"/>
            <a:ext cx="1352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47" name="Rectangle 6"/>
          <p:cNvSpPr>
            <a:spLocks noChangeArrowheads="1"/>
          </p:cNvSpPr>
          <p:nvPr/>
        </p:nvSpPr>
        <p:spPr bwMode="auto">
          <a:xfrm>
            <a:off x="1866900" y="2135188"/>
            <a:ext cx="1352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48" name="Rectangle 7"/>
          <p:cNvSpPr>
            <a:spLocks noChangeArrowheads="1"/>
          </p:cNvSpPr>
          <p:nvPr/>
        </p:nvSpPr>
        <p:spPr bwMode="auto">
          <a:xfrm>
            <a:off x="1866900" y="2135188"/>
            <a:ext cx="1352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49" name="Rectangle 8"/>
          <p:cNvSpPr>
            <a:spLocks noChangeArrowheads="1"/>
          </p:cNvSpPr>
          <p:nvPr/>
        </p:nvSpPr>
        <p:spPr bwMode="auto">
          <a:xfrm>
            <a:off x="1866900" y="2135188"/>
            <a:ext cx="1352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50" name="Rectangle 9"/>
          <p:cNvSpPr>
            <a:spLocks noChangeArrowheads="1"/>
          </p:cNvSpPr>
          <p:nvPr/>
        </p:nvSpPr>
        <p:spPr bwMode="auto">
          <a:xfrm>
            <a:off x="1866900" y="2135188"/>
            <a:ext cx="1352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51" name="Rectangle 10"/>
          <p:cNvSpPr>
            <a:spLocks noChangeArrowheads="1"/>
          </p:cNvSpPr>
          <p:nvPr/>
        </p:nvSpPr>
        <p:spPr bwMode="auto">
          <a:xfrm>
            <a:off x="1866900" y="2135188"/>
            <a:ext cx="1352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0252" name="Rectangle 11"/>
          <p:cNvSpPr>
            <a:spLocks noChangeArrowheads="1"/>
          </p:cNvSpPr>
          <p:nvPr/>
        </p:nvSpPr>
        <p:spPr bwMode="auto">
          <a:xfrm>
            <a:off x="1866900" y="2135188"/>
            <a:ext cx="13525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654812"/>
              </p:ext>
            </p:extLst>
          </p:nvPr>
        </p:nvGraphicFramePr>
        <p:xfrm>
          <a:off x="381110" y="1676446"/>
          <a:ext cx="8534400" cy="3257407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605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</a:t>
                      </a:r>
                      <a:r>
                        <a:rPr kumimoji="0" lang="en-US" altLang="zh-CN" sz="24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675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泊松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  <a:sym typeface="Symbol" pitchFamily="18" charset="2"/>
                        </a:rPr>
                        <a:t></a:t>
                      </a: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</a:t>
                      </a:r>
                      <a:r>
                        <a:rPr kumimoji="0" lang="en-US" altLang="zh-CN" sz="24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−</a:t>
                      </a:r>
                      <a:r>
                        <a:rPr kumimoji="0" lang="en-US" altLang="zh-CN" sz="24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l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516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二项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7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‒</a:t>
                      </a:r>
                      <a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/(1‒</a:t>
                      </a:r>
                      <a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7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+1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/(1‒</a:t>
                      </a:r>
                      <a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7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(1‒</a:t>
                      </a:r>
                      <a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  <a:r>
                        <a:rPr kumimoji="0" lang="en-US" altLang="zh-CN" sz="24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endParaRPr kumimoji="0" lang="en-US" altLang="zh-CN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42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负二项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b/(1+b)</a:t>
                      </a: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24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‒1)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b/(</a:t>
                      </a:r>
                      <a:r>
                        <a:rPr kumimoji="0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1+b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)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1+</a:t>
                      </a:r>
                      <a:r>
                        <a:rPr kumimoji="0" lang="en-US" altLang="zh-CN" sz="24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)</a:t>
                      </a:r>
                      <a:r>
                        <a:rPr kumimoji="0" lang="en-US" altLang="zh-CN" sz="24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−</a:t>
                      </a:r>
                      <a:r>
                        <a:rPr kumimoji="0" lang="en-US" altLang="zh-CN" sz="24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endParaRPr kumimoji="0" lang="en-US" altLang="zh-CN" sz="24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28" marB="45728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147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71762"/>
            <a:ext cx="8229600" cy="883487"/>
          </a:xfrm>
        </p:spPr>
        <p:txBody>
          <a:bodyPr/>
          <a:lstStyle/>
          <a:p>
            <a:r>
              <a:rPr lang="zh-CN" altLang="en-US" b="1" dirty="0" smtClean="0">
                <a:solidFill>
                  <a:srgbClr val="0070C0"/>
                </a:solidFill>
              </a:rPr>
              <a:t>泊松分布</a:t>
            </a:r>
            <a:r>
              <a:rPr lang="en-US" altLang="zh-CN" b="1" dirty="0">
                <a:solidFill>
                  <a:srgbClr val="0070C0"/>
                </a:solidFill>
              </a:rPr>
              <a:t>(</a:t>
            </a:r>
            <a:r>
              <a:rPr lang="en-US" altLang="zh-CN" b="1" dirty="0" smtClean="0">
                <a:solidFill>
                  <a:srgbClr val="0070C0"/>
                </a:solidFill>
              </a:rPr>
              <a:t>Poisson distribution)</a:t>
            </a:r>
            <a:endParaRPr lang="zh-CN" altLang="en-US" b="1" dirty="0" smtClean="0">
              <a:solidFill>
                <a:srgbClr val="0070C0"/>
              </a:solidFill>
            </a:endParaRPr>
          </a:p>
        </p:txBody>
      </p:sp>
      <p:sp>
        <p:nvSpPr>
          <p:cNvPr id="11266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5F83413-18FA-432B-9537-EB80AB4CA4D5}" type="slidenum">
              <a:rPr lang="zh-CN" altLang="en-US" sz="1400"/>
              <a:pPr eaLnBrk="1" hangingPunct="1"/>
              <a:t>7</a:t>
            </a:fld>
            <a:endParaRPr lang="en-US" altLang="zh-CN" sz="1400"/>
          </a:p>
        </p:txBody>
      </p:sp>
      <p:sp>
        <p:nvSpPr>
          <p:cNvPr id="11268" name="Rectangle 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716615"/>
              </p:ext>
            </p:extLst>
          </p:nvPr>
        </p:nvGraphicFramePr>
        <p:xfrm>
          <a:off x="1066668" y="2286000"/>
          <a:ext cx="1600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95" r:id="rId3" imgW="736920" imgH="419282" progId="Equation.DSMT4">
                  <p:embed/>
                </p:oleObj>
              </mc:Choice>
              <mc:Fallback>
                <p:oleObj r:id="rId3" imgW="736920" imgH="41928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668" y="2286000"/>
                        <a:ext cx="1600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3124068" y="2590800"/>
            <a:ext cx="274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fontAlgn="base"/>
            <a:r>
              <a:rPr lang="en-US" altLang="zh-CN" sz="2400" i="1" dirty="0">
                <a:latin typeface="Times New Roman" pitchFamily="18" charset="0"/>
              </a:rPr>
              <a:t>k </a:t>
            </a:r>
            <a:r>
              <a:rPr lang="en-US" altLang="zh-CN" sz="2400" dirty="0">
                <a:latin typeface="Times New Roman" pitchFamily="18" charset="0"/>
              </a:rPr>
              <a:t>= 0</a:t>
            </a:r>
            <a:r>
              <a:rPr lang="zh-CN" altLang="en-US" sz="2400" dirty="0">
                <a:latin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</a:rPr>
              <a:t>2</a:t>
            </a:r>
            <a:r>
              <a:rPr lang="zh-CN" altLang="en-US" sz="2400" dirty="0">
                <a:latin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</a:rPr>
              <a:t>…… </a:t>
            </a:r>
          </a:p>
        </p:txBody>
      </p:sp>
      <p:sp>
        <p:nvSpPr>
          <p:cNvPr id="11271" name="Rectangle 6"/>
          <p:cNvSpPr>
            <a:spLocks noChangeArrowheads="1"/>
          </p:cNvSpPr>
          <p:nvPr/>
        </p:nvSpPr>
        <p:spPr bwMode="auto">
          <a:xfrm>
            <a:off x="457068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457068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554203"/>
              </p:ext>
            </p:extLst>
          </p:nvPr>
        </p:nvGraphicFramePr>
        <p:xfrm>
          <a:off x="990468" y="4330700"/>
          <a:ext cx="1841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96" r:id="rId5" imgW="952500" imgH="431800" progId="Equation.DSMT4">
                  <p:embed/>
                </p:oleObj>
              </mc:Choice>
              <mc:Fallback>
                <p:oleObj r:id="rId5" imgW="9525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468" y="4330700"/>
                        <a:ext cx="1841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6400668" y="2590800"/>
            <a:ext cx="1219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 fontAlgn="base"/>
            <a:r>
              <a:rPr lang="zh-CN" altLang="en-US" sz="2400" i="1" dirty="0">
                <a:sym typeface="Symbol" pitchFamily="18" charset="2"/>
              </a:rPr>
              <a:t></a:t>
            </a:r>
            <a:r>
              <a:rPr lang="zh-CN" altLang="en-US" sz="2400" i="1" dirty="0"/>
              <a:t> </a:t>
            </a:r>
            <a:r>
              <a:rPr lang="en-US" altLang="zh-CN" sz="2400" dirty="0">
                <a:sym typeface="Symbol" pitchFamily="18" charset="2"/>
              </a:rPr>
              <a:t>&gt; 0 </a:t>
            </a:r>
          </a:p>
        </p:txBody>
      </p:sp>
      <p:graphicFrame>
        <p:nvGraphicFramePr>
          <p:cNvPr id="1127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8188966"/>
              </p:ext>
            </p:extLst>
          </p:nvPr>
        </p:nvGraphicFramePr>
        <p:xfrm>
          <a:off x="3080524" y="4419574"/>
          <a:ext cx="1643751" cy="6278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897" r:id="rId7" imgW="495300" imgH="203200" progId="Equation.DSMT4">
                  <p:embed/>
                </p:oleObj>
              </mc:Choice>
              <mc:Fallback>
                <p:oleObj r:id="rId7" imgW="495300" imgH="2032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0524" y="4419574"/>
                        <a:ext cx="1643751" cy="6278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 autoUpdateAnimBg="0"/>
      <p:bldP spid="1127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712280-C1E5-4034-8096-72A65B4CAA4E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6" name="Picture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838298" y="731448"/>
            <a:ext cx="7467404" cy="544068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28714" y="579052"/>
            <a:ext cx="1447762" cy="304792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楷体" pitchFamily="49" charset="-122"/>
                <a:ea typeface="楷体" pitchFamily="49" charset="-122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altLang="zh-CN" sz="200" b="1" kern="0" dirty="0">
                <a:latin typeface="Times New Roman" pitchFamily="18" charset="0"/>
              </a:rPr>
              <a:t>par(</a:t>
            </a:r>
            <a:r>
              <a:rPr lang="en-US" altLang="zh-CN" sz="200" b="1" kern="0" dirty="0" err="1">
                <a:latin typeface="Times New Roman" pitchFamily="18" charset="0"/>
              </a:rPr>
              <a:t>mfrow</a:t>
            </a:r>
            <a:r>
              <a:rPr lang="en-US" altLang="zh-CN" sz="200" b="1" kern="0" dirty="0">
                <a:latin typeface="Times New Roman" pitchFamily="18" charset="0"/>
              </a:rPr>
              <a:t> = c(2,2))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200" b="1" kern="0" dirty="0" err="1">
                <a:latin typeface="Times New Roman" pitchFamily="18" charset="0"/>
              </a:rPr>
              <a:t>lambda.po</a:t>
            </a:r>
            <a:r>
              <a:rPr lang="en-US" altLang="zh-CN" sz="200" b="1" kern="0" dirty="0">
                <a:latin typeface="Times New Roman" pitchFamily="18" charset="0"/>
              </a:rPr>
              <a:t> &lt;- c(1, 2, 5, 10) # lambda </a:t>
            </a:r>
            <a:r>
              <a:rPr lang="zh-CN" altLang="en-US" sz="200" b="1" kern="0" dirty="0">
                <a:latin typeface="Times New Roman" pitchFamily="18" charset="0"/>
              </a:rPr>
              <a:t>取值为 </a:t>
            </a:r>
            <a:r>
              <a:rPr lang="en-US" altLang="zh-CN" sz="200" b="1" kern="0" dirty="0">
                <a:latin typeface="Times New Roman" pitchFamily="18" charset="0"/>
              </a:rPr>
              <a:t>1,2,5,10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200" b="1" kern="0" dirty="0">
                <a:latin typeface="Times New Roman" pitchFamily="18" charset="0"/>
              </a:rPr>
              <a:t>x0 &lt;- </a:t>
            </a:r>
            <a:r>
              <a:rPr lang="en-US" altLang="zh-CN" sz="200" b="1" kern="0" dirty="0" err="1">
                <a:latin typeface="Times New Roman" pitchFamily="18" charset="0"/>
              </a:rPr>
              <a:t>seq</a:t>
            </a:r>
            <a:r>
              <a:rPr lang="en-US" altLang="zh-CN" sz="200" b="1" kern="0" dirty="0">
                <a:latin typeface="Times New Roman" pitchFamily="18" charset="0"/>
              </a:rPr>
              <a:t>(0, 20)            # x </a:t>
            </a:r>
            <a:r>
              <a:rPr lang="zh-CN" altLang="en-US" sz="200" b="1" kern="0" dirty="0">
                <a:latin typeface="Times New Roman" pitchFamily="18" charset="0"/>
              </a:rPr>
              <a:t>取值为 </a:t>
            </a:r>
            <a:r>
              <a:rPr lang="en-US" altLang="zh-CN" sz="200" b="1" kern="0" dirty="0">
                <a:latin typeface="Times New Roman" pitchFamily="18" charset="0"/>
              </a:rPr>
              <a:t>0-25 </a:t>
            </a:r>
            <a:r>
              <a:rPr lang="zh-CN" altLang="en-US" sz="200" b="1" kern="0" dirty="0">
                <a:latin typeface="Times New Roman" pitchFamily="18" charset="0"/>
              </a:rPr>
              <a:t>的整数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200" b="1" kern="0" dirty="0">
                <a:latin typeface="Times New Roman" pitchFamily="18" charset="0"/>
              </a:rPr>
              <a:t>for(</a:t>
            </a:r>
            <a:r>
              <a:rPr lang="en-US" altLang="zh-CN" sz="200" b="1" kern="0" dirty="0" err="1">
                <a:latin typeface="Times New Roman" pitchFamily="18" charset="0"/>
              </a:rPr>
              <a:t>lambda.po</a:t>
            </a:r>
            <a:r>
              <a:rPr lang="en-US" altLang="zh-CN" sz="200" b="1" kern="0" dirty="0">
                <a:latin typeface="Times New Roman" pitchFamily="18" charset="0"/>
              </a:rPr>
              <a:t> in c(1, 2, 5, 10)){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200" b="1" kern="0" dirty="0">
                <a:latin typeface="Times New Roman" pitchFamily="18" charset="0"/>
              </a:rPr>
              <a:t>  </a:t>
            </a:r>
            <a:r>
              <a:rPr lang="en-US" altLang="zh-CN" sz="200" b="1" kern="0" dirty="0" err="1">
                <a:latin typeface="Times New Roman" pitchFamily="18" charset="0"/>
              </a:rPr>
              <a:t>barplot</a:t>
            </a:r>
            <a:r>
              <a:rPr lang="en-US" altLang="zh-CN" sz="200" b="1" kern="0" dirty="0">
                <a:latin typeface="Times New Roman" pitchFamily="18" charset="0"/>
              </a:rPr>
              <a:t>(</a:t>
            </a:r>
            <a:r>
              <a:rPr lang="en-US" altLang="zh-CN" sz="200" b="1" kern="0" dirty="0" err="1">
                <a:latin typeface="Times New Roman" pitchFamily="18" charset="0"/>
              </a:rPr>
              <a:t>dpois</a:t>
            </a:r>
            <a:r>
              <a:rPr lang="en-US" altLang="zh-CN" sz="200" b="1" kern="0" dirty="0">
                <a:latin typeface="Times New Roman" pitchFamily="18" charset="0"/>
              </a:rPr>
              <a:t>(x0, </a:t>
            </a:r>
            <a:r>
              <a:rPr lang="en-US" altLang="zh-CN" sz="200" b="1" kern="0" dirty="0" err="1">
                <a:latin typeface="Times New Roman" pitchFamily="18" charset="0"/>
              </a:rPr>
              <a:t>lambda.po</a:t>
            </a:r>
            <a:r>
              <a:rPr lang="en-US" altLang="zh-CN" sz="200" b="1" kern="0" dirty="0">
                <a:latin typeface="Times New Roman" pitchFamily="18" charset="0"/>
              </a:rPr>
              <a:t>), </a:t>
            </a:r>
            <a:r>
              <a:rPr lang="en-US" altLang="zh-CN" sz="200" b="1" kern="0" dirty="0" err="1">
                <a:latin typeface="Times New Roman" pitchFamily="18" charset="0"/>
              </a:rPr>
              <a:t>names.arg</a:t>
            </a:r>
            <a:r>
              <a:rPr lang="en-US" altLang="zh-CN" sz="200" b="1" kern="0" dirty="0">
                <a:latin typeface="Times New Roman" pitchFamily="18" charset="0"/>
              </a:rPr>
              <a:t> = x0, main = paste('lambda = ', </a:t>
            </a:r>
            <a:r>
              <a:rPr lang="en-US" altLang="zh-CN" sz="200" b="1" kern="0" dirty="0" err="1">
                <a:latin typeface="Times New Roman" pitchFamily="18" charset="0"/>
              </a:rPr>
              <a:t>lambda.po</a:t>
            </a:r>
            <a:r>
              <a:rPr lang="en-US" altLang="zh-CN" sz="200" b="1" kern="0" dirty="0">
                <a:latin typeface="Times New Roman" pitchFamily="18" charset="0"/>
              </a:rPr>
              <a:t>, </a:t>
            </a:r>
            <a:r>
              <a:rPr lang="en-US" altLang="zh-CN" sz="200" b="1" kern="0" dirty="0" err="1">
                <a:latin typeface="Times New Roman" pitchFamily="18" charset="0"/>
              </a:rPr>
              <a:t>sep</a:t>
            </a:r>
            <a:r>
              <a:rPr lang="en-US" altLang="zh-CN" sz="200" b="1" kern="0" dirty="0">
                <a:latin typeface="Times New Roman" pitchFamily="18" charset="0"/>
              </a:rPr>
              <a:t> = ''))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altLang="zh-CN" sz="200" b="1" kern="0" dirty="0">
                <a:latin typeface="Times New Roman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496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72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泊松分布的几个重要性质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252696"/>
            <a:ext cx="8229600" cy="3992529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dirty="0" smtClean="0"/>
              <a:t>方差 </a:t>
            </a:r>
            <a:r>
              <a:rPr lang="en-US" altLang="zh-CN" dirty="0" smtClean="0"/>
              <a:t>= </a:t>
            </a:r>
            <a:r>
              <a:rPr lang="zh-CN" altLang="en-US" dirty="0" smtClean="0"/>
              <a:t>均值 </a:t>
            </a:r>
            <a:r>
              <a:rPr lang="en-US" altLang="zh-CN" dirty="0" smtClean="0"/>
              <a:t>= lambda</a:t>
            </a:r>
            <a:endParaRPr lang="zh-CN" altLang="en-US" dirty="0" smtClean="0"/>
          </a:p>
          <a:p>
            <a:pPr eaLnBrk="1" hangingPunct="1">
              <a:lnSpc>
                <a:spcPct val="115000"/>
              </a:lnSpc>
            </a:pPr>
            <a:r>
              <a:rPr lang="zh-CN" altLang="en-US" dirty="0" smtClean="0"/>
              <a:t>可加性：若干个独立的泊松分布之和仍然服从泊松分布。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dirty="0" smtClean="0"/>
              <a:t>可分解性。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dirty="0" smtClean="0"/>
              <a:t>参数的极大似然估计等于矩估计</a:t>
            </a:r>
          </a:p>
        </p:txBody>
      </p:sp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F58EA50-B3F2-40D5-AD9B-845C7E895D13}" type="slidenum">
              <a:rPr lang="zh-CN" altLang="en-US" sz="1400"/>
              <a:pPr eaLnBrk="1" hangingPunct="1"/>
              <a:t>9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-228474" y="511176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泊松分布的可加性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3886200" cy="4525963"/>
          </a:xfrm>
          <a:ln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 smtClean="0"/>
              <a:t>可加性</a:t>
            </a:r>
            <a:r>
              <a:rPr lang="zh-CN" altLang="en-US" dirty="0" smtClean="0"/>
              <a:t>：如果</a:t>
            </a:r>
            <a:r>
              <a:rPr lang="en-US" altLang="zh-CN" i="1" dirty="0" err="1" smtClean="0">
                <a:latin typeface="Times New Roman" pitchFamily="18" charset="0"/>
              </a:rPr>
              <a:t>N</a:t>
            </a:r>
            <a:r>
              <a:rPr lang="en-US" altLang="zh-CN" baseline="-25000" dirty="0" err="1" smtClean="0">
                <a:latin typeface="Times New Roman" pitchFamily="18" charset="0"/>
              </a:rPr>
              <a:t>1</a:t>
            </a:r>
            <a:r>
              <a:rPr lang="zh-CN" altLang="en-US" dirty="0" smtClean="0">
                <a:latin typeface="Times New Roman" pitchFamily="18" charset="0"/>
              </a:rPr>
              <a:t>和</a:t>
            </a:r>
            <a:r>
              <a:rPr lang="en-US" altLang="zh-CN" i="1" dirty="0" err="1" smtClean="0">
                <a:latin typeface="Times New Roman" pitchFamily="18" charset="0"/>
              </a:rPr>
              <a:t>N</a:t>
            </a:r>
            <a:r>
              <a:rPr lang="en-US" altLang="zh-CN" baseline="-25000" dirty="0" err="1" smtClean="0">
                <a:latin typeface="Times New Roman" pitchFamily="18" charset="0"/>
              </a:rPr>
              <a:t>2</a:t>
            </a:r>
            <a:r>
              <a:rPr lang="zh-CN" altLang="en-US" dirty="0" smtClean="0"/>
              <a:t>分别是参数为</a:t>
            </a:r>
            <a:r>
              <a:rPr lang="en-US" altLang="zh-CN" dirty="0" err="1" smtClean="0">
                <a:latin typeface="Symbol" pitchFamily="18" charset="2"/>
              </a:rPr>
              <a:t>l</a:t>
            </a:r>
            <a:r>
              <a:rPr lang="en-US" altLang="zh-CN" baseline="-25000" dirty="0" err="1" smtClean="0">
                <a:latin typeface="Symbol" pitchFamily="18" charset="2"/>
              </a:rPr>
              <a:t>1</a:t>
            </a:r>
            <a:r>
              <a:rPr lang="zh-CN" altLang="en-US" dirty="0" smtClean="0"/>
              <a:t>和</a:t>
            </a:r>
            <a:r>
              <a:rPr lang="en-US" altLang="zh-CN" dirty="0" err="1" smtClean="0">
                <a:latin typeface="Symbol" pitchFamily="18" charset="2"/>
              </a:rPr>
              <a:t>l</a:t>
            </a:r>
            <a:r>
              <a:rPr lang="en-US" altLang="zh-CN" baseline="-25000" dirty="0" err="1" smtClean="0">
                <a:latin typeface="Symbol" pitchFamily="18" charset="2"/>
              </a:rPr>
              <a:t>2</a:t>
            </a:r>
            <a:r>
              <a:rPr lang="zh-CN" altLang="en-US" dirty="0" smtClean="0"/>
              <a:t>的相互独立的泊松随机变量，则</a:t>
            </a:r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zh-CN" altLang="en-US" i="1" dirty="0" smtClean="0">
                <a:latin typeface="Times New Roman" pitchFamily="18" charset="0"/>
              </a:rPr>
              <a:t>        </a:t>
            </a:r>
            <a:r>
              <a:rPr lang="en-US" altLang="zh-CN" i="1" dirty="0" smtClean="0">
                <a:latin typeface="Times New Roman" pitchFamily="18" charset="0"/>
              </a:rPr>
              <a:t>N</a:t>
            </a:r>
            <a:r>
              <a:rPr lang="en-US" altLang="zh-CN" dirty="0" smtClean="0"/>
              <a:t>=</a:t>
            </a:r>
            <a:r>
              <a:rPr lang="en-US" altLang="zh-CN" i="1" dirty="0" err="1" smtClean="0">
                <a:latin typeface="Times New Roman" pitchFamily="18" charset="0"/>
              </a:rPr>
              <a:t>N</a:t>
            </a:r>
            <a:r>
              <a:rPr lang="en-US" altLang="zh-CN" baseline="-25000" dirty="0" err="1" smtClean="0"/>
              <a:t>1</a:t>
            </a:r>
            <a:r>
              <a:rPr lang="en-US" altLang="zh-CN" dirty="0" err="1" smtClean="0"/>
              <a:t>+</a:t>
            </a:r>
            <a:r>
              <a:rPr lang="en-US" altLang="zh-CN" i="1" dirty="0" err="1" smtClean="0">
                <a:latin typeface="Times New Roman" pitchFamily="18" charset="0"/>
              </a:rPr>
              <a:t>N</a:t>
            </a:r>
            <a:r>
              <a:rPr lang="en-US" altLang="zh-CN" baseline="-25000" dirty="0" err="1" smtClean="0"/>
              <a:t>2</a:t>
            </a:r>
            <a:endParaRPr lang="en-US" altLang="zh-CN" baseline="-25000" dirty="0" smtClean="0"/>
          </a:p>
          <a:p>
            <a:pPr eaLnBrk="1" hangingPunct="1">
              <a:lnSpc>
                <a:spcPct val="130000"/>
              </a:lnSpc>
              <a:buFont typeface="Wingdings" pitchFamily="2" charset="2"/>
              <a:buNone/>
            </a:pPr>
            <a:r>
              <a:rPr lang="en-US" altLang="zh-CN" dirty="0" smtClean="0"/>
              <a:t>   </a:t>
            </a:r>
            <a:r>
              <a:rPr lang="zh-CN" altLang="en-US" dirty="0" smtClean="0"/>
              <a:t>是参数为</a:t>
            </a:r>
            <a:r>
              <a:rPr lang="en-US" altLang="zh-CN" dirty="0" smtClean="0"/>
              <a:t>(</a:t>
            </a:r>
            <a:r>
              <a:rPr lang="en-US" altLang="zh-CN" dirty="0" err="1" smtClean="0">
                <a:latin typeface="Symbol" pitchFamily="18" charset="2"/>
              </a:rPr>
              <a:t>l</a:t>
            </a:r>
            <a:r>
              <a:rPr lang="en-US" altLang="zh-CN" baseline="-25000" dirty="0" err="1" smtClean="0">
                <a:latin typeface="Symbol" pitchFamily="18" charset="2"/>
              </a:rPr>
              <a:t>1</a:t>
            </a:r>
            <a:r>
              <a:rPr lang="en-US" altLang="zh-CN" dirty="0" err="1" smtClean="0">
                <a:latin typeface="Symbol" pitchFamily="18" charset="2"/>
              </a:rPr>
              <a:t>+l</a:t>
            </a:r>
            <a:r>
              <a:rPr lang="en-US" altLang="zh-CN" baseline="-25000" dirty="0" err="1" smtClean="0">
                <a:latin typeface="Symbol" pitchFamily="18" charset="2"/>
              </a:rPr>
              <a:t>2</a:t>
            </a:r>
            <a:r>
              <a:rPr lang="en-US" altLang="zh-CN" dirty="0" smtClean="0">
                <a:latin typeface="Symbol" pitchFamily="18" charset="2"/>
              </a:rPr>
              <a:t>)</a:t>
            </a:r>
            <a:r>
              <a:rPr lang="zh-CN" altLang="en-US" dirty="0" smtClean="0"/>
              <a:t>的泊松随机变量。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 smtClean="0"/>
              <a:t>证明</a:t>
            </a:r>
            <a:r>
              <a:rPr lang="zh-CN" altLang="en-US" dirty="0" smtClean="0"/>
              <a:t>： </a:t>
            </a:r>
          </a:p>
        </p:txBody>
      </p:sp>
      <p:graphicFrame>
        <p:nvGraphicFramePr>
          <p:cNvPr id="14340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6172200" y="2592388"/>
          <a:ext cx="9906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12" r:id="rId3" imgW="990170" imgH="203112" progId="Equation.DSMT4">
                  <p:embed/>
                </p:oleObj>
              </mc:Choice>
              <mc:Fallback>
                <p:oleObj r:id="rId3" imgW="990170" imgH="20311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592388"/>
                        <a:ext cx="990600" cy="20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5487988" y="4022725"/>
          <a:ext cx="188436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13" r:id="rId5" imgW="749300" imgH="203200" progId="Equation.DSMT4">
                  <p:embed/>
                </p:oleObj>
              </mc:Choice>
              <mc:Fallback>
                <p:oleObj r:id="rId5" imgW="7493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7988" y="4022725"/>
                        <a:ext cx="1884362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A44F687-B305-4C37-89AE-29087FE3DB0A}" type="slidenum">
              <a:rPr lang="zh-CN" altLang="en-US" sz="1400">
                <a:solidFill>
                  <a:srgbClr val="000000"/>
                </a:solidFill>
              </a:rPr>
              <a:pPr eaLnBrk="1" hangingPunct="1"/>
              <a:t>10</a:t>
            </a:fld>
            <a:endParaRPr lang="en-US" altLang="zh-CN" sz="1400">
              <a:solidFill>
                <a:srgbClr val="000000"/>
              </a:solidFill>
            </a:endParaRP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aphicFrame>
        <p:nvGraphicFramePr>
          <p:cNvPr id="3" name="Object 6"/>
          <p:cNvGraphicFramePr>
            <a:graphicFrameLocks noChangeAspect="1"/>
          </p:cNvGraphicFramePr>
          <p:nvPr/>
        </p:nvGraphicFramePr>
        <p:xfrm>
          <a:off x="4495800" y="1828800"/>
          <a:ext cx="3048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14" r:id="rId7" imgW="1384300" imgH="241300" progId="Equation.DSMT4">
                  <p:embed/>
                </p:oleObj>
              </mc:Choice>
              <mc:Fallback>
                <p:oleObj r:id="rId7" imgW="13843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828800"/>
                        <a:ext cx="3048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8"/>
          <p:cNvGraphicFramePr>
            <a:graphicFrameLocks noChangeAspect="1"/>
          </p:cNvGraphicFramePr>
          <p:nvPr/>
        </p:nvGraphicFramePr>
        <p:xfrm>
          <a:off x="5562600" y="5121275"/>
          <a:ext cx="13716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15" r:id="rId9" imgW="508000" imgH="203200" progId="Equation.DSMT4">
                  <p:embed/>
                </p:oleObj>
              </mc:Choice>
              <mc:Fallback>
                <p:oleObj r:id="rId9" imgW="5080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5121275"/>
                        <a:ext cx="13716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6781800" y="609600"/>
          <a:ext cx="16764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016" r:id="rId11" imgW="812800" imgH="228600" progId="Equation.DSMT4">
                  <p:embed/>
                </p:oleObj>
              </mc:Choice>
              <mc:Fallback>
                <p:oleObj r:id="rId11" imgW="8128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1800" y="609600"/>
                        <a:ext cx="1676400" cy="473075"/>
                      </a:xfrm>
                      <a:prstGeom prst="rect">
                        <a:avLst/>
                      </a:prstGeom>
                      <a:solidFill>
                        <a:srgbClr val="E7F7F9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4702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304912" y="554931"/>
            <a:ext cx="8229600" cy="868362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泊松分布的可分解性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>
          <a:xfrm>
            <a:off x="304912" y="1524050"/>
            <a:ext cx="8229600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2200" b="1" dirty="0" smtClean="0">
                <a:solidFill>
                  <a:srgbClr val="000099"/>
                </a:solidFill>
              </a:rPr>
              <a:t>可分解性</a:t>
            </a:r>
            <a:r>
              <a:rPr lang="zh-CN" altLang="en-US" sz="2200" dirty="0" smtClean="0"/>
              <a:t>：假设两种事故的总索赔次数 </a:t>
            </a:r>
            <a:r>
              <a:rPr lang="en-US" altLang="zh-CN" sz="2200" i="1" dirty="0" smtClean="0">
                <a:latin typeface="Symbol" pitchFamily="18" charset="2"/>
              </a:rPr>
              <a:t>N </a:t>
            </a:r>
            <a:r>
              <a:rPr lang="zh-CN" altLang="en-US" sz="2200" dirty="0" smtClean="0"/>
              <a:t>服从参数为 </a:t>
            </a:r>
            <a:r>
              <a:rPr lang="zh-CN" altLang="en-US" sz="2200" i="1" dirty="0" smtClean="0">
                <a:sym typeface="Symbol" pitchFamily="18" charset="2"/>
              </a:rPr>
              <a:t> </a:t>
            </a:r>
            <a:r>
              <a:rPr lang="zh-CN" altLang="en-US" sz="2200" dirty="0" smtClean="0"/>
              <a:t>的泊松分布，而两种事故相互独立，各自发生的概率分别为 </a:t>
            </a:r>
            <a:r>
              <a:rPr lang="en-US" altLang="zh-CN" sz="2200" i="1" dirty="0" err="1" smtClean="0">
                <a:latin typeface="Times New Roman" pitchFamily="18" charset="0"/>
              </a:rPr>
              <a:t>p</a:t>
            </a:r>
            <a:r>
              <a:rPr lang="en-US" altLang="zh-CN" sz="2200" baseline="-25000" dirty="0" err="1" smtClean="0"/>
              <a:t>1</a:t>
            </a:r>
            <a:r>
              <a:rPr lang="zh-CN" altLang="en-US" sz="2200" dirty="0" smtClean="0"/>
              <a:t>和 </a:t>
            </a:r>
            <a:r>
              <a:rPr lang="en-US" altLang="zh-CN" sz="2200" i="1" dirty="0" err="1" smtClean="0">
                <a:latin typeface="Times New Roman" pitchFamily="18" charset="0"/>
              </a:rPr>
              <a:t>p</a:t>
            </a:r>
            <a:r>
              <a:rPr lang="en-US" altLang="zh-CN" sz="2200" baseline="-25000" dirty="0" err="1" smtClean="0"/>
              <a:t>2</a:t>
            </a:r>
            <a:r>
              <a:rPr lang="zh-CN" altLang="en-US" sz="2200" dirty="0" smtClean="0"/>
              <a:t>，则两种事故的索赔次数 </a:t>
            </a:r>
            <a:r>
              <a:rPr lang="en-US" altLang="zh-CN" sz="2200" i="1" dirty="0" err="1" smtClean="0">
                <a:latin typeface="Times New Roman" pitchFamily="18" charset="0"/>
              </a:rPr>
              <a:t>N</a:t>
            </a:r>
            <a:r>
              <a:rPr lang="en-US" altLang="zh-CN" sz="2200" baseline="-25000" dirty="0" err="1" smtClean="0">
                <a:latin typeface="Times New Roman" pitchFamily="18" charset="0"/>
              </a:rPr>
              <a:t>1</a:t>
            </a:r>
            <a:r>
              <a:rPr lang="zh-CN" altLang="en-US" sz="2200" dirty="0" smtClean="0">
                <a:latin typeface="Times New Roman" pitchFamily="18" charset="0"/>
              </a:rPr>
              <a:t>和 </a:t>
            </a:r>
            <a:r>
              <a:rPr lang="en-US" altLang="zh-CN" sz="2200" i="1" dirty="0" err="1" smtClean="0">
                <a:latin typeface="Times New Roman" pitchFamily="18" charset="0"/>
              </a:rPr>
              <a:t>N</a:t>
            </a:r>
            <a:r>
              <a:rPr lang="en-US" altLang="zh-CN" sz="2200" baseline="-25000" dirty="0" err="1" smtClean="0">
                <a:latin typeface="Times New Roman" pitchFamily="18" charset="0"/>
              </a:rPr>
              <a:t>2</a:t>
            </a:r>
            <a:r>
              <a:rPr lang="zh-CN" altLang="en-US" sz="2200" dirty="0"/>
              <a:t> </a:t>
            </a:r>
            <a:r>
              <a:rPr lang="zh-CN" altLang="en-US" sz="2200" dirty="0" smtClean="0"/>
              <a:t>服从泊松分布，参数分别为 </a:t>
            </a:r>
            <a:r>
              <a:rPr lang="en-US" altLang="zh-CN" sz="2200" dirty="0" err="1" smtClean="0">
                <a:latin typeface="Symbol" pitchFamily="18" charset="2"/>
              </a:rPr>
              <a:t>l</a:t>
            </a:r>
            <a:r>
              <a:rPr lang="en-US" altLang="zh-CN" sz="2200" i="1" dirty="0" err="1" smtClean="0">
                <a:latin typeface="Times New Roman" pitchFamily="18" charset="0"/>
              </a:rPr>
              <a:t>p</a:t>
            </a:r>
            <a:r>
              <a:rPr lang="en-US" altLang="zh-CN" sz="2200" baseline="-25000" dirty="0" err="1" smtClean="0">
                <a:latin typeface="Symbol" pitchFamily="18" charset="2"/>
              </a:rPr>
              <a:t>1</a:t>
            </a:r>
            <a:r>
              <a:rPr lang="zh-CN" altLang="en-US" sz="2200" dirty="0" smtClean="0"/>
              <a:t>和 </a:t>
            </a:r>
            <a:r>
              <a:rPr lang="en-US" altLang="zh-CN" sz="2200" dirty="0" err="1" smtClean="0">
                <a:latin typeface="Symbol" pitchFamily="18" charset="2"/>
              </a:rPr>
              <a:t>l</a:t>
            </a:r>
            <a:r>
              <a:rPr lang="en-US" altLang="zh-CN" sz="2200" i="1" dirty="0" err="1" smtClean="0">
                <a:latin typeface="Times New Roman" pitchFamily="18" charset="0"/>
              </a:rPr>
              <a:t>p</a:t>
            </a:r>
            <a:r>
              <a:rPr lang="en-US" altLang="zh-CN" sz="2200" baseline="-25000" dirty="0" err="1" smtClean="0">
                <a:latin typeface="Symbol" pitchFamily="18" charset="2"/>
              </a:rPr>
              <a:t>2</a:t>
            </a:r>
            <a:r>
              <a:rPr lang="zh-CN" altLang="en-US" sz="2200" dirty="0" smtClean="0"/>
              <a:t>。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200" b="1" dirty="0" smtClean="0"/>
              <a:t>例</a:t>
            </a:r>
            <a:r>
              <a:rPr lang="en-US" altLang="zh-CN" sz="2200" b="1" dirty="0" smtClean="0"/>
              <a:t>1</a:t>
            </a:r>
            <a:r>
              <a:rPr lang="zh-CN" altLang="en-US" sz="2200" dirty="0" smtClean="0"/>
              <a:t>：假设某险种的索赔次数服从泊松分布，在引入免赔额</a:t>
            </a:r>
            <a:r>
              <a:rPr lang="en-US" altLang="zh-CN" sz="2200" i="1" dirty="0" smtClean="0">
                <a:latin typeface="Times New Roman" pitchFamily="18" charset="0"/>
              </a:rPr>
              <a:t>d</a:t>
            </a:r>
            <a:r>
              <a:rPr lang="zh-CN" altLang="en-US" sz="2200" dirty="0" smtClean="0"/>
              <a:t>后，剩余的索赔次数仍将服从泊松分布，只是泊松参数不同而已。从</a:t>
            </a:r>
            <a:r>
              <a:rPr lang="en-US" altLang="zh-CN" sz="2200" dirty="0" smtClean="0">
                <a:latin typeface="Symbol" pitchFamily="18" charset="2"/>
              </a:rPr>
              <a:t>l</a:t>
            </a:r>
            <a:r>
              <a:rPr lang="zh-CN" altLang="en-US" sz="2200" dirty="0" smtClean="0"/>
              <a:t>变为</a:t>
            </a:r>
            <a:r>
              <a:rPr lang="en-US" altLang="zh-CN" sz="2200" dirty="0" smtClean="0">
                <a:latin typeface="Times New Roman" pitchFamily="18" charset="0"/>
              </a:rPr>
              <a:t>[1</a:t>
            </a:r>
            <a:r>
              <a:rPr lang="en-US" altLang="zh-CN" sz="2200" dirty="0" smtClean="0">
                <a:latin typeface="Symbol" pitchFamily="18" charset="2"/>
              </a:rPr>
              <a:t>-</a:t>
            </a:r>
            <a:r>
              <a:rPr lang="en-US" altLang="zh-CN" sz="2200" i="1" dirty="0" smtClean="0">
                <a:latin typeface="Times New Roman" pitchFamily="18" charset="0"/>
              </a:rPr>
              <a:t>F</a:t>
            </a:r>
            <a:r>
              <a:rPr lang="en-US" altLang="zh-CN" sz="2200" dirty="0" smtClean="0">
                <a:latin typeface="Times New Roman" pitchFamily="18" charset="0"/>
              </a:rPr>
              <a:t>(</a:t>
            </a:r>
            <a:r>
              <a:rPr lang="en-US" altLang="zh-CN" sz="2200" i="1" dirty="0" smtClean="0">
                <a:latin typeface="Times New Roman" pitchFamily="18" charset="0"/>
              </a:rPr>
              <a:t>d</a:t>
            </a:r>
            <a:r>
              <a:rPr lang="en-US" altLang="zh-CN" sz="2200" dirty="0" smtClean="0">
                <a:latin typeface="Times New Roman" pitchFamily="18" charset="0"/>
              </a:rPr>
              <a:t>)]</a:t>
            </a:r>
            <a:r>
              <a:rPr lang="en-US" altLang="zh-CN" sz="2200" dirty="0" smtClean="0">
                <a:latin typeface="Symbol" pitchFamily="18" charset="2"/>
              </a:rPr>
              <a:t>l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200" b="1" dirty="0" smtClean="0"/>
              <a:t>例</a:t>
            </a:r>
            <a:r>
              <a:rPr lang="en-US" altLang="zh-CN" sz="2200" b="1" dirty="0" smtClean="0"/>
              <a:t>2</a:t>
            </a:r>
            <a:r>
              <a:rPr lang="zh-CN" altLang="en-US" sz="2200" dirty="0" smtClean="0"/>
              <a:t>：假设某险种的索赔次数服从参数为</a:t>
            </a:r>
            <a:r>
              <a:rPr lang="en-US" altLang="zh-CN" sz="2200" dirty="0" smtClean="0">
                <a:latin typeface="Times New Roman" pitchFamily="18" charset="0"/>
              </a:rPr>
              <a:t>2</a:t>
            </a:r>
            <a:r>
              <a:rPr lang="zh-CN" altLang="en-US" sz="2200" dirty="0" smtClean="0">
                <a:latin typeface="Times New Roman" pitchFamily="18" charset="0"/>
              </a:rPr>
              <a:t>的泊</a:t>
            </a:r>
            <a:r>
              <a:rPr lang="zh-CN" altLang="en-US" sz="2200" dirty="0" smtClean="0"/>
              <a:t>松分布，如果将保险责任减少一项（假设此项责任的索赔次数占总索赔次数的</a:t>
            </a:r>
            <a:r>
              <a:rPr lang="en-US" altLang="zh-CN" sz="2200" dirty="0" smtClean="0"/>
              <a:t>10</a:t>
            </a:r>
            <a:r>
              <a:rPr lang="zh-CN" altLang="en-US" sz="2200" dirty="0" smtClean="0"/>
              <a:t>％），那么剩余责任的索赔次数仍将服从泊松分布，泊松参数成为</a:t>
            </a:r>
            <a:r>
              <a:rPr lang="en-US" altLang="zh-CN" sz="2200" dirty="0" smtClean="0">
                <a:latin typeface="Times New Roman" pitchFamily="18" charset="0"/>
              </a:rPr>
              <a:t>0.9*2=1.8 </a:t>
            </a:r>
            <a:r>
              <a:rPr lang="zh-CN" altLang="en-US" sz="2200" dirty="0" smtClean="0">
                <a:latin typeface="Times New Roman" pitchFamily="18" charset="0"/>
              </a:rPr>
              <a:t>。</a:t>
            </a:r>
            <a:r>
              <a:rPr lang="zh-CN" altLang="en-US" sz="2200" dirty="0" smtClean="0"/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200" b="1" dirty="0" smtClean="0">
                <a:solidFill>
                  <a:srgbClr val="000099"/>
                </a:solidFill>
              </a:rPr>
              <a:t>注意</a:t>
            </a:r>
            <a:r>
              <a:rPr lang="zh-CN" altLang="en-US" sz="2200" dirty="0" smtClean="0"/>
              <a:t>：赔付额会发生变化</a:t>
            </a:r>
          </a:p>
        </p:txBody>
      </p:sp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9F921C0-7DB6-4C85-8923-8CF3838D6F94}" type="slidenum">
              <a:rPr lang="zh-CN" altLang="en-US" sz="1400"/>
              <a:pPr eaLnBrk="1" hangingPunct="1"/>
              <a:t>11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FAC66A-7389-4AA5-AF53-07E643891D87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62100" y="1600248"/>
                <a:ext cx="8153186" cy="286232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400" b="1" dirty="0" err="1">
                    <a:latin typeface="+mn-lt"/>
                    <a:ea typeface="黑体" panose="02010609060101010101" pitchFamily="49" charset="-122"/>
                    <a:cs typeface="Times New Roman"/>
                  </a:rPr>
                  <a:t>例：</a:t>
                </a:r>
                <a:r>
                  <a:rPr lang="en-US" altLang="zh-CN" sz="2400" dirty="0" err="1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假设索赔次数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N</m:t>
                    </m:r>
                  </m:oMath>
                </a14:m>
                <a:r>
                  <a:rPr lang="en-US" altLang="zh-CN" sz="2400" dirty="0" err="1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服从参数为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λ</m:t>
                    </m:r>
                    <m: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=2</m:t>
                    </m:r>
                  </m:oMath>
                </a14:m>
                <a:r>
                  <a:rPr lang="en-US" altLang="zh-CN" sz="2400" dirty="0" err="1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的泊松分布,请计算</a:t>
                </a:r>
                <a:r>
                  <a:rPr lang="en-US" altLang="zh-CN" sz="2400" dirty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：</a:t>
                </a:r>
                <a:endParaRPr lang="zh-CN" altLang="zh-CN" sz="2400" dirty="0">
                  <a:effectLst/>
                  <a:latin typeface="+mn-lt"/>
                  <a:ea typeface="黑体" panose="02010609060101010101" pitchFamily="49" charset="-122"/>
                  <a:cs typeface="Times New Roman"/>
                </a:endParaRPr>
              </a:p>
              <a:p>
                <a:pPr algn="l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400" dirty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(1</a:t>
                </a:r>
                <a:r>
                  <a:rPr lang="en-US" altLang="zh-CN" sz="2400" dirty="0" smtClean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) 索赔次数等于</a:t>
                </a:r>
                <a:r>
                  <a:rPr lang="en-US" altLang="zh-CN" sz="2400" dirty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3的概率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Pr</m:t>
                    </m:r>
                    <m: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N</m:t>
                    </m:r>
                    <m: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=3)</m:t>
                    </m:r>
                  </m:oMath>
                </a14:m>
                <a:endParaRPr lang="zh-CN" altLang="zh-CN" sz="2400" dirty="0">
                  <a:effectLst/>
                  <a:latin typeface="+mn-lt"/>
                  <a:ea typeface="黑体" panose="02010609060101010101" pitchFamily="49" charset="-122"/>
                  <a:cs typeface="Times New Roman"/>
                </a:endParaRPr>
              </a:p>
              <a:p>
                <a:pPr algn="l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400" dirty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(2</a:t>
                </a:r>
                <a:r>
                  <a:rPr lang="en-US" altLang="zh-CN" sz="2400" dirty="0" smtClean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) 索赔次数小于等于</a:t>
                </a:r>
                <a:r>
                  <a:rPr lang="en-US" altLang="zh-CN" sz="2400" dirty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4的概率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Pr</m:t>
                    </m:r>
                    <m: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N</m:t>
                    </m:r>
                    <m: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≤4)</m:t>
                    </m:r>
                  </m:oMath>
                </a14:m>
                <a:endParaRPr lang="zh-CN" altLang="zh-CN" sz="2400" dirty="0">
                  <a:effectLst/>
                  <a:latin typeface="+mn-lt"/>
                  <a:ea typeface="黑体" panose="02010609060101010101" pitchFamily="49" charset="-122"/>
                  <a:cs typeface="Times New Roman"/>
                </a:endParaRPr>
              </a:p>
              <a:p>
                <a:pPr algn="l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400" dirty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(4</a:t>
                </a:r>
                <a:r>
                  <a:rPr lang="en-US" altLang="zh-CN" sz="2400" dirty="0" smtClean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) 索赔次数大于等于</a:t>
                </a:r>
                <a:r>
                  <a:rPr lang="en-US" altLang="zh-CN" sz="2400" dirty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3小于等于5的概率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Pr</m:t>
                    </m:r>
                    <m: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(3≤</m:t>
                    </m:r>
                    <m:r>
                      <m:rPr>
                        <m:sty m:val="p"/>
                      </m:rP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N</m:t>
                    </m:r>
                    <m:r>
                      <a:rPr lang="en-US" altLang="zh-CN" sz="2400">
                        <a:effectLst/>
                        <a:latin typeface="Cambria Math"/>
                        <a:ea typeface="宋体"/>
                        <a:cs typeface="Times New Roman"/>
                      </a:rPr>
                      <m:t>≤5)</m:t>
                    </m:r>
                  </m:oMath>
                </a14:m>
                <a:endParaRPr lang="zh-CN" altLang="zh-CN" sz="2400" dirty="0">
                  <a:effectLst/>
                  <a:latin typeface="+mn-lt"/>
                  <a:ea typeface="黑体" panose="02010609060101010101" pitchFamily="49" charset="-122"/>
                  <a:cs typeface="Times New Roman"/>
                </a:endParaRPr>
              </a:p>
              <a:p>
                <a:pPr algn="l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altLang="zh-CN" sz="2400" dirty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(3</a:t>
                </a:r>
                <a:r>
                  <a:rPr lang="en-US" altLang="zh-CN" sz="2400" dirty="0" smtClean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) 模拟</a:t>
                </a:r>
                <a:r>
                  <a:rPr lang="en-US" altLang="zh-CN" sz="2400" dirty="0">
                    <a:effectLst/>
                    <a:latin typeface="+mn-lt"/>
                    <a:ea typeface="黑体" panose="02010609060101010101" pitchFamily="49" charset="-122"/>
                    <a:cs typeface="Times New Roman"/>
                  </a:rPr>
                  <a:t>20个索赔次数的观察值</a:t>
                </a:r>
                <a:endParaRPr lang="zh-CN" altLang="zh-CN" sz="2400" dirty="0">
                  <a:effectLst/>
                  <a:latin typeface="+mn-lt"/>
                  <a:ea typeface="黑体" panose="02010609060101010101" pitchFamily="49" charset="-122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100" y="1600248"/>
                <a:ext cx="8153186" cy="2862322"/>
              </a:xfrm>
              <a:prstGeom prst="rect">
                <a:avLst/>
              </a:prstGeom>
              <a:blipFill>
                <a:blip r:embed="rId2"/>
                <a:stretch>
                  <a:fillRect l="-1122" t="-1706" b="-4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/>
          <p:cNvSpPr/>
          <p:nvPr/>
        </p:nvSpPr>
        <p:spPr>
          <a:xfrm>
            <a:off x="228714" y="762070"/>
            <a:ext cx="76959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zh-CN" altLang="en-US" b="1" dirty="0" smtClean="0">
                <a:solidFill>
                  <a:srgbClr val="FF0000"/>
                </a:solidFill>
                <a:latin typeface="Consolas"/>
                <a:ea typeface="宋体"/>
                <a:cs typeface="Times New Roman"/>
              </a:rPr>
              <a:t>课堂练习：</a:t>
            </a:r>
            <a:endParaRPr lang="zh-CN" altLang="zh-CN" b="1" dirty="0">
              <a:solidFill>
                <a:srgbClr val="FF0000"/>
              </a:solidFill>
              <a:latin typeface="Consolas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54268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533506" y="990664"/>
            <a:ext cx="7695998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en-US" altLang="zh-CN" sz="2000" dirty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2000" dirty="0" err="1">
                <a:latin typeface="宋体"/>
                <a:ea typeface="宋体"/>
                <a:cs typeface="Times New Roman"/>
              </a:rPr>
              <a:t>索赔次数等于</a:t>
            </a:r>
            <a:r>
              <a:rPr lang="en-US" altLang="zh-CN" sz="2000" dirty="0" err="1">
                <a:latin typeface="Consolas"/>
                <a:ea typeface="宋体"/>
                <a:cs typeface="Times New Roman"/>
              </a:rPr>
              <a:t>3</a:t>
            </a:r>
            <a:r>
              <a:rPr lang="en-US" altLang="zh-CN" sz="2000" dirty="0" err="1">
                <a:latin typeface="宋体"/>
                <a:ea typeface="宋体"/>
                <a:cs typeface="Times New Roman"/>
              </a:rPr>
              <a:t>的概率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dpois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3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2000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lambda =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)</a:t>
            </a:r>
            <a:endParaRPr lang="zh-CN" altLang="zh-CN" sz="20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en-US" altLang="zh-CN" sz="2000" dirty="0">
                <a:latin typeface="Consolas"/>
                <a:ea typeface="宋体"/>
                <a:cs typeface="Times New Roman"/>
              </a:rPr>
              <a:t>## [1] 0.180447</a:t>
            </a:r>
            <a:endParaRPr lang="zh-CN" altLang="zh-CN" sz="20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endParaRPr lang="en-US" altLang="zh-CN" sz="2000" dirty="0" smtClean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2000" dirty="0" err="1">
                <a:latin typeface="宋体"/>
                <a:ea typeface="宋体"/>
                <a:cs typeface="Times New Roman"/>
              </a:rPr>
              <a:t>索赔次数小于等于</a:t>
            </a:r>
            <a:r>
              <a:rPr lang="en-US" altLang="zh-CN" sz="2000" dirty="0" err="1"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2000" dirty="0" err="1">
                <a:latin typeface="宋体"/>
                <a:ea typeface="宋体"/>
                <a:cs typeface="Times New Roman"/>
              </a:rPr>
              <a:t>的概率为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ppois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2000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lambda =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)</a:t>
            </a:r>
            <a:endParaRPr lang="zh-CN" altLang="zh-CN" sz="20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en-US" altLang="zh-CN" sz="2000" dirty="0">
                <a:latin typeface="Consolas"/>
                <a:ea typeface="宋体"/>
                <a:cs typeface="Times New Roman"/>
              </a:rPr>
              <a:t>## [1] 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0.947347</a:t>
            </a: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endParaRPr lang="en-US" altLang="zh-CN" sz="20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en-US" altLang="zh-CN" sz="2000" dirty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2000" dirty="0" err="1">
                <a:latin typeface="宋体"/>
                <a:ea typeface="宋体"/>
                <a:cs typeface="Times New Roman"/>
              </a:rPr>
              <a:t>索赔次数大于等于</a:t>
            </a:r>
            <a:r>
              <a:rPr lang="en-US" altLang="zh-CN" sz="2000" dirty="0" err="1">
                <a:latin typeface="Consolas"/>
                <a:ea typeface="宋体"/>
                <a:cs typeface="Times New Roman"/>
              </a:rPr>
              <a:t>3</a:t>
            </a:r>
            <a:r>
              <a:rPr lang="en-US" altLang="zh-CN" sz="2000" dirty="0" err="1">
                <a:latin typeface="宋体"/>
                <a:ea typeface="宋体"/>
                <a:cs typeface="Times New Roman"/>
              </a:rPr>
              <a:t>小于等于</a:t>
            </a:r>
            <a:r>
              <a:rPr lang="en-US" altLang="zh-CN" sz="2000" dirty="0" err="1">
                <a:latin typeface="Consolas"/>
                <a:ea typeface="宋体"/>
                <a:cs typeface="Times New Roman"/>
              </a:rPr>
              <a:t>5</a:t>
            </a:r>
            <a:r>
              <a:rPr lang="en-US" altLang="zh-CN" sz="2000" dirty="0" err="1">
                <a:latin typeface="宋体"/>
                <a:ea typeface="宋体"/>
                <a:cs typeface="Times New Roman"/>
              </a:rPr>
              <a:t>的概率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ppois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5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) -</a:t>
            </a:r>
            <a:r>
              <a:rPr lang="en-US" altLang="zh-CN" sz="20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20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ppois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)</a:t>
            </a:r>
            <a:endParaRPr lang="zh-CN" altLang="zh-CN" sz="20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en-US" altLang="zh-CN" sz="2000" dirty="0">
                <a:latin typeface="Consolas"/>
                <a:ea typeface="宋体"/>
                <a:cs typeface="Times New Roman"/>
              </a:rPr>
              <a:t>## [1] 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0.30676</a:t>
            </a:r>
            <a:endParaRPr lang="zh-CN" altLang="zh-CN" sz="2000" dirty="0">
              <a:latin typeface="Consolas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3887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404194" y="762070"/>
            <a:ext cx="7238810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en-US" altLang="zh-CN" sz="2400" dirty="0" smtClean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2400" dirty="0" err="1">
                <a:latin typeface="宋体"/>
                <a:ea typeface="宋体"/>
                <a:cs typeface="Times New Roman"/>
              </a:rPr>
              <a:t>模拟</a:t>
            </a:r>
            <a:r>
              <a:rPr lang="en-US" altLang="zh-CN" sz="2400" dirty="0" err="1">
                <a:latin typeface="Consolas"/>
                <a:ea typeface="宋体"/>
                <a:cs typeface="Times New Roman"/>
              </a:rPr>
              <a:t>20</a:t>
            </a:r>
            <a:r>
              <a:rPr lang="en-US" altLang="zh-CN" sz="2400" dirty="0" err="1">
                <a:latin typeface="宋体"/>
                <a:ea typeface="宋体"/>
                <a:cs typeface="Times New Roman"/>
              </a:rPr>
              <a:t>个索赔次数观察值</a:t>
            </a:r>
            <a:r>
              <a:rPr lang="en-US" altLang="zh-CN" sz="24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400" dirty="0">
                <a:latin typeface="Consolas"/>
                <a:ea typeface="宋体"/>
                <a:cs typeface="Times New Roman"/>
              </a:rPr>
            </a:br>
            <a:r>
              <a:rPr lang="en-US" altLang="zh-CN" sz="2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set.seed</a:t>
            </a:r>
            <a:r>
              <a:rPr lang="en-US" altLang="zh-CN" sz="24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24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111</a:t>
            </a:r>
            <a:r>
              <a:rPr lang="en-US" altLang="zh-CN" sz="24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2400" dirty="0">
                <a:latin typeface="Consolas"/>
                <a:ea typeface="宋体"/>
                <a:cs typeface="Times New Roman"/>
              </a:rPr>
            </a:br>
            <a:r>
              <a:rPr lang="en-US" altLang="zh-CN" sz="2400" dirty="0">
                <a:latin typeface="Consolas"/>
                <a:ea typeface="宋体"/>
                <a:cs typeface="Times New Roman"/>
              </a:rPr>
              <a:t>sim =</a:t>
            </a:r>
            <a:r>
              <a:rPr lang="en-US" altLang="zh-CN" sz="24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2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rpois</a:t>
            </a:r>
            <a:r>
              <a:rPr lang="en-US" altLang="zh-CN" sz="24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24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20</a:t>
            </a:r>
            <a:r>
              <a:rPr lang="en-US" altLang="zh-CN" sz="2400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24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24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2400" dirty="0">
                <a:latin typeface="Consolas"/>
                <a:ea typeface="宋体"/>
                <a:cs typeface="Times New Roman"/>
              </a:rPr>
            </a:br>
            <a:r>
              <a:rPr lang="en-US" altLang="zh-CN" sz="2400" dirty="0">
                <a:latin typeface="Consolas"/>
                <a:ea typeface="宋体"/>
                <a:cs typeface="Times New Roman"/>
              </a:rPr>
              <a:t>sim</a:t>
            </a:r>
            <a:endParaRPr lang="zh-CN" altLang="zh-CN" sz="24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en-US" altLang="zh-CN" sz="2400" dirty="0">
                <a:latin typeface="Consolas"/>
                <a:ea typeface="宋体"/>
                <a:cs typeface="Times New Roman"/>
              </a:rPr>
              <a:t>##  [1] 2 3 1 2 1 2 0 2 2 0 2 2 0 0 1 2 1 5 1 </a:t>
            </a:r>
            <a:r>
              <a:rPr lang="en-US" altLang="zh-CN" sz="2400" dirty="0" smtClean="0">
                <a:latin typeface="Consolas"/>
                <a:ea typeface="宋体"/>
                <a:cs typeface="Times New Roman"/>
              </a:rPr>
              <a:t>2</a:t>
            </a: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endParaRPr lang="zh-CN" altLang="zh-CN" sz="24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en-US" altLang="zh-CN" sz="2400" dirty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2400" dirty="0" err="1">
                <a:latin typeface="宋体"/>
                <a:ea typeface="宋体"/>
                <a:cs typeface="Times New Roman"/>
              </a:rPr>
              <a:t>对模拟的索赔次数进行列表</a:t>
            </a:r>
            <a:r>
              <a:rPr lang="en-US" altLang="zh-CN" sz="24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400" dirty="0">
                <a:latin typeface="Consolas"/>
                <a:ea typeface="宋体"/>
                <a:cs typeface="Times New Roman"/>
              </a:rPr>
            </a:br>
            <a:r>
              <a:rPr lang="en-US" altLang="zh-CN" sz="2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table</a:t>
            </a:r>
            <a:r>
              <a:rPr lang="en-US" altLang="zh-CN" sz="2400" dirty="0">
                <a:latin typeface="Consolas"/>
                <a:ea typeface="宋体"/>
                <a:cs typeface="Times New Roman"/>
              </a:rPr>
              <a:t>(sim)</a:t>
            </a:r>
            <a:endParaRPr lang="zh-CN" altLang="zh-CN" sz="24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1200"/>
              </a:spcBef>
              <a:spcAft>
                <a:spcPts val="0"/>
              </a:spcAft>
            </a:pPr>
            <a:r>
              <a:rPr lang="en-US" altLang="zh-CN" sz="2400" dirty="0">
                <a:latin typeface="Consolas"/>
                <a:ea typeface="宋体"/>
                <a:cs typeface="Times New Roman"/>
              </a:rPr>
              <a:t>## sim</a:t>
            </a:r>
            <a:br>
              <a:rPr lang="en-US" altLang="zh-CN" sz="2400" dirty="0">
                <a:latin typeface="Consolas"/>
                <a:ea typeface="宋体"/>
                <a:cs typeface="Times New Roman"/>
              </a:rPr>
            </a:br>
            <a:r>
              <a:rPr lang="en-US" altLang="zh-CN" sz="2400" dirty="0">
                <a:latin typeface="Consolas"/>
                <a:ea typeface="宋体"/>
                <a:cs typeface="Times New Roman"/>
              </a:rPr>
              <a:t>## 0 1 2 3 5 </a:t>
            </a:r>
            <a:br>
              <a:rPr lang="en-US" altLang="zh-CN" sz="2400" dirty="0">
                <a:latin typeface="Consolas"/>
                <a:ea typeface="宋体"/>
                <a:cs typeface="Times New Roman"/>
              </a:rPr>
            </a:br>
            <a:r>
              <a:rPr lang="en-US" altLang="zh-CN" sz="2400" dirty="0">
                <a:latin typeface="Consolas"/>
                <a:ea typeface="宋体"/>
                <a:cs typeface="Times New Roman"/>
              </a:rPr>
              <a:t>## 4 5 9 1 1</a:t>
            </a:r>
            <a:endParaRPr lang="zh-CN" altLang="zh-CN" sz="2400" dirty="0">
              <a:latin typeface="Consolas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3676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zh-CN" altLang="en-US" dirty="0" smtClean="0"/>
              <a:t>负二项分布</a:t>
            </a:r>
          </a:p>
        </p:txBody>
      </p:sp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672B467-293E-4D0F-AE2C-D372F5E02F23}" type="slidenum">
              <a:rPr lang="zh-CN" altLang="en-US" sz="1400"/>
              <a:pPr eaLnBrk="1" hangingPunct="1"/>
              <a:t>15</a:t>
            </a:fld>
            <a:endParaRPr lang="en-US" altLang="zh-CN" sz="1400"/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447800" y="2286000"/>
          <a:ext cx="411480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95" r:id="rId3" imgW="2198054" imgH="495515" progId="Equation.DSMT4">
                  <p:embed/>
                </p:oleObj>
              </mc:Choice>
              <mc:Fallback>
                <p:oleObj r:id="rId3" imgW="2198054" imgH="49551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286000"/>
                        <a:ext cx="411480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Rectangle 4"/>
          <p:cNvSpPr>
            <a:spLocks noChangeArrowheads="1"/>
          </p:cNvSpPr>
          <p:nvPr/>
        </p:nvSpPr>
        <p:spPr bwMode="auto">
          <a:xfrm>
            <a:off x="5791200" y="2628900"/>
            <a:ext cx="2667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l" fontAlgn="base"/>
            <a:r>
              <a:rPr lang="en-US" altLang="zh-CN" sz="2400" i="1">
                <a:latin typeface="Times New Roman" pitchFamily="18" charset="0"/>
              </a:rPr>
              <a:t>k</a:t>
            </a:r>
            <a:r>
              <a:rPr lang="zh-CN" altLang="en-US" sz="2400">
                <a:latin typeface="Times New Roman" pitchFamily="18" charset="0"/>
              </a:rPr>
              <a:t>＝</a:t>
            </a:r>
            <a:r>
              <a:rPr lang="en-US" altLang="zh-CN" sz="2400">
                <a:latin typeface="Times New Roman" pitchFamily="18" charset="0"/>
              </a:rPr>
              <a:t>0</a:t>
            </a:r>
            <a:r>
              <a:rPr lang="zh-CN" altLang="en-US" sz="2400">
                <a:latin typeface="Times New Roman" pitchFamily="18" charset="0"/>
              </a:rPr>
              <a:t>，</a:t>
            </a:r>
            <a:r>
              <a:rPr lang="en-US" altLang="zh-CN" sz="2400">
                <a:latin typeface="Times New Roman" pitchFamily="18" charset="0"/>
              </a:rPr>
              <a:t>1</a:t>
            </a:r>
            <a:r>
              <a:rPr lang="zh-CN" altLang="en-US" sz="2400">
                <a:latin typeface="Times New Roman" pitchFamily="18" charset="0"/>
              </a:rPr>
              <a:t>，</a:t>
            </a:r>
            <a:r>
              <a:rPr lang="en-US" altLang="zh-CN" sz="2400">
                <a:latin typeface="Times New Roman" pitchFamily="18" charset="0"/>
              </a:rPr>
              <a:t>2</a:t>
            </a:r>
            <a:r>
              <a:rPr lang="zh-CN" altLang="en-US" sz="2400">
                <a:latin typeface="Times New Roman" pitchFamily="18" charset="0"/>
              </a:rPr>
              <a:t>，</a:t>
            </a:r>
            <a:r>
              <a:rPr lang="en-US" altLang="zh-CN" sz="2400">
                <a:latin typeface="Times New Roman" pitchFamily="18" charset="0"/>
              </a:rPr>
              <a:t>……</a:t>
            </a:r>
          </a:p>
        </p:txBody>
      </p:sp>
      <p:sp>
        <p:nvSpPr>
          <p:cNvPr id="21509" name="Text Box 5"/>
          <p:cNvSpPr txBox="1">
            <a:spLocks noChangeArrowheads="1"/>
          </p:cNvSpPr>
          <p:nvPr/>
        </p:nvSpPr>
        <p:spPr bwMode="auto">
          <a:xfrm>
            <a:off x="990600" y="3886200"/>
            <a:ext cx="42624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Times New Roman" pitchFamily="18" charset="0"/>
              </a:rPr>
              <a:t>另一种表达式（参数为</a:t>
            </a:r>
            <a:r>
              <a:rPr lang="en-US" altLang="zh-CN" sz="2400" i="1">
                <a:latin typeface="Times New Roman" pitchFamily="18" charset="0"/>
              </a:rPr>
              <a:t>r</a:t>
            </a:r>
            <a:r>
              <a:rPr lang="en-US" altLang="zh-CN" sz="2400">
                <a:latin typeface="Times New Roman" pitchFamily="18" charset="0"/>
              </a:rPr>
              <a:t>, </a:t>
            </a:r>
            <a:r>
              <a:rPr lang="en-US" altLang="zh-CN" sz="2400" i="1">
                <a:latin typeface="Times New Roman" pitchFamily="18" charset="0"/>
              </a:rPr>
              <a:t>p</a:t>
            </a:r>
            <a:r>
              <a:rPr lang="zh-CN" altLang="en-US" sz="2400">
                <a:latin typeface="Times New Roman" pitchFamily="18" charset="0"/>
              </a:rPr>
              <a:t>）：</a:t>
            </a:r>
          </a:p>
        </p:txBody>
      </p:sp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2438400" y="4800600"/>
          <a:ext cx="342900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96" r:id="rId5" imgW="1766067" imgH="419282" progId="Equation.DSMT4">
                  <p:embed/>
                </p:oleObj>
              </mc:Choice>
              <mc:Fallback>
                <p:oleObj r:id="rId5" imgW="1766067" imgH="41928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800600"/>
                        <a:ext cx="342900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Text Box 7"/>
          <p:cNvSpPr txBox="1">
            <a:spLocks noChangeArrowheads="1"/>
          </p:cNvSpPr>
          <p:nvPr/>
        </p:nvSpPr>
        <p:spPr bwMode="auto">
          <a:xfrm>
            <a:off x="949325" y="1457325"/>
            <a:ext cx="2244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Symbol" pitchFamily="18" charset="2"/>
              </a:rPr>
              <a:t>参数为（</a:t>
            </a:r>
            <a:r>
              <a:rPr lang="en-US" altLang="zh-CN" sz="2400" i="1">
                <a:latin typeface="Times New Roman" pitchFamily="18" charset="0"/>
              </a:rPr>
              <a:t>r</a:t>
            </a:r>
            <a:r>
              <a:rPr lang="en-US" altLang="zh-CN" sz="2400">
                <a:latin typeface="Symbol" pitchFamily="18" charset="2"/>
              </a:rPr>
              <a:t>, b)</a:t>
            </a:r>
            <a:r>
              <a:rPr lang="zh-CN" altLang="en-US" sz="2400">
                <a:latin typeface="Symbol" pitchFamily="18" charset="2"/>
              </a:rPr>
              <a:t>：</a:t>
            </a:r>
          </a:p>
        </p:txBody>
      </p:sp>
      <p:graphicFrame>
        <p:nvGraphicFramePr>
          <p:cNvPr id="3" name="Object 8"/>
          <p:cNvGraphicFramePr>
            <a:graphicFrameLocks noChangeAspect="1"/>
          </p:cNvGraphicFramePr>
          <p:nvPr/>
        </p:nvGraphicFramePr>
        <p:xfrm>
          <a:off x="5562600" y="3657600"/>
          <a:ext cx="121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997" r:id="rId7" imgW="609865" imgH="419282" progId="Equation.DSMT4">
                  <p:embed/>
                </p:oleObj>
              </mc:Choice>
              <mc:Fallback>
                <p:oleObj r:id="rId7" imgW="609865" imgH="41928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657600"/>
                        <a:ext cx="1219200" cy="8382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autoUpdateAnimBg="0"/>
      <p:bldP spid="21509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672B467-293E-4D0F-AE2C-D372F5E02F23}" type="slidenum">
              <a:rPr lang="zh-CN" altLang="en-US" sz="1400"/>
              <a:pPr eaLnBrk="1" hangingPunct="1"/>
              <a:t>16</a:t>
            </a:fld>
            <a:endParaRPr lang="en-US" altLang="zh-CN" sz="1400"/>
          </a:p>
        </p:txBody>
      </p:sp>
      <p:sp>
        <p:nvSpPr>
          <p:cNvPr id="6" name="矩形 5"/>
          <p:cNvSpPr/>
          <p:nvPr/>
        </p:nvSpPr>
        <p:spPr>
          <a:xfrm>
            <a:off x="228714" y="609674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zh-CN" altLang="en-US" sz="300"/>
              <a:t># 负二项分布的概率函数</a:t>
            </a:r>
          </a:p>
          <a:p>
            <a:pPr algn="l"/>
            <a:r>
              <a:rPr lang="zh-CN" altLang="en-US" sz="300"/>
              <a:t>r0 &lt;- c(1, 2, 3, 2, 2, 2)</a:t>
            </a:r>
          </a:p>
          <a:p>
            <a:pPr algn="l"/>
            <a:r>
              <a:rPr lang="zh-CN" altLang="en-US" sz="300"/>
              <a:t>p0 &lt;- c(0.3, 0.3, 0.3, 0.2, 0.3, 0.4)</a:t>
            </a:r>
          </a:p>
          <a:p>
            <a:pPr algn="l"/>
            <a:r>
              <a:rPr lang="zh-CN" altLang="en-US" sz="300"/>
              <a:t>x0 &lt;- seq(0, 20)</a:t>
            </a:r>
          </a:p>
          <a:p>
            <a:pPr algn="l"/>
            <a:r>
              <a:rPr lang="zh-CN" altLang="en-US" sz="300"/>
              <a:t>ylim0 &lt;- list(c(0,0.3),</a:t>
            </a:r>
          </a:p>
          <a:p>
            <a:pPr algn="l"/>
            <a:r>
              <a:rPr lang="zh-CN" altLang="en-US" sz="300"/>
              <a:t>              c(0,0.12),</a:t>
            </a:r>
          </a:p>
          <a:p>
            <a:pPr algn="l"/>
            <a:r>
              <a:rPr lang="zh-CN" altLang="en-US" sz="300"/>
              <a:t>              c(0,0.1),</a:t>
            </a:r>
          </a:p>
          <a:p>
            <a:pPr algn="l"/>
            <a:r>
              <a:rPr lang="zh-CN" altLang="en-US" sz="300"/>
              <a:t>              c(0,0.2),</a:t>
            </a:r>
          </a:p>
          <a:p>
            <a:pPr algn="l"/>
            <a:r>
              <a:rPr lang="zh-CN" altLang="en-US" sz="300"/>
              <a:t>              c(0,0.2),</a:t>
            </a:r>
          </a:p>
          <a:p>
            <a:pPr algn="l"/>
            <a:r>
              <a:rPr lang="zh-CN" altLang="en-US" sz="300"/>
              <a:t>              c(0,0.2))  # 上下界</a:t>
            </a:r>
          </a:p>
          <a:p>
            <a:pPr algn="l"/>
            <a:r>
              <a:rPr lang="zh-CN" altLang="en-US" sz="300"/>
              <a:t>par(mfrow = c(2, 3) )</a:t>
            </a:r>
          </a:p>
          <a:p>
            <a:pPr algn="l"/>
            <a:r>
              <a:rPr lang="zh-CN" altLang="en-US" sz="300"/>
              <a:t>for (i in 1:length(beta0)){</a:t>
            </a:r>
          </a:p>
          <a:p>
            <a:pPr algn="l"/>
            <a:r>
              <a:rPr lang="zh-CN" altLang="en-US" sz="300"/>
              <a:t>  fpo &lt;- dnbinom(x0, size = r0[i], prob = p0[i], log = FALSE)</a:t>
            </a:r>
          </a:p>
          <a:p>
            <a:pPr algn="l"/>
            <a:r>
              <a:rPr lang="zh-CN" altLang="en-US" sz="300"/>
              <a:t>  barplot(fpo, main = paste0('r = ', r0[i], ',  ','p = ', p0[i]), names.arg = x0, ylim = ylim0[[i]]</a:t>
            </a:r>
          </a:p>
          <a:p>
            <a:pPr algn="l"/>
            <a:r>
              <a:rPr lang="zh-CN" altLang="en-US" sz="300"/>
              <a:t>  )</a:t>
            </a:r>
          </a:p>
          <a:p>
            <a:pPr algn="l"/>
            <a:r>
              <a:rPr lang="zh-CN" altLang="en-US" sz="300"/>
              <a:t>}</a:t>
            </a:r>
            <a:endParaRPr lang="zh-CN" altLang="en-US" sz="3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324" y="2209832"/>
            <a:ext cx="8390476" cy="4171429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1600278" y="1443159"/>
            <a:ext cx="678162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b="1" dirty="0" smtClean="0"/>
              <a:t>负二项分布的概率函数随着参数 </a:t>
            </a:r>
            <a:r>
              <a:rPr lang="en-US" altLang="zh-CN" sz="2400" b="1" dirty="0" smtClean="0"/>
              <a:t>r </a:t>
            </a:r>
            <a:r>
              <a:rPr lang="zh-CN" altLang="en-US" sz="2400" b="1" dirty="0" smtClean="0"/>
              <a:t>的变化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9597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负二项分布的母函数</a:t>
            </a:r>
          </a:p>
        </p:txBody>
      </p:sp>
      <p:sp>
        <p:nvSpPr>
          <p:cNvPr id="2253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93F0862-1320-45D5-90BC-67E634FCC47B}" type="slidenum">
              <a:rPr lang="zh-CN" altLang="en-US" sz="1400"/>
              <a:pPr eaLnBrk="1" hangingPunct="1"/>
              <a:t>17</a:t>
            </a:fld>
            <a:endParaRPr lang="en-US" altLang="zh-CN" sz="1400"/>
          </a:p>
        </p:txBody>
      </p:sp>
      <p:sp>
        <p:nvSpPr>
          <p:cNvPr id="22532" name="Rectangle 3"/>
          <p:cNvSpPr>
            <a:spLocks noChangeArrowheads="1"/>
          </p:cNvSpPr>
          <p:nvPr/>
        </p:nvSpPr>
        <p:spPr bwMode="auto">
          <a:xfrm>
            <a:off x="0" y="31813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685800" y="1447800"/>
          <a:ext cx="365760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08" r:id="rId3" imgW="2198054" imgH="495515" progId="Equation.DSMT4">
                  <p:embed/>
                </p:oleObj>
              </mc:Choice>
              <mc:Fallback>
                <p:oleObj r:id="rId3" imgW="2198054" imgH="49551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1447800"/>
                        <a:ext cx="365760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5791200" y="1752600"/>
            <a:ext cx="2601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 fontAlgn="base"/>
            <a:r>
              <a:rPr lang="en-US" altLang="zh-CN" sz="2400" i="1">
                <a:latin typeface="Times New Roman" pitchFamily="18" charset="0"/>
              </a:rPr>
              <a:t>k</a:t>
            </a:r>
            <a:r>
              <a:rPr lang="zh-CN" altLang="en-US" sz="2400">
                <a:latin typeface="Times New Roman" pitchFamily="18" charset="0"/>
              </a:rPr>
              <a:t>＝</a:t>
            </a:r>
            <a:r>
              <a:rPr lang="en-US" altLang="zh-CN" sz="2400">
                <a:latin typeface="Times New Roman" pitchFamily="18" charset="0"/>
              </a:rPr>
              <a:t>0</a:t>
            </a:r>
            <a:r>
              <a:rPr lang="zh-CN" altLang="en-US" sz="2400">
                <a:latin typeface="Times New Roman" pitchFamily="18" charset="0"/>
              </a:rPr>
              <a:t>，</a:t>
            </a:r>
            <a:r>
              <a:rPr lang="en-US" altLang="zh-CN" sz="2400">
                <a:latin typeface="Times New Roman" pitchFamily="18" charset="0"/>
              </a:rPr>
              <a:t>1</a:t>
            </a:r>
            <a:r>
              <a:rPr lang="zh-CN" altLang="en-US" sz="2400">
                <a:latin typeface="Times New Roman" pitchFamily="18" charset="0"/>
              </a:rPr>
              <a:t>，</a:t>
            </a:r>
            <a:r>
              <a:rPr lang="en-US" altLang="zh-CN" sz="2400">
                <a:latin typeface="Times New Roman" pitchFamily="18" charset="0"/>
              </a:rPr>
              <a:t>2</a:t>
            </a:r>
            <a:r>
              <a:rPr lang="zh-CN" altLang="en-US" sz="2400">
                <a:latin typeface="Times New Roman" pitchFamily="18" charset="0"/>
              </a:rPr>
              <a:t>，</a:t>
            </a:r>
            <a:r>
              <a:rPr lang="en-US" altLang="zh-CN" sz="2400">
                <a:latin typeface="Times New Roman" pitchFamily="18" charset="0"/>
              </a:rPr>
              <a:t>……</a:t>
            </a:r>
          </a:p>
        </p:txBody>
      </p:sp>
      <p:graphicFrame>
        <p:nvGraphicFramePr>
          <p:cNvPr id="22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5820554"/>
              </p:ext>
            </p:extLst>
          </p:nvPr>
        </p:nvGraphicFramePr>
        <p:xfrm>
          <a:off x="2273300" y="2770188"/>
          <a:ext cx="26162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09" name="Equation" r:id="rId5" imgW="1333440" imgH="279360" progId="Equation.DSMT4">
                  <p:embed/>
                </p:oleObj>
              </mc:Choice>
              <mc:Fallback>
                <p:oleObj name="Equation" r:id="rId5" imgW="1333440" imgH="27936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2770188"/>
                        <a:ext cx="26162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85800" y="2819400"/>
            <a:ext cx="1704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/>
              <a:t>母函数为：</a:t>
            </a:r>
          </a:p>
        </p:txBody>
      </p:sp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1295400" y="3581400"/>
          <a:ext cx="7086600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10" r:id="rId7" imgW="3441700" imgH="558800" progId="Equation.DSMT4">
                  <p:embed/>
                </p:oleObj>
              </mc:Choice>
              <mc:Fallback>
                <p:oleObj r:id="rId7" imgW="3441700" imgH="558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581400"/>
                        <a:ext cx="7086600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1905000" y="4953000"/>
          <a:ext cx="6324600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3911" r:id="rId9" imgW="3492500" imgH="838200" progId="Equation.DSMT4">
                  <p:embed/>
                </p:oleObj>
              </mc:Choice>
              <mc:Fallback>
                <p:oleObj r:id="rId9" imgW="3492500" imgH="838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953000"/>
                        <a:ext cx="6324600" cy="1519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379413" y="3886200"/>
            <a:ext cx="1100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000099"/>
                </a:solidFill>
              </a:rPr>
              <a:t>证明：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autoUpdateAnimBg="0"/>
      <p:bldP spid="22535" grpId="0" autoUpdateAnimBg="0"/>
      <p:bldP spid="2253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17092"/>
            <a:ext cx="8229600" cy="790530"/>
          </a:xfrm>
        </p:spPr>
        <p:txBody>
          <a:bodyPr/>
          <a:lstStyle/>
          <a:p>
            <a:pPr algn="l" eaLnBrk="1" hangingPunct="1"/>
            <a:r>
              <a:rPr lang="zh-CN" altLang="en-US" dirty="0" smtClean="0"/>
              <a:t>负二项分布的极限：泊松分布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80034" y="1665681"/>
            <a:ext cx="8382000" cy="838200"/>
          </a:xfrm>
        </p:spPr>
        <p:txBody>
          <a:bodyPr/>
          <a:lstStyle/>
          <a:p>
            <a:pPr marL="0" indent="0" eaLnBrk="1" hangingPunct="1">
              <a:lnSpc>
                <a:spcPct val="105000"/>
              </a:lnSpc>
              <a:buFont typeface="Wingdings" pitchFamily="2" charset="2"/>
              <a:buNone/>
            </a:pPr>
            <a:r>
              <a:rPr lang="zh-CN" altLang="en-US" dirty="0" smtClean="0"/>
              <a:t>令 </a:t>
            </a:r>
            <a:r>
              <a:rPr lang="en-US" altLang="zh-CN" i="1" dirty="0" smtClean="0">
                <a:latin typeface="Times New Roman" pitchFamily="18" charset="0"/>
              </a:rPr>
              <a:t>r</a:t>
            </a:r>
            <a:r>
              <a:rPr lang="en-US" altLang="zh-CN" dirty="0" smtClean="0"/>
              <a:t> → ∞</a:t>
            </a:r>
            <a:r>
              <a:rPr lang="zh-CN" altLang="en-US" dirty="0" smtClean="0"/>
              <a:t>，</a:t>
            </a:r>
            <a:r>
              <a:rPr lang="en-US" altLang="zh-CN" dirty="0" err="1" smtClean="0">
                <a:latin typeface="Symbol" pitchFamily="18" charset="2"/>
              </a:rPr>
              <a:t>b</a:t>
            </a:r>
            <a:r>
              <a:rPr lang="en-US" altLang="zh-CN" dirty="0" err="1" smtClean="0"/>
              <a:t>→</a:t>
            </a:r>
            <a:r>
              <a:rPr lang="en-US" altLang="zh-CN" dirty="0" err="1" smtClean="0">
                <a:latin typeface="Times New Roman" pitchFamily="18" charset="0"/>
              </a:rPr>
              <a:t>0</a:t>
            </a:r>
            <a:r>
              <a:rPr lang="en-US" altLang="zh-CN" dirty="0" smtClean="0">
                <a:latin typeface="Times New Roman" pitchFamily="18" charset="0"/>
              </a:rPr>
              <a:t> </a:t>
            </a:r>
            <a:r>
              <a:rPr lang="en-US" altLang="zh-CN" dirty="0" smtClean="0"/>
              <a:t>, </a:t>
            </a:r>
            <a:r>
              <a:rPr lang="zh-CN" altLang="en-US" dirty="0" smtClean="0"/>
              <a:t>且</a:t>
            </a:r>
            <a:r>
              <a:rPr lang="zh-CN" altLang="en-US" dirty="0" smtClean="0">
                <a:latin typeface="Times New Roman" pitchFamily="18" charset="0"/>
              </a:rPr>
              <a:t> </a:t>
            </a:r>
            <a:r>
              <a:rPr lang="en-US" altLang="zh-CN" i="1" dirty="0" err="1" smtClean="0">
                <a:latin typeface="Times New Roman" pitchFamily="18" charset="0"/>
              </a:rPr>
              <a:t>r</a:t>
            </a:r>
            <a:r>
              <a:rPr lang="en-US" altLang="zh-CN" i="1" dirty="0" err="1" smtClean="0">
                <a:latin typeface="Symbol" pitchFamily="18" charset="2"/>
              </a:rPr>
              <a:t>b</a:t>
            </a:r>
            <a:r>
              <a:rPr lang="en-US" altLang="zh-CN" dirty="0" smtClean="0">
                <a:latin typeface="Symbol" pitchFamily="18" charset="2"/>
              </a:rPr>
              <a:t> = l</a:t>
            </a:r>
            <a:r>
              <a:rPr lang="zh-CN" altLang="en-US" dirty="0" smtClean="0">
                <a:latin typeface="Symbol" pitchFamily="18" charset="2"/>
              </a:rPr>
              <a:t>为常数，则</a:t>
            </a:r>
            <a:endParaRPr lang="zh-CN" altLang="en-US" i="1" dirty="0" smtClean="0">
              <a:latin typeface="Times New Roman" pitchFamily="18" charset="0"/>
            </a:endParaRPr>
          </a:p>
        </p:txBody>
      </p:sp>
      <p:graphicFrame>
        <p:nvGraphicFramePr>
          <p:cNvPr id="24580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80679946"/>
              </p:ext>
            </p:extLst>
          </p:nvPr>
        </p:nvGraphicFramePr>
        <p:xfrm>
          <a:off x="712788" y="2551113"/>
          <a:ext cx="6577012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156" name="Equation" r:id="rId3" imgW="3060360" imgH="469800" progId="Equation.DSMT4">
                  <p:embed/>
                </p:oleObj>
              </mc:Choice>
              <mc:Fallback>
                <p:oleObj name="Equation" r:id="rId3" imgW="30603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788" y="2551113"/>
                        <a:ext cx="6577012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8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9B2671D-9FE4-4BE1-97C3-DEF1C3C4254A}" type="slidenum">
              <a:rPr lang="zh-CN" altLang="en-US" sz="1400">
                <a:solidFill>
                  <a:srgbClr val="000000"/>
                </a:solidFill>
              </a:rPr>
              <a:pPr eaLnBrk="1" hangingPunct="1"/>
              <a:t>18</a:t>
            </a:fld>
            <a:endParaRPr lang="en-US" altLang="zh-CN" sz="1400">
              <a:solidFill>
                <a:srgbClr val="000000"/>
              </a:solidFill>
            </a:endParaRP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23035"/>
              </p:ext>
            </p:extLst>
          </p:nvPr>
        </p:nvGraphicFramePr>
        <p:xfrm>
          <a:off x="1905070" y="4718445"/>
          <a:ext cx="130175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157" r:id="rId5" imgW="508000" imgH="203200" progId="Equation.DSMT4">
                  <p:embed/>
                </p:oleObj>
              </mc:Choice>
              <mc:Fallback>
                <p:oleObj r:id="rId5" imgW="508000" imgH="203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70" y="4718445"/>
                        <a:ext cx="130175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712662" y="5792435"/>
            <a:ext cx="4181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indent="3429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>
                <a:solidFill>
                  <a:srgbClr val="000000"/>
                </a:solidFill>
              </a:rPr>
              <a:t>此即泊松分布的概率母函数</a:t>
            </a:r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3733822" y="3842644"/>
            <a:ext cx="1353553" cy="46384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dirty="0">
                <a:solidFill>
                  <a:srgbClr val="000000"/>
                </a:solidFill>
              </a:rPr>
              <a:t>令</a:t>
            </a:r>
            <a:r>
              <a:rPr lang="en-US" altLang="zh-CN" sz="2400" dirty="0" smtClean="0">
                <a:solidFill>
                  <a:srgbClr val="000000"/>
                </a:solidFill>
                <a:latin typeface="Symbol" pitchFamily="18" charset="2"/>
              </a:rPr>
              <a:t>b = l/</a:t>
            </a:r>
            <a:r>
              <a:rPr lang="en-US" altLang="zh-CN" sz="2400" i="1" dirty="0" smtClean="0">
                <a:solidFill>
                  <a:srgbClr val="000000"/>
                </a:solidFill>
                <a:latin typeface="Times New Roman" pitchFamily="18" charset="0"/>
              </a:rPr>
              <a:t>r</a:t>
            </a:r>
            <a:endParaRPr lang="en-US" altLang="zh-CN" sz="240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95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24584" grpId="0" autoUpdateAnimBg="0"/>
      <p:bldP spid="24585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19859"/>
            <a:ext cx="8229600" cy="871537"/>
          </a:xfrm>
        </p:spPr>
        <p:txBody>
          <a:bodyPr/>
          <a:lstStyle/>
          <a:p>
            <a:pPr algn="l" eaLnBrk="1" hangingPunct="1"/>
            <a:r>
              <a:rPr lang="zh-CN" altLang="en-US" dirty="0" smtClean="0"/>
              <a:t>负二项分布的极限：泊松分布</a:t>
            </a:r>
          </a:p>
        </p:txBody>
      </p:sp>
      <p:graphicFrame>
        <p:nvGraphicFramePr>
          <p:cNvPr id="2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1447800" y="4038600"/>
          <a:ext cx="1827213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80" r:id="rId3" imgW="724214" imgH="203288" progId="Equation.DSMT4">
                  <p:embed/>
                </p:oleObj>
              </mc:Choice>
              <mc:Fallback>
                <p:oleObj r:id="rId3" imgW="724214" imgH="20328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4038600"/>
                        <a:ext cx="1827213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15229208"/>
              </p:ext>
            </p:extLst>
          </p:nvPr>
        </p:nvGraphicFramePr>
        <p:xfrm>
          <a:off x="1447800" y="5105400"/>
          <a:ext cx="28194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181" name="Equation" r:id="rId5" imgW="1231560" imgH="203040" progId="Equation.DSMT4">
                  <p:embed/>
                </p:oleObj>
              </mc:Choice>
              <mc:Fallback>
                <p:oleObj name="Equation" r:id="rId5" imgW="12315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105400"/>
                        <a:ext cx="28194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2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1F11DF0-45E2-4F0A-8E43-29A99ACB3419}" type="slidenum">
              <a:rPr lang="zh-CN" altLang="en-US" sz="1400">
                <a:solidFill>
                  <a:srgbClr val="000000"/>
                </a:solidFill>
              </a:rPr>
              <a:pPr eaLnBrk="1" hangingPunct="1"/>
              <a:t>19</a:t>
            </a:fld>
            <a:endParaRPr lang="en-US" altLang="zh-CN" sz="1400">
              <a:solidFill>
                <a:srgbClr val="000000"/>
              </a:solidFill>
            </a:endParaRP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1295400" y="1981200"/>
            <a:ext cx="4825658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 smtClean="0">
                <a:solidFill>
                  <a:srgbClr val="000000"/>
                </a:solidFill>
              </a:rPr>
              <a:t>令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altLang="zh-CN" sz="2400" dirty="0">
                <a:solidFill>
                  <a:srgbClr val="000000"/>
                </a:solidFill>
              </a:rPr>
              <a:t> → ∞</a:t>
            </a:r>
            <a:r>
              <a:rPr lang="zh-CN" altLang="en-US" sz="2400" dirty="0">
                <a:solidFill>
                  <a:srgbClr val="000000"/>
                </a:solidFill>
              </a:rPr>
              <a:t>，</a:t>
            </a:r>
            <a:r>
              <a:rPr lang="en-US" altLang="zh-CN" sz="2400" dirty="0" smtClean="0">
                <a:solidFill>
                  <a:srgbClr val="000000"/>
                </a:solidFill>
                <a:latin typeface="Symbol" pitchFamily="18" charset="2"/>
              </a:rPr>
              <a:t>b </a:t>
            </a:r>
            <a:r>
              <a:rPr lang="en-US" altLang="zh-CN" sz="2400" dirty="0" smtClean="0">
                <a:solidFill>
                  <a:srgbClr val="000000"/>
                </a:solidFill>
              </a:rPr>
              <a:t>→ </a:t>
            </a:r>
            <a:r>
              <a:rPr lang="en-US" altLang="zh-CN" sz="2400" dirty="0" smtClean="0">
                <a:solidFill>
                  <a:srgbClr val="000000"/>
                </a:solidFill>
                <a:latin typeface="Times New Roman" pitchFamily="18" charset="0"/>
              </a:rPr>
              <a:t>0 </a:t>
            </a:r>
            <a:r>
              <a:rPr lang="en-US" altLang="zh-CN" sz="2400" dirty="0" smtClean="0">
                <a:solidFill>
                  <a:srgbClr val="000000"/>
                </a:solidFill>
              </a:rPr>
              <a:t>, </a:t>
            </a:r>
            <a:r>
              <a:rPr lang="zh-CN" altLang="en-US" sz="2400" dirty="0" smtClean="0">
                <a:solidFill>
                  <a:srgbClr val="000000"/>
                </a:solidFill>
                <a:latin typeface="Symbol" pitchFamily="18" charset="2"/>
              </a:rPr>
              <a:t>且 </a:t>
            </a:r>
            <a:r>
              <a:rPr lang="en-US" altLang="zh-CN" sz="2400" i="1" dirty="0" err="1" smtClean="0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en-US" altLang="zh-CN" sz="2400" i="1" dirty="0" err="1" smtClean="0">
                <a:solidFill>
                  <a:srgbClr val="000000"/>
                </a:solidFill>
                <a:latin typeface="Symbol" pitchFamily="18" charset="2"/>
              </a:rPr>
              <a:t>b</a:t>
            </a:r>
            <a:r>
              <a:rPr lang="en-US" altLang="zh-CN" sz="2400" dirty="0" smtClean="0">
                <a:solidFill>
                  <a:srgbClr val="000000"/>
                </a:solidFill>
                <a:latin typeface="Symbol" pitchFamily="18" charset="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Symbol" pitchFamily="18" charset="2"/>
              </a:rPr>
              <a:t>= l</a:t>
            </a:r>
            <a:r>
              <a:rPr lang="zh-CN" altLang="en-US" sz="2400" dirty="0">
                <a:solidFill>
                  <a:srgbClr val="000000"/>
                </a:solidFill>
                <a:latin typeface="Symbol" pitchFamily="18" charset="2"/>
              </a:rPr>
              <a:t>为常数</a:t>
            </a:r>
          </a:p>
        </p:txBody>
      </p:sp>
      <p:sp>
        <p:nvSpPr>
          <p:cNvPr id="25606" name="Text Box 6"/>
          <p:cNvSpPr txBox="1">
            <a:spLocks noChangeArrowheads="1"/>
          </p:cNvSpPr>
          <p:nvPr/>
        </p:nvSpPr>
        <p:spPr bwMode="auto">
          <a:xfrm>
            <a:off x="1371600" y="2867025"/>
            <a:ext cx="2009775" cy="896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</a:rPr>
              <a:t>负二项分布的</a:t>
            </a:r>
          </a:p>
          <a:p>
            <a:pPr algn="l" eaLnBrk="1" hangingPunct="1">
              <a:lnSpc>
                <a:spcPct val="85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</a:rPr>
              <a:t>均值和方差</a:t>
            </a: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6400800" y="2927350"/>
            <a:ext cx="1704975" cy="931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</a:rPr>
              <a:t>泊松分布的</a:t>
            </a:r>
          </a:p>
          <a:p>
            <a:pPr algn="l"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400">
                <a:solidFill>
                  <a:srgbClr val="000000"/>
                </a:solidFill>
              </a:rPr>
              <a:t>均值和方差</a:t>
            </a: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7239000" y="4618038"/>
            <a:ext cx="3762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>
                <a:solidFill>
                  <a:srgbClr val="000000"/>
                </a:solidFill>
                <a:latin typeface="Symbol" pitchFamily="18" charset="2"/>
              </a:rPr>
              <a:t>l</a:t>
            </a:r>
          </a:p>
        </p:txBody>
      </p:sp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3962400" y="4343400"/>
            <a:ext cx="3200400" cy="533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5610" name="Line 10"/>
          <p:cNvSpPr>
            <a:spLocks noChangeShapeType="1"/>
          </p:cNvSpPr>
          <p:nvPr/>
        </p:nvSpPr>
        <p:spPr bwMode="auto">
          <a:xfrm flipV="1">
            <a:off x="4495800" y="5029200"/>
            <a:ext cx="26670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557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utoUpdateAnimBg="0"/>
      <p:bldP spid="25606" grpId="0" autoUpdateAnimBg="0"/>
      <p:bldP spid="25607" grpId="0" autoUpdateAnimBg="0"/>
      <p:bldP spid="25608" grpId="0" autoUpdateAnimBg="0"/>
      <p:bldP spid="25609" grpId="0" animBg="1"/>
      <p:bldP spid="256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83637"/>
            <a:ext cx="8229600" cy="838200"/>
          </a:xfrm>
        </p:spPr>
        <p:txBody>
          <a:bodyPr/>
          <a:lstStyle/>
          <a:p>
            <a:pPr algn="ctr" eaLnBrk="1" hangingPunct="1"/>
            <a:r>
              <a:rPr lang="zh-CN" altLang="en-US" dirty="0" smtClean="0"/>
              <a:t>二项分布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295400"/>
            <a:ext cx="8610600" cy="3581400"/>
          </a:xfrm>
        </p:spPr>
        <p:txBody>
          <a:bodyPr/>
          <a:lstStyle/>
          <a:p>
            <a:pPr eaLnBrk="1" hangingPunct="1">
              <a:lnSpc>
                <a:spcPct val="125000"/>
              </a:lnSpc>
            </a:pPr>
            <a:r>
              <a:rPr lang="zh-CN" altLang="en-US" b="1" dirty="0" smtClean="0">
                <a:latin typeface="Times New Roman" pitchFamily="18" charset="0"/>
              </a:rPr>
              <a:t>个体风险发生索赔的概率为</a:t>
            </a:r>
            <a:r>
              <a:rPr lang="en-US" altLang="zh-CN" b="1" i="1" dirty="0" smtClean="0">
                <a:latin typeface="Times New Roman" pitchFamily="18" charset="0"/>
              </a:rPr>
              <a:t>q</a:t>
            </a:r>
            <a:r>
              <a:rPr lang="en-US" altLang="zh-CN" b="1" dirty="0" smtClean="0">
                <a:latin typeface="Times New Roman" pitchFamily="18" charset="0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不发生索赔的概率为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en-US" altLang="zh-CN" b="1" dirty="0">
                <a:latin typeface="Times New Roman" pitchFamily="18" charset="0"/>
              </a:rPr>
              <a:t>1 </a:t>
            </a:r>
            <a:r>
              <a:rPr lang="en-US" altLang="zh-CN" b="1" dirty="0" smtClean="0">
                <a:latin typeface="Times New Roman" pitchFamily="18" charset="0"/>
              </a:rPr>
              <a:t>− </a:t>
            </a:r>
            <a:r>
              <a:rPr lang="en-US" altLang="zh-CN" b="1" i="1" dirty="0" smtClean="0">
                <a:latin typeface="Times New Roman" pitchFamily="18" charset="0"/>
              </a:rPr>
              <a:t>q</a:t>
            </a:r>
            <a:r>
              <a:rPr lang="en-US" altLang="zh-CN" b="1" dirty="0" smtClean="0">
                <a:latin typeface="Times New Roman" pitchFamily="18" charset="0"/>
              </a:rPr>
              <a:t>),  </a:t>
            </a:r>
            <a:r>
              <a:rPr lang="zh-CN" altLang="en-US" b="1" dirty="0" smtClean="0">
                <a:latin typeface="Times New Roman" pitchFamily="18" charset="0"/>
              </a:rPr>
              <a:t>则索赔次数分布的母函数为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 i="1" dirty="0" smtClean="0"/>
              <a:t>P</a:t>
            </a:r>
            <a:r>
              <a:rPr lang="en-US" altLang="zh-CN" b="1" dirty="0" smtClean="0"/>
              <a:t>(</a:t>
            </a:r>
            <a:r>
              <a:rPr lang="en-US" altLang="zh-CN" b="1" i="1" dirty="0" smtClean="0"/>
              <a:t>z</a:t>
            </a:r>
            <a:r>
              <a:rPr lang="en-US" altLang="zh-CN" b="1" dirty="0" smtClean="0"/>
              <a:t>) = </a:t>
            </a:r>
            <a:r>
              <a:rPr lang="en-US" altLang="zh-CN" b="1" i="1" dirty="0" smtClean="0"/>
              <a:t>E</a:t>
            </a:r>
            <a:r>
              <a:rPr lang="en-US" altLang="zh-CN" b="1" dirty="0" smtClean="0"/>
              <a:t>(</a:t>
            </a:r>
            <a:r>
              <a:rPr lang="en-US" altLang="zh-CN" b="1" i="1" dirty="0" smtClean="0"/>
              <a:t>z </a:t>
            </a:r>
            <a:r>
              <a:rPr lang="en-US" altLang="zh-CN" b="1" i="1" baseline="30000" dirty="0" smtClean="0"/>
              <a:t>N</a:t>
            </a:r>
            <a:r>
              <a:rPr lang="en-US" altLang="zh-CN" b="1" baseline="30000" dirty="0" smtClean="0"/>
              <a:t> </a:t>
            </a:r>
            <a:r>
              <a:rPr lang="en-US" altLang="zh-CN" b="1" dirty="0" smtClean="0"/>
              <a:t>) = (1 − </a:t>
            </a:r>
            <a:r>
              <a:rPr lang="en-US" altLang="zh-CN" b="1" i="1" dirty="0" smtClean="0"/>
              <a:t>q</a:t>
            </a:r>
            <a:r>
              <a:rPr lang="en-US" altLang="zh-CN" b="1" dirty="0" smtClean="0"/>
              <a:t>)</a:t>
            </a:r>
            <a:r>
              <a:rPr lang="en-US" altLang="zh-CN" b="1" i="1" dirty="0" err="1" smtClean="0"/>
              <a:t>z</a:t>
            </a:r>
            <a:r>
              <a:rPr lang="en-US" altLang="zh-CN" b="1" baseline="30000" dirty="0" err="1" smtClean="0"/>
              <a:t>0</a:t>
            </a:r>
            <a:r>
              <a:rPr lang="en-US" altLang="zh-CN" b="1" baseline="30000" dirty="0" smtClean="0"/>
              <a:t> </a:t>
            </a:r>
            <a:r>
              <a:rPr lang="en-US" altLang="zh-CN" b="1" dirty="0" smtClean="0"/>
              <a:t>+ </a:t>
            </a:r>
            <a:r>
              <a:rPr lang="en-US" altLang="zh-CN" b="1" i="1" dirty="0" err="1" smtClean="0"/>
              <a:t>qz</a:t>
            </a:r>
            <a:r>
              <a:rPr lang="en-US" altLang="zh-CN" b="1" baseline="30000" dirty="0" err="1" smtClean="0"/>
              <a:t>1</a:t>
            </a:r>
            <a:r>
              <a:rPr lang="en-US" altLang="zh-CN" b="1" dirty="0" smtClean="0"/>
              <a:t> = </a:t>
            </a:r>
            <a:r>
              <a:rPr lang="en-US" altLang="zh-CN" b="1" dirty="0"/>
              <a:t>1 </a:t>
            </a:r>
            <a:r>
              <a:rPr lang="en-US" altLang="zh-CN" b="1" dirty="0" smtClean="0"/>
              <a:t>− </a:t>
            </a:r>
            <a:r>
              <a:rPr lang="en-US" altLang="zh-CN" b="1" i="1" dirty="0" smtClean="0"/>
              <a:t>q </a:t>
            </a:r>
            <a:r>
              <a:rPr lang="en-US" altLang="zh-CN" b="1" dirty="0" smtClean="0"/>
              <a:t>+ </a:t>
            </a:r>
            <a:r>
              <a:rPr lang="en-US" altLang="zh-CN" b="1" i="1" dirty="0" err="1" smtClean="0"/>
              <a:t>qz</a:t>
            </a:r>
            <a:r>
              <a:rPr lang="en-US" altLang="zh-CN" b="1" dirty="0" smtClean="0"/>
              <a:t> =1 + </a:t>
            </a:r>
            <a:r>
              <a:rPr lang="en-US" altLang="zh-CN" b="1" i="1" dirty="0" smtClean="0"/>
              <a:t>q</a:t>
            </a:r>
            <a:r>
              <a:rPr lang="en-US" altLang="zh-CN" b="1" dirty="0" smtClean="0"/>
              <a:t>(</a:t>
            </a:r>
            <a:r>
              <a:rPr lang="en-US" altLang="zh-CN" b="1" i="1" dirty="0" smtClean="0"/>
              <a:t>z </a:t>
            </a:r>
            <a:r>
              <a:rPr lang="en-US" altLang="zh-CN" b="1" dirty="0"/>
              <a:t> − </a:t>
            </a:r>
            <a:r>
              <a:rPr lang="en-US" altLang="zh-CN" b="1" dirty="0" smtClean="0"/>
              <a:t>1)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 dirty="0" smtClean="0">
                <a:latin typeface="Times New Roman" pitchFamily="18" charset="0"/>
              </a:rPr>
              <a:t>对</a:t>
            </a:r>
            <a:r>
              <a:rPr lang="en-US" altLang="zh-CN" b="1" i="1" dirty="0" smtClean="0">
                <a:latin typeface="Times New Roman" pitchFamily="18" charset="0"/>
              </a:rPr>
              <a:t>m</a:t>
            </a:r>
            <a:r>
              <a:rPr lang="zh-CN" altLang="en-US" b="1" dirty="0" smtClean="0">
                <a:latin typeface="Times New Roman" pitchFamily="18" charset="0"/>
              </a:rPr>
              <a:t>个独立同分布的个体风险，其索赔次数分布的母函数为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 i="1" dirty="0" smtClean="0">
                <a:solidFill>
                  <a:srgbClr val="FF0000"/>
                </a:solidFill>
              </a:rPr>
              <a:t>P</a:t>
            </a:r>
            <a:r>
              <a:rPr lang="en-US" altLang="zh-CN" b="1" dirty="0" smtClean="0">
                <a:solidFill>
                  <a:srgbClr val="FF0000"/>
                </a:solidFill>
              </a:rPr>
              <a:t>(</a:t>
            </a:r>
            <a:r>
              <a:rPr lang="en-US" altLang="zh-CN" b="1" i="1" dirty="0" smtClean="0">
                <a:solidFill>
                  <a:srgbClr val="FF0000"/>
                </a:solidFill>
              </a:rPr>
              <a:t>z</a:t>
            </a:r>
            <a:r>
              <a:rPr lang="en-US" altLang="zh-CN" b="1" dirty="0" smtClean="0">
                <a:solidFill>
                  <a:srgbClr val="FF0000"/>
                </a:solidFill>
              </a:rPr>
              <a:t>) = [1 + </a:t>
            </a:r>
            <a:r>
              <a:rPr lang="en-US" altLang="zh-CN" b="1" i="1" dirty="0" smtClean="0">
                <a:solidFill>
                  <a:srgbClr val="FF0000"/>
                </a:solidFill>
              </a:rPr>
              <a:t>q</a:t>
            </a:r>
            <a:r>
              <a:rPr lang="en-US" altLang="zh-CN" b="1" dirty="0" smtClean="0">
                <a:solidFill>
                  <a:srgbClr val="FF0000"/>
                </a:solidFill>
              </a:rPr>
              <a:t>(</a:t>
            </a:r>
            <a:r>
              <a:rPr lang="en-US" altLang="zh-CN" b="1" i="1" dirty="0" smtClean="0">
                <a:solidFill>
                  <a:srgbClr val="FF0000"/>
                </a:solidFill>
              </a:rPr>
              <a:t>z </a:t>
            </a:r>
            <a:r>
              <a:rPr lang="en-US" altLang="zh-CN" b="1" dirty="0" smtClean="0">
                <a:solidFill>
                  <a:srgbClr val="FF0000"/>
                </a:solidFill>
              </a:rPr>
              <a:t>−</a:t>
            </a:r>
            <a:r>
              <a:rPr lang="en-US" altLang="zh-CN" b="1" dirty="0" smtClean="0"/>
              <a:t> </a:t>
            </a:r>
            <a:r>
              <a:rPr lang="en-US" altLang="zh-CN" b="1" dirty="0" smtClean="0">
                <a:solidFill>
                  <a:srgbClr val="FF0000"/>
                </a:solidFill>
              </a:rPr>
              <a:t>1)]</a:t>
            </a:r>
            <a:r>
              <a:rPr lang="en-US" altLang="zh-CN" b="1" i="1" baseline="30000" dirty="0" smtClean="0">
                <a:solidFill>
                  <a:srgbClr val="FF0000"/>
                </a:solidFill>
              </a:rPr>
              <a:t>m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 dirty="0" smtClean="0">
                <a:latin typeface="Times New Roman" pitchFamily="18" charset="0"/>
              </a:rPr>
              <a:t>这</a:t>
            </a:r>
            <a:r>
              <a:rPr lang="en-US" altLang="zh-CN" b="1" i="1" dirty="0" smtClean="0">
                <a:latin typeface="Times New Roman" pitchFamily="18" charset="0"/>
              </a:rPr>
              <a:t>m</a:t>
            </a:r>
            <a:r>
              <a:rPr lang="zh-CN" altLang="en-US" b="1" dirty="0" smtClean="0">
                <a:latin typeface="Times New Roman" pitchFamily="18" charset="0"/>
              </a:rPr>
              <a:t>个风险发生 </a:t>
            </a:r>
            <a:r>
              <a:rPr lang="en-US" altLang="zh-CN" b="1" i="1" dirty="0" smtClean="0">
                <a:latin typeface="Times New Roman" pitchFamily="18" charset="0"/>
              </a:rPr>
              <a:t>k </a:t>
            </a:r>
            <a:r>
              <a:rPr lang="zh-CN" altLang="en-US" b="1" dirty="0" smtClean="0">
                <a:latin typeface="Times New Roman" pitchFamily="18" charset="0"/>
              </a:rPr>
              <a:t>次索赔的概率为二项分布</a:t>
            </a:r>
          </a:p>
        </p:txBody>
      </p:sp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21310B9-13F2-42D6-9E55-835DF86A27FE}" type="slidenum">
              <a:rPr lang="zh-CN" altLang="en-US" sz="1400"/>
              <a:pPr eaLnBrk="1" hangingPunct="1"/>
              <a:t>20</a:t>
            </a:fld>
            <a:endParaRPr lang="en-US" altLang="zh-CN" sz="1400"/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6778451"/>
              </p:ext>
            </p:extLst>
          </p:nvPr>
        </p:nvGraphicFramePr>
        <p:xfrm>
          <a:off x="685902" y="5688563"/>
          <a:ext cx="4611688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7" name="Equation" r:id="rId3" imgW="2527200" imgH="457200" progId="Equation.DSMT4">
                  <p:embed/>
                </p:oleObj>
              </mc:Choice>
              <mc:Fallback>
                <p:oleObj name="Equation" r:id="rId3" imgW="25272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902" y="5688563"/>
                        <a:ext cx="4611688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5725434" y="5842934"/>
            <a:ext cx="2961366" cy="402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000099"/>
                </a:solidFill>
                <a:latin typeface="Times New Roman" pitchFamily="18" charset="0"/>
              </a:rPr>
              <a:t>注：最多发生</a:t>
            </a:r>
            <a:r>
              <a:rPr lang="en-US" altLang="zh-CN" sz="2000" b="1" i="1" dirty="0">
                <a:solidFill>
                  <a:srgbClr val="000099"/>
                </a:solidFill>
                <a:latin typeface="Times New Roman" pitchFamily="18" charset="0"/>
              </a:rPr>
              <a:t>m</a:t>
            </a:r>
            <a:r>
              <a:rPr lang="zh-CN" altLang="en-US" sz="2000" b="1" dirty="0">
                <a:solidFill>
                  <a:srgbClr val="000099"/>
                </a:solidFill>
                <a:latin typeface="Times New Roman" pitchFamily="18" charset="0"/>
              </a:rPr>
              <a:t>次损失。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/>
      <p:bldP spid="2663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21310B9-13F2-42D6-9E55-835DF86A27FE}" type="slidenum">
              <a:rPr lang="zh-CN" altLang="en-US" sz="1400"/>
              <a:pPr eaLnBrk="1" hangingPunct="1"/>
              <a:t>21</a:t>
            </a:fld>
            <a:endParaRPr lang="en-US" altLang="zh-CN" sz="1400"/>
          </a:p>
        </p:txBody>
      </p:sp>
      <p:sp>
        <p:nvSpPr>
          <p:cNvPr id="5" name="矩形 4"/>
          <p:cNvSpPr/>
          <p:nvPr/>
        </p:nvSpPr>
        <p:spPr>
          <a:xfrm>
            <a:off x="270537" y="609674"/>
            <a:ext cx="4572000" cy="769441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/>
            <a:r>
              <a:rPr lang="en-US" altLang="zh-CN" sz="200" dirty="0"/>
              <a:t># ================================================================</a:t>
            </a:r>
          </a:p>
          <a:p>
            <a:pPr algn="l"/>
            <a:r>
              <a:rPr lang="en-US" altLang="zh-CN" sz="200" dirty="0"/>
              <a:t># </a:t>
            </a:r>
            <a:r>
              <a:rPr lang="zh-CN" altLang="en-US" sz="200" dirty="0"/>
              <a:t>二项分布</a:t>
            </a:r>
          </a:p>
          <a:p>
            <a:pPr algn="l"/>
            <a:r>
              <a:rPr lang="en-US" altLang="zh-CN" sz="200" dirty="0"/>
              <a:t># ================================================================</a:t>
            </a:r>
          </a:p>
          <a:p>
            <a:pPr algn="l"/>
            <a:r>
              <a:rPr lang="en-US" altLang="zh-CN" sz="200" dirty="0"/>
              <a:t># </a:t>
            </a:r>
            <a:r>
              <a:rPr lang="zh-CN" altLang="en-US" sz="200" dirty="0"/>
              <a:t>参数 </a:t>
            </a:r>
            <a:r>
              <a:rPr lang="en-US" altLang="zh-CN" sz="200" dirty="0"/>
              <a:t>m = size</a:t>
            </a:r>
          </a:p>
          <a:p>
            <a:pPr algn="l"/>
            <a:r>
              <a:rPr lang="en-US" altLang="zh-CN" sz="200" dirty="0"/>
              <a:t># </a:t>
            </a:r>
            <a:r>
              <a:rPr lang="zh-CN" altLang="en-US" sz="200" dirty="0"/>
              <a:t>参数 </a:t>
            </a:r>
            <a:r>
              <a:rPr lang="en-US" altLang="zh-CN" sz="200" dirty="0" err="1"/>
              <a:t>prob</a:t>
            </a:r>
            <a:r>
              <a:rPr lang="en-US" altLang="zh-CN" sz="200" dirty="0"/>
              <a:t> = q</a:t>
            </a:r>
          </a:p>
          <a:p>
            <a:pPr algn="l"/>
            <a:r>
              <a:rPr lang="en-US" altLang="zh-CN" sz="200" dirty="0" err="1"/>
              <a:t>dbinom</a:t>
            </a:r>
            <a:r>
              <a:rPr lang="en-US" altLang="zh-CN" sz="200" dirty="0"/>
              <a:t>(x, size, </a:t>
            </a:r>
            <a:r>
              <a:rPr lang="en-US" altLang="zh-CN" sz="200" dirty="0" err="1"/>
              <a:t>prob</a:t>
            </a:r>
            <a:r>
              <a:rPr lang="en-US" altLang="zh-CN" sz="200" dirty="0"/>
              <a:t>, log = FALSE)</a:t>
            </a:r>
          </a:p>
          <a:p>
            <a:pPr algn="l"/>
            <a:r>
              <a:rPr lang="en-US" altLang="zh-CN" sz="200" dirty="0" err="1"/>
              <a:t>pbinom</a:t>
            </a:r>
            <a:r>
              <a:rPr lang="en-US" altLang="zh-CN" sz="200" dirty="0"/>
              <a:t>(q, size, </a:t>
            </a:r>
            <a:r>
              <a:rPr lang="en-US" altLang="zh-CN" sz="200" dirty="0" err="1"/>
              <a:t>prob</a:t>
            </a:r>
            <a:r>
              <a:rPr lang="en-US" altLang="zh-CN" sz="200" dirty="0"/>
              <a:t>, </a:t>
            </a:r>
            <a:r>
              <a:rPr lang="en-US" altLang="zh-CN" sz="200" dirty="0" err="1"/>
              <a:t>lower.tail</a:t>
            </a:r>
            <a:r>
              <a:rPr lang="en-US" altLang="zh-CN" sz="200" dirty="0"/>
              <a:t> = TRUE, </a:t>
            </a:r>
            <a:r>
              <a:rPr lang="en-US" altLang="zh-CN" sz="200" dirty="0" err="1"/>
              <a:t>log.p</a:t>
            </a:r>
            <a:r>
              <a:rPr lang="en-US" altLang="zh-CN" sz="200" dirty="0"/>
              <a:t> = FALSE)</a:t>
            </a:r>
          </a:p>
          <a:p>
            <a:pPr algn="l"/>
            <a:r>
              <a:rPr lang="en-US" altLang="zh-CN" sz="200" dirty="0" err="1"/>
              <a:t>qbinom</a:t>
            </a:r>
            <a:r>
              <a:rPr lang="en-US" altLang="zh-CN" sz="200" dirty="0"/>
              <a:t>(p, size, </a:t>
            </a:r>
            <a:r>
              <a:rPr lang="en-US" altLang="zh-CN" sz="200" dirty="0" err="1"/>
              <a:t>prob</a:t>
            </a:r>
            <a:r>
              <a:rPr lang="en-US" altLang="zh-CN" sz="200" dirty="0"/>
              <a:t>, </a:t>
            </a:r>
            <a:r>
              <a:rPr lang="en-US" altLang="zh-CN" sz="200" dirty="0" err="1"/>
              <a:t>lower.tail</a:t>
            </a:r>
            <a:r>
              <a:rPr lang="en-US" altLang="zh-CN" sz="200" dirty="0"/>
              <a:t> = TRUE, </a:t>
            </a:r>
            <a:r>
              <a:rPr lang="en-US" altLang="zh-CN" sz="200" dirty="0" err="1"/>
              <a:t>log.p</a:t>
            </a:r>
            <a:r>
              <a:rPr lang="en-US" altLang="zh-CN" sz="200" dirty="0"/>
              <a:t> = FALSE)</a:t>
            </a:r>
          </a:p>
          <a:p>
            <a:pPr algn="l"/>
            <a:r>
              <a:rPr lang="en-US" altLang="zh-CN" sz="200" dirty="0" err="1"/>
              <a:t>rbinom</a:t>
            </a:r>
            <a:r>
              <a:rPr lang="en-US" altLang="zh-CN" sz="200" dirty="0"/>
              <a:t>(n, size, </a:t>
            </a:r>
            <a:r>
              <a:rPr lang="en-US" altLang="zh-CN" sz="200" dirty="0" err="1"/>
              <a:t>prob</a:t>
            </a:r>
            <a:r>
              <a:rPr lang="en-US" altLang="zh-CN" sz="200" dirty="0"/>
              <a:t>)</a:t>
            </a:r>
          </a:p>
          <a:p>
            <a:pPr algn="l"/>
            <a:endParaRPr lang="en-US" altLang="zh-CN" sz="200" dirty="0"/>
          </a:p>
          <a:p>
            <a:pPr algn="l"/>
            <a:r>
              <a:rPr lang="en-US" altLang="zh-CN" sz="200" dirty="0"/>
              <a:t># </a:t>
            </a:r>
            <a:r>
              <a:rPr lang="zh-CN" altLang="en-US" sz="200" dirty="0"/>
              <a:t>画图 </a:t>
            </a:r>
          </a:p>
          <a:p>
            <a:pPr algn="l"/>
            <a:r>
              <a:rPr lang="en-US" altLang="zh-CN" sz="200" dirty="0"/>
              <a:t>m0 &lt;- c(1, 5, 10, 10, 10, 10)</a:t>
            </a:r>
          </a:p>
          <a:p>
            <a:pPr algn="l"/>
            <a:r>
              <a:rPr lang="en-US" altLang="zh-CN" sz="200" dirty="0"/>
              <a:t>q0 &lt;- c(0.3, 0.3, 0.3, 0.1, 0.2, 0.3)</a:t>
            </a:r>
          </a:p>
          <a:p>
            <a:pPr algn="l"/>
            <a:r>
              <a:rPr lang="en-US" altLang="zh-CN" sz="200" dirty="0"/>
              <a:t>x0 &lt;- </a:t>
            </a:r>
            <a:r>
              <a:rPr lang="en-US" altLang="zh-CN" sz="200" dirty="0" err="1"/>
              <a:t>seq</a:t>
            </a:r>
            <a:r>
              <a:rPr lang="en-US" altLang="zh-CN" sz="200" dirty="0"/>
              <a:t>(0, 10)</a:t>
            </a:r>
          </a:p>
          <a:p>
            <a:pPr algn="l"/>
            <a:endParaRPr lang="en-US" altLang="zh-CN" sz="200" dirty="0"/>
          </a:p>
          <a:p>
            <a:pPr algn="l"/>
            <a:r>
              <a:rPr lang="en-US" altLang="zh-CN" sz="200" dirty="0"/>
              <a:t>par(</a:t>
            </a:r>
            <a:r>
              <a:rPr lang="en-US" altLang="zh-CN" sz="200" dirty="0" err="1"/>
              <a:t>mfrow</a:t>
            </a:r>
            <a:r>
              <a:rPr lang="en-US" altLang="zh-CN" sz="200" dirty="0"/>
              <a:t> = c(2, 3) )</a:t>
            </a:r>
          </a:p>
          <a:p>
            <a:pPr algn="l"/>
            <a:r>
              <a:rPr lang="en-US" altLang="zh-CN" sz="200" dirty="0"/>
              <a:t>for (</a:t>
            </a:r>
            <a:r>
              <a:rPr lang="en-US" altLang="zh-CN" sz="200" dirty="0" err="1"/>
              <a:t>i</a:t>
            </a:r>
            <a:r>
              <a:rPr lang="en-US" altLang="zh-CN" sz="200" dirty="0"/>
              <a:t> in 1:length(m0)){</a:t>
            </a:r>
          </a:p>
          <a:p>
            <a:pPr algn="l"/>
            <a:r>
              <a:rPr lang="en-US" altLang="zh-CN" sz="200" dirty="0"/>
              <a:t>  </a:t>
            </a:r>
            <a:r>
              <a:rPr lang="en-US" altLang="zh-CN" sz="200" dirty="0" err="1"/>
              <a:t>fpo</a:t>
            </a:r>
            <a:r>
              <a:rPr lang="en-US" altLang="zh-CN" sz="200" dirty="0"/>
              <a:t> &lt;- </a:t>
            </a:r>
            <a:r>
              <a:rPr lang="en-US" altLang="zh-CN" sz="200" dirty="0" err="1"/>
              <a:t>dbinom</a:t>
            </a:r>
            <a:r>
              <a:rPr lang="en-US" altLang="zh-CN" sz="200" dirty="0"/>
              <a:t>(x0, size = m0[</a:t>
            </a:r>
            <a:r>
              <a:rPr lang="en-US" altLang="zh-CN" sz="200" dirty="0" err="1"/>
              <a:t>i</a:t>
            </a:r>
            <a:r>
              <a:rPr lang="en-US" altLang="zh-CN" sz="200" dirty="0"/>
              <a:t>], </a:t>
            </a:r>
            <a:r>
              <a:rPr lang="en-US" altLang="zh-CN" sz="200" dirty="0" err="1"/>
              <a:t>prob</a:t>
            </a:r>
            <a:r>
              <a:rPr lang="en-US" altLang="zh-CN" sz="200" dirty="0"/>
              <a:t> = q0[</a:t>
            </a:r>
            <a:r>
              <a:rPr lang="en-US" altLang="zh-CN" sz="200" dirty="0" err="1"/>
              <a:t>i</a:t>
            </a:r>
            <a:r>
              <a:rPr lang="en-US" altLang="zh-CN" sz="200" dirty="0"/>
              <a:t>], log = FALSE)</a:t>
            </a:r>
          </a:p>
          <a:p>
            <a:pPr algn="l"/>
            <a:r>
              <a:rPr lang="en-US" altLang="zh-CN" sz="200" dirty="0"/>
              <a:t>  </a:t>
            </a:r>
            <a:r>
              <a:rPr lang="en-US" altLang="zh-CN" sz="200" dirty="0" err="1"/>
              <a:t>barplot</a:t>
            </a:r>
            <a:r>
              <a:rPr lang="en-US" altLang="zh-CN" sz="200" dirty="0"/>
              <a:t>(</a:t>
            </a:r>
            <a:r>
              <a:rPr lang="en-US" altLang="zh-CN" sz="200" dirty="0" err="1"/>
              <a:t>fpo</a:t>
            </a:r>
            <a:r>
              <a:rPr lang="en-US" altLang="zh-CN" sz="200" dirty="0"/>
              <a:t>, </a:t>
            </a:r>
          </a:p>
          <a:p>
            <a:pPr algn="l"/>
            <a:r>
              <a:rPr lang="en-US" altLang="zh-CN" sz="200" dirty="0"/>
              <a:t>          main = paste0('m = ', m0[</a:t>
            </a:r>
            <a:r>
              <a:rPr lang="en-US" altLang="zh-CN" sz="200" dirty="0" err="1"/>
              <a:t>i</a:t>
            </a:r>
            <a:r>
              <a:rPr lang="en-US" altLang="zh-CN" sz="200" dirty="0"/>
              <a:t>], ',  ','q = ', q0[</a:t>
            </a:r>
            <a:r>
              <a:rPr lang="en-US" altLang="zh-CN" sz="200" dirty="0" err="1"/>
              <a:t>i</a:t>
            </a:r>
            <a:r>
              <a:rPr lang="en-US" altLang="zh-CN" sz="200" dirty="0"/>
              <a:t>]),</a:t>
            </a:r>
          </a:p>
          <a:p>
            <a:pPr algn="l"/>
            <a:r>
              <a:rPr lang="en-US" altLang="zh-CN" sz="200" dirty="0"/>
              <a:t>          </a:t>
            </a:r>
            <a:r>
              <a:rPr lang="en-US" altLang="zh-CN" sz="200" dirty="0" err="1"/>
              <a:t>names.arg</a:t>
            </a:r>
            <a:r>
              <a:rPr lang="en-US" altLang="zh-CN" sz="200" dirty="0"/>
              <a:t> = x0)</a:t>
            </a:r>
          </a:p>
          <a:p>
            <a:pPr algn="l"/>
            <a:r>
              <a:rPr lang="en-US" altLang="zh-CN" sz="200" dirty="0"/>
              <a:t>}</a:t>
            </a:r>
            <a:endParaRPr lang="zh-CN" altLang="en-US" sz="2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25" y="1981238"/>
            <a:ext cx="8390476" cy="4171429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057466" y="1170502"/>
            <a:ext cx="634810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b="1" dirty="0" smtClean="0"/>
              <a:t>二项分布的均值越大，分布形态越对称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63508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oup 3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747467636"/>
              </p:ext>
            </p:extLst>
          </p:nvPr>
        </p:nvGraphicFramePr>
        <p:xfrm>
          <a:off x="457200" y="2057400"/>
          <a:ext cx="8229600" cy="228600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分布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母函数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均值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方差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二项分布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 + 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z </a:t>
                      </a:r>
                      <a:r>
                        <a:rPr lang="en-US" altLang="zh-CN" sz="2000" b="1" dirty="0" smtClean="0">
                          <a:latin typeface="Times New Roman" pitchFamily="18" charset="0"/>
                        </a:rPr>
                        <a:t> −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1)]</a:t>
                      </a:r>
                      <a:r>
                        <a:rPr kumimoji="0" lang="en-US" altLang="zh-CN" sz="20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endParaRPr kumimoji="0" lang="en-US" altLang="zh-CN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mq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mq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(1 </a:t>
                      </a:r>
                      <a:r>
                        <a:rPr lang="en-US" altLang="zh-CN" sz="2000" b="1" dirty="0" smtClean="0">
                          <a:latin typeface="Times New Roman" pitchFamily="18" charset="0"/>
                        </a:rPr>
                        <a:t>− 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q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负二项分布</a:t>
                      </a:r>
                    </a:p>
                  </a:txBody>
                  <a:tcPr marL="90000" marR="90000" marT="46800" marB="46800" anchor="ctr" horzOverflow="overflow">
                    <a:lnL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[1</a:t>
                      </a:r>
                      <a:r>
                        <a:rPr lang="en-US" altLang="zh-CN" sz="2000" b="1" dirty="0" smtClean="0">
                          <a:latin typeface="Times New Roman" pitchFamily="18" charset="0"/>
                        </a:rPr>
                        <a:t> −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z </a:t>
                      </a:r>
                      <a:r>
                        <a:rPr lang="en-US" altLang="zh-CN" sz="2000" b="1" dirty="0" smtClean="0">
                          <a:latin typeface="Times New Roman" pitchFamily="18" charset="0"/>
                        </a:rPr>
                        <a:t> −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1)]</a:t>
                      </a:r>
                      <a:r>
                        <a:rPr kumimoji="0" lang="en-US" altLang="zh-CN" sz="2000" b="1" i="0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  <a:r>
                        <a:rPr kumimoji="0" lang="en-US" altLang="zh-CN" sz="2000" b="1" i="1" u="none" strike="noStrike" cap="none" normalizeH="0" baseline="30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altLang="zh-CN" sz="20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b</a:t>
                      </a:r>
                      <a:endParaRPr kumimoji="0" lang="en-US" altLang="zh-CN" sz="2000" b="1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altLang="zh-CN" sz="20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b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(1 + b)</a:t>
                      </a:r>
                    </a:p>
                  </a:txBody>
                  <a:tcPr marL="90000" marR="90000" marT="46800" marB="46800" anchor="ctr" horzOverflow="overflow">
                    <a:lnL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65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0E6F2A4-D090-41B2-B6B4-5ABDB83C3A68}" type="slidenum">
              <a:rPr lang="zh-CN" altLang="en-US" sz="1400"/>
              <a:pPr eaLnBrk="1" hangingPunct="1"/>
              <a:t>22</a:t>
            </a:fld>
            <a:endParaRPr lang="en-US" altLang="zh-CN" sz="1400" dirty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20092"/>
            <a:ext cx="8229600" cy="573384"/>
          </a:xfrm>
          <a:prstGeom prst="rect">
            <a:avLst/>
          </a:prstGeom>
        </p:spPr>
        <p:txBody>
          <a:bodyPr/>
          <a:lstStyle/>
          <a:p>
            <a:pPr eaLnBrk="1" hangingPunct="1"/>
            <a:r>
              <a:rPr lang="zh-CN" altLang="en-US" sz="2400" dirty="0" smtClean="0"/>
              <a:t>二项（</a:t>
            </a:r>
            <a:r>
              <a:rPr lang="en-US" altLang="zh-CN" sz="2400" i="1" dirty="0" smtClean="0">
                <a:latin typeface="Times New Roman" pitchFamily="18" charset="0"/>
              </a:rPr>
              <a:t>m, q</a:t>
            </a:r>
            <a:r>
              <a:rPr lang="zh-CN" altLang="en-US" sz="2400" dirty="0" smtClean="0"/>
              <a:t>）与负二项（</a:t>
            </a:r>
            <a:r>
              <a:rPr lang="en-US" altLang="zh-CN" sz="2400" i="1" dirty="0" smtClean="0">
                <a:latin typeface="Times New Roman" pitchFamily="18" charset="0"/>
              </a:rPr>
              <a:t>r</a:t>
            </a:r>
            <a:r>
              <a:rPr lang="en-US" altLang="zh-CN" sz="2400" dirty="0" smtClean="0"/>
              <a:t>, </a:t>
            </a:r>
            <a:r>
              <a:rPr lang="en-US" altLang="zh-CN" sz="2400" i="1" dirty="0" smtClean="0">
                <a:latin typeface="Symbol" pitchFamily="18" charset="2"/>
              </a:rPr>
              <a:t>b</a:t>
            </a:r>
            <a:r>
              <a:rPr lang="zh-CN" altLang="en-US" sz="2400" dirty="0" smtClean="0"/>
              <a:t>）的比较</a:t>
            </a:r>
          </a:p>
        </p:txBody>
      </p:sp>
      <p:sp>
        <p:nvSpPr>
          <p:cNvPr id="27673" name="Text Box 25"/>
          <p:cNvSpPr txBox="1">
            <a:spLocks noChangeArrowheads="1"/>
          </p:cNvSpPr>
          <p:nvPr/>
        </p:nvSpPr>
        <p:spPr bwMode="auto">
          <a:xfrm>
            <a:off x="747713" y="4830763"/>
            <a:ext cx="792586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400" b="1" dirty="0">
                <a:latin typeface="Times New Roman" pitchFamily="18" charset="0"/>
              </a:rPr>
              <a:t>注：在二项分布中，令 </a:t>
            </a:r>
            <a:r>
              <a:rPr lang="en-US" altLang="zh-CN" sz="2400" b="1" i="1" dirty="0">
                <a:latin typeface="Times New Roman" pitchFamily="18" charset="0"/>
              </a:rPr>
              <a:t>m </a:t>
            </a:r>
            <a:r>
              <a:rPr lang="en-US" altLang="zh-CN" sz="2400" b="1" dirty="0">
                <a:latin typeface="Times New Roman" pitchFamily="18" charset="0"/>
              </a:rPr>
              <a:t>=  − </a:t>
            </a:r>
            <a:r>
              <a:rPr lang="en-US" altLang="zh-CN" sz="2400" b="1" i="1" dirty="0" smtClean="0">
                <a:latin typeface="Times New Roman" pitchFamily="18" charset="0"/>
              </a:rPr>
              <a:t>r</a:t>
            </a:r>
            <a:r>
              <a:rPr lang="en-US" altLang="zh-CN" sz="2400" b="1" dirty="0">
                <a:latin typeface="Times New Roman" pitchFamily="18" charset="0"/>
              </a:rPr>
              <a:t>,  </a:t>
            </a:r>
            <a:r>
              <a:rPr lang="en-US" altLang="zh-CN" sz="2400" b="1" i="1" dirty="0">
                <a:latin typeface="Times New Roman" pitchFamily="18" charset="0"/>
              </a:rPr>
              <a:t>q</a:t>
            </a:r>
            <a:r>
              <a:rPr lang="en-US" altLang="zh-CN" sz="2400" b="1" dirty="0">
                <a:latin typeface="Times New Roman" pitchFamily="18" charset="0"/>
              </a:rPr>
              <a:t> =  − </a:t>
            </a:r>
            <a:r>
              <a:rPr lang="en-US" altLang="zh-CN" sz="2400" b="1" i="1" dirty="0" smtClean="0">
                <a:latin typeface="Symbol" pitchFamily="18" charset="2"/>
              </a:rPr>
              <a:t>b</a:t>
            </a:r>
            <a:r>
              <a:rPr lang="en-US" altLang="zh-CN" sz="2400" b="1" dirty="0" smtClean="0">
                <a:latin typeface="Times New Roman" pitchFamily="18" charset="0"/>
              </a:rPr>
              <a:t>,  </a:t>
            </a:r>
            <a:r>
              <a:rPr lang="zh-CN" altLang="en-US" sz="2400" b="1" dirty="0" smtClean="0">
                <a:latin typeface="Times New Roman" pitchFamily="18" charset="0"/>
              </a:rPr>
              <a:t>即得负二项分布</a:t>
            </a:r>
            <a:endParaRPr lang="zh-CN" altLang="en-US" sz="2400" b="1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73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376238" y="905214"/>
            <a:ext cx="8229600" cy="558461"/>
          </a:xfrm>
        </p:spPr>
        <p:txBody>
          <a:bodyPr/>
          <a:lstStyle/>
          <a:p>
            <a:pPr eaLnBrk="1" hangingPunct="1"/>
            <a:r>
              <a:rPr lang="en-US" altLang="zh-CN" sz="2400" dirty="0" smtClean="0">
                <a:latin typeface="Times New Roman" pitchFamily="18" charset="0"/>
              </a:rPr>
              <a:t>(</a:t>
            </a:r>
            <a:r>
              <a:rPr lang="en-US" altLang="zh-CN" sz="2400" i="1" dirty="0" smtClean="0">
                <a:latin typeface="Times New Roman" pitchFamily="18" charset="0"/>
              </a:rPr>
              <a:t>a</a:t>
            </a:r>
            <a:r>
              <a:rPr lang="en-US" altLang="zh-CN" sz="2400" dirty="0" smtClean="0">
                <a:latin typeface="Times New Roman" pitchFamily="18" charset="0"/>
              </a:rPr>
              <a:t>, </a:t>
            </a:r>
            <a:r>
              <a:rPr lang="en-US" altLang="zh-CN" sz="2400" i="1" dirty="0" smtClean="0">
                <a:latin typeface="Times New Roman" pitchFamily="18" charset="0"/>
              </a:rPr>
              <a:t>b</a:t>
            </a:r>
            <a:r>
              <a:rPr lang="en-US" altLang="zh-CN" sz="2400" dirty="0" smtClean="0">
                <a:latin typeface="Times New Roman" pitchFamily="18" charset="0"/>
              </a:rPr>
              <a:t>, 0)</a:t>
            </a:r>
            <a:r>
              <a:rPr lang="zh-CN" altLang="en-US" sz="2400" dirty="0" smtClean="0">
                <a:latin typeface="Times New Roman" pitchFamily="18" charset="0"/>
              </a:rPr>
              <a:t>分布类之间的关系</a:t>
            </a:r>
          </a:p>
        </p:txBody>
      </p:sp>
      <p:sp>
        <p:nvSpPr>
          <p:cNvPr id="29698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D599CF9-320C-4F48-BAF0-0163CE5FBCDF}" type="slidenum">
              <a:rPr lang="zh-CN" altLang="en-US" sz="1400"/>
              <a:pPr eaLnBrk="1" hangingPunct="1"/>
              <a:t>23</a:t>
            </a:fld>
            <a:endParaRPr lang="en-US" altLang="zh-CN" sz="1400"/>
          </a:p>
        </p:txBody>
      </p:sp>
      <p:sp>
        <p:nvSpPr>
          <p:cNvPr id="30723" name="Oval 3"/>
          <p:cNvSpPr>
            <a:spLocks noChangeArrowheads="1"/>
          </p:cNvSpPr>
          <p:nvPr/>
        </p:nvSpPr>
        <p:spPr bwMode="auto">
          <a:xfrm>
            <a:off x="3429000" y="1828800"/>
            <a:ext cx="1828800" cy="1143000"/>
          </a:xfrm>
          <a:prstGeom prst="ellipse">
            <a:avLst/>
          </a:prstGeom>
          <a:noFill/>
          <a:ln w="9525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spcBef>
                <a:spcPct val="50000"/>
              </a:spcBef>
            </a:pPr>
            <a:r>
              <a:rPr lang="zh-CN" altLang="en-US" sz="2400" b="1"/>
              <a:t>泊松分布</a:t>
            </a:r>
            <a:r>
              <a:rPr lang="en-US" altLang="zh-CN" sz="2400" b="1"/>
              <a:t>(</a:t>
            </a:r>
            <a:r>
              <a:rPr lang="en-US" altLang="zh-CN" sz="2400" b="1">
                <a:latin typeface="Symbol" pitchFamily="18" charset="2"/>
              </a:rPr>
              <a:t>l</a:t>
            </a:r>
            <a:r>
              <a:rPr lang="en-US" altLang="zh-CN" sz="2400" b="1">
                <a:latin typeface="Times New Roman" pitchFamily="18" charset="0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zh-CN" altLang="en-US" sz="1400" b="1">
                <a:latin typeface="Times New Roman" pitchFamily="18" charset="0"/>
              </a:rPr>
              <a:t>方差＝均值</a:t>
            </a:r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609600" y="4267200"/>
            <a:ext cx="2438400" cy="1295400"/>
          </a:xfrm>
          <a:prstGeom prst="ellipse">
            <a:avLst/>
          </a:prstGeom>
          <a:noFill/>
          <a:ln w="9525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spcBef>
                <a:spcPct val="50000"/>
              </a:spcBef>
            </a:pPr>
            <a:r>
              <a:rPr lang="zh-CN" altLang="en-US" sz="2400" b="1"/>
              <a:t>二项分布</a:t>
            </a:r>
            <a:r>
              <a:rPr lang="en-US" altLang="zh-CN" sz="2400" b="1"/>
              <a:t>(</a:t>
            </a:r>
            <a:r>
              <a:rPr lang="en-US" altLang="zh-CN" sz="2400" b="1" i="1">
                <a:latin typeface="Times New Roman" pitchFamily="18" charset="0"/>
              </a:rPr>
              <a:t>m,q</a:t>
            </a:r>
            <a:r>
              <a:rPr lang="en-US" altLang="zh-CN" sz="2400" b="1"/>
              <a:t>)</a:t>
            </a:r>
            <a:endParaRPr lang="en-US" altLang="zh-CN" sz="1400" b="1"/>
          </a:p>
          <a:p>
            <a:pPr>
              <a:spcBef>
                <a:spcPct val="50000"/>
              </a:spcBef>
            </a:pPr>
            <a:r>
              <a:rPr lang="zh-CN" altLang="en-US" sz="1400" b="1"/>
              <a:t>方差 </a:t>
            </a:r>
            <a:r>
              <a:rPr lang="en-US" altLang="zh-CN" sz="1400" b="1"/>
              <a:t>&lt; </a:t>
            </a:r>
            <a:r>
              <a:rPr lang="zh-CN" altLang="en-US" sz="1400" b="1"/>
              <a:t>均值</a:t>
            </a:r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5638800" y="4419600"/>
            <a:ext cx="2514600" cy="1219200"/>
          </a:xfrm>
          <a:prstGeom prst="ellipse">
            <a:avLst/>
          </a:prstGeom>
          <a:noFill/>
          <a:ln w="9525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spcBef>
                <a:spcPct val="50000"/>
              </a:spcBef>
            </a:pPr>
            <a:r>
              <a:rPr lang="zh-CN" altLang="en-US" sz="2400" b="1"/>
              <a:t>负二项分布</a:t>
            </a:r>
            <a:r>
              <a:rPr lang="en-US" altLang="zh-CN" sz="2400" b="1"/>
              <a:t>(</a:t>
            </a:r>
            <a:r>
              <a:rPr lang="en-US" altLang="zh-CN" sz="2400" b="1" i="1">
                <a:latin typeface="Times New Roman" pitchFamily="18" charset="0"/>
              </a:rPr>
              <a:t>r</a:t>
            </a:r>
            <a:r>
              <a:rPr lang="en-US" altLang="zh-CN" sz="2400" b="1"/>
              <a:t>,</a:t>
            </a:r>
            <a:r>
              <a:rPr lang="en-US" altLang="zh-CN" sz="2400" b="1">
                <a:latin typeface="Symbol" pitchFamily="18" charset="2"/>
              </a:rPr>
              <a:t>b</a:t>
            </a:r>
            <a:r>
              <a:rPr lang="en-US" altLang="zh-CN" sz="2400" b="1">
                <a:latin typeface="Times New Roman" pitchFamily="18" charset="0"/>
              </a:rPr>
              <a:t>)</a:t>
            </a:r>
          </a:p>
          <a:p>
            <a:pPr>
              <a:spcBef>
                <a:spcPct val="50000"/>
              </a:spcBef>
            </a:pPr>
            <a:r>
              <a:rPr lang="zh-CN" altLang="en-US" sz="1400" b="1">
                <a:latin typeface="Times New Roman" pitchFamily="18" charset="0"/>
              </a:rPr>
              <a:t>方差 </a:t>
            </a:r>
            <a:r>
              <a:rPr lang="en-US" altLang="zh-CN" sz="1400" b="1">
                <a:latin typeface="Times New Roman" pitchFamily="18" charset="0"/>
              </a:rPr>
              <a:t>&gt; </a:t>
            </a:r>
            <a:r>
              <a:rPr lang="zh-CN" altLang="en-US" sz="1400" b="1">
                <a:latin typeface="Times New Roman" pitchFamily="18" charset="0"/>
              </a:rPr>
              <a:t>均值</a:t>
            </a:r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 flipH="1">
            <a:off x="1981200" y="2819400"/>
            <a:ext cx="1752600" cy="1447800"/>
          </a:xfrm>
          <a:prstGeom prst="line">
            <a:avLst/>
          </a:prstGeom>
          <a:noFill/>
          <a:ln w="9525">
            <a:solidFill>
              <a:srgbClr val="6600FF"/>
            </a:solidFill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3048000" y="4953000"/>
            <a:ext cx="2514600" cy="0"/>
          </a:xfrm>
          <a:prstGeom prst="line">
            <a:avLst/>
          </a:prstGeom>
          <a:noFill/>
          <a:ln w="9525">
            <a:solidFill>
              <a:srgbClr val="66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/>
          </a:p>
        </p:txBody>
      </p:sp>
      <p:sp>
        <p:nvSpPr>
          <p:cNvPr id="30728" name="Line 8"/>
          <p:cNvSpPr>
            <a:spLocks noChangeShapeType="1"/>
          </p:cNvSpPr>
          <p:nvPr/>
        </p:nvSpPr>
        <p:spPr bwMode="auto">
          <a:xfrm flipH="1" flipV="1">
            <a:off x="5029200" y="2819400"/>
            <a:ext cx="1371600" cy="1600200"/>
          </a:xfrm>
          <a:prstGeom prst="line">
            <a:avLst/>
          </a:prstGeom>
          <a:noFill/>
          <a:ln w="9525">
            <a:solidFill>
              <a:srgbClr val="66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b="1"/>
          </a:p>
        </p:txBody>
      </p:sp>
      <p:sp>
        <p:nvSpPr>
          <p:cNvPr id="30729" name="Text Box 9"/>
          <p:cNvSpPr txBox="1">
            <a:spLocks noChangeArrowheads="1"/>
          </p:cNvSpPr>
          <p:nvPr/>
        </p:nvSpPr>
        <p:spPr bwMode="auto">
          <a:xfrm>
            <a:off x="2133600" y="3200400"/>
            <a:ext cx="1770063" cy="7397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1400" b="1">
                <a:solidFill>
                  <a:srgbClr val="FF3300"/>
                </a:solidFill>
                <a:latin typeface="Times New Roman" pitchFamily="18" charset="0"/>
              </a:rPr>
              <a:t>极限：</a:t>
            </a:r>
            <a:r>
              <a:rPr lang="en-US" altLang="zh-CN" sz="1400" b="1" i="1">
                <a:solidFill>
                  <a:srgbClr val="FF3300"/>
                </a:solidFill>
                <a:latin typeface="Times New Roman" pitchFamily="18" charset="0"/>
              </a:rPr>
              <a:t>m </a:t>
            </a:r>
            <a:r>
              <a:rPr lang="en-US" altLang="zh-CN" sz="1400" b="1">
                <a:solidFill>
                  <a:srgbClr val="FF3300"/>
                </a:solidFill>
                <a:latin typeface="Times New Roman" pitchFamily="18" charset="0"/>
              </a:rPr>
              <a:t>→ ∞</a:t>
            </a:r>
            <a:r>
              <a:rPr lang="zh-CN" altLang="en-US" sz="1400" b="1">
                <a:solidFill>
                  <a:srgbClr val="FF3300"/>
                </a:solidFill>
                <a:latin typeface="Times New Roman" pitchFamily="18" charset="0"/>
              </a:rPr>
              <a:t>，</a:t>
            </a:r>
            <a:r>
              <a:rPr lang="en-US" altLang="zh-CN" sz="1400" b="1" i="1">
                <a:solidFill>
                  <a:srgbClr val="FF3300"/>
                </a:solidFill>
                <a:latin typeface="Times New Roman" pitchFamily="18" charset="0"/>
              </a:rPr>
              <a:t>q</a:t>
            </a:r>
            <a:r>
              <a:rPr lang="en-US" altLang="zh-CN" sz="1400" b="1">
                <a:solidFill>
                  <a:srgbClr val="FF3300"/>
                </a:solidFill>
                <a:latin typeface="Times New Roman" pitchFamily="18" charset="0"/>
              </a:rPr>
              <a:t>→0 , </a:t>
            </a:r>
            <a:r>
              <a:rPr lang="zh-CN" altLang="en-US" sz="1400" b="1">
                <a:solidFill>
                  <a:srgbClr val="FF3300"/>
                </a:solidFill>
                <a:latin typeface="Times New Roman" pitchFamily="18" charset="0"/>
              </a:rPr>
              <a:t>且 </a:t>
            </a:r>
            <a:r>
              <a:rPr lang="en-US" altLang="zh-CN" sz="1400" b="1" i="1">
                <a:solidFill>
                  <a:srgbClr val="FF3300"/>
                </a:solidFill>
                <a:latin typeface="Times New Roman" pitchFamily="18" charset="0"/>
              </a:rPr>
              <a:t>mq</a:t>
            </a:r>
            <a:r>
              <a:rPr lang="en-US" altLang="zh-CN" sz="1400" b="1">
                <a:solidFill>
                  <a:srgbClr val="FF3300"/>
                </a:solidFill>
                <a:latin typeface="Times New Roman" pitchFamily="18" charset="0"/>
              </a:rPr>
              <a:t> = </a:t>
            </a:r>
            <a:r>
              <a:rPr lang="en-US" altLang="zh-CN" sz="1400" b="1">
                <a:solidFill>
                  <a:srgbClr val="FF3300"/>
                </a:solidFill>
                <a:latin typeface="Symbol" pitchFamily="18" charset="2"/>
              </a:rPr>
              <a:t>l</a:t>
            </a:r>
            <a:r>
              <a:rPr lang="zh-CN" altLang="en-US" sz="1400" b="1">
                <a:solidFill>
                  <a:srgbClr val="FF3300"/>
                </a:solidFill>
                <a:latin typeface="Times New Roman" pitchFamily="18" charset="0"/>
              </a:rPr>
              <a:t>为常数，</a:t>
            </a:r>
            <a:r>
              <a:rPr lang="zh-CN" altLang="en-US" sz="1400" b="1">
                <a:solidFill>
                  <a:srgbClr val="FF3300"/>
                </a:solidFill>
              </a:rPr>
              <a:t>近似：</a:t>
            </a:r>
            <a:r>
              <a:rPr lang="en-US" altLang="zh-CN" sz="1400" b="1" i="1">
                <a:solidFill>
                  <a:srgbClr val="FF3300"/>
                </a:solidFill>
                <a:latin typeface="Times New Roman" pitchFamily="18" charset="0"/>
              </a:rPr>
              <a:t>mq</a:t>
            </a:r>
            <a:r>
              <a:rPr lang="en-US" altLang="zh-CN" sz="1400" b="1">
                <a:solidFill>
                  <a:srgbClr val="FF3300"/>
                </a:solidFill>
                <a:latin typeface="Times New Roman" pitchFamily="18" charset="0"/>
              </a:rPr>
              <a:t>=</a:t>
            </a:r>
            <a:r>
              <a:rPr lang="en-US" altLang="zh-CN" sz="1400" b="1">
                <a:solidFill>
                  <a:srgbClr val="FF3300"/>
                </a:solidFill>
                <a:latin typeface="Symbol" pitchFamily="18" charset="2"/>
              </a:rPr>
              <a:t>l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3581400" y="5149850"/>
            <a:ext cx="1206500" cy="5921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75000"/>
              </a:lnSpc>
              <a:spcBef>
                <a:spcPct val="50000"/>
              </a:spcBef>
            </a:pPr>
            <a:r>
              <a:rPr lang="zh-CN" altLang="en-US" sz="1600" b="1">
                <a:solidFill>
                  <a:srgbClr val="FF0000"/>
                </a:solidFill>
              </a:rPr>
              <a:t>参数取负值</a:t>
            </a:r>
          </a:p>
          <a:p>
            <a:pPr algn="l" eaLnBrk="1" hangingPunct="1">
              <a:lnSpc>
                <a:spcPct val="75000"/>
              </a:lnSpc>
              <a:spcBef>
                <a:spcPct val="50000"/>
              </a:spcBef>
            </a:pPr>
            <a:r>
              <a:rPr lang="zh-CN" altLang="en-US" sz="1600" b="1">
                <a:solidFill>
                  <a:srgbClr val="FF0000"/>
                </a:solidFill>
              </a:rPr>
              <a:t>形式上相似</a:t>
            </a: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4491038" y="3281363"/>
            <a:ext cx="1985962" cy="46831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72000" rIns="0" bIns="720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zh-CN" altLang="en-US" sz="1400" b="1">
                <a:solidFill>
                  <a:srgbClr val="FF0000"/>
                </a:solidFill>
              </a:rPr>
              <a:t>极限： </a:t>
            </a:r>
            <a:r>
              <a:rPr lang="en-US" altLang="zh-CN" sz="1400" b="1" i="1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CN" sz="1400" b="1">
                <a:solidFill>
                  <a:srgbClr val="FF0000"/>
                </a:solidFill>
                <a:latin typeface="Symbol" pitchFamily="18" charset="2"/>
              </a:rPr>
              <a:t> </a:t>
            </a:r>
            <a:r>
              <a:rPr lang="en-US" altLang="zh-CN" sz="1400" b="1">
                <a:solidFill>
                  <a:srgbClr val="FF3300"/>
                </a:solidFill>
                <a:latin typeface="Times New Roman" pitchFamily="18" charset="0"/>
              </a:rPr>
              <a:t>→ ∞</a:t>
            </a:r>
            <a:endParaRPr lang="en-US" altLang="zh-CN" sz="1400" b="1">
              <a:solidFill>
                <a:srgbClr val="FF0000"/>
              </a:solidFill>
              <a:latin typeface="Symbol" pitchFamily="18" charset="2"/>
            </a:endParaRPr>
          </a:p>
          <a:p>
            <a:pPr algn="l" eaLnBrk="1" hangingPunct="1">
              <a:lnSpc>
                <a:spcPct val="50000"/>
              </a:lnSpc>
              <a:spcBef>
                <a:spcPct val="50000"/>
              </a:spcBef>
            </a:pPr>
            <a:r>
              <a:rPr lang="en-US" altLang="zh-CN" sz="1400" b="1">
                <a:solidFill>
                  <a:srgbClr val="FF0000"/>
                </a:solidFill>
                <a:latin typeface="Symbol" pitchFamily="18" charset="2"/>
              </a:rPr>
              <a:t>b</a:t>
            </a:r>
            <a:r>
              <a:rPr lang="en-US" altLang="zh-CN" sz="1400" b="1">
                <a:solidFill>
                  <a:srgbClr val="FF3300"/>
                </a:solidFill>
                <a:latin typeface="Times New Roman" pitchFamily="18" charset="0"/>
              </a:rPr>
              <a:t> → 0</a:t>
            </a:r>
            <a:r>
              <a:rPr lang="en-US" altLang="zh-CN" sz="1400" b="1">
                <a:solidFill>
                  <a:srgbClr val="FF0000"/>
                </a:solidFill>
                <a:latin typeface="Symbol" pitchFamily="18" charset="2"/>
              </a:rPr>
              <a:t> ,  </a:t>
            </a:r>
            <a:r>
              <a:rPr lang="en-US" altLang="zh-CN" sz="1400" b="1" i="1">
                <a:solidFill>
                  <a:srgbClr val="FF0000"/>
                </a:solidFill>
                <a:latin typeface="Times New Roman" pitchFamily="18" charset="0"/>
              </a:rPr>
              <a:t>r</a:t>
            </a:r>
            <a:r>
              <a:rPr lang="en-US" altLang="zh-CN" sz="1400" b="1" i="1">
                <a:solidFill>
                  <a:srgbClr val="FF0000"/>
                </a:solidFill>
                <a:latin typeface="Symbol" pitchFamily="18" charset="2"/>
              </a:rPr>
              <a:t> </a:t>
            </a:r>
            <a:r>
              <a:rPr lang="en-US" altLang="zh-CN" sz="1400" b="1">
                <a:solidFill>
                  <a:srgbClr val="FF0000"/>
                </a:solidFill>
                <a:latin typeface="Symbol" pitchFamily="18" charset="2"/>
              </a:rPr>
              <a:t>b = l</a:t>
            </a:r>
            <a:r>
              <a:rPr lang="zh-CN" altLang="en-US" sz="1400" b="1">
                <a:solidFill>
                  <a:srgbClr val="FF0000"/>
                </a:solidFill>
                <a:latin typeface="Symbol" pitchFamily="18" charset="2"/>
              </a:rPr>
              <a:t>为常数</a:t>
            </a:r>
          </a:p>
        </p:txBody>
      </p:sp>
      <p:sp>
        <p:nvSpPr>
          <p:cNvPr id="30732" name="Oval 12"/>
          <p:cNvSpPr>
            <a:spLocks noChangeArrowheads="1"/>
          </p:cNvSpPr>
          <p:nvPr/>
        </p:nvSpPr>
        <p:spPr bwMode="auto">
          <a:xfrm>
            <a:off x="6096000" y="2133600"/>
            <a:ext cx="1600200" cy="838200"/>
          </a:xfrm>
          <a:prstGeom prst="ellipse">
            <a:avLst/>
          </a:prstGeom>
          <a:noFill/>
          <a:ln w="9525">
            <a:solidFill>
              <a:srgbClr val="66FF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>
              <a:spcBef>
                <a:spcPct val="50000"/>
              </a:spcBef>
            </a:pPr>
            <a:r>
              <a:rPr lang="zh-CN" altLang="en-US" sz="2400" b="1"/>
              <a:t>几何分布</a:t>
            </a:r>
            <a:r>
              <a:rPr lang="en-US" altLang="zh-CN" sz="2400" b="1"/>
              <a:t>(</a:t>
            </a:r>
            <a:r>
              <a:rPr lang="en-US" altLang="zh-CN" sz="2400" b="1">
                <a:latin typeface="Symbol" pitchFamily="18" charset="2"/>
              </a:rPr>
              <a:t>b)</a:t>
            </a:r>
            <a:endParaRPr lang="en-US" altLang="zh-CN" sz="2400" b="1"/>
          </a:p>
        </p:txBody>
      </p:sp>
      <p:sp>
        <p:nvSpPr>
          <p:cNvPr id="30733" name="Line 13"/>
          <p:cNvSpPr>
            <a:spLocks noChangeShapeType="1"/>
          </p:cNvSpPr>
          <p:nvPr/>
        </p:nvSpPr>
        <p:spPr bwMode="auto">
          <a:xfrm flipV="1">
            <a:off x="6934200" y="2971800"/>
            <a:ext cx="0" cy="1447800"/>
          </a:xfrm>
          <a:prstGeom prst="line">
            <a:avLst/>
          </a:prstGeom>
          <a:noFill/>
          <a:ln w="9525">
            <a:solidFill>
              <a:srgbClr val="6600FF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 b="1"/>
          </a:p>
        </p:txBody>
      </p:sp>
      <p:sp>
        <p:nvSpPr>
          <p:cNvPr id="30734" name="Text Box 14"/>
          <p:cNvSpPr txBox="1">
            <a:spLocks noChangeArrowheads="1"/>
          </p:cNvSpPr>
          <p:nvPr/>
        </p:nvSpPr>
        <p:spPr bwMode="auto">
          <a:xfrm>
            <a:off x="6678613" y="3573463"/>
            <a:ext cx="539750" cy="3095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1400" b="1">
                <a:solidFill>
                  <a:srgbClr val="FF0000"/>
                </a:solidFill>
              </a:rPr>
              <a:t>特例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nimBg="1" autoUpdateAnimBg="0"/>
      <p:bldP spid="30724" grpId="0" animBg="1" autoUpdateAnimBg="0"/>
      <p:bldP spid="30725" grpId="0" animBg="1" autoUpdateAnimBg="0"/>
      <p:bldP spid="30726" grpId="0" animBg="1"/>
      <p:bldP spid="30727" grpId="0" animBg="1"/>
      <p:bldP spid="30728" grpId="0" animBg="1"/>
      <p:bldP spid="30729" grpId="0" animBg="1" autoUpdateAnimBg="0"/>
      <p:bldP spid="30730" grpId="0" animBg="1" autoUpdateAnimBg="0"/>
      <p:bldP spid="30731" grpId="0" animBg="1" autoUpdateAnimBg="0"/>
      <p:bldP spid="30732" grpId="0" animBg="1" autoUpdateAnimBg="0"/>
      <p:bldP spid="30733" grpId="0" animBg="1"/>
      <p:bldP spid="30734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（</a:t>
            </a:r>
            <a:r>
              <a:rPr lang="en-US" altLang="zh-CN" b="1" i="1" dirty="0" smtClean="0">
                <a:latin typeface="Times New Roman" pitchFamily="18" charset="0"/>
              </a:rPr>
              <a:t>a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</a:rPr>
              <a:t>b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</a:rPr>
              <a:t>1</a:t>
            </a:r>
            <a:r>
              <a:rPr lang="zh-CN" altLang="en-US" b="1" dirty="0" smtClean="0">
                <a:latin typeface="Times New Roman" pitchFamily="18" charset="0"/>
              </a:rPr>
              <a:t>）分布类包含两个子类：</a:t>
            </a:r>
          </a:p>
          <a:p>
            <a:pPr lvl="1" eaLnBrk="1" hangingPunct="1"/>
            <a:r>
              <a:rPr lang="zh-CN" altLang="en-US" b="1" dirty="0" smtClean="0">
                <a:latin typeface="Times New Roman" pitchFamily="18" charset="0"/>
              </a:rPr>
              <a:t>零截断分布 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zero-truncated distribution</a:t>
            </a:r>
            <a:r>
              <a:rPr lang="en-US" altLang="zh-CN" b="1" dirty="0" smtClean="0">
                <a:latin typeface="Times New Roman" pitchFamily="18" charset="0"/>
              </a:rPr>
              <a:t>)</a:t>
            </a:r>
          </a:p>
          <a:p>
            <a:pPr lvl="1" eaLnBrk="1" hangingPunct="1"/>
            <a:r>
              <a:rPr lang="zh-CN" altLang="en-US" b="1" dirty="0" smtClean="0">
                <a:latin typeface="Times New Roman" pitchFamily="18" charset="0"/>
              </a:rPr>
              <a:t>零调整分布 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zero-modified distribution</a:t>
            </a:r>
            <a:r>
              <a:rPr lang="en-US" altLang="zh-CN" b="1" dirty="0" smtClean="0">
                <a:latin typeface="Times New Roman" pitchFamily="18" charset="0"/>
              </a:rPr>
              <a:t>) </a:t>
            </a:r>
          </a:p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对于零截断分布，发生 </a:t>
            </a:r>
            <a:r>
              <a:rPr lang="en-US" altLang="zh-CN" b="1" i="1" dirty="0" smtClean="0">
                <a:latin typeface="Times New Roman" pitchFamily="18" charset="0"/>
              </a:rPr>
              <a:t>k </a:t>
            </a:r>
            <a:r>
              <a:rPr lang="zh-CN" altLang="en-US" b="1" dirty="0" smtClean="0">
                <a:latin typeface="Times New Roman" pitchFamily="18" charset="0"/>
              </a:rPr>
              <a:t>次损失的概率用      表示，其中</a:t>
            </a:r>
          </a:p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对于零调整分布，发生</a:t>
            </a:r>
            <a:r>
              <a:rPr lang="en-US" altLang="zh-CN" b="1" i="1" dirty="0" smtClean="0">
                <a:latin typeface="Times New Roman" pitchFamily="18" charset="0"/>
              </a:rPr>
              <a:t>k</a:t>
            </a:r>
            <a:r>
              <a:rPr lang="zh-CN" altLang="en-US" b="1" dirty="0" smtClean="0">
                <a:latin typeface="Times New Roman" pitchFamily="18" charset="0"/>
              </a:rPr>
              <a:t>次损失的概率用      表示，其中       可以是任意概率值。 </a:t>
            </a:r>
          </a:p>
        </p:txBody>
      </p:sp>
      <p:sp>
        <p:nvSpPr>
          <p:cNvPr id="307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7C2D9A8-0A20-4DFC-BDDE-1F6E35208837}" type="slidenum">
              <a:rPr lang="zh-CN" altLang="en-US" sz="1400"/>
              <a:pPr eaLnBrk="1" hangingPunct="1"/>
              <a:t>24</a:t>
            </a:fld>
            <a:endParaRPr lang="en-US" altLang="zh-CN" sz="1400"/>
          </a:p>
        </p:txBody>
      </p:sp>
      <p:sp>
        <p:nvSpPr>
          <p:cNvPr id="30724" name="Rectangle 3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3434822"/>
              </p:ext>
            </p:extLst>
          </p:nvPr>
        </p:nvGraphicFramePr>
        <p:xfrm>
          <a:off x="7404100" y="3488192"/>
          <a:ext cx="4222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85" r:id="rId3" imgW="203377" imgH="241510" progId="Equation.DSMT4">
                  <p:embed/>
                </p:oleObj>
              </mc:Choice>
              <mc:Fallback>
                <p:oleObj r:id="rId3" imgW="203377" imgH="24151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0" y="3488192"/>
                        <a:ext cx="422275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6" name="Rectangle 5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277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479190"/>
              </p:ext>
            </p:extLst>
          </p:nvPr>
        </p:nvGraphicFramePr>
        <p:xfrm>
          <a:off x="1828872" y="4225925"/>
          <a:ext cx="93662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86" r:id="rId5" imgW="444693" imgH="241405" progId="Equation.DSMT4">
                  <p:embed/>
                </p:oleObj>
              </mc:Choice>
              <mc:Fallback>
                <p:oleObj r:id="rId5" imgW="444693" imgH="241405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72" y="4225925"/>
                        <a:ext cx="93662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8" name="Rectangle 7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27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674289"/>
              </p:ext>
            </p:extLst>
          </p:nvPr>
        </p:nvGraphicFramePr>
        <p:xfrm>
          <a:off x="7188200" y="4901450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87" r:id="rId7" imgW="241510" imgH="241510" progId="Equation.DSMT4">
                  <p:embed/>
                </p:oleObj>
              </mc:Choice>
              <mc:Fallback>
                <p:oleObj r:id="rId7" imgW="241510" imgH="24151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8200" y="4901450"/>
                        <a:ext cx="431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0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277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304061"/>
              </p:ext>
            </p:extLst>
          </p:nvPr>
        </p:nvGraphicFramePr>
        <p:xfrm>
          <a:off x="1676476" y="5475817"/>
          <a:ext cx="5032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2888" r:id="rId9" imgW="241510" imgH="241510" progId="Equation.DSMT4">
                  <p:embed/>
                </p:oleObj>
              </mc:Choice>
              <mc:Fallback>
                <p:oleObj r:id="rId9" imgW="241510" imgH="24151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76" y="5475817"/>
                        <a:ext cx="50323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2" name="Rectangle 2"/>
          <p:cNvSpPr>
            <a:spLocks noChangeArrowheads="1"/>
          </p:cNvSpPr>
          <p:nvPr/>
        </p:nvSpPr>
        <p:spPr bwMode="auto">
          <a:xfrm>
            <a:off x="228714" y="636852"/>
            <a:ext cx="8229600" cy="89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fontAlgn="base"/>
            <a:r>
              <a:rPr lang="zh-CN" altLang="en-US" sz="3600" b="1" dirty="0">
                <a:solidFill>
                  <a:srgbClr val="000099"/>
                </a:solidFill>
              </a:rPr>
              <a:t>（</a:t>
            </a:r>
            <a:r>
              <a:rPr lang="en-US" altLang="zh-CN" sz="3600" b="1" i="1" dirty="0">
                <a:solidFill>
                  <a:srgbClr val="000099"/>
                </a:solidFill>
                <a:latin typeface="Times New Roman" pitchFamily="18" charset="0"/>
              </a:rPr>
              <a:t>a</a:t>
            </a:r>
            <a:r>
              <a:rPr lang="en-US" altLang="zh-CN" sz="3600" b="1" dirty="0">
                <a:solidFill>
                  <a:srgbClr val="000099"/>
                </a:solidFill>
                <a:latin typeface="Times New Roman" pitchFamily="18" charset="0"/>
              </a:rPr>
              <a:t>,</a:t>
            </a:r>
            <a:r>
              <a:rPr lang="en-US" altLang="zh-CN" sz="3600" b="1" i="1" dirty="0">
                <a:solidFill>
                  <a:srgbClr val="000099"/>
                </a:solidFill>
                <a:latin typeface="Times New Roman" pitchFamily="18" charset="0"/>
              </a:rPr>
              <a:t> b</a:t>
            </a:r>
            <a:r>
              <a:rPr lang="en-US" altLang="zh-CN" sz="3600" b="1" dirty="0">
                <a:solidFill>
                  <a:srgbClr val="000099"/>
                </a:solidFill>
              </a:rPr>
              <a:t>, 1</a:t>
            </a:r>
            <a:r>
              <a:rPr lang="zh-CN" altLang="en-US" sz="3600" b="1" dirty="0">
                <a:solidFill>
                  <a:srgbClr val="000099"/>
                </a:solidFill>
              </a:rPr>
              <a:t>）</a:t>
            </a:r>
            <a:r>
              <a:rPr lang="en-US" altLang="zh-CN" sz="3600" b="1" dirty="0">
                <a:solidFill>
                  <a:srgbClr val="000099"/>
                </a:solidFill>
              </a:rPr>
              <a:t>class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2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2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itchFamily="18" charset="0"/>
              </a:rPr>
              <a:t>（</a:t>
            </a:r>
            <a:r>
              <a:rPr lang="en-US" altLang="zh-CN" b="1" i="1" smtClean="0">
                <a:latin typeface="Times New Roman" pitchFamily="18" charset="0"/>
              </a:rPr>
              <a:t>a</a:t>
            </a:r>
            <a:r>
              <a:rPr lang="zh-CN" altLang="en-US" b="1" smtClean="0">
                <a:latin typeface="Times New Roman" pitchFamily="18" charset="0"/>
              </a:rPr>
              <a:t>，</a:t>
            </a:r>
            <a:r>
              <a:rPr lang="en-US" altLang="zh-CN" b="1" i="1" smtClean="0">
                <a:latin typeface="Times New Roman" pitchFamily="18" charset="0"/>
              </a:rPr>
              <a:t>b</a:t>
            </a:r>
            <a:r>
              <a:rPr lang="zh-CN" altLang="en-US" b="1" smtClean="0">
                <a:latin typeface="Times New Roman" pitchFamily="18" charset="0"/>
              </a:rPr>
              <a:t>，</a:t>
            </a:r>
            <a:r>
              <a:rPr lang="en-US" altLang="zh-CN" b="1" smtClean="0">
                <a:latin typeface="Times New Roman" pitchFamily="18" charset="0"/>
              </a:rPr>
              <a:t>1</a:t>
            </a:r>
            <a:r>
              <a:rPr lang="zh-CN" altLang="en-US" b="1" smtClean="0">
                <a:latin typeface="Times New Roman" pitchFamily="18" charset="0"/>
              </a:rPr>
              <a:t>）分布类满足下述递推关系：</a:t>
            </a:r>
          </a:p>
          <a:p>
            <a:pPr eaLnBrk="1" hangingPunct="1"/>
            <a:endParaRPr lang="zh-CN" altLang="en-US" b="1" smtClean="0">
              <a:latin typeface="Times New Roman" pitchFamily="18" charset="0"/>
            </a:endParaRPr>
          </a:p>
        </p:txBody>
      </p:sp>
      <p:sp>
        <p:nvSpPr>
          <p:cNvPr id="317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7727288-0039-4B2D-95EC-7637BDE4A0F8}" type="slidenum">
              <a:rPr lang="zh-CN" altLang="en-US" sz="1400"/>
              <a:pPr eaLnBrk="1" hangingPunct="1"/>
              <a:t>25</a:t>
            </a:fld>
            <a:endParaRPr lang="en-US" altLang="zh-CN" sz="1400"/>
          </a:p>
        </p:txBody>
      </p:sp>
      <p:sp>
        <p:nvSpPr>
          <p:cNvPr id="31748" name="Rectangle 3"/>
          <p:cNvSpPr>
            <a:spLocks noChangeArrowheads="1"/>
          </p:cNvSpPr>
          <p:nvPr/>
        </p:nvSpPr>
        <p:spPr bwMode="auto">
          <a:xfrm>
            <a:off x="4481089" y="3052000"/>
            <a:ext cx="181821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 b="1"/>
          </a:p>
        </p:txBody>
      </p:sp>
      <p:graphicFrame>
        <p:nvGraphicFramePr>
          <p:cNvPr id="337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2970053"/>
              </p:ext>
            </p:extLst>
          </p:nvPr>
        </p:nvGraphicFramePr>
        <p:xfrm>
          <a:off x="2195513" y="2708275"/>
          <a:ext cx="1657350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101" r:id="rId3" imgW="838200" imgH="431800" progId="Equation.DSMT4">
                  <p:embed/>
                </p:oleObj>
              </mc:Choice>
              <mc:Fallback>
                <p:oleObj r:id="rId3" imgW="8382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708275"/>
                        <a:ext cx="1657350" cy="85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7" name="Rectangle 5"/>
          <p:cNvSpPr>
            <a:spLocks noChangeArrowheads="1"/>
          </p:cNvSpPr>
          <p:nvPr/>
        </p:nvSpPr>
        <p:spPr bwMode="auto">
          <a:xfrm>
            <a:off x="4356100" y="2993877"/>
            <a:ext cx="2665413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 anchor="ctr">
            <a:spAutoFit/>
          </a:bodyPr>
          <a:lstStyle/>
          <a:p>
            <a:pPr algn="l" fontAlgn="b"/>
            <a:r>
              <a:rPr lang="zh-CN" altLang="en-US" sz="2400" b="1">
                <a:latin typeface="Times New Roman" pitchFamily="18" charset="0"/>
              </a:rPr>
              <a:t> </a:t>
            </a:r>
            <a:r>
              <a:rPr lang="en-US" altLang="zh-CN" sz="2400" b="1" i="1">
                <a:latin typeface="Times New Roman" pitchFamily="18" charset="0"/>
              </a:rPr>
              <a:t>k</a:t>
            </a:r>
            <a:r>
              <a:rPr lang="en-US" altLang="zh-CN" sz="2400" b="1">
                <a:latin typeface="Times New Roman" pitchFamily="18" charset="0"/>
              </a:rPr>
              <a:t> = 2</a:t>
            </a:r>
            <a:r>
              <a:rPr lang="zh-CN" altLang="en-US" sz="2400" b="1">
                <a:latin typeface="Times New Roman" pitchFamily="18" charset="0"/>
              </a:rPr>
              <a:t>，</a:t>
            </a:r>
            <a:r>
              <a:rPr lang="en-US" altLang="zh-CN" sz="2400" b="1">
                <a:latin typeface="Times New Roman" pitchFamily="18" charset="0"/>
              </a:rPr>
              <a:t>3</a:t>
            </a:r>
            <a:r>
              <a:rPr lang="zh-CN" altLang="en-US" sz="2400" b="1">
                <a:latin typeface="Times New Roman" pitchFamily="18" charset="0"/>
              </a:rPr>
              <a:t>，</a:t>
            </a:r>
            <a:r>
              <a:rPr lang="en-US" altLang="zh-CN" sz="2400" b="1">
                <a:latin typeface="Times New Roman" pitchFamily="18" charset="0"/>
              </a:rPr>
              <a:t>……</a:t>
            </a:r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827088" y="3997733"/>
            <a:ext cx="7759153" cy="1202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pPr algn="l" fontAlgn="base"/>
            <a:r>
              <a:rPr lang="zh-CN" altLang="en-US" sz="2400" b="1">
                <a:latin typeface="Times New Roman" pitchFamily="18" charset="0"/>
              </a:rPr>
              <a:t>上述递推关系与（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zh-CN" altLang="en-US" sz="2400" b="1">
                <a:latin typeface="Times New Roman" pitchFamily="18" charset="0"/>
              </a:rPr>
              <a:t>，</a:t>
            </a:r>
            <a:r>
              <a:rPr lang="en-US" altLang="zh-CN" sz="2400" b="1" i="1">
                <a:latin typeface="Times New Roman" pitchFamily="18" charset="0"/>
              </a:rPr>
              <a:t>b</a:t>
            </a:r>
            <a:r>
              <a:rPr lang="zh-CN" altLang="en-US" sz="2400" b="1">
                <a:latin typeface="Times New Roman" pitchFamily="18" charset="0"/>
              </a:rPr>
              <a:t>，</a:t>
            </a:r>
            <a:r>
              <a:rPr lang="en-US" altLang="zh-CN" sz="2400" b="1">
                <a:latin typeface="Times New Roman" pitchFamily="18" charset="0"/>
              </a:rPr>
              <a:t>0</a:t>
            </a:r>
            <a:r>
              <a:rPr lang="zh-CN" altLang="en-US" sz="2400" b="1">
                <a:latin typeface="Times New Roman" pitchFamily="18" charset="0"/>
              </a:rPr>
              <a:t>）分布类的递推关系完全相同</a:t>
            </a:r>
          </a:p>
          <a:p>
            <a:pPr algn="l" fontAlgn="base"/>
            <a:r>
              <a:rPr lang="zh-CN" altLang="en-US" sz="2400" b="1">
                <a:latin typeface="Times New Roman" pitchFamily="18" charset="0"/>
              </a:rPr>
              <a:t>只是（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zh-CN" altLang="en-US" sz="2400" b="1">
                <a:latin typeface="Times New Roman" pitchFamily="18" charset="0"/>
              </a:rPr>
              <a:t>，</a:t>
            </a:r>
            <a:r>
              <a:rPr lang="en-US" altLang="zh-CN" sz="2400" b="1" i="1">
                <a:latin typeface="Times New Roman" pitchFamily="18" charset="0"/>
              </a:rPr>
              <a:t>b</a:t>
            </a:r>
            <a:r>
              <a:rPr lang="zh-CN" altLang="en-US" sz="2400" b="1">
                <a:latin typeface="Times New Roman" pitchFamily="18" charset="0"/>
              </a:rPr>
              <a:t>，</a:t>
            </a:r>
            <a:r>
              <a:rPr lang="en-US" altLang="zh-CN" sz="2400" b="1">
                <a:latin typeface="Times New Roman" pitchFamily="18" charset="0"/>
              </a:rPr>
              <a:t>1</a:t>
            </a:r>
            <a:r>
              <a:rPr lang="zh-CN" altLang="en-US" sz="2400" b="1">
                <a:latin typeface="Times New Roman" pitchFamily="18" charset="0"/>
              </a:rPr>
              <a:t>）分布类的递推关系是从 </a:t>
            </a:r>
            <a:r>
              <a:rPr lang="en-US" altLang="zh-CN" sz="2400" b="1" i="1">
                <a:latin typeface="Times New Roman" pitchFamily="18" charset="0"/>
              </a:rPr>
              <a:t>p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  <a:r>
              <a:rPr lang="zh-CN" altLang="en-US" sz="2400" b="1">
                <a:latin typeface="Times New Roman" pitchFamily="18" charset="0"/>
              </a:rPr>
              <a:t>开始，而</a:t>
            </a:r>
          </a:p>
          <a:p>
            <a:pPr algn="l" fontAlgn="base"/>
            <a:r>
              <a:rPr lang="zh-CN" altLang="en-US" sz="2400" b="1">
                <a:latin typeface="Times New Roman" pitchFamily="18" charset="0"/>
              </a:rPr>
              <a:t>（</a:t>
            </a: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zh-CN" altLang="en-US" sz="2400" b="1">
                <a:latin typeface="Times New Roman" pitchFamily="18" charset="0"/>
              </a:rPr>
              <a:t>，</a:t>
            </a:r>
            <a:r>
              <a:rPr lang="en-US" altLang="zh-CN" sz="2400" b="1" i="1">
                <a:latin typeface="Times New Roman" pitchFamily="18" charset="0"/>
              </a:rPr>
              <a:t>b</a:t>
            </a:r>
            <a:r>
              <a:rPr lang="zh-CN" altLang="en-US" sz="2400" b="1">
                <a:latin typeface="Times New Roman" pitchFamily="18" charset="0"/>
              </a:rPr>
              <a:t>，</a:t>
            </a:r>
            <a:r>
              <a:rPr lang="en-US" altLang="zh-CN" sz="2400" b="1">
                <a:latin typeface="Times New Roman" pitchFamily="18" charset="0"/>
              </a:rPr>
              <a:t>0</a:t>
            </a:r>
            <a:r>
              <a:rPr lang="zh-CN" altLang="en-US" sz="2400" b="1">
                <a:latin typeface="Times New Roman" pitchFamily="18" charset="0"/>
              </a:rPr>
              <a:t>）分布类的递推关系是从 </a:t>
            </a:r>
            <a:r>
              <a:rPr lang="en-US" altLang="zh-CN" sz="2400" b="1" i="1">
                <a:latin typeface="Times New Roman" pitchFamily="18" charset="0"/>
              </a:rPr>
              <a:t>p</a:t>
            </a:r>
            <a:r>
              <a:rPr lang="en-US" altLang="zh-CN" sz="2400" b="1" baseline="-25000">
                <a:latin typeface="Times New Roman" pitchFamily="18" charset="0"/>
              </a:rPr>
              <a:t>0</a:t>
            </a:r>
            <a:r>
              <a:rPr lang="zh-CN" altLang="en-US" sz="2400" b="1">
                <a:latin typeface="Times New Roman" pitchFamily="18" charset="0"/>
              </a:rPr>
              <a:t>开始。 </a:t>
            </a:r>
          </a:p>
        </p:txBody>
      </p:sp>
      <p:sp>
        <p:nvSpPr>
          <p:cNvPr id="33799" name="Rectangle 7"/>
          <p:cNvSpPr>
            <a:spLocks noChangeArrowheads="1"/>
          </p:cNvSpPr>
          <p:nvPr/>
        </p:nvSpPr>
        <p:spPr bwMode="auto">
          <a:xfrm>
            <a:off x="2273300" y="5561013"/>
            <a:ext cx="15113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i="1">
                <a:latin typeface="Times New Roman" pitchFamily="18" charset="0"/>
              </a:rPr>
              <a:t>a</a:t>
            </a:r>
            <a:r>
              <a:rPr lang="zh-CN" altLang="en-US" sz="2400" b="1">
                <a:latin typeface="Times New Roman" pitchFamily="18" charset="0"/>
              </a:rPr>
              <a:t>，</a:t>
            </a:r>
            <a:r>
              <a:rPr lang="en-US" altLang="zh-CN" sz="2400" b="1" i="1">
                <a:latin typeface="Times New Roman" pitchFamily="18" charset="0"/>
              </a:rPr>
              <a:t>b </a:t>
            </a:r>
            <a:r>
              <a:rPr lang="zh-CN" altLang="en-US" sz="2400" b="1">
                <a:latin typeface="Times New Roman" pitchFamily="18" charset="0"/>
              </a:rPr>
              <a:t>， </a:t>
            </a:r>
            <a:r>
              <a:rPr lang="en-US" altLang="zh-CN" sz="2400" b="1" i="1">
                <a:latin typeface="Times New Roman" pitchFamily="18" charset="0"/>
              </a:rPr>
              <a:t>p</a:t>
            </a:r>
            <a:r>
              <a:rPr lang="en-US" altLang="zh-CN" sz="2400" b="1" baseline="-25000">
                <a:latin typeface="Times New Roman" pitchFamily="18" charset="0"/>
              </a:rPr>
              <a:t>1</a:t>
            </a:r>
          </a:p>
        </p:txBody>
      </p:sp>
      <p:sp>
        <p:nvSpPr>
          <p:cNvPr id="33800" name="AutoShape 8"/>
          <p:cNvSpPr>
            <a:spLocks noChangeArrowheads="1"/>
          </p:cNvSpPr>
          <p:nvPr/>
        </p:nvSpPr>
        <p:spPr bwMode="auto">
          <a:xfrm>
            <a:off x="4038600" y="5715000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 b="1"/>
          </a:p>
        </p:txBody>
      </p:sp>
      <p:sp>
        <p:nvSpPr>
          <p:cNvPr id="33801" name="Rectangle 9"/>
          <p:cNvSpPr>
            <a:spLocks noChangeArrowheads="1"/>
          </p:cNvSpPr>
          <p:nvPr/>
        </p:nvSpPr>
        <p:spPr bwMode="auto">
          <a:xfrm>
            <a:off x="5049838" y="5561013"/>
            <a:ext cx="2257425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（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a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,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 b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, 1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）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Class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7" grpId="0" autoUpdateAnimBg="0"/>
      <p:bldP spid="33798" grpId="0" autoUpdateAnimBg="0"/>
      <p:bldP spid="33799" grpId="0" animBg="1" autoUpdateAnimBg="0"/>
      <p:bldP spid="33800" grpId="0" animBg="1"/>
      <p:bldP spid="33801" grpId="0" animBg="1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 smtClean="0">
                <a:latin typeface="Times New Roman" pitchFamily="18" charset="0"/>
              </a:rPr>
              <a:t>(</a:t>
            </a:r>
            <a:r>
              <a:rPr lang="en-US" altLang="zh-CN" i="1" dirty="0" smtClean="0">
                <a:latin typeface="Times New Roman" pitchFamily="18" charset="0"/>
              </a:rPr>
              <a:t>a</a:t>
            </a:r>
            <a:r>
              <a:rPr lang="en-US" altLang="zh-CN" dirty="0" smtClean="0">
                <a:latin typeface="Times New Roman" pitchFamily="18" charset="0"/>
              </a:rPr>
              <a:t>, </a:t>
            </a:r>
            <a:r>
              <a:rPr lang="en-US" altLang="zh-CN" i="1" dirty="0" smtClean="0">
                <a:latin typeface="Times New Roman" pitchFamily="18" charset="0"/>
              </a:rPr>
              <a:t>b</a:t>
            </a:r>
            <a:r>
              <a:rPr lang="en-US" altLang="zh-CN" dirty="0" smtClean="0">
                <a:latin typeface="Times New Roman" pitchFamily="18" charset="0"/>
              </a:rPr>
              <a:t>, 1) </a:t>
            </a:r>
            <a:r>
              <a:rPr lang="zh-CN" altLang="en-US" dirty="0" smtClean="0">
                <a:latin typeface="Times New Roman" pitchFamily="18" charset="0"/>
              </a:rPr>
              <a:t>的概率计算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第一步：原分布的概率 </a:t>
            </a:r>
            <a:r>
              <a:rPr lang="en-US" altLang="zh-CN" b="1" i="1" dirty="0" err="1" smtClean="0">
                <a:latin typeface="Times New Roman" pitchFamily="18" charset="0"/>
              </a:rPr>
              <a:t>p</a:t>
            </a:r>
            <a:r>
              <a:rPr lang="en-US" altLang="zh-CN" b="1" i="1" baseline="-25000" dirty="0" err="1" smtClean="0">
                <a:latin typeface="Times New Roman" pitchFamily="18" charset="0"/>
              </a:rPr>
              <a:t>k</a:t>
            </a:r>
            <a:endParaRPr lang="en-US" altLang="zh-CN" b="1" i="1" baseline="-25000" dirty="0" smtClean="0">
              <a:latin typeface="Times New Roman" pitchFamily="18" charset="0"/>
            </a:endParaRPr>
          </a:p>
          <a:p>
            <a:pPr eaLnBrk="1" hangingPunct="1"/>
            <a:endParaRPr lang="en-US" altLang="zh-CN" b="1" dirty="0" smtClean="0">
              <a:latin typeface="Times New Roman" pitchFamily="18" charset="0"/>
            </a:endParaRPr>
          </a:p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第二步：零截断分布的概率</a:t>
            </a:r>
            <a:r>
              <a:rPr lang="en-US" altLang="zh-CN" b="1" i="1" dirty="0" err="1" smtClean="0">
                <a:latin typeface="Times New Roman" pitchFamily="18" charset="0"/>
              </a:rPr>
              <a:t>p</a:t>
            </a:r>
            <a:r>
              <a:rPr lang="en-US" altLang="zh-CN" b="1" i="1" baseline="-25000" dirty="0" err="1" smtClean="0">
                <a:latin typeface="Times New Roman" pitchFamily="18" charset="0"/>
              </a:rPr>
              <a:t>k</a:t>
            </a:r>
            <a:r>
              <a:rPr lang="en-US" altLang="zh-CN" b="1" i="1" baseline="30000" dirty="0" err="1" smtClean="0">
                <a:latin typeface="Times New Roman" pitchFamily="18" charset="0"/>
              </a:rPr>
              <a:t>T</a:t>
            </a:r>
            <a:endParaRPr lang="en-US" altLang="zh-CN" b="1" dirty="0" smtClean="0">
              <a:latin typeface="Times New Roman" pitchFamily="18" charset="0"/>
            </a:endParaRPr>
          </a:p>
          <a:p>
            <a:pPr eaLnBrk="1" hangingPunct="1"/>
            <a:endParaRPr lang="en-US" altLang="zh-CN" b="1" dirty="0" smtClean="0">
              <a:latin typeface="Times New Roman" pitchFamily="18" charset="0"/>
            </a:endParaRPr>
          </a:p>
          <a:p>
            <a:pPr eaLnBrk="1" hangingPunct="1"/>
            <a:endParaRPr lang="en-US" altLang="zh-CN" b="1" dirty="0" smtClean="0">
              <a:latin typeface="Times New Roman" pitchFamily="18" charset="0"/>
            </a:endParaRPr>
          </a:p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第三步：零调整分布的概率</a:t>
            </a:r>
            <a:r>
              <a:rPr lang="en-US" altLang="zh-CN" b="1" i="1" dirty="0" err="1" smtClean="0">
                <a:latin typeface="Times New Roman" pitchFamily="18" charset="0"/>
              </a:rPr>
              <a:t>p</a:t>
            </a:r>
            <a:r>
              <a:rPr lang="en-US" altLang="zh-CN" b="1" i="1" baseline="-25000" dirty="0" err="1" smtClean="0">
                <a:latin typeface="Times New Roman" pitchFamily="18" charset="0"/>
              </a:rPr>
              <a:t>k</a:t>
            </a:r>
            <a:r>
              <a:rPr lang="en-US" altLang="zh-CN" b="1" i="1" baseline="30000" dirty="0" err="1" smtClean="0">
                <a:latin typeface="Times New Roman" pitchFamily="18" charset="0"/>
              </a:rPr>
              <a:t>M</a:t>
            </a:r>
            <a:endParaRPr lang="en-US" altLang="zh-CN" b="1" i="1" baseline="30000" dirty="0" smtClean="0">
              <a:latin typeface="Times New Roman" pitchFamily="18" charset="0"/>
            </a:endParaRPr>
          </a:p>
        </p:txBody>
      </p:sp>
      <p:sp>
        <p:nvSpPr>
          <p:cNvPr id="3481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2749BBB-89AC-4385-8DA3-E6A42AF5DC14}" type="slidenum">
              <a:rPr lang="zh-CN" altLang="en-US" sz="1400" b="1"/>
              <a:pPr eaLnBrk="1" hangingPunct="1"/>
              <a:t>26</a:t>
            </a:fld>
            <a:endParaRPr lang="en-US" altLang="zh-CN" sz="1400" b="1"/>
          </a:p>
        </p:txBody>
      </p:sp>
      <p:graphicFrame>
        <p:nvGraphicFramePr>
          <p:cNvPr id="36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2784492"/>
              </p:ext>
            </p:extLst>
          </p:nvPr>
        </p:nvGraphicFramePr>
        <p:xfrm>
          <a:off x="1828872" y="3875613"/>
          <a:ext cx="1655763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20" r:id="rId3" imgW="736600" imgH="431800" progId="Equation.DSMT4">
                  <p:embed/>
                </p:oleObj>
              </mc:Choice>
              <mc:Fallback>
                <p:oleObj r:id="rId3" imgW="7366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72" y="3875613"/>
                        <a:ext cx="1655763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6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450995"/>
              </p:ext>
            </p:extLst>
          </p:nvPr>
        </p:nvGraphicFramePr>
        <p:xfrm>
          <a:off x="2987675" y="5911503"/>
          <a:ext cx="20875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521" r:id="rId5" imgW="1066800" imgH="241300" progId="Equation.DSMT4">
                  <p:embed/>
                </p:oleObj>
              </mc:Choice>
              <mc:Fallback>
                <p:oleObj r:id="rId5" imgW="10668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911503"/>
                        <a:ext cx="2087563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1130604" y="5907438"/>
            <a:ext cx="139653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fontAlgn="base"/>
            <a:r>
              <a:rPr lang="zh-CN" altLang="en-US" sz="2400" b="1" dirty="0">
                <a:latin typeface="Times New Roman" pitchFamily="18" charset="0"/>
              </a:rPr>
              <a:t>给定  </a:t>
            </a:r>
            <a:r>
              <a:rPr lang="en-US" altLang="zh-CN" sz="2400" b="1" i="1" dirty="0">
                <a:latin typeface="Times New Roman" pitchFamily="18" charset="0"/>
              </a:rPr>
              <a:t>p</a:t>
            </a:r>
            <a:r>
              <a:rPr lang="en-US" altLang="zh-CN" sz="2400" b="1" baseline="-25000" dirty="0">
                <a:latin typeface="Times New Roman" pitchFamily="18" charset="0"/>
              </a:rPr>
              <a:t>0</a:t>
            </a:r>
            <a:r>
              <a:rPr lang="en-US" altLang="zh-CN" sz="2400" b="1" i="1" baseline="30000" dirty="0">
                <a:latin typeface="Times New Roman" pitchFamily="18" charset="0"/>
              </a:rPr>
              <a:t>M</a:t>
            </a:r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6026506" y="5129142"/>
            <a:ext cx="158759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 b="1" i="1" dirty="0">
                <a:latin typeface="Times New Roman" pitchFamily="18" charset="0"/>
              </a:rPr>
              <a:t>k</a:t>
            </a:r>
            <a:r>
              <a:rPr lang="en-US" altLang="zh-CN" sz="2400" b="1" dirty="0">
                <a:latin typeface="Times New Roman" pitchFamily="18" charset="0"/>
              </a:rPr>
              <a:t>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</a:rPr>
              <a:t>, 2, …</a:t>
            </a:r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4281442" y="4128671"/>
            <a:ext cx="1587592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 b="1" i="1" dirty="0">
                <a:latin typeface="Times New Roman" pitchFamily="18" charset="0"/>
              </a:rPr>
              <a:t>k</a:t>
            </a:r>
            <a:r>
              <a:rPr lang="en-US" altLang="zh-CN" sz="2400" b="1" dirty="0">
                <a:latin typeface="Times New Roman" pitchFamily="18" charset="0"/>
              </a:rPr>
              <a:t> =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</a:rPr>
              <a:t>, 2, 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8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8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8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70" grpId="0" autoUpdateAnimBg="0"/>
      <p:bldP spid="36871" grpId="0" autoUpdateAnimBg="0"/>
      <p:bldP spid="3687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648954"/>
            <a:ext cx="8229600" cy="466725"/>
          </a:xfrm>
        </p:spPr>
        <p:txBody>
          <a:bodyPr/>
          <a:lstStyle/>
          <a:p>
            <a:pPr algn="l" eaLnBrk="1" hangingPunct="1"/>
            <a:r>
              <a:rPr lang="zh-CN" altLang="en-US" sz="2400" dirty="0" smtClean="0"/>
              <a:t>负二项分布及其零截断和零调整：例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341438"/>
            <a:ext cx="8305800" cy="1554162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b="1" dirty="0" smtClean="0">
                <a:latin typeface="Times New Roman" pitchFamily="18" charset="0"/>
              </a:rPr>
              <a:t>假设负二项分布的参数为（</a:t>
            </a:r>
            <a:r>
              <a:rPr lang="en-US" altLang="zh-CN" b="1" i="1" dirty="0" smtClean="0">
                <a:latin typeface="Times New Roman" pitchFamily="18" charset="0"/>
              </a:rPr>
              <a:t>r </a:t>
            </a:r>
            <a:r>
              <a:rPr lang="en-US" altLang="zh-CN" b="1" dirty="0" smtClean="0">
                <a:latin typeface="Times New Roman" pitchFamily="18" charset="0"/>
              </a:rPr>
              <a:t>= 2</a:t>
            </a:r>
            <a:r>
              <a:rPr lang="zh-CN" altLang="en-US" b="1" dirty="0" smtClean="0">
                <a:latin typeface="Times New Roman" pitchFamily="18" charset="0"/>
              </a:rPr>
              <a:t>， </a:t>
            </a:r>
            <a:r>
              <a:rPr lang="zh-CN" altLang="en-US" b="1" i="1" dirty="0" smtClean="0">
                <a:latin typeface="Times New Roman" pitchFamily="18" charset="0"/>
                <a:sym typeface="Symbol" pitchFamily="18" charset="2"/>
              </a:rPr>
              <a:t> </a:t>
            </a:r>
            <a:r>
              <a:rPr lang="en-US" altLang="zh-CN" b="1" dirty="0" smtClean="0">
                <a:latin typeface="Times New Roman" pitchFamily="18" charset="0"/>
              </a:rPr>
              <a:t>= 0.1</a:t>
            </a:r>
            <a:r>
              <a:rPr lang="zh-CN" altLang="en-US" b="1" dirty="0" smtClean="0">
                <a:latin typeface="Times New Roman" pitchFamily="18" charset="0"/>
              </a:rPr>
              <a:t>），则零截断负二项分布和零调整负二项分布                在</a:t>
            </a:r>
            <a:r>
              <a:rPr lang="en-US" altLang="zh-CN" b="1" i="1" dirty="0" smtClean="0">
                <a:latin typeface="Times New Roman" pitchFamily="18" charset="0"/>
              </a:rPr>
              <a:t>k </a:t>
            </a:r>
            <a:r>
              <a:rPr lang="en-US" altLang="zh-CN" b="1" dirty="0" smtClean="0">
                <a:latin typeface="Times New Roman" pitchFamily="18" charset="0"/>
              </a:rPr>
              <a:t>= 1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</a:rPr>
              <a:t>2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</a:rPr>
              <a:t>3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</a:rPr>
              <a:t>4</a:t>
            </a:r>
            <a:r>
              <a:rPr lang="zh-CN" altLang="en-US" b="1" dirty="0" smtClean="0">
                <a:latin typeface="Times New Roman" pitchFamily="18" charset="0"/>
              </a:rPr>
              <a:t>的概率函数如下表所示。 </a:t>
            </a:r>
          </a:p>
        </p:txBody>
      </p:sp>
      <p:graphicFrame>
        <p:nvGraphicFramePr>
          <p:cNvPr id="37894" name="Group 6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99316567"/>
              </p:ext>
            </p:extLst>
          </p:nvPr>
        </p:nvGraphicFramePr>
        <p:xfrm>
          <a:off x="468313" y="2852738"/>
          <a:ext cx="8305800" cy="2756112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5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9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k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负二项分布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零截断负二项分布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零调整负二项分布</a:t>
                      </a:r>
                      <a:endParaRPr kumimoji="0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0.8264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0.5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9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0.1503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0.8658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0.4329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9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0.0205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0.1181    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0.0590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9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0.0025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0.0143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0.0072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931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4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0.0003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0.0016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0.0008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L="90000" marR="90000" marT="46796" marB="46796" horzOverflow="overflow">
                    <a:lnL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L>
                    <a:lnR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triangle" w="med" len="med"/>
                    </a:lnT>
                    <a:lnB w="28575" cap="flat" cmpd="sng" algn="ctr">
                      <a:solidFill>
                        <a:srgbClr val="00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842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1063C3C6-3E45-4EC6-9676-CA1A4FF4DF98}" type="slidenum">
              <a:rPr lang="zh-CN" altLang="en-US" sz="1400"/>
              <a:pPr eaLnBrk="1" hangingPunct="1"/>
              <a:t>27</a:t>
            </a:fld>
            <a:endParaRPr lang="en-US" altLang="zh-CN" sz="1400"/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378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47090"/>
              </p:ext>
            </p:extLst>
          </p:nvPr>
        </p:nvGraphicFramePr>
        <p:xfrm>
          <a:off x="4859338" y="1752511"/>
          <a:ext cx="115252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90" r:id="rId3" imgW="597419" imgH="241510" progId="Equation.DSMT4">
                  <p:embed/>
                </p:oleObj>
              </mc:Choice>
              <mc:Fallback>
                <p:oleObj r:id="rId3" imgW="597419" imgH="24151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1752511"/>
                        <a:ext cx="115252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31" name="AutoShape 43"/>
          <p:cNvSpPr>
            <a:spLocks/>
          </p:cNvSpPr>
          <p:nvPr/>
        </p:nvSpPr>
        <p:spPr bwMode="auto">
          <a:xfrm>
            <a:off x="5029200" y="3978275"/>
            <a:ext cx="152400" cy="1447800"/>
          </a:xfrm>
          <a:prstGeom prst="rightBrace">
            <a:avLst>
              <a:gd name="adj1" fmla="val 79167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7932" name="Text Box 44"/>
          <p:cNvSpPr txBox="1">
            <a:spLocks noChangeArrowheads="1"/>
          </p:cNvSpPr>
          <p:nvPr/>
        </p:nvSpPr>
        <p:spPr bwMode="auto">
          <a:xfrm>
            <a:off x="5181600" y="4359275"/>
            <a:ext cx="3810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7933" name="AutoShape 45"/>
          <p:cNvSpPr>
            <a:spLocks/>
          </p:cNvSpPr>
          <p:nvPr/>
        </p:nvSpPr>
        <p:spPr bwMode="auto">
          <a:xfrm>
            <a:off x="7772400" y="3825875"/>
            <a:ext cx="152400" cy="1600200"/>
          </a:xfrm>
          <a:prstGeom prst="rightBrace">
            <a:avLst>
              <a:gd name="adj1" fmla="val 87500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7934" name="Text Box 46"/>
          <p:cNvSpPr txBox="1">
            <a:spLocks noChangeArrowheads="1"/>
          </p:cNvSpPr>
          <p:nvPr/>
        </p:nvSpPr>
        <p:spPr bwMode="auto">
          <a:xfrm>
            <a:off x="7924800" y="4283075"/>
            <a:ext cx="66675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2400" b="1">
                <a:solidFill>
                  <a:srgbClr val="FF0000"/>
                </a:solidFill>
              </a:rPr>
              <a:t>0.5</a:t>
            </a:r>
          </a:p>
        </p:txBody>
      </p:sp>
      <p:sp>
        <p:nvSpPr>
          <p:cNvPr id="37935" name="AutoShape 47"/>
          <p:cNvSpPr>
            <a:spLocks/>
          </p:cNvSpPr>
          <p:nvPr/>
        </p:nvSpPr>
        <p:spPr bwMode="auto">
          <a:xfrm>
            <a:off x="2590800" y="3825875"/>
            <a:ext cx="152400" cy="1676400"/>
          </a:xfrm>
          <a:prstGeom prst="rightBrace">
            <a:avLst>
              <a:gd name="adj1" fmla="val 91667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endParaRPr lang="zh-CN" altLang="en-US"/>
          </a:p>
        </p:txBody>
      </p:sp>
      <p:sp>
        <p:nvSpPr>
          <p:cNvPr id="37936" name="Text Box 48"/>
          <p:cNvSpPr txBox="1">
            <a:spLocks noChangeArrowheads="1"/>
          </p:cNvSpPr>
          <p:nvPr/>
        </p:nvSpPr>
        <p:spPr bwMode="auto">
          <a:xfrm>
            <a:off x="2743200" y="4283075"/>
            <a:ext cx="889000" cy="376238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zh-CN" sz="1800" b="1">
                <a:solidFill>
                  <a:srgbClr val="FF0000"/>
                </a:solidFill>
              </a:rPr>
              <a:t>0.1736</a:t>
            </a:r>
          </a:p>
        </p:txBody>
      </p:sp>
      <p:graphicFrame>
        <p:nvGraphicFramePr>
          <p:cNvPr id="37937" name="Object 49"/>
          <p:cNvGraphicFramePr>
            <a:graphicFrameLocks noChangeAspect="1"/>
          </p:cNvGraphicFramePr>
          <p:nvPr/>
        </p:nvGraphicFramePr>
        <p:xfrm>
          <a:off x="3708400" y="5830888"/>
          <a:ext cx="151130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91" r:id="rId5" imgW="774700" imgH="393700" progId="Equation.DSMT4">
                  <p:embed/>
                </p:oleObj>
              </mc:Choice>
              <mc:Fallback>
                <p:oleObj r:id="rId5" imgW="774700" imgH="393700" progId="Equation.DSMT4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5830888"/>
                        <a:ext cx="1511300" cy="7667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38" name="Object 50"/>
          <p:cNvGraphicFramePr>
            <a:graphicFrameLocks noChangeAspect="1"/>
          </p:cNvGraphicFramePr>
          <p:nvPr/>
        </p:nvGraphicFramePr>
        <p:xfrm>
          <a:off x="6011863" y="5830888"/>
          <a:ext cx="2592387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92" r:id="rId7" imgW="1422400" imgH="393700" progId="Equation.DSMT4">
                  <p:embed/>
                </p:oleObj>
              </mc:Choice>
              <mc:Fallback>
                <p:oleObj r:id="rId7" imgW="1422400" imgH="393700" progId="Equation.DSMT4">
                  <p:embed/>
                  <p:pic>
                    <p:nvPicPr>
                      <p:cNvPr id="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830888"/>
                        <a:ext cx="2592387" cy="7175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7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7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7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379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37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7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7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 autoUpdateAnimBg="0"/>
      <p:bldP spid="37931" grpId="0" animBg="1"/>
      <p:bldP spid="37932" grpId="0" animBg="1" autoUpdateAnimBg="0"/>
      <p:bldP spid="37933" grpId="0" animBg="1"/>
      <p:bldP spid="37934" grpId="0" animBg="1" autoUpdateAnimBg="0"/>
      <p:bldP spid="37935" grpId="0" animBg="1"/>
      <p:bldP spid="37936" grpId="0" animBg="1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152516" y="242778"/>
            <a:ext cx="8153186" cy="64786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altLang="zh-CN" sz="2000" b="1" dirty="0" smtClean="0">
                <a:latin typeface="宋体"/>
                <a:ea typeface="宋体"/>
                <a:cs typeface="Times New Roman"/>
              </a:rPr>
              <a:t>例：</a:t>
            </a:r>
            <a:r>
              <a:rPr lang="en-US" altLang="zh-CN" sz="2000" dirty="0" smtClean="0">
                <a:latin typeface="Cambria"/>
                <a:ea typeface="宋体"/>
                <a:cs typeface="Times New Roman"/>
              </a:rPr>
              <a:t> </a:t>
            </a:r>
            <a:r>
              <a:rPr lang="en-US" altLang="zh-CN" sz="2000" dirty="0" err="1">
                <a:latin typeface="宋体"/>
                <a:ea typeface="宋体"/>
                <a:cs typeface="Times New Roman"/>
              </a:rPr>
              <a:t>零截断负二项分布的计算</a:t>
            </a:r>
            <a:endParaRPr lang="zh-CN" altLang="zh-CN" sz="2000" dirty="0">
              <a:latin typeface="Cambria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2000" dirty="0" err="1" smtClean="0">
                <a:latin typeface="宋体"/>
                <a:ea typeface="宋体"/>
                <a:cs typeface="Times New Roman"/>
              </a:rPr>
              <a:t>负二项分布的概率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x = </a:t>
            </a:r>
            <a:r>
              <a:rPr lang="en-US" altLang="zh-CN" sz="20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20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p = </a:t>
            </a:r>
            <a:r>
              <a:rPr lang="en-US" altLang="zh-CN" sz="2000" b="1" dirty="0" err="1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dnbinom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(x,</a:t>
            </a:r>
            <a:r>
              <a:rPr lang="en-US" altLang="zh-CN" sz="20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,</a:t>
            </a:r>
            <a:r>
              <a:rPr lang="en-US" altLang="zh-CN" sz="20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0.7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round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(p,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3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)</a:t>
            </a:r>
            <a:endParaRPr lang="zh-CN" altLang="zh-CN" sz="20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2000" dirty="0">
                <a:latin typeface="Consolas"/>
                <a:ea typeface="宋体"/>
                <a:cs typeface="Times New Roman"/>
              </a:rPr>
              <a:t>##  [1] 0.240 0.288 0.216 0.130 0.068 0.033 0.015 0.006 0.003 0.001 0.000</a:t>
            </a:r>
            <a:endParaRPr lang="zh-CN" altLang="zh-CN" sz="20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2000" dirty="0" err="1" smtClean="0">
                <a:latin typeface="宋体"/>
                <a:ea typeface="宋体"/>
                <a:cs typeface="Times New Roman"/>
              </a:rPr>
              <a:t>零截断负二项分布的概率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p0 = p[</a:t>
            </a:r>
            <a:r>
              <a:rPr lang="en-US" altLang="zh-CN" sz="20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]   ##</a:t>
            </a:r>
            <a:r>
              <a:rPr lang="en-US" altLang="zh-CN" sz="2000" dirty="0" err="1">
                <a:latin typeface="宋体"/>
                <a:ea typeface="宋体"/>
                <a:cs typeface="Times New Roman"/>
              </a:rPr>
              <a:t>零点的概率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pt1 = p[</a:t>
            </a:r>
            <a:r>
              <a:rPr lang="en-US" altLang="zh-CN" sz="20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20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11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]/(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-p0)  ##</a:t>
            </a:r>
            <a:r>
              <a:rPr lang="en-US" altLang="zh-CN" sz="2000" dirty="0" err="1">
                <a:latin typeface="宋体"/>
                <a:ea typeface="宋体"/>
                <a:cs typeface="Times New Roman"/>
              </a:rPr>
              <a:t>其它点上的概率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dirty="0" err="1" smtClean="0">
                <a:latin typeface="Consolas"/>
                <a:ea typeface="宋体"/>
                <a:cs typeface="Times New Roman"/>
              </a:rPr>
              <a:t>pt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 = </a:t>
            </a:r>
            <a:r>
              <a:rPr lang="en-US" altLang="zh-CN" sz="2000" b="1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20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, pt1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round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(pt,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3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)</a:t>
            </a:r>
            <a:endParaRPr lang="zh-CN" altLang="zh-CN" sz="20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2000" dirty="0">
                <a:latin typeface="Consolas"/>
                <a:ea typeface="宋体"/>
                <a:cs typeface="Times New Roman"/>
              </a:rPr>
              <a:t>##  [1] 0.000 0.379 0.284 0.171 0.090 0.043 0.019 0.008 0.003 0.001 0.001</a:t>
            </a:r>
            <a:endParaRPr lang="zh-CN" altLang="zh-CN" sz="20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2000" dirty="0" err="1" smtClean="0">
                <a:latin typeface="宋体"/>
                <a:ea typeface="宋体"/>
                <a:cs typeface="Times New Roman"/>
              </a:rPr>
              <a:t>绘图比较负二项和零截断负二项的概率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com = </a:t>
            </a:r>
            <a:r>
              <a:rPr lang="en-US" altLang="zh-CN" sz="2000" b="1" dirty="0" err="1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rbind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2000" dirty="0" err="1" smtClean="0">
                <a:latin typeface="宋体"/>
                <a:ea typeface="宋体"/>
                <a:cs typeface="Times New Roman"/>
              </a:rPr>
              <a:t>负二项</a:t>
            </a:r>
            <a:r>
              <a:rPr lang="en-US" altLang="zh-CN" sz="2000" dirty="0" smtClean="0">
                <a:latin typeface="宋体"/>
                <a:ea typeface="宋体"/>
                <a:cs typeface="Times New Roman"/>
              </a:rPr>
              <a:t> 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= p, </a:t>
            </a:r>
            <a:r>
              <a:rPr lang="en-US" altLang="zh-CN" sz="2000" dirty="0" err="1" smtClean="0">
                <a:latin typeface="宋体"/>
                <a:ea typeface="宋体"/>
                <a:cs typeface="Times New Roman"/>
              </a:rPr>
              <a:t>零截断负二项</a:t>
            </a:r>
            <a:r>
              <a:rPr lang="en-US" altLang="zh-CN" sz="2000" dirty="0" smtClean="0">
                <a:latin typeface="宋体"/>
                <a:ea typeface="宋体"/>
                <a:cs typeface="Times New Roman"/>
              </a:rPr>
              <a:t> </a:t>
            </a:r>
            <a:r>
              <a:rPr lang="en-US" altLang="zh-CN" sz="2000" dirty="0" smtClean="0">
                <a:latin typeface="Consolas"/>
                <a:ea typeface="宋体"/>
                <a:cs typeface="Times New Roman"/>
              </a:rPr>
              <a:t>= </a:t>
            </a:r>
            <a:r>
              <a:rPr lang="en-US" altLang="zh-CN" sz="2000" dirty="0" err="1" smtClean="0">
                <a:latin typeface="Consolas"/>
                <a:ea typeface="宋体"/>
                <a:cs typeface="Times New Roman"/>
              </a:rPr>
              <a:t>pt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2000" dirty="0">
                <a:latin typeface="Consolas"/>
                <a:ea typeface="宋体"/>
                <a:cs typeface="Times New Roman"/>
              </a:rPr>
            </a:br>
            <a:r>
              <a:rPr lang="en-US" altLang="zh-CN" sz="20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barplot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2000" dirty="0" err="1">
                <a:latin typeface="Consolas"/>
                <a:ea typeface="宋体"/>
                <a:cs typeface="Times New Roman"/>
              </a:rPr>
              <a:t>com,</a:t>
            </a:r>
            <a:r>
              <a:rPr lang="en-US" altLang="zh-CN" sz="2000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beside</a:t>
            </a:r>
            <a:r>
              <a:rPr lang="en-US" altLang="zh-CN" sz="2000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=</a:t>
            </a:r>
            <a:r>
              <a:rPr lang="en-US" altLang="zh-CN" sz="2000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TRUE</a:t>
            </a:r>
            <a:r>
              <a:rPr lang="en-US" altLang="zh-CN" sz="2000" dirty="0" err="1">
                <a:latin typeface="Consolas"/>
                <a:ea typeface="宋体"/>
                <a:cs typeface="Times New Roman"/>
              </a:rPr>
              <a:t>,</a:t>
            </a:r>
            <a:r>
              <a:rPr lang="en-US" altLang="zh-CN" sz="2000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names.arg</a:t>
            </a:r>
            <a:r>
              <a:rPr lang="en-US" altLang="zh-CN" sz="2000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=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20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,</a:t>
            </a:r>
            <a:r>
              <a:rPr lang="en-US" altLang="zh-CN" sz="2000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legend.text=</a:t>
            </a:r>
            <a:r>
              <a:rPr lang="en-US" altLang="zh-CN" sz="2000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TRUE</a:t>
            </a:r>
            <a:r>
              <a:rPr lang="en-US" altLang="zh-CN" sz="2000" dirty="0">
                <a:latin typeface="Consolas"/>
                <a:ea typeface="宋体"/>
                <a:cs typeface="Times New Roman"/>
              </a:rPr>
              <a:t>)</a:t>
            </a:r>
            <a:endParaRPr lang="zh-CN" altLang="zh-CN" sz="2000" dirty="0">
              <a:effectLst/>
              <a:latin typeface="Consolas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6456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F939C6-56B5-4C59-A8F1-006D8D67E42F}" type="slidenum">
              <a:rPr lang="zh-CN" altLang="en-US" smtClean="0"/>
              <a:pPr>
                <a:defRPr/>
              </a:pPr>
              <a:t>29</a:t>
            </a:fld>
            <a:endParaRPr lang="en-US" altLang="zh-CN"/>
          </a:p>
        </p:txBody>
      </p:sp>
      <p:pic>
        <p:nvPicPr>
          <p:cNvPr id="5" name="Picture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96" y="914466"/>
            <a:ext cx="7086414" cy="487667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16637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381110" y="609674"/>
            <a:ext cx="7619860" cy="5955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1" dirty="0">
                <a:latin typeface="宋体"/>
                <a:ea typeface="宋体"/>
                <a:cs typeface="Times New Roman"/>
              </a:rPr>
              <a:t>例：</a:t>
            </a:r>
            <a:r>
              <a:rPr lang="en-US" altLang="zh-CN" sz="1800" dirty="0">
                <a:latin typeface="Cambria"/>
                <a:ea typeface="宋体"/>
                <a:cs typeface="Times New Roman"/>
              </a:rPr>
              <a:t> </a:t>
            </a:r>
            <a:r>
              <a:rPr lang="en-US" altLang="zh-CN" sz="1800" dirty="0" err="1">
                <a:latin typeface="宋体"/>
                <a:ea typeface="宋体"/>
                <a:cs typeface="Times New Roman"/>
              </a:rPr>
              <a:t>零调整负二项分布的计算</a:t>
            </a:r>
            <a:endParaRPr lang="zh-CN" altLang="zh-CN" sz="1800" dirty="0">
              <a:latin typeface="Cambria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1800" dirty="0" err="1" smtClean="0">
                <a:latin typeface="宋体"/>
                <a:ea typeface="宋体"/>
                <a:cs typeface="Times New Roman"/>
              </a:rPr>
              <a:t>负二项分布的概率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dirty="0">
                <a:latin typeface="Consolas"/>
                <a:ea typeface="宋体"/>
                <a:cs typeface="Times New Roman"/>
              </a:rPr>
            </a:b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x = </a:t>
            </a:r>
            <a:r>
              <a:rPr lang="en-US" altLang="zh-CN" sz="18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18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dirty="0">
                <a:latin typeface="Consolas"/>
                <a:ea typeface="宋体"/>
                <a:cs typeface="Times New Roman"/>
              </a:rPr>
            </a:b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p = </a:t>
            </a:r>
            <a:r>
              <a:rPr lang="en-US" altLang="zh-CN" sz="1800" b="1" dirty="0" err="1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dnbinom</a:t>
            </a: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(x, </a:t>
            </a:r>
            <a:r>
              <a:rPr lang="en-US" altLang="zh-CN" sz="18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8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0.7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1800" dirty="0"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round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(p,</a:t>
            </a:r>
            <a:r>
              <a:rPr lang="en-US" altLang="zh-CN" sz="1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3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)</a:t>
            </a:r>
            <a:endParaRPr lang="zh-CN" altLang="zh-CN" sz="18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dirty="0">
                <a:latin typeface="Consolas"/>
                <a:ea typeface="宋体"/>
                <a:cs typeface="Times New Roman"/>
              </a:rPr>
              <a:t>##  [1] 0.240 0.288 0.216 0.130 0.068 0.033 0.015 0.006 0.003 0.001 0.000</a:t>
            </a:r>
            <a:endParaRPr lang="zh-CN" altLang="zh-CN" sz="18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1800" dirty="0" err="1" smtClean="0">
                <a:latin typeface="宋体"/>
                <a:ea typeface="宋体"/>
                <a:cs typeface="Times New Roman"/>
              </a:rPr>
              <a:t>零调整负二项分布的概率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dirty="0">
                <a:latin typeface="Consolas"/>
                <a:ea typeface="宋体"/>
                <a:cs typeface="Times New Roman"/>
              </a:rPr>
            </a:b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p0 = </a:t>
            </a:r>
            <a:r>
              <a:rPr lang="en-US" altLang="zh-CN" sz="18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0.3</a:t>
            </a: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  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##</a:t>
            </a:r>
            <a:r>
              <a:rPr lang="en-US" altLang="zh-CN" sz="1800" dirty="0" err="1">
                <a:latin typeface="宋体"/>
                <a:ea typeface="宋体"/>
                <a:cs typeface="Times New Roman"/>
              </a:rPr>
              <a:t>调整零点的概率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dirty="0">
                <a:latin typeface="Consolas"/>
                <a:ea typeface="宋体"/>
                <a:cs typeface="Times New Roman"/>
              </a:rPr>
            </a:b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pm = (</a:t>
            </a:r>
            <a:r>
              <a:rPr lang="en-US" altLang="zh-CN" sz="1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-p0)*p[</a:t>
            </a:r>
            <a:r>
              <a:rPr lang="en-US" altLang="zh-CN" sz="1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1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11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]/(</a:t>
            </a:r>
            <a:r>
              <a:rPr lang="en-US" altLang="zh-CN" sz="1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-p[</a:t>
            </a:r>
            <a:r>
              <a:rPr lang="en-US" altLang="zh-CN" sz="1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])  ##</a:t>
            </a:r>
            <a:r>
              <a:rPr lang="en-US" altLang="zh-CN" sz="1800" dirty="0" err="1">
                <a:latin typeface="宋体"/>
                <a:ea typeface="宋体"/>
                <a:cs typeface="Times New Roman"/>
              </a:rPr>
              <a:t>其它点上的概率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dirty="0">
                <a:latin typeface="Consolas"/>
                <a:ea typeface="宋体"/>
                <a:cs typeface="Times New Roman"/>
              </a:rPr>
            </a:b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pm = </a:t>
            </a:r>
            <a:r>
              <a:rPr lang="en-US" altLang="zh-CN" sz="1800" b="1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</a:t>
            </a: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(p0,pm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1800" dirty="0"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round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(pm</a:t>
            </a: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800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3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)</a:t>
            </a:r>
            <a:endParaRPr lang="zh-CN" altLang="zh-CN" sz="18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dirty="0">
                <a:latin typeface="Consolas"/>
                <a:ea typeface="宋体"/>
                <a:cs typeface="Times New Roman"/>
              </a:rPr>
              <a:t>##  [1] 0.300 0.265 0.199 0.119 0.063 0.030 0.014 0.006 0.002 0.001 0.000</a:t>
            </a:r>
            <a:endParaRPr lang="zh-CN" altLang="zh-CN" sz="1800" dirty="0">
              <a:latin typeface="Consolas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## </a:t>
            </a:r>
            <a:r>
              <a:rPr lang="en-US" altLang="zh-CN" sz="1800" dirty="0" err="1" smtClean="0">
                <a:latin typeface="宋体"/>
                <a:ea typeface="宋体"/>
                <a:cs typeface="Times New Roman"/>
              </a:rPr>
              <a:t>绘图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dirty="0">
                <a:latin typeface="Consolas"/>
                <a:ea typeface="宋体"/>
                <a:cs typeface="Times New Roman"/>
              </a:rPr>
            </a:b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com = </a:t>
            </a:r>
            <a:r>
              <a:rPr lang="en-US" altLang="zh-CN" sz="1800" b="1" dirty="0" err="1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rbind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800" dirty="0" err="1" smtClean="0">
                <a:latin typeface="宋体"/>
                <a:ea typeface="宋体"/>
                <a:cs typeface="Times New Roman"/>
              </a:rPr>
              <a:t>负二项</a:t>
            </a:r>
            <a:r>
              <a:rPr lang="en-US" altLang="zh-CN" sz="1800" dirty="0" smtClean="0">
                <a:latin typeface="宋体"/>
                <a:ea typeface="宋体"/>
                <a:cs typeface="Times New Roman"/>
              </a:rPr>
              <a:t> </a:t>
            </a: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= p, </a:t>
            </a:r>
            <a:r>
              <a:rPr lang="en-US" altLang="zh-CN" sz="1800" dirty="0" err="1" smtClean="0">
                <a:latin typeface="宋体"/>
                <a:ea typeface="宋体"/>
                <a:cs typeface="Times New Roman"/>
              </a:rPr>
              <a:t>零调整负二项</a:t>
            </a:r>
            <a:r>
              <a:rPr lang="en-US" altLang="zh-CN" sz="1800" dirty="0" smtClean="0">
                <a:latin typeface="宋体"/>
                <a:ea typeface="宋体"/>
                <a:cs typeface="Times New Roman"/>
              </a:rPr>
              <a:t> </a:t>
            </a:r>
            <a:r>
              <a:rPr lang="en-US" altLang="zh-CN" sz="1800" dirty="0" smtClean="0">
                <a:latin typeface="Consolas"/>
                <a:ea typeface="宋体"/>
                <a:cs typeface="Times New Roman"/>
              </a:rPr>
              <a:t>= pm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1800" dirty="0">
                <a:latin typeface="Consolas"/>
                <a:ea typeface="宋体"/>
                <a:cs typeface="Times New Roman"/>
              </a:rPr>
            </a:br>
            <a:r>
              <a:rPr lang="en-US" altLang="zh-CN" sz="1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barplot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800" dirty="0" err="1">
                <a:latin typeface="Consolas"/>
                <a:ea typeface="宋体"/>
                <a:cs typeface="Times New Roman"/>
              </a:rPr>
              <a:t>com,</a:t>
            </a:r>
            <a:r>
              <a:rPr lang="en-US" altLang="zh-CN" sz="1800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beside</a:t>
            </a:r>
            <a:r>
              <a:rPr lang="en-US" altLang="zh-CN" sz="1800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=</a:t>
            </a:r>
            <a:r>
              <a:rPr lang="en-US" altLang="zh-CN" sz="1800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TRUE</a:t>
            </a:r>
            <a:r>
              <a:rPr lang="en-US" altLang="zh-CN" sz="1800" dirty="0" err="1">
                <a:latin typeface="Consolas"/>
                <a:ea typeface="宋体"/>
                <a:cs typeface="Times New Roman"/>
              </a:rPr>
              <a:t>,</a:t>
            </a:r>
            <a:r>
              <a:rPr lang="en-US" altLang="zh-CN" sz="1800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names.arg</a:t>
            </a:r>
            <a:r>
              <a:rPr lang="en-US" altLang="zh-CN" sz="1800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=</a:t>
            </a:r>
            <a:r>
              <a:rPr lang="en-US" altLang="zh-CN" sz="1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18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,</a:t>
            </a:r>
            <a:r>
              <a:rPr lang="en-US" altLang="zh-CN" sz="1800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legend.text=</a:t>
            </a:r>
            <a:r>
              <a:rPr lang="en-US" altLang="zh-CN" sz="1800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TRUE</a:t>
            </a:r>
            <a:r>
              <a:rPr lang="en-US" altLang="zh-CN" sz="1800" dirty="0">
                <a:latin typeface="Consolas"/>
                <a:ea typeface="宋体"/>
                <a:cs typeface="Times New Roman"/>
              </a:rPr>
              <a:t>)</a:t>
            </a:r>
            <a:endParaRPr lang="zh-CN" altLang="zh-CN" sz="1800" dirty="0">
              <a:effectLst/>
              <a:latin typeface="Consolas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957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31</a:t>
            </a:fld>
            <a:endParaRPr lang="en-US" altLang="zh-CN"/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90694" y="609674"/>
            <a:ext cx="7238810" cy="487667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6875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 sz="3600" dirty="0" smtClean="0"/>
              <a:t>混合分布与复合分布</a:t>
            </a:r>
          </a:p>
        </p:txBody>
      </p:sp>
      <p:sp>
        <p:nvSpPr>
          <p:cNvPr id="4403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820D87E-4802-435B-B1FC-769A89293D5F}" type="slidenum">
              <a:rPr lang="zh-CN" altLang="en-US" sz="1400"/>
              <a:pPr eaLnBrk="1" hangingPunct="1"/>
              <a:t>32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引言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zh-CN" b="1" dirty="0" smtClean="0"/>
              <a:t>(a, b, 0)</a:t>
            </a:r>
            <a:r>
              <a:rPr lang="zh-CN" altLang="en-US" b="1" dirty="0" smtClean="0"/>
              <a:t>与</a:t>
            </a:r>
            <a:r>
              <a:rPr lang="en-US" altLang="zh-CN" b="1" dirty="0" smtClean="0"/>
              <a:t>(a, b, 1)</a:t>
            </a:r>
            <a:r>
              <a:rPr lang="zh-CN" altLang="en-US" b="1" dirty="0" smtClean="0"/>
              <a:t>的局限性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 smtClean="0"/>
              <a:t>分布类型有限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 smtClean="0"/>
              <a:t>对右尾的描述可能不恰当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b="1" dirty="0" smtClean="0"/>
              <a:t>如何生成新的损失次数分布模型？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 smtClean="0"/>
              <a:t>混合：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b="1" dirty="0" smtClean="0"/>
              <a:t>假设基础分布中的一个参数为随机变量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b="1" dirty="0" smtClean="0"/>
              <a:t>复合：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zh-CN" b="1" dirty="0" smtClean="0"/>
              <a:t>N</a:t>
            </a:r>
            <a:r>
              <a:rPr lang="zh-CN" altLang="en-US" b="1" dirty="0" smtClean="0"/>
              <a:t>个独立同分布的随机变量之和</a:t>
            </a:r>
          </a:p>
        </p:txBody>
      </p:sp>
      <p:sp>
        <p:nvSpPr>
          <p:cNvPr id="4505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64EBF38-AFD6-4FE7-97C9-E0D9C7641CB7}" type="slidenum">
              <a:rPr lang="zh-CN" altLang="en-US" sz="1400"/>
              <a:pPr eaLnBrk="1" hangingPunct="1"/>
              <a:t>33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7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7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1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7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 smtClean="0"/>
              <a:t>混合分布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b="1" smtClean="0"/>
              <a:t>混合分布</a:t>
            </a:r>
            <a:r>
              <a:rPr lang="en-US" altLang="zh-CN" smtClean="0"/>
              <a:t>: </a:t>
            </a:r>
            <a:r>
              <a:rPr lang="zh-CN" altLang="en-US" smtClean="0"/>
              <a:t>把分布的一个参数看作是一个随机变量而形成的分布。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smtClean="0"/>
              <a:t>例</a:t>
            </a:r>
            <a:r>
              <a:rPr lang="zh-CN" altLang="en-US" smtClean="0"/>
              <a:t>：把泊松分布的参数看作是一个服从伽马分布的随机变量，则生成的混合分布就是负二项分布。</a:t>
            </a:r>
          </a:p>
        </p:txBody>
      </p:sp>
      <p:sp>
        <p:nvSpPr>
          <p:cNvPr id="4608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DABED41-DB3C-4A69-9735-D18C833C4667}" type="slidenum">
              <a:rPr lang="zh-CN" altLang="en-US" sz="1400"/>
              <a:pPr eaLnBrk="1" hangingPunct="1"/>
              <a:t>34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负二项分布的生成：混合泊松分布</a:t>
            </a:r>
          </a:p>
        </p:txBody>
      </p:sp>
      <p:graphicFrame>
        <p:nvGraphicFramePr>
          <p:cNvPr id="23559" name="Object 7"/>
          <p:cNvGraphicFramePr>
            <a:graphicFrameLocks noGrp="1" noChangeAspect="1"/>
          </p:cNvGraphicFramePr>
          <p:nvPr>
            <p:ph idx="1"/>
          </p:nvPr>
        </p:nvGraphicFramePr>
        <p:xfrm>
          <a:off x="1449388" y="5105400"/>
          <a:ext cx="3957637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40" r:id="rId3" imgW="2032000" imgH="482600" progId="Equation.DSMT4">
                  <p:embed/>
                </p:oleObj>
              </mc:Choice>
              <mc:Fallback>
                <p:oleObj r:id="rId3" imgW="20320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9388" y="5105400"/>
                        <a:ext cx="3957637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ABBCE79-B135-4F9E-A66D-29582725A208}" type="slidenum">
              <a:rPr lang="zh-CN" altLang="en-US" sz="1400">
                <a:solidFill>
                  <a:srgbClr val="000000"/>
                </a:solidFill>
              </a:rPr>
              <a:pPr eaLnBrk="1" hangingPunct="1"/>
              <a:t>35</a:t>
            </a:fld>
            <a:endParaRPr lang="en-US" altLang="zh-CN" sz="1400">
              <a:solidFill>
                <a:srgbClr val="000000"/>
              </a:solidFill>
            </a:endParaRPr>
          </a:p>
        </p:txBody>
      </p:sp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066800" y="1524000"/>
          <a:ext cx="21590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41" r:id="rId5" imgW="965619" imgH="228699" progId="Equation.DSMT4">
                  <p:embed/>
                </p:oleObj>
              </mc:Choice>
              <mc:Fallback>
                <p:oleObj r:id="rId5" imgW="965619" imgH="22869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524000"/>
                        <a:ext cx="21590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1524000" y="2438400"/>
          <a:ext cx="395287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42" r:id="rId7" imgW="1841500" imgH="330200" progId="Equation.DSMT4">
                  <p:embed/>
                </p:oleObj>
              </mc:Choice>
              <mc:Fallback>
                <p:oleObj r:id="rId7" imgW="18415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438400"/>
                        <a:ext cx="3952875" cy="708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1447800" y="3581400"/>
          <a:ext cx="247015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43" r:id="rId9" imgW="1156202" imgH="419282" progId="Equation.DSMT4">
                  <p:embed/>
                </p:oleObj>
              </mc:Choice>
              <mc:Fallback>
                <p:oleObj r:id="rId9" imgW="1156202" imgH="419282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581400"/>
                        <a:ext cx="2470150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4114800" y="3581400"/>
          <a:ext cx="3200400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044" r:id="rId11" imgW="1499251" imgH="457399" progId="Equation.DSMT4">
                  <p:embed/>
                </p:oleObj>
              </mc:Choice>
              <mc:Fallback>
                <p:oleObj r:id="rId11" imgW="1499251" imgH="45739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581400"/>
                        <a:ext cx="3200400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776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70342C5-5F15-43EE-9B32-80F81CF7AD77}" type="slidenum">
              <a:rPr lang="zh-CN" altLang="en-US" sz="1400"/>
              <a:pPr eaLnBrk="1" hangingPunct="1"/>
              <a:t>36</a:t>
            </a:fld>
            <a:endParaRPr lang="en-US" altLang="zh-CN" sz="1400"/>
          </a:p>
        </p:txBody>
      </p:sp>
      <p:sp>
        <p:nvSpPr>
          <p:cNvPr id="4710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900113" y="1125538"/>
            <a:ext cx="3841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fontAlgn="base" hangingPunct="1"/>
            <a:r>
              <a:rPr lang="zh-CN" altLang="en-US" sz="2400"/>
              <a:t>混合分布的母函数可表示为</a:t>
            </a:r>
          </a:p>
        </p:txBody>
      </p:sp>
      <p:sp>
        <p:nvSpPr>
          <p:cNvPr id="47109" name="Rectangle 4"/>
          <p:cNvSpPr>
            <a:spLocks noChangeArrowheads="1"/>
          </p:cNvSpPr>
          <p:nvPr/>
        </p:nvSpPr>
        <p:spPr bwMode="auto">
          <a:xfrm>
            <a:off x="0" y="32623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491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862933"/>
              </p:ext>
            </p:extLst>
          </p:nvPr>
        </p:nvGraphicFramePr>
        <p:xfrm>
          <a:off x="1828872" y="2743218"/>
          <a:ext cx="3278188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519" r:id="rId3" imgW="1536700" imgH="330200" progId="Equation.DSMT4">
                  <p:embed/>
                </p:oleObj>
              </mc:Choice>
              <mc:Fallback>
                <p:oleObj r:id="rId3" imgW="1536700" imgH="33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72" y="2743218"/>
                        <a:ext cx="3278188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Text Box 6"/>
          <p:cNvSpPr txBox="1">
            <a:spLocks noChangeArrowheads="1"/>
          </p:cNvSpPr>
          <p:nvPr/>
        </p:nvSpPr>
        <p:spPr bwMode="auto">
          <a:xfrm>
            <a:off x="468313" y="4292600"/>
            <a:ext cx="8280400" cy="122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fontAlgn="base" hangingPunct="1">
              <a:lnSpc>
                <a:spcPct val="155000"/>
              </a:lnSpc>
            </a:pPr>
            <a:r>
              <a:rPr lang="zh-CN" altLang="en-US" sz="2400" i="1">
                <a:latin typeface="Times New Roman" pitchFamily="18" charset="0"/>
              </a:rPr>
              <a:t>      </a:t>
            </a:r>
            <a:r>
              <a:rPr lang="zh-CN" altLang="en-US" sz="2400">
                <a:latin typeface="Times New Roman" pitchFamily="18" charset="0"/>
              </a:rPr>
              <a:t>其中</a:t>
            </a:r>
            <a:r>
              <a:rPr lang="zh-CN" altLang="en-US" sz="2400" i="1">
                <a:latin typeface="Times New Roman" pitchFamily="18" charset="0"/>
              </a:rPr>
              <a:t> </a:t>
            </a:r>
            <a:r>
              <a:rPr lang="en-US" altLang="zh-CN" sz="2400" i="1">
                <a:latin typeface="Times New Roman" pitchFamily="18" charset="0"/>
              </a:rPr>
              <a:t>u</a:t>
            </a:r>
            <a:r>
              <a:rPr lang="en-US" altLang="zh-CN" sz="2400">
                <a:latin typeface="Times New Roman" pitchFamily="18" charset="0"/>
              </a:rPr>
              <a:t>(</a:t>
            </a:r>
            <a:r>
              <a:rPr lang="en-US" altLang="zh-CN" sz="2400" i="1">
                <a:latin typeface="Symbol" pitchFamily="18" charset="2"/>
              </a:rPr>
              <a:t>q</a:t>
            </a:r>
            <a:r>
              <a:rPr lang="en-US" altLang="zh-CN" sz="2400">
                <a:latin typeface="Times New Roman" pitchFamily="18" charset="0"/>
              </a:rPr>
              <a:t>)</a:t>
            </a:r>
            <a:r>
              <a:rPr lang="zh-CN" altLang="en-US" sz="2400">
                <a:latin typeface="Times New Roman" pitchFamily="18" charset="0"/>
              </a:rPr>
              <a:t>称作结构函数（</a:t>
            </a:r>
            <a:r>
              <a:rPr lang="en-US" altLang="zh-CN" sz="2400">
                <a:latin typeface="Times New Roman" pitchFamily="18" charset="0"/>
              </a:rPr>
              <a:t>structure function, mixing distribution)</a:t>
            </a:r>
            <a:r>
              <a:rPr lang="zh-CN" altLang="en-US" sz="2400">
                <a:latin typeface="Times New Roman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9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9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 autoUpdateAnimBg="0"/>
      <p:bldP spid="4915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F939C6-56B5-4C59-A8F1-006D8D67E42F}" type="slidenum">
              <a:rPr lang="zh-CN" altLang="en-US" smtClean="0"/>
              <a:pPr>
                <a:defRPr/>
              </a:pPr>
              <a:t>37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457308" y="609674"/>
                <a:ext cx="8076988" cy="258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zh-CN" altLang="zh-CN" sz="1800" b="1" dirty="0" smtClean="0">
                    <a:latin typeface="+mn-lt"/>
                    <a:ea typeface="黑体" panose="02010609060101010101" pitchFamily="49" charset="-122"/>
                  </a:rPr>
                  <a:t>例：</a:t>
                </a:r>
                <a:r>
                  <a:rPr lang="zh-CN" altLang="zh-CN" sz="1800" dirty="0">
                    <a:latin typeface="+mn-lt"/>
                    <a:ea typeface="黑体" panose="02010609060101010101" pitchFamily="49" charset="-122"/>
                  </a:rPr>
                  <a:t> 假设损失次数观察值来自两类保单，一类保单的损失次数服从参数为</a:t>
                </a:r>
                <a14:m>
                  <m:oMath xmlns:m="http://schemas.openxmlformats.org/officeDocument/2006/math">
                    <m:r>
                      <a:rPr lang="en-US" altLang="zh-CN" sz="1800" b="0" i="0" smtClean="0">
                        <a:latin typeface="Cambria Math"/>
                      </a:rPr>
                      <m:t>2</m:t>
                    </m:r>
                  </m:oMath>
                </a14:m>
                <a:r>
                  <a:rPr lang="zh-CN" altLang="zh-CN" sz="1800" dirty="0">
                    <a:latin typeface="+mn-lt"/>
                    <a:ea typeface="黑体" panose="02010609060101010101" pitchFamily="49" charset="-122"/>
                  </a:rPr>
                  <a:t>的泊松分布，另一类保单的损失次数服从参数为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/>
                      </a:rPr>
                      <m:t>(</m:t>
                    </m:r>
                    <m:r>
                      <a:rPr lang="en-US" altLang="zh-CN" sz="1800" b="0" i="0" smtClean="0">
                        <a:latin typeface="Cambria Math"/>
                      </a:rPr>
                      <m:t>1</m:t>
                    </m:r>
                    <m:r>
                      <a:rPr lang="en-US" altLang="zh-CN" sz="1800">
                        <a:latin typeface="Cambria Math"/>
                      </a:rPr>
                      <m:t>,</m:t>
                    </m:r>
                    <m:r>
                      <a:rPr lang="en-US" altLang="zh-CN" sz="1800" b="0" i="0" smtClean="0">
                        <a:latin typeface="Cambria Math"/>
                      </a:rPr>
                      <m:t> </m:t>
                    </m:r>
                    <m:r>
                      <a:rPr lang="en-US" altLang="zh-CN" sz="1800">
                        <a:latin typeface="Cambria Math"/>
                      </a:rPr>
                      <m:t>1/5)</m:t>
                    </m:r>
                  </m:oMath>
                </a14:m>
                <a:r>
                  <a:rPr lang="zh-CN" altLang="zh-CN" sz="1800" dirty="0">
                    <a:latin typeface="+mn-lt"/>
                    <a:ea typeface="黑体" panose="02010609060101010101" pitchFamily="49" charset="-122"/>
                  </a:rPr>
                  <a:t>的负二项分布。在保单组合中，第一类保单占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40%</a:t>
                </a:r>
                <a:r>
                  <a:rPr lang="zh-CN" altLang="zh-CN" sz="1800" dirty="0">
                    <a:latin typeface="+mn-lt"/>
                    <a:ea typeface="黑体" panose="02010609060101010101" pitchFamily="49" charset="-122"/>
                  </a:rPr>
                  <a:t>，第二类保单占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60%</a:t>
                </a:r>
                <a:r>
                  <a:rPr lang="zh-CN" altLang="zh-CN" sz="1800" dirty="0">
                    <a:latin typeface="+mn-lt"/>
                    <a:ea typeface="黑体" panose="02010609060101010101" pitchFamily="49" charset="-122"/>
                  </a:rPr>
                  <a:t>，请求保单组合的损失次数分布。</a:t>
                </a:r>
              </a:p>
              <a:p>
                <a:pPr algn="l" latinLnBrk="1"/>
                <a:endParaRPr lang="en-US" altLang="zh-CN" sz="1800" dirty="0" smtClean="0">
                  <a:latin typeface="+mn-lt"/>
                  <a:ea typeface="黑体" panose="02010609060101010101" pitchFamily="49" charset="-122"/>
                </a:endParaRPr>
              </a:p>
              <a:p>
                <a:pPr algn="l" latinLnBrk="1"/>
                <a:r>
                  <a:rPr lang="en-US" altLang="zh-CN" sz="1800" dirty="0" smtClean="0">
                    <a:latin typeface="+mn-lt"/>
                    <a:ea typeface="黑体" panose="02010609060101010101" pitchFamily="49" charset="-122"/>
                  </a:rPr>
                  <a:t>## </a:t>
                </a:r>
                <a:r>
                  <a:rPr lang="en-US" altLang="zh-CN" sz="1800" dirty="0" err="1">
                    <a:latin typeface="+mn-lt"/>
                    <a:ea typeface="黑体" panose="02010609060101010101" pitchFamily="49" charset="-122"/>
                  </a:rPr>
                  <a:t>泊松分布与负二项分布混合后的概率函数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/>
                </a:r>
                <a:br>
                  <a:rPr lang="en-US" altLang="zh-CN" sz="1800" dirty="0">
                    <a:latin typeface="+mn-lt"/>
                    <a:ea typeface="黑体" panose="02010609060101010101" pitchFamily="49" charset="-122"/>
                  </a:rPr>
                </a:b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f = function(x) </a:t>
                </a:r>
                <a:r>
                  <a:rPr lang="en-US" altLang="zh-CN" sz="1800" dirty="0" smtClean="0">
                    <a:latin typeface="+mn-lt"/>
                    <a:ea typeface="黑体" panose="02010609060101010101" pitchFamily="49" charset="-122"/>
                  </a:rPr>
                  <a:t>  0.4 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* </a:t>
                </a:r>
                <a:r>
                  <a:rPr lang="en-US" altLang="zh-CN" sz="1800" b="1" dirty="0" err="1">
                    <a:latin typeface="+mn-lt"/>
                    <a:ea typeface="黑体" panose="02010609060101010101" pitchFamily="49" charset="-122"/>
                  </a:rPr>
                  <a:t>dpois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(x, </a:t>
                </a:r>
                <a:r>
                  <a:rPr lang="en-US" altLang="zh-CN" sz="1800" dirty="0" smtClean="0">
                    <a:latin typeface="+mn-lt"/>
                    <a:ea typeface="黑体" panose="02010609060101010101" pitchFamily="49" charset="-122"/>
                  </a:rPr>
                  <a:t>2) 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+ 0.6 * </a:t>
                </a:r>
                <a:r>
                  <a:rPr lang="en-US" altLang="zh-CN" sz="1800" b="1" dirty="0" err="1">
                    <a:latin typeface="+mn-lt"/>
                    <a:ea typeface="黑体" panose="02010609060101010101" pitchFamily="49" charset="-122"/>
                  </a:rPr>
                  <a:t>dnbinom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(x, 1</a:t>
                </a:r>
                <a:r>
                  <a:rPr lang="en-US" altLang="zh-CN" sz="1800" dirty="0" smtClean="0">
                    <a:latin typeface="+mn-lt"/>
                    <a:ea typeface="黑体" panose="02010609060101010101" pitchFamily="49" charset="-122"/>
                  </a:rPr>
                  <a:t>, 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1/5)</a:t>
                </a:r>
                <a:br>
                  <a:rPr lang="en-US" altLang="zh-CN" sz="1800" dirty="0">
                    <a:latin typeface="+mn-lt"/>
                    <a:ea typeface="黑体" panose="02010609060101010101" pitchFamily="49" charset="-122"/>
                  </a:rPr>
                </a:b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## </a:t>
                </a:r>
                <a:r>
                  <a:rPr lang="en-US" altLang="zh-CN" sz="1800" dirty="0" err="1">
                    <a:latin typeface="+mn-lt"/>
                    <a:ea typeface="黑体" panose="02010609060101010101" pitchFamily="49" charset="-122"/>
                  </a:rPr>
                  <a:t>绘图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/>
                </a:r>
                <a:br>
                  <a:rPr lang="en-US" altLang="zh-CN" sz="1800" dirty="0">
                    <a:latin typeface="+mn-lt"/>
                    <a:ea typeface="黑体" panose="02010609060101010101" pitchFamily="49" charset="-122"/>
                  </a:rPr>
                </a:b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x = </a:t>
                </a:r>
                <a:r>
                  <a:rPr lang="en-US" altLang="zh-CN" sz="1800" dirty="0" smtClean="0">
                    <a:latin typeface="+mn-lt"/>
                    <a:ea typeface="黑体" panose="02010609060101010101" pitchFamily="49" charset="-122"/>
                  </a:rPr>
                  <a:t>0:20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/>
                </a:r>
                <a:br>
                  <a:rPr lang="en-US" altLang="zh-CN" sz="1800" dirty="0">
                    <a:latin typeface="+mn-lt"/>
                    <a:ea typeface="黑体" panose="02010609060101010101" pitchFamily="49" charset="-122"/>
                  </a:rPr>
                </a:br>
                <a:r>
                  <a:rPr lang="en-US" altLang="zh-CN" sz="1800" b="1" dirty="0" err="1">
                    <a:latin typeface="+mn-lt"/>
                    <a:ea typeface="黑体" panose="02010609060101010101" pitchFamily="49" charset="-122"/>
                  </a:rPr>
                  <a:t>barplot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(</a:t>
                </a:r>
                <a:r>
                  <a:rPr lang="en-US" altLang="zh-CN" sz="1800" b="1" dirty="0">
                    <a:latin typeface="+mn-lt"/>
                    <a:ea typeface="黑体" panose="02010609060101010101" pitchFamily="49" charset="-122"/>
                  </a:rPr>
                  <a:t>f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(x), </a:t>
                </a:r>
                <a:r>
                  <a:rPr lang="en-US" altLang="zh-CN" sz="1800" dirty="0" err="1">
                    <a:latin typeface="+mn-lt"/>
                    <a:ea typeface="黑体" panose="02010609060101010101" pitchFamily="49" charset="-122"/>
                  </a:rPr>
                  <a:t>names.arg</a:t>
                </a:r>
                <a:r>
                  <a:rPr lang="en-US" altLang="zh-CN" sz="1800" dirty="0">
                    <a:latin typeface="+mn-lt"/>
                    <a:ea typeface="黑体" panose="02010609060101010101" pitchFamily="49" charset="-122"/>
                  </a:rPr>
                  <a:t> = x)</a:t>
                </a:r>
                <a:endParaRPr lang="zh-CN" altLang="zh-CN" sz="1800" dirty="0">
                  <a:latin typeface="+mn-lt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08" y="609674"/>
                <a:ext cx="8076988" cy="2585323"/>
              </a:xfrm>
              <a:prstGeom prst="rect">
                <a:avLst/>
              </a:prstGeom>
              <a:blipFill rotWithShape="1">
                <a:blip r:embed="rId2"/>
                <a:stretch>
                  <a:fillRect l="-604" t="-943" r="-1962" b="-30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56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80" b="7551"/>
          <a:stretch/>
        </p:blipFill>
        <p:spPr bwMode="auto">
          <a:xfrm>
            <a:off x="1371684" y="3500582"/>
            <a:ext cx="6045200" cy="2881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3390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常见的混合分布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idx="1"/>
          </p:nvPr>
        </p:nvSpPr>
        <p:spPr>
          <a:xfrm>
            <a:off x="304912" y="1981238"/>
            <a:ext cx="8534176" cy="4382717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b="1" dirty="0" smtClean="0"/>
              <a:t>混合泊松：假设泊松</a:t>
            </a:r>
            <a:r>
              <a:rPr lang="en-US" altLang="zh-CN" b="1" dirty="0" smtClean="0"/>
              <a:t>(</a:t>
            </a:r>
            <a:r>
              <a:rPr lang="en-US" altLang="zh-CN" b="1" dirty="0" err="1" smtClean="0">
                <a:latin typeface="Symbol" pitchFamily="18" charset="2"/>
              </a:rPr>
              <a:t>lq</a:t>
            </a:r>
            <a:r>
              <a:rPr lang="en-US" altLang="zh-CN" b="1" dirty="0" smtClean="0"/>
              <a:t>)</a:t>
            </a:r>
            <a:r>
              <a:rPr lang="zh-CN" altLang="en-US" b="1" dirty="0" smtClean="0"/>
              <a:t>中的参数</a:t>
            </a:r>
            <a:r>
              <a:rPr lang="en-US" altLang="zh-CN" b="1" dirty="0" smtClean="0">
                <a:latin typeface="Symbol" pitchFamily="18" charset="2"/>
              </a:rPr>
              <a:t>q</a:t>
            </a:r>
            <a:r>
              <a:rPr lang="zh-CN" altLang="en-US" b="1" dirty="0" smtClean="0"/>
              <a:t>服从某种分布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b="1" dirty="0" smtClean="0"/>
              <a:t>混合二项：二项分布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en-US" altLang="zh-CN" b="1" i="1" dirty="0" smtClean="0">
                <a:latin typeface="Times New Roman" pitchFamily="18" charset="0"/>
              </a:rPr>
              <a:t>m, q</a:t>
            </a:r>
            <a:r>
              <a:rPr lang="en-US" altLang="zh-CN" b="1" dirty="0" smtClean="0">
                <a:latin typeface="Times New Roman" pitchFamily="18" charset="0"/>
              </a:rPr>
              <a:t>)</a:t>
            </a:r>
            <a:r>
              <a:rPr lang="zh-CN" altLang="en-US" b="1" dirty="0" smtClean="0"/>
              <a:t>的参数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zh-CN" altLang="en-US" b="1" dirty="0" smtClean="0"/>
              <a:t>服从</a:t>
            </a:r>
            <a:r>
              <a:rPr lang="en-US" altLang="zh-CN" b="1" dirty="0" smtClean="0"/>
              <a:t>beta</a:t>
            </a:r>
            <a:r>
              <a:rPr lang="zh-CN" altLang="en-US" b="1" dirty="0" smtClean="0"/>
              <a:t>分布</a:t>
            </a:r>
          </a:p>
          <a:p>
            <a:pPr eaLnBrk="1" hangingPunct="1">
              <a:lnSpc>
                <a:spcPct val="200000"/>
              </a:lnSpc>
            </a:pPr>
            <a:r>
              <a:rPr lang="zh-CN" altLang="en-US" b="1" dirty="0" smtClean="0"/>
              <a:t>混合负二项：负二项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en-US" altLang="zh-CN" b="1" i="1" dirty="0" smtClean="0">
                <a:latin typeface="Times New Roman" pitchFamily="18" charset="0"/>
              </a:rPr>
              <a:t>r, q</a:t>
            </a:r>
            <a:r>
              <a:rPr lang="en-US" altLang="zh-CN" b="1" dirty="0" smtClean="0">
                <a:latin typeface="Times New Roman" pitchFamily="18" charset="0"/>
              </a:rPr>
              <a:t>)</a:t>
            </a:r>
            <a:r>
              <a:rPr lang="zh-CN" altLang="en-US" b="1" dirty="0" smtClean="0"/>
              <a:t>的参数</a:t>
            </a:r>
            <a:r>
              <a:rPr lang="en-US" altLang="zh-CN" b="1" i="1" dirty="0" smtClean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zh-CN" altLang="en-US" b="1" dirty="0" smtClean="0"/>
              <a:t>服从</a:t>
            </a:r>
            <a:r>
              <a:rPr lang="en-US" altLang="zh-CN" b="1" dirty="0" smtClean="0"/>
              <a:t>beta</a:t>
            </a:r>
            <a:r>
              <a:rPr lang="zh-CN" altLang="en-US" b="1" dirty="0" smtClean="0"/>
              <a:t>分布</a:t>
            </a:r>
            <a:endParaRPr lang="en-US" altLang="zh-CN" b="1" dirty="0" smtClean="0"/>
          </a:p>
        </p:txBody>
      </p:sp>
      <p:sp>
        <p:nvSpPr>
          <p:cNvPr id="4813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FBA82917-D3D5-45C2-B53D-97521B7DBD35}" type="slidenum">
              <a:rPr lang="zh-CN" altLang="en-US" sz="1400"/>
              <a:pPr eaLnBrk="1" hangingPunct="1"/>
              <a:t>38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混合泊松分布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假设：</a:t>
            </a:r>
          </a:p>
          <a:p>
            <a:pPr lvl="1" eaLnBrk="1" hangingPunct="1"/>
            <a:r>
              <a:rPr lang="zh-CN" altLang="en-US" b="1" dirty="0" smtClean="0"/>
              <a:t>个体风险的损失次数服从泊松分布</a:t>
            </a:r>
            <a:r>
              <a:rPr lang="en-US" altLang="zh-CN" b="1" dirty="0" smtClean="0"/>
              <a:t>(</a:t>
            </a:r>
            <a:r>
              <a:rPr lang="en-US" altLang="zh-CN" b="1" dirty="0" err="1" smtClean="0">
                <a:latin typeface="Symbol" pitchFamily="18" charset="2"/>
              </a:rPr>
              <a:t>lq</a:t>
            </a:r>
            <a:r>
              <a:rPr lang="en-US" altLang="zh-CN" b="1" dirty="0" smtClean="0"/>
              <a:t>)</a:t>
            </a:r>
          </a:p>
          <a:p>
            <a:pPr lvl="1" eaLnBrk="1" hangingPunct="1"/>
            <a:r>
              <a:rPr lang="zh-CN" altLang="en-US" b="1" dirty="0" smtClean="0"/>
              <a:t>参数</a:t>
            </a:r>
            <a:r>
              <a:rPr lang="en-US" altLang="zh-CN" b="1" dirty="0" smtClean="0">
                <a:latin typeface="Symbol" pitchFamily="18" charset="2"/>
              </a:rPr>
              <a:t>q</a:t>
            </a:r>
            <a:r>
              <a:rPr lang="zh-CN" altLang="en-US" b="1" dirty="0" smtClean="0"/>
              <a:t>服从另一种分布（结构函数）</a:t>
            </a:r>
          </a:p>
          <a:p>
            <a:pPr eaLnBrk="1" hangingPunct="1"/>
            <a:r>
              <a:rPr lang="zh-CN" altLang="en-US" b="1" dirty="0" smtClean="0"/>
              <a:t>则风险集合的损失次数服从混合泊松分布</a:t>
            </a:r>
          </a:p>
          <a:p>
            <a:pPr eaLnBrk="1" hangingPunct="1"/>
            <a:r>
              <a:rPr lang="zh-CN" altLang="en-US" b="1" dirty="0" smtClean="0"/>
              <a:t>常见的结构函数：</a:t>
            </a:r>
          </a:p>
          <a:p>
            <a:pPr lvl="1" eaLnBrk="1" hangingPunct="1"/>
            <a:r>
              <a:rPr lang="zh-CN" altLang="en-US" b="1" dirty="0" smtClean="0"/>
              <a:t>伽马分布</a:t>
            </a:r>
          </a:p>
          <a:p>
            <a:pPr lvl="1" eaLnBrk="1" hangingPunct="1"/>
            <a:r>
              <a:rPr lang="zh-CN" altLang="en-US" b="1" dirty="0" smtClean="0"/>
              <a:t>逆高斯分布</a:t>
            </a:r>
          </a:p>
        </p:txBody>
      </p:sp>
      <p:sp>
        <p:nvSpPr>
          <p:cNvPr id="4915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CDA813F-6978-44AE-ADCE-6A1EC1666CB0}" type="slidenum">
              <a:rPr lang="zh-CN" altLang="en-US" sz="1400"/>
              <a:pPr eaLnBrk="1" hangingPunct="1"/>
              <a:t>39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>
          <a:xfrm>
            <a:off x="495913" y="609674"/>
            <a:ext cx="7200900" cy="706437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例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4929188"/>
          </a:xfrm>
        </p:spPr>
        <p:txBody>
          <a:bodyPr/>
          <a:lstStyle/>
          <a:p>
            <a:pPr marL="609600" indent="-609600" eaLnBrk="1" hangingPunct="1">
              <a:lnSpc>
                <a:spcPct val="155000"/>
              </a:lnSpc>
            </a:pPr>
            <a:r>
              <a:rPr lang="zh-CN" altLang="en-US" b="1" dirty="0" smtClean="0">
                <a:latin typeface="Times New Roman" pitchFamily="18" charset="0"/>
              </a:rPr>
              <a:t>假设保单组合由两种类型的风险构成：</a:t>
            </a:r>
          </a:p>
          <a:p>
            <a:pPr marL="990600" lvl="1" indent="-533400" eaLnBrk="1" hangingPunct="1">
              <a:lnSpc>
                <a:spcPct val="155000"/>
              </a:lnSpc>
            </a:pPr>
            <a:r>
              <a:rPr lang="zh-CN" altLang="en-US" b="1" dirty="0" smtClean="0">
                <a:latin typeface="Times New Roman" pitchFamily="18" charset="0"/>
              </a:rPr>
              <a:t>高风险的保单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zh-CN" altLang="en-US" b="1" dirty="0" smtClean="0">
                <a:latin typeface="Times New Roman" pitchFamily="18" charset="0"/>
              </a:rPr>
              <a:t>泊松参数为</a:t>
            </a:r>
            <a:r>
              <a:rPr lang="en-US" altLang="zh-CN" b="1" dirty="0" err="1" smtClean="0">
                <a:latin typeface="Symbol" pitchFamily="18" charset="2"/>
              </a:rPr>
              <a:t>l</a:t>
            </a:r>
            <a:r>
              <a:rPr lang="en-US" altLang="zh-CN" b="1" baseline="-25000" dirty="0" err="1" smtClean="0">
                <a:latin typeface="Times New Roman" pitchFamily="18" charset="0"/>
              </a:rPr>
              <a:t>1</a:t>
            </a:r>
            <a:r>
              <a:rPr lang="en-US" altLang="zh-CN" b="1" dirty="0" smtClean="0">
                <a:latin typeface="Times New Roman" pitchFamily="18" charset="0"/>
              </a:rPr>
              <a:t>=</a:t>
            </a:r>
            <a:r>
              <a:rPr lang="en-US" altLang="zh-CN" b="1" dirty="0" err="1" smtClean="0">
                <a:latin typeface="Symbol" pitchFamily="18" charset="2"/>
              </a:rPr>
              <a:t>lq</a:t>
            </a:r>
            <a:r>
              <a:rPr lang="en-US" altLang="zh-CN" b="1" baseline="-25000" dirty="0" err="1" smtClean="0">
                <a:latin typeface="Times New Roman" pitchFamily="18" charset="0"/>
              </a:rPr>
              <a:t>1</a:t>
            </a:r>
            <a:r>
              <a:rPr lang="en-US" altLang="zh-CN" b="1" dirty="0" smtClean="0">
                <a:latin typeface="Times New Roman" pitchFamily="18" charset="0"/>
              </a:rPr>
              <a:t>)</a:t>
            </a:r>
            <a:r>
              <a:rPr lang="zh-CN" altLang="en-US" b="1" dirty="0" smtClean="0">
                <a:latin typeface="Times New Roman" pitchFamily="18" charset="0"/>
              </a:rPr>
              <a:t>占</a:t>
            </a:r>
            <a:r>
              <a:rPr lang="en-US" altLang="zh-CN" b="1" i="1" dirty="0" err="1" smtClean="0">
                <a:latin typeface="Times New Roman" pitchFamily="18" charset="0"/>
              </a:rPr>
              <a:t>a</a:t>
            </a:r>
            <a:r>
              <a:rPr lang="en-US" altLang="zh-CN" b="1" baseline="-25000" dirty="0" err="1" smtClean="0">
                <a:latin typeface="Times New Roman" pitchFamily="18" charset="0"/>
              </a:rPr>
              <a:t>1</a:t>
            </a:r>
            <a:endParaRPr lang="en-US" altLang="zh-CN" b="1" dirty="0" smtClean="0">
              <a:latin typeface="Times New Roman" pitchFamily="18" charset="0"/>
            </a:endParaRPr>
          </a:p>
          <a:p>
            <a:pPr marL="990600" lvl="1" indent="-533400" eaLnBrk="1" hangingPunct="1">
              <a:lnSpc>
                <a:spcPct val="155000"/>
              </a:lnSpc>
            </a:pPr>
            <a:r>
              <a:rPr lang="zh-CN" altLang="en-US" b="1" dirty="0" smtClean="0">
                <a:latin typeface="Times New Roman" pitchFamily="18" charset="0"/>
              </a:rPr>
              <a:t>低风险的保单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zh-CN" altLang="en-US" b="1" dirty="0" smtClean="0">
                <a:latin typeface="Times New Roman" pitchFamily="18" charset="0"/>
              </a:rPr>
              <a:t>泊松参数为</a:t>
            </a:r>
            <a:r>
              <a:rPr lang="en-US" altLang="zh-CN" b="1" dirty="0" err="1" smtClean="0">
                <a:latin typeface="Symbol" pitchFamily="18" charset="2"/>
              </a:rPr>
              <a:t>l</a:t>
            </a:r>
            <a:r>
              <a:rPr lang="en-US" altLang="zh-CN" b="1" baseline="-25000" dirty="0" err="1" smtClean="0">
                <a:latin typeface="Times New Roman" pitchFamily="18" charset="0"/>
              </a:rPr>
              <a:t>2</a:t>
            </a:r>
            <a:r>
              <a:rPr lang="en-US" altLang="zh-CN" b="1" dirty="0" smtClean="0">
                <a:latin typeface="Times New Roman" pitchFamily="18" charset="0"/>
              </a:rPr>
              <a:t>=</a:t>
            </a:r>
            <a:r>
              <a:rPr lang="en-US" altLang="zh-CN" b="1" dirty="0" err="1" smtClean="0">
                <a:latin typeface="Symbol" pitchFamily="18" charset="2"/>
              </a:rPr>
              <a:t>lq</a:t>
            </a:r>
            <a:r>
              <a:rPr lang="en-US" altLang="zh-CN" b="1" baseline="-25000" dirty="0" err="1" smtClean="0">
                <a:latin typeface="Times New Roman" pitchFamily="18" charset="0"/>
              </a:rPr>
              <a:t>2</a:t>
            </a:r>
            <a:r>
              <a:rPr lang="en-US" altLang="zh-CN" b="1" dirty="0" smtClean="0">
                <a:latin typeface="Times New Roman" pitchFamily="18" charset="0"/>
              </a:rPr>
              <a:t>)</a:t>
            </a:r>
            <a:r>
              <a:rPr lang="zh-CN" altLang="en-US" b="1" dirty="0" smtClean="0">
                <a:latin typeface="Times New Roman" pitchFamily="18" charset="0"/>
              </a:rPr>
              <a:t>占</a:t>
            </a:r>
            <a:r>
              <a:rPr lang="en-US" altLang="zh-CN" b="1" i="1" dirty="0" err="1" smtClean="0">
                <a:latin typeface="Times New Roman" pitchFamily="18" charset="0"/>
              </a:rPr>
              <a:t>a</a:t>
            </a:r>
            <a:r>
              <a:rPr lang="en-US" altLang="zh-CN" b="1" baseline="-25000" dirty="0" err="1" smtClean="0">
                <a:latin typeface="Times New Roman" pitchFamily="18" charset="0"/>
              </a:rPr>
              <a:t>2</a:t>
            </a:r>
            <a:endParaRPr lang="en-US" altLang="zh-CN" b="1" dirty="0" smtClean="0">
              <a:latin typeface="Times New Roman" pitchFamily="18" charset="0"/>
            </a:endParaRPr>
          </a:p>
          <a:p>
            <a:pPr marL="990600" lvl="1" indent="-533400" eaLnBrk="1" hangingPunct="1">
              <a:lnSpc>
                <a:spcPct val="155000"/>
              </a:lnSpc>
            </a:pPr>
            <a:r>
              <a:rPr lang="en-US" altLang="zh-CN" b="1" i="1" dirty="0" err="1" smtClean="0">
                <a:latin typeface="Times New Roman" pitchFamily="18" charset="0"/>
              </a:rPr>
              <a:t>a</a:t>
            </a:r>
            <a:r>
              <a:rPr lang="en-US" altLang="zh-CN" b="1" baseline="-25000" dirty="0" err="1" smtClean="0">
                <a:latin typeface="Times New Roman" pitchFamily="18" charset="0"/>
              </a:rPr>
              <a:t>1</a:t>
            </a:r>
            <a:r>
              <a:rPr lang="en-US" altLang="zh-CN" b="1" baseline="-25000" dirty="0" smtClean="0">
                <a:latin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</a:rPr>
              <a:t>+ </a:t>
            </a:r>
            <a:r>
              <a:rPr lang="en-US" altLang="zh-CN" b="1" i="1" dirty="0" err="1" smtClean="0">
                <a:latin typeface="Times New Roman" pitchFamily="18" charset="0"/>
              </a:rPr>
              <a:t>a</a:t>
            </a:r>
            <a:r>
              <a:rPr lang="en-US" altLang="zh-CN" b="1" baseline="-25000" dirty="0" err="1" smtClean="0">
                <a:latin typeface="Times New Roman" pitchFamily="18" charset="0"/>
              </a:rPr>
              <a:t>2</a:t>
            </a:r>
            <a:r>
              <a:rPr lang="en-US" altLang="zh-CN" b="1" dirty="0" smtClean="0">
                <a:latin typeface="Times New Roman" pitchFamily="18" charset="0"/>
              </a:rPr>
              <a:t>=1</a:t>
            </a:r>
          </a:p>
          <a:p>
            <a:pPr marL="609600" indent="-609600" eaLnBrk="1" hangingPunct="1">
              <a:lnSpc>
                <a:spcPct val="155000"/>
              </a:lnSpc>
            </a:pPr>
            <a:r>
              <a:rPr lang="zh-CN" altLang="en-US" b="1" dirty="0" smtClean="0">
                <a:latin typeface="Times New Roman" pitchFamily="18" charset="0"/>
              </a:rPr>
              <a:t>则随机个体保单的索赔次数分布为 </a:t>
            </a:r>
          </a:p>
        </p:txBody>
      </p:sp>
      <p:sp>
        <p:nvSpPr>
          <p:cNvPr id="5017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FDE2EDB-406D-49CF-A490-4CA38769ED33}" type="slidenum">
              <a:rPr lang="zh-CN" altLang="en-US" sz="1400"/>
              <a:pPr eaLnBrk="1" hangingPunct="1"/>
              <a:t>40</a:t>
            </a:fld>
            <a:endParaRPr lang="en-US" altLang="zh-CN" sz="1400"/>
          </a:p>
        </p:txBody>
      </p:sp>
      <p:sp>
        <p:nvSpPr>
          <p:cNvPr id="50181" name="Rectangle 4"/>
          <p:cNvSpPr>
            <a:spLocks noChangeArrowheads="1"/>
          </p:cNvSpPr>
          <p:nvPr/>
        </p:nvSpPr>
        <p:spPr bwMode="auto">
          <a:xfrm>
            <a:off x="0" y="32385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52229" name="Object 5"/>
          <p:cNvGraphicFramePr>
            <a:graphicFrameLocks noChangeAspect="1"/>
          </p:cNvGraphicFramePr>
          <p:nvPr/>
        </p:nvGraphicFramePr>
        <p:xfrm>
          <a:off x="1371600" y="5029200"/>
          <a:ext cx="63134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529" r:id="rId3" imgW="2641600" imgH="419100" progId="Equation.DSMT4">
                  <p:embed/>
                </p:oleObj>
              </mc:Choice>
              <mc:Fallback>
                <p:oleObj r:id="rId3" imgW="2641600" imgH="419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5029200"/>
                        <a:ext cx="631348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2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2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>
          <a:xfrm>
            <a:off x="387406" y="549701"/>
            <a:ext cx="8229600" cy="77787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混合泊松分布的母函数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>
          <a:xfrm>
            <a:off x="457308" y="1219258"/>
            <a:ext cx="8101012" cy="1081087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 smtClean="0">
                <a:latin typeface="Times New Roman" pitchFamily="18" charset="0"/>
              </a:rPr>
              <a:t>令</a:t>
            </a:r>
            <a:r>
              <a:rPr lang="en-US" altLang="zh-CN" b="1" i="1" dirty="0" smtClean="0">
                <a:latin typeface="Times New Roman" pitchFamily="18" charset="0"/>
              </a:rPr>
              <a:t>N </a:t>
            </a:r>
            <a:r>
              <a:rPr lang="zh-CN" altLang="en-US" b="1" dirty="0" smtClean="0">
                <a:latin typeface="Times New Roman" pitchFamily="18" charset="0"/>
              </a:rPr>
              <a:t>服从混合泊松分布，母函数为</a:t>
            </a:r>
            <a:r>
              <a:rPr lang="en-US" altLang="zh-CN" b="1" i="1" dirty="0" smtClean="0">
                <a:latin typeface="Times New Roman" pitchFamily="18" charset="0"/>
              </a:rPr>
              <a:t>P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en-US" altLang="zh-CN" b="1" i="1" dirty="0" smtClean="0"/>
              <a:t>z</a:t>
            </a:r>
            <a:r>
              <a:rPr lang="en-US" altLang="zh-CN" b="1" dirty="0" smtClean="0">
                <a:latin typeface="Times New Roman" pitchFamily="18" charset="0"/>
              </a:rPr>
              <a:t>)</a:t>
            </a:r>
            <a:r>
              <a:rPr lang="zh-CN" altLang="en-US" b="1" dirty="0" smtClean="0">
                <a:latin typeface="Times New Roman" pitchFamily="18" charset="0"/>
              </a:rPr>
              <a:t>，结构函数为</a:t>
            </a:r>
            <a:r>
              <a:rPr lang="en-US" altLang="zh-CN" b="1" i="1" dirty="0" smtClean="0">
                <a:latin typeface="Times New Roman" pitchFamily="18" charset="0"/>
              </a:rPr>
              <a:t>u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en-US" altLang="zh-CN" b="1" dirty="0" smtClean="0">
                <a:latin typeface="Symbol" pitchFamily="18" charset="2"/>
              </a:rPr>
              <a:t>q</a:t>
            </a:r>
            <a:r>
              <a:rPr lang="en-US" altLang="zh-CN" b="1" dirty="0" smtClean="0">
                <a:latin typeface="Times New Roman" pitchFamily="18" charset="0"/>
              </a:rPr>
              <a:t>)</a:t>
            </a:r>
            <a:r>
              <a:rPr lang="en-US" altLang="zh-CN" b="1" dirty="0" smtClean="0">
                <a:latin typeface="Symbol" pitchFamily="18" charset="2"/>
              </a:rPr>
              <a:t>, </a:t>
            </a:r>
            <a:r>
              <a:rPr lang="zh-CN" altLang="en-US" b="1" dirty="0" smtClean="0">
                <a:latin typeface="Times New Roman" pitchFamily="18" charset="0"/>
              </a:rPr>
              <a:t>则有</a:t>
            </a:r>
          </a:p>
        </p:txBody>
      </p:sp>
      <p:sp>
        <p:nvSpPr>
          <p:cNvPr id="512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50662B5-EF29-4A81-A379-44C4348A90B3}" type="slidenum">
              <a:rPr lang="zh-CN" altLang="en-US" sz="1400"/>
              <a:pPr eaLnBrk="1" hangingPunct="1"/>
              <a:t>41</a:t>
            </a:fld>
            <a:endParaRPr lang="en-US" altLang="zh-CN" sz="1400"/>
          </a:p>
        </p:txBody>
      </p:sp>
      <p:graphicFrame>
        <p:nvGraphicFramePr>
          <p:cNvPr id="532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1975997"/>
              </p:ext>
            </p:extLst>
          </p:nvPr>
        </p:nvGraphicFramePr>
        <p:xfrm>
          <a:off x="1752674" y="2590822"/>
          <a:ext cx="27955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17" name="Equation" r:id="rId3" imgW="1409400" imgH="279360" progId="Equation.DSMT4">
                  <p:embed/>
                </p:oleObj>
              </mc:Choice>
              <mc:Fallback>
                <p:oleObj name="Equation" r:id="rId3" imgW="1409400" imgH="279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74" y="2590822"/>
                        <a:ext cx="279558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641268"/>
              </p:ext>
            </p:extLst>
          </p:nvPr>
        </p:nvGraphicFramePr>
        <p:xfrm>
          <a:off x="2438456" y="3733792"/>
          <a:ext cx="2063750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18" r:id="rId5" imgW="838564" imgH="279521" progId="Equation.DSMT4">
                  <p:embed/>
                </p:oleObj>
              </mc:Choice>
              <mc:Fallback>
                <p:oleObj r:id="rId5" imgW="838564" imgH="27952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56" y="3733792"/>
                        <a:ext cx="2063750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844095"/>
              </p:ext>
            </p:extLst>
          </p:nvPr>
        </p:nvGraphicFramePr>
        <p:xfrm>
          <a:off x="2438456" y="4826836"/>
          <a:ext cx="2160587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3019" r:id="rId7" imgW="952500" imgH="228600" progId="Equation.DSMT4">
                  <p:embed/>
                </p:oleObj>
              </mc:Choice>
              <mc:Fallback>
                <p:oleObj r:id="rId7" imgW="95250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56" y="4826836"/>
                        <a:ext cx="2160587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6" name="Text Box 8"/>
          <p:cNvSpPr txBox="1">
            <a:spLocks noChangeArrowheads="1"/>
          </p:cNvSpPr>
          <p:nvPr/>
        </p:nvSpPr>
        <p:spPr bwMode="auto">
          <a:xfrm>
            <a:off x="1476375" y="5830888"/>
            <a:ext cx="5708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fontAlgn="base" hangingPunct="1"/>
            <a:r>
              <a:rPr lang="zh-CN" altLang="en-US" sz="2400" dirty="0">
                <a:latin typeface="Times New Roman" pitchFamily="18" charset="0"/>
              </a:rPr>
              <a:t>其中 </a:t>
            </a:r>
            <a:r>
              <a:rPr lang="en-US" altLang="zh-CN" sz="2400" i="1" dirty="0" err="1">
                <a:latin typeface="Times New Roman" pitchFamily="18" charset="0"/>
              </a:rPr>
              <a:t>M</a:t>
            </a:r>
            <a:r>
              <a:rPr lang="en-US" altLang="zh-CN" sz="2400" baseline="-25000" dirty="0" err="1">
                <a:latin typeface="Symbol" pitchFamily="18" charset="2"/>
              </a:rPr>
              <a:t>Q</a:t>
            </a:r>
            <a:r>
              <a:rPr lang="en-US" altLang="zh-CN" sz="2400" dirty="0">
                <a:latin typeface="Times New Roman" pitchFamily="18" charset="0"/>
              </a:rPr>
              <a:t> </a:t>
            </a:r>
            <a:r>
              <a:rPr lang="zh-CN" altLang="en-US" sz="2400" dirty="0">
                <a:latin typeface="Times New Roman" pitchFamily="18" charset="0"/>
              </a:rPr>
              <a:t>为结构函数的矩母函数。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 autoUpdateAnimBg="0"/>
      <p:bldP spid="53256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混合泊松分布的性质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250825" y="1341438"/>
            <a:ext cx="8713788" cy="4824412"/>
          </a:xfrm>
        </p:spPr>
        <p:txBody>
          <a:bodyPr/>
          <a:lstStyle/>
          <a:p>
            <a:pPr eaLnBrk="1" hangingPunct="1">
              <a:lnSpc>
                <a:spcPct val="115000"/>
              </a:lnSpc>
            </a:pPr>
            <a:r>
              <a:rPr lang="zh-CN" altLang="en-US" smtClean="0">
                <a:latin typeface="Times New Roman" pitchFamily="18" charset="0"/>
              </a:rPr>
              <a:t>过离散：方差大于均值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mtClean="0">
                <a:latin typeface="Times New Roman" pitchFamily="18" charset="0"/>
              </a:rPr>
              <a:t>不同的结构函数会生成不同的混合泊松分布。</a:t>
            </a:r>
            <a:r>
              <a:rPr lang="en-US" altLang="zh-CN" smtClean="0">
                <a:solidFill>
                  <a:schemeClr val="hlink"/>
                </a:solidFill>
                <a:latin typeface="Times New Roman" pitchFamily="18" charset="0"/>
              </a:rPr>
              <a:t>[1]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mtClean="0">
                <a:latin typeface="Times New Roman" pitchFamily="18" charset="0"/>
              </a:rPr>
              <a:t>如果结构函数是连续的，且只有一个众数，则混合泊松也只有一个众数。</a:t>
            </a:r>
            <a:r>
              <a:rPr lang="en-US" altLang="zh-CN" smtClean="0">
                <a:solidFill>
                  <a:schemeClr val="hlink"/>
                </a:solidFill>
                <a:latin typeface="Times New Roman" pitchFamily="18" charset="0"/>
              </a:rPr>
              <a:t>[2]</a:t>
            </a:r>
          </a:p>
          <a:p>
            <a:pPr eaLnBrk="1" hangingPunct="1">
              <a:lnSpc>
                <a:spcPct val="115000"/>
              </a:lnSpc>
            </a:pPr>
            <a:endParaRPr lang="en-US" altLang="zh-CN" smtClean="0">
              <a:solidFill>
                <a:schemeClr val="hlink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15000"/>
              </a:lnSpc>
            </a:pPr>
            <a:r>
              <a:rPr lang="en-US" altLang="zh-CN" sz="2000" smtClean="0">
                <a:solidFill>
                  <a:schemeClr val="hlink"/>
                </a:solidFill>
                <a:latin typeface="Times New Roman" pitchFamily="18" charset="0"/>
              </a:rPr>
              <a:t>[1]</a:t>
            </a:r>
            <a:r>
              <a:rPr lang="en-US" altLang="zh-CN" sz="2000" smtClean="0">
                <a:latin typeface="Times New Roman" pitchFamily="18" charset="0"/>
              </a:rPr>
              <a:t>Douglas, J(1980), analysis with standard contagious distributions, Fairland, MD: International Co-operative Publishing house.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zh-CN" sz="2000" smtClean="0">
                <a:solidFill>
                  <a:schemeClr val="hlink"/>
                </a:solidFill>
                <a:latin typeface="Times New Roman" pitchFamily="18" charset="0"/>
              </a:rPr>
              <a:t>[2]</a:t>
            </a:r>
            <a:r>
              <a:rPr lang="en-US" altLang="zh-CN" sz="2000" smtClean="0">
                <a:latin typeface="Times New Roman" pitchFamily="18" charset="0"/>
              </a:rPr>
              <a:t> Holgate, P(1970), the modality of some compound poisson distribution, Biometrika. 57, 666-667.</a:t>
            </a:r>
          </a:p>
        </p:txBody>
      </p:sp>
      <p:sp>
        <p:nvSpPr>
          <p:cNvPr id="5222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31304F4-C857-493F-80A2-77C8808838D8}" type="slidenum">
              <a:rPr lang="zh-CN" altLang="en-US" sz="1400"/>
              <a:pPr eaLnBrk="1" hangingPunct="1"/>
              <a:t>42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5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153BBA7-67F1-448D-ADDD-B813696EE53B}" type="slidenum">
              <a:rPr lang="zh-CN" altLang="en-US" sz="1400"/>
              <a:pPr eaLnBrk="1" hangingPunct="1"/>
              <a:t>43</a:t>
            </a:fld>
            <a:endParaRPr lang="en-US" altLang="zh-CN" sz="1400"/>
          </a:p>
        </p:txBody>
      </p:sp>
      <p:sp>
        <p:nvSpPr>
          <p:cNvPr id="55298" name="Text Box 2"/>
          <p:cNvSpPr txBox="1">
            <a:spLocks noChangeArrowheads="1"/>
          </p:cNvSpPr>
          <p:nvPr/>
        </p:nvSpPr>
        <p:spPr bwMode="auto">
          <a:xfrm>
            <a:off x="684213" y="765175"/>
            <a:ext cx="7740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fontAlgn="base" hangingPunct="1"/>
            <a:r>
              <a:rPr lang="zh-CN" altLang="en-US" sz="2400" b="1" dirty="0"/>
              <a:t>证明：混合泊松 </a:t>
            </a:r>
            <a:r>
              <a:rPr lang="en-US" altLang="zh-CN" sz="2400" b="1" i="1" dirty="0">
                <a:latin typeface="Times New Roman" pitchFamily="18" charset="0"/>
              </a:rPr>
              <a:t>N </a:t>
            </a:r>
            <a:r>
              <a:rPr lang="zh-CN" altLang="en-US" sz="2400" b="1" dirty="0"/>
              <a:t>的方差大于均值</a:t>
            </a:r>
          </a:p>
        </p:txBody>
      </p:sp>
      <p:graphicFrame>
        <p:nvGraphicFramePr>
          <p:cNvPr id="5325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149116"/>
              </p:ext>
            </p:extLst>
          </p:nvPr>
        </p:nvGraphicFramePr>
        <p:xfrm>
          <a:off x="1189038" y="3511550"/>
          <a:ext cx="7097712" cy="2297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61" name="Equation" r:id="rId3" imgW="2705040" imgH="876240" progId="Equation.DSMT4">
                  <p:embed/>
                </p:oleObj>
              </mc:Choice>
              <mc:Fallback>
                <p:oleObj name="Equation" r:id="rId3" imgW="2705040" imgH="8762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038" y="3511550"/>
                        <a:ext cx="7097712" cy="2297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8635265"/>
              </p:ext>
            </p:extLst>
          </p:nvPr>
        </p:nvGraphicFramePr>
        <p:xfrm>
          <a:off x="1328738" y="1524000"/>
          <a:ext cx="4633912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62" name="Equation" r:id="rId5" imgW="1765080" imgH="203040" progId="Equation.DSMT4">
                  <p:embed/>
                </p:oleObj>
              </mc:Choice>
              <mc:Fallback>
                <p:oleObj name="Equation" r:id="rId5" imgW="1765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28738" y="1524000"/>
                        <a:ext cx="4633912" cy="533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608916"/>
              </p:ext>
            </p:extLst>
          </p:nvPr>
        </p:nvGraphicFramePr>
        <p:xfrm>
          <a:off x="1466850" y="2362200"/>
          <a:ext cx="62484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63" name="Equation" r:id="rId7" imgW="2082600" imgH="203040" progId="Equation.DSMT4">
                  <p:embed/>
                </p:oleObj>
              </mc:Choice>
              <mc:Fallback>
                <p:oleObj name="Equation" r:id="rId7" imgW="208260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66850" y="2362200"/>
                        <a:ext cx="62484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 smtClean="0"/>
              <a:t>混合泊松的结构函数</a:t>
            </a:r>
            <a:r>
              <a:rPr lang="en-US" altLang="zh-CN" dirty="0" smtClean="0"/>
              <a:t>:</a:t>
            </a:r>
            <a:r>
              <a:rPr lang="zh-CN" altLang="en-US" dirty="0" smtClean="0"/>
              <a:t>伽马分布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个体风险服从泊松分布</a:t>
            </a:r>
            <a:r>
              <a:rPr lang="en-US" altLang="zh-CN" b="1" dirty="0" smtClean="0"/>
              <a:t>(</a:t>
            </a:r>
            <a:r>
              <a:rPr lang="en-US" altLang="zh-CN" b="1" dirty="0">
                <a:latin typeface="Symbol" pitchFamily="18" charset="2"/>
              </a:rPr>
              <a:t>l Q</a:t>
            </a:r>
            <a:r>
              <a:rPr lang="en-US" altLang="zh-CN" b="1" dirty="0" smtClean="0"/>
              <a:t>) </a:t>
            </a:r>
          </a:p>
          <a:p>
            <a:pPr eaLnBrk="1" hangingPunct="1"/>
            <a:r>
              <a:rPr lang="zh-CN" altLang="en-US" b="1" dirty="0" smtClean="0"/>
              <a:t>结构函数</a:t>
            </a:r>
            <a:r>
              <a:rPr lang="en-US" altLang="zh-CN" b="1" dirty="0" smtClean="0">
                <a:latin typeface="Symbol" pitchFamily="18" charset="2"/>
              </a:rPr>
              <a:t>Q</a:t>
            </a:r>
            <a:r>
              <a:rPr lang="zh-CN" altLang="en-US" b="1" dirty="0" smtClean="0"/>
              <a:t>为伽马分布（</a:t>
            </a:r>
            <a:r>
              <a:rPr lang="en-US" altLang="zh-CN" b="1" dirty="0" smtClean="0">
                <a:latin typeface="Symbol" pitchFamily="18" charset="2"/>
              </a:rPr>
              <a:t>a, a</a:t>
            </a:r>
            <a:r>
              <a:rPr lang="zh-CN" altLang="en-US" b="1" dirty="0" smtClean="0"/>
              <a:t>）：均值为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，方差为</a:t>
            </a:r>
            <a:r>
              <a:rPr lang="en-US" altLang="zh-CN" b="1" dirty="0" smtClean="0"/>
              <a:t>1/</a:t>
            </a:r>
            <a:r>
              <a:rPr lang="en-US" altLang="zh-CN" b="1" dirty="0" smtClean="0">
                <a:latin typeface="Symbol" pitchFamily="18" charset="2"/>
              </a:rPr>
              <a:t>a</a:t>
            </a:r>
          </a:p>
          <a:p>
            <a:pPr eaLnBrk="1" hangingPunct="1"/>
            <a:endParaRPr lang="en-US" altLang="zh-CN" b="1" dirty="0" smtClean="0"/>
          </a:p>
          <a:p>
            <a:pPr eaLnBrk="1" hangingPunct="1"/>
            <a:endParaRPr lang="en-US" altLang="zh-CN" b="1" dirty="0" smtClean="0"/>
          </a:p>
          <a:p>
            <a:pPr eaLnBrk="1" hangingPunct="1"/>
            <a:endParaRPr lang="en-US" altLang="zh-CN" b="1" dirty="0" smtClean="0"/>
          </a:p>
          <a:p>
            <a:pPr eaLnBrk="1" hangingPunct="1"/>
            <a:r>
              <a:rPr lang="zh-CN" altLang="en-US" b="1" dirty="0" smtClean="0"/>
              <a:t>风险集合</a:t>
            </a:r>
            <a:r>
              <a:rPr lang="en-US" altLang="zh-CN" b="1" dirty="0" smtClean="0"/>
              <a:t>, </a:t>
            </a:r>
            <a:r>
              <a:rPr lang="zh-CN" altLang="en-US" b="1" dirty="0" smtClean="0"/>
              <a:t>负二项：均值为 </a:t>
            </a:r>
            <a:r>
              <a:rPr lang="en-US" altLang="zh-CN" b="1" dirty="0" smtClean="0">
                <a:latin typeface="Symbol" pitchFamily="18" charset="2"/>
              </a:rPr>
              <a:t>l</a:t>
            </a:r>
            <a:r>
              <a:rPr lang="zh-CN" altLang="en-US" b="1" dirty="0" smtClean="0"/>
              <a:t>，方差为 </a:t>
            </a:r>
            <a:r>
              <a:rPr lang="en-US" altLang="zh-CN" b="1" dirty="0" smtClean="0">
                <a:latin typeface="Symbol" pitchFamily="18" charset="2"/>
              </a:rPr>
              <a:t>l+l</a:t>
            </a:r>
            <a:r>
              <a:rPr lang="en-US" altLang="zh-CN" b="1" baseline="30000" dirty="0" smtClean="0">
                <a:latin typeface="Symbol" pitchFamily="18" charset="2"/>
              </a:rPr>
              <a:t>2</a:t>
            </a:r>
            <a:r>
              <a:rPr lang="en-US" altLang="zh-CN" b="1" dirty="0" smtClean="0">
                <a:latin typeface="Symbol" pitchFamily="18" charset="2"/>
              </a:rPr>
              <a:t>/a</a:t>
            </a:r>
          </a:p>
        </p:txBody>
      </p:sp>
      <p:sp>
        <p:nvSpPr>
          <p:cNvPr id="542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94B478A-731B-49D1-B42D-485D585223CE}" type="slidenum">
              <a:rPr lang="zh-CN" altLang="en-US" sz="1400"/>
              <a:pPr eaLnBrk="1" hangingPunct="1"/>
              <a:t>44</a:t>
            </a:fld>
            <a:endParaRPr lang="en-US" altLang="zh-CN" sz="1400"/>
          </a:p>
        </p:txBody>
      </p:sp>
      <p:graphicFrame>
        <p:nvGraphicFramePr>
          <p:cNvPr id="5427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0574825"/>
              </p:ext>
            </p:extLst>
          </p:nvPr>
        </p:nvGraphicFramePr>
        <p:xfrm>
          <a:off x="1295486" y="3838654"/>
          <a:ext cx="5903913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625" r:id="rId3" imgW="2464870" imgH="419282" progId="Equation.DSMT4">
                  <p:embed/>
                </p:oleObj>
              </mc:Choice>
              <mc:Fallback>
                <p:oleObj r:id="rId3" imgW="2464870" imgH="41928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86" y="3838654"/>
                        <a:ext cx="5903913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混合泊松的结构函数</a:t>
            </a:r>
            <a:r>
              <a:rPr lang="en-US" altLang="zh-CN" smtClean="0"/>
              <a:t>:</a:t>
            </a:r>
            <a:r>
              <a:rPr lang="zh-CN" altLang="en-US" smtClean="0"/>
              <a:t>逆高斯分布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b="1" dirty="0" smtClean="0"/>
              <a:t>个体风险服从泊松分布</a:t>
            </a:r>
            <a:r>
              <a:rPr lang="en-US" altLang="zh-CN" b="1" dirty="0" smtClean="0"/>
              <a:t>(</a:t>
            </a:r>
            <a:r>
              <a:rPr lang="en-US" altLang="zh-CN" b="1" dirty="0">
                <a:latin typeface="Symbol" pitchFamily="18" charset="2"/>
              </a:rPr>
              <a:t>l Q</a:t>
            </a:r>
            <a:r>
              <a:rPr lang="en-US" altLang="zh-CN" b="1" dirty="0" smtClean="0"/>
              <a:t>) </a:t>
            </a:r>
          </a:p>
          <a:p>
            <a:pPr eaLnBrk="1" hangingPunct="1"/>
            <a:r>
              <a:rPr lang="zh-CN" altLang="en-US" b="1" dirty="0" smtClean="0"/>
              <a:t>结构函数</a:t>
            </a:r>
            <a:r>
              <a:rPr lang="en-US" altLang="zh-CN" b="1" dirty="0" smtClean="0">
                <a:latin typeface="Symbol" pitchFamily="18" charset="2"/>
              </a:rPr>
              <a:t>Q</a:t>
            </a:r>
            <a:r>
              <a:rPr lang="zh-CN" altLang="en-US" b="1" dirty="0" smtClean="0"/>
              <a:t>为逆高斯分布（</a:t>
            </a:r>
            <a:r>
              <a:rPr lang="en-US" altLang="zh-CN" b="1" dirty="0" smtClean="0">
                <a:latin typeface="Symbol" pitchFamily="18" charset="2"/>
              </a:rPr>
              <a:t>1, t</a:t>
            </a:r>
            <a:r>
              <a:rPr lang="zh-CN" altLang="en-US" b="1" dirty="0" smtClean="0"/>
              <a:t>）：均值为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，方差为</a:t>
            </a:r>
            <a:r>
              <a:rPr lang="en-US" altLang="zh-CN" b="1" dirty="0" smtClean="0">
                <a:latin typeface="Symbol" pitchFamily="18" charset="2"/>
              </a:rPr>
              <a:t>t</a:t>
            </a:r>
          </a:p>
          <a:p>
            <a:pPr eaLnBrk="1" hangingPunct="1"/>
            <a:endParaRPr lang="en-US" altLang="zh-CN" b="1" dirty="0" smtClean="0">
              <a:latin typeface="Symbol" pitchFamily="18" charset="2"/>
            </a:endParaRPr>
          </a:p>
          <a:p>
            <a:pPr eaLnBrk="1" hangingPunct="1"/>
            <a:endParaRPr lang="en-US" altLang="zh-CN" b="1" dirty="0" smtClean="0">
              <a:latin typeface="Symbol" pitchFamily="18" charset="2"/>
            </a:endParaRPr>
          </a:p>
          <a:p>
            <a:pPr eaLnBrk="1" hangingPunct="1"/>
            <a:endParaRPr lang="en-US" altLang="zh-CN" b="1" dirty="0" smtClean="0">
              <a:latin typeface="Symbol" pitchFamily="18" charset="2"/>
            </a:endParaRPr>
          </a:p>
          <a:p>
            <a:pPr eaLnBrk="1" hangingPunct="1"/>
            <a:r>
              <a:rPr lang="zh-CN" altLang="en-US" b="1" dirty="0" smtClean="0"/>
              <a:t>风险集合，泊松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逆高斯分布：均值为 </a:t>
            </a:r>
            <a:r>
              <a:rPr lang="en-US" altLang="zh-CN" b="1" dirty="0" smtClean="0">
                <a:latin typeface="Symbol" pitchFamily="18" charset="2"/>
              </a:rPr>
              <a:t>l</a:t>
            </a:r>
            <a:r>
              <a:rPr lang="zh-CN" altLang="en-US" b="1" dirty="0" smtClean="0"/>
              <a:t>，方差为 </a:t>
            </a:r>
            <a:r>
              <a:rPr lang="en-US" altLang="zh-CN" b="1" dirty="0" err="1" smtClean="0">
                <a:latin typeface="Symbol" pitchFamily="18" charset="2"/>
              </a:rPr>
              <a:t>l+tl</a:t>
            </a:r>
            <a:r>
              <a:rPr lang="en-US" altLang="zh-CN" b="1" baseline="30000" dirty="0" err="1" smtClean="0">
                <a:latin typeface="Symbol" pitchFamily="18" charset="2"/>
              </a:rPr>
              <a:t>2</a:t>
            </a:r>
            <a:endParaRPr lang="en-US" altLang="zh-CN" b="1" baseline="30000" dirty="0" smtClean="0">
              <a:latin typeface="Symbol" pitchFamily="18" charset="2"/>
            </a:endParaRPr>
          </a:p>
          <a:p>
            <a:pPr eaLnBrk="1" hangingPunct="1"/>
            <a:endParaRPr lang="en-US" altLang="zh-CN" b="1" baseline="30000" dirty="0">
              <a:latin typeface="Symbol" pitchFamily="18" charset="2"/>
            </a:endParaRPr>
          </a:p>
          <a:p>
            <a:pPr eaLnBrk="1" hangingPunct="1"/>
            <a:r>
              <a:rPr lang="zh-CN" altLang="en-US" sz="1600" b="1" dirty="0" smtClean="0">
                <a:latin typeface="Symbol" pitchFamily="18" charset="2"/>
              </a:rPr>
              <a:t>注：</a:t>
            </a:r>
            <a:r>
              <a:rPr lang="zh-CN" altLang="en-US" sz="1600" b="1" dirty="0">
                <a:latin typeface="Symbol" pitchFamily="18" charset="2"/>
              </a:rPr>
              <a:t>另一</a:t>
            </a:r>
            <a:r>
              <a:rPr lang="zh-CN" altLang="en-US" sz="1600" b="1" dirty="0" smtClean="0">
                <a:latin typeface="Symbol" pitchFamily="18" charset="2"/>
              </a:rPr>
              <a:t>种参数形式是逆高斯分布（</a:t>
            </a:r>
            <a:r>
              <a:rPr lang="en-US" altLang="zh-CN" sz="1600" b="1" dirty="0" smtClean="0">
                <a:latin typeface="Symbol" pitchFamily="18" charset="2"/>
              </a:rPr>
              <a:t>1/</a:t>
            </a:r>
            <a:r>
              <a:rPr lang="en-US" altLang="zh-CN" sz="1600" b="1" dirty="0" smtClean="0">
                <a:latin typeface="Symbol" pitchFamily="18" charset="2"/>
                <a:sym typeface="Symbol"/>
              </a:rPr>
              <a:t>,  1/</a:t>
            </a:r>
            <a:r>
              <a:rPr lang="zh-CN" altLang="en-US" sz="1600" b="1" dirty="0" smtClean="0">
                <a:latin typeface="Symbol" pitchFamily="18" charset="2"/>
              </a:rPr>
              <a:t>）</a:t>
            </a:r>
            <a:r>
              <a:rPr lang="en-US" altLang="zh-CN" sz="1600" b="1" dirty="0" smtClean="0">
                <a:latin typeface="Symbol" pitchFamily="18" charset="2"/>
              </a:rPr>
              <a:t>,  </a:t>
            </a:r>
            <a:r>
              <a:rPr lang="zh-CN" altLang="en-US" sz="1600" b="1" dirty="0" smtClean="0">
                <a:latin typeface="Symbol" pitchFamily="18" charset="2"/>
              </a:rPr>
              <a:t>均值为</a:t>
            </a:r>
            <a:r>
              <a:rPr lang="en-US" altLang="zh-CN" sz="1600" b="1" dirty="0" smtClean="0">
                <a:latin typeface="Symbol" pitchFamily="18" charset="2"/>
              </a:rPr>
              <a:t>1 </a:t>
            </a:r>
            <a:r>
              <a:rPr lang="zh-CN" altLang="en-US" sz="1600" b="1" dirty="0" smtClean="0">
                <a:latin typeface="Symbol" pitchFamily="18" charset="2"/>
              </a:rPr>
              <a:t>，方差为</a:t>
            </a:r>
            <a:r>
              <a:rPr lang="zh-CN" altLang="en-US" sz="1600" b="1" dirty="0" smtClean="0">
                <a:latin typeface="Symbol" pitchFamily="18" charset="2"/>
                <a:sym typeface="Symbol"/>
              </a:rPr>
              <a:t>，偏度为</a:t>
            </a:r>
            <a:r>
              <a:rPr lang="en-US" altLang="zh-CN" sz="1600" b="1" dirty="0" smtClean="0">
                <a:latin typeface="Symbol" pitchFamily="18" charset="2"/>
                <a:sym typeface="Symbol"/>
              </a:rPr>
              <a:t>3</a:t>
            </a:r>
            <a:r>
              <a:rPr lang="en-US" altLang="zh-CN" sz="1600" b="1" baseline="30000" dirty="0" smtClean="0">
                <a:latin typeface="Symbol" pitchFamily="18" charset="2"/>
                <a:sym typeface="Symbol"/>
              </a:rPr>
              <a:t>1/2</a:t>
            </a:r>
            <a:endParaRPr lang="en-US" altLang="zh-CN" sz="1600" b="1" dirty="0">
              <a:latin typeface="Symbol" pitchFamily="18" charset="2"/>
            </a:endParaRPr>
          </a:p>
        </p:txBody>
      </p:sp>
      <p:sp>
        <p:nvSpPr>
          <p:cNvPr id="5529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347498A1-AC55-47A7-A150-EFA048ECD121}" type="slidenum">
              <a:rPr lang="zh-CN" altLang="en-US" sz="1400"/>
              <a:pPr eaLnBrk="1" hangingPunct="1"/>
              <a:t>45</a:t>
            </a:fld>
            <a:endParaRPr lang="en-US" altLang="zh-CN" sz="1400"/>
          </a:p>
        </p:txBody>
      </p:sp>
      <p:graphicFrame>
        <p:nvGraphicFramePr>
          <p:cNvPr id="5530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898179"/>
              </p:ext>
            </p:extLst>
          </p:nvPr>
        </p:nvGraphicFramePr>
        <p:xfrm>
          <a:off x="1219288" y="4038584"/>
          <a:ext cx="5970587" cy="941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646" name="Equation" r:id="rId3" imgW="2819160" imgH="444240" progId="Equation.DSMT4">
                  <p:embed/>
                </p:oleObj>
              </mc:Choice>
              <mc:Fallback>
                <p:oleObj name="Equation" r:id="rId3" imgW="281916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88" y="4038584"/>
                        <a:ext cx="5970587" cy="941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混合泊松的结构函数</a:t>
            </a:r>
            <a:r>
              <a:rPr lang="en-US" altLang="zh-CN" smtClean="0"/>
              <a:t>:</a:t>
            </a:r>
            <a:r>
              <a:rPr lang="zh-CN" altLang="en-US" smtClean="0"/>
              <a:t>对数正态分布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idx="1"/>
          </p:nvPr>
        </p:nvSpPr>
        <p:spPr>
          <a:xfrm>
            <a:off x="228714" y="1600200"/>
            <a:ext cx="8762770" cy="4525963"/>
          </a:xfrm>
        </p:spPr>
        <p:txBody>
          <a:bodyPr/>
          <a:lstStyle/>
          <a:p>
            <a:pPr eaLnBrk="1" hangingPunct="1"/>
            <a:r>
              <a:rPr lang="zh-CN" altLang="en-US" b="1" dirty="0" smtClean="0"/>
              <a:t>个体风险服从泊松分布</a:t>
            </a:r>
            <a:r>
              <a:rPr lang="en-US" altLang="zh-CN" b="1" dirty="0" smtClean="0"/>
              <a:t>(</a:t>
            </a:r>
            <a:r>
              <a:rPr lang="en-US" altLang="zh-CN" b="1" dirty="0">
                <a:latin typeface="Symbol" pitchFamily="18" charset="2"/>
              </a:rPr>
              <a:t>l Q</a:t>
            </a:r>
            <a:r>
              <a:rPr lang="en-US" altLang="zh-CN" b="1" dirty="0" smtClean="0"/>
              <a:t>) </a:t>
            </a:r>
          </a:p>
          <a:p>
            <a:pPr eaLnBrk="1" hangingPunct="1"/>
            <a:r>
              <a:rPr lang="zh-CN" altLang="en-US" b="1" dirty="0" smtClean="0"/>
              <a:t>结构函数</a:t>
            </a:r>
            <a:r>
              <a:rPr lang="en-US" altLang="zh-CN" b="1" dirty="0" smtClean="0">
                <a:latin typeface="Symbol" pitchFamily="18" charset="2"/>
              </a:rPr>
              <a:t>Q</a:t>
            </a:r>
            <a:r>
              <a:rPr lang="zh-CN" altLang="en-US" b="1" dirty="0" smtClean="0"/>
              <a:t>为对数正态分布（</a:t>
            </a:r>
            <a:r>
              <a:rPr lang="en-US" altLang="zh-CN" b="1" dirty="0" smtClean="0">
                <a:latin typeface="Symbol" pitchFamily="18" charset="2"/>
              </a:rPr>
              <a:t>-s</a:t>
            </a:r>
            <a:r>
              <a:rPr lang="en-US" altLang="zh-CN" b="1" baseline="30000" dirty="0" smtClean="0">
                <a:latin typeface="Symbol" pitchFamily="18" charset="2"/>
              </a:rPr>
              <a:t>2</a:t>
            </a:r>
            <a:r>
              <a:rPr lang="en-US" altLang="zh-CN" b="1" dirty="0" smtClean="0">
                <a:latin typeface="Symbol" pitchFamily="18" charset="2"/>
              </a:rPr>
              <a:t>/2,  </a:t>
            </a:r>
            <a:r>
              <a:rPr lang="en-US" altLang="zh-CN" b="1" dirty="0" err="1" smtClean="0">
                <a:latin typeface="Symbol" pitchFamily="18" charset="2"/>
              </a:rPr>
              <a:t>s</a:t>
            </a:r>
            <a:r>
              <a:rPr lang="en-US" altLang="zh-CN" b="1" baseline="30000" dirty="0" err="1" smtClean="0">
                <a:latin typeface="Symbol" pitchFamily="18" charset="2"/>
              </a:rPr>
              <a:t>2</a:t>
            </a:r>
            <a:r>
              <a:rPr lang="zh-CN" altLang="en-US" b="1" dirty="0" smtClean="0"/>
              <a:t>）：均值为</a:t>
            </a:r>
            <a:r>
              <a:rPr lang="en-US" altLang="zh-CN" b="1" dirty="0" smtClean="0"/>
              <a:t>1</a:t>
            </a:r>
            <a:r>
              <a:rPr lang="zh-CN" altLang="en-US" b="1" dirty="0" smtClean="0"/>
              <a:t>，方差为</a:t>
            </a:r>
            <a:r>
              <a:rPr lang="en-US" altLang="zh-CN" b="1" dirty="0" smtClean="0">
                <a:latin typeface="Symbol" pitchFamily="18" charset="2"/>
              </a:rPr>
              <a:t>[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exp</a:t>
            </a:r>
            <a:r>
              <a:rPr lang="en-US" altLang="zh-CN" b="1" dirty="0" smtClean="0">
                <a:latin typeface="Symbol" pitchFamily="18" charset="2"/>
              </a:rPr>
              <a:t>(s </a:t>
            </a:r>
            <a:r>
              <a:rPr lang="en-US" altLang="zh-CN" b="1" baseline="30000" dirty="0" smtClean="0">
                <a:latin typeface="Symbol" pitchFamily="18" charset="2"/>
              </a:rPr>
              <a:t>2</a:t>
            </a:r>
            <a:r>
              <a:rPr lang="en-US" altLang="zh-CN" b="1" dirty="0" smtClean="0">
                <a:latin typeface="Symbol" pitchFamily="18" charset="2"/>
              </a:rPr>
              <a:t>)-1]</a:t>
            </a:r>
            <a:r>
              <a:rPr lang="zh-CN" altLang="en-US" b="1" dirty="0" smtClean="0">
                <a:latin typeface="Symbol" pitchFamily="18" charset="2"/>
              </a:rPr>
              <a:t>。</a:t>
            </a:r>
          </a:p>
          <a:p>
            <a:pPr eaLnBrk="1" hangingPunct="1"/>
            <a:endParaRPr lang="zh-CN" altLang="en-US" b="1" dirty="0" smtClean="0">
              <a:latin typeface="Symbol" pitchFamily="18" charset="2"/>
            </a:endParaRPr>
          </a:p>
          <a:p>
            <a:pPr eaLnBrk="1" hangingPunct="1"/>
            <a:endParaRPr lang="zh-CN" altLang="en-US" b="1" dirty="0" smtClean="0">
              <a:latin typeface="Symbol" pitchFamily="18" charset="2"/>
            </a:endParaRPr>
          </a:p>
          <a:p>
            <a:pPr eaLnBrk="1" hangingPunct="1"/>
            <a:endParaRPr lang="zh-CN" altLang="en-US" b="1" dirty="0" smtClean="0">
              <a:latin typeface="Symbol" pitchFamily="18" charset="2"/>
            </a:endParaRPr>
          </a:p>
          <a:p>
            <a:pPr eaLnBrk="1" hangingPunct="1"/>
            <a:r>
              <a:rPr lang="zh-CN" altLang="en-US" b="1" dirty="0" smtClean="0"/>
              <a:t>风险集合，泊松</a:t>
            </a:r>
            <a:r>
              <a:rPr lang="en-US" altLang="zh-CN" b="1" dirty="0" smtClean="0"/>
              <a:t>-</a:t>
            </a:r>
            <a:r>
              <a:rPr lang="zh-CN" altLang="en-US" b="1" dirty="0" smtClean="0"/>
              <a:t>对数正态分布：均值为 </a:t>
            </a:r>
            <a:r>
              <a:rPr lang="en-US" altLang="zh-CN" b="1" dirty="0" smtClean="0">
                <a:latin typeface="Symbol" pitchFamily="18" charset="2"/>
              </a:rPr>
              <a:t>l</a:t>
            </a:r>
            <a:r>
              <a:rPr lang="zh-CN" altLang="en-US" b="1" dirty="0" smtClean="0"/>
              <a:t>，方差为 </a:t>
            </a:r>
            <a:r>
              <a:rPr lang="en-US" altLang="zh-CN" b="1" dirty="0" smtClean="0">
                <a:latin typeface="Symbol" pitchFamily="18" charset="2"/>
              </a:rPr>
              <a:t>l+[</a:t>
            </a:r>
            <a:r>
              <a:rPr lang="en-US" altLang="zh-CN" b="1" dirty="0" err="1" smtClean="0">
                <a:latin typeface="Times New Roman" pitchFamily="18" charset="0"/>
                <a:cs typeface="Times New Roman" pitchFamily="18" charset="0"/>
              </a:rPr>
              <a:t>exp</a:t>
            </a:r>
            <a:r>
              <a:rPr lang="en-US" altLang="zh-CN" b="1" dirty="0" smtClean="0">
                <a:latin typeface="Symbol" pitchFamily="18" charset="2"/>
              </a:rPr>
              <a:t>(s </a:t>
            </a:r>
            <a:r>
              <a:rPr lang="en-US" altLang="zh-CN" b="1" baseline="30000" dirty="0" smtClean="0">
                <a:latin typeface="Symbol" pitchFamily="18" charset="2"/>
              </a:rPr>
              <a:t>2</a:t>
            </a:r>
            <a:r>
              <a:rPr lang="en-US" altLang="zh-CN" b="1" dirty="0" smtClean="0">
                <a:latin typeface="Symbol" pitchFamily="18" charset="2"/>
              </a:rPr>
              <a:t>)-1] l</a:t>
            </a:r>
            <a:r>
              <a:rPr lang="en-US" altLang="zh-CN" b="1" baseline="30000" dirty="0" smtClean="0">
                <a:latin typeface="Symbol" pitchFamily="18" charset="2"/>
              </a:rPr>
              <a:t>2</a:t>
            </a:r>
          </a:p>
        </p:txBody>
      </p:sp>
      <p:sp>
        <p:nvSpPr>
          <p:cNvPr id="5632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280EF09-ABA7-419D-950A-10CF9E20E193}" type="slidenum">
              <a:rPr lang="zh-CN" altLang="en-US" sz="1400"/>
              <a:pPr eaLnBrk="1" hangingPunct="1"/>
              <a:t>46</a:t>
            </a:fld>
            <a:endParaRPr lang="en-US" altLang="zh-CN" sz="1400"/>
          </a:p>
        </p:txBody>
      </p:sp>
      <p:graphicFrame>
        <p:nvGraphicFramePr>
          <p:cNvPr id="5632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3745770"/>
              </p:ext>
            </p:extLst>
          </p:nvPr>
        </p:nvGraphicFramePr>
        <p:xfrm>
          <a:off x="914496" y="3842379"/>
          <a:ext cx="6059487" cy="976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669" r:id="rId3" imgW="2995900" imgH="482391" progId="Equation.DSMT4">
                  <p:embed/>
                </p:oleObj>
              </mc:Choice>
              <mc:Fallback>
                <p:oleObj r:id="rId3" imgW="2995900" imgH="48239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96" y="3842379"/>
                        <a:ext cx="6059487" cy="976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007C53A4-6F33-4AD1-81E1-4425CBA27BCD}" type="slidenum">
              <a:rPr lang="zh-CN" altLang="en-US" sz="1400"/>
              <a:pPr eaLnBrk="1" hangingPunct="1"/>
              <a:t>47</a:t>
            </a:fld>
            <a:endParaRPr lang="en-US" altLang="zh-CN" sz="1400"/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881063" y="1090613"/>
            <a:ext cx="4143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b="1">
                <a:latin typeface="Times New Roman" pitchFamily="18" charset="0"/>
                <a:cs typeface="Times New Roman" pitchFamily="18" charset="0"/>
              </a:rPr>
              <a:t>混合泊松分布的偏度系数为：</a:t>
            </a:r>
          </a:p>
        </p:txBody>
      </p:sp>
      <p:graphicFrame>
        <p:nvGraphicFramePr>
          <p:cNvPr id="5734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824355"/>
              </p:ext>
            </p:extLst>
          </p:nvPr>
        </p:nvGraphicFramePr>
        <p:xfrm>
          <a:off x="369888" y="1916113"/>
          <a:ext cx="8556625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035" name="Equation" r:id="rId3" imgW="4381200" imgH="1041120" progId="Equation.DSMT4">
                  <p:embed/>
                </p:oleObj>
              </mc:Choice>
              <mc:Fallback>
                <p:oleObj name="Equation" r:id="rId3" imgW="4381200" imgH="104112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8" y="1916113"/>
                        <a:ext cx="8556625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9" name="Text Box 4"/>
          <p:cNvSpPr txBox="1">
            <a:spLocks noChangeArrowheads="1"/>
          </p:cNvSpPr>
          <p:nvPr/>
        </p:nvSpPr>
        <p:spPr bwMode="auto">
          <a:xfrm>
            <a:off x="900113" y="4373563"/>
            <a:ext cx="109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>
                <a:latin typeface="Times New Roman" pitchFamily="18" charset="0"/>
                <a:cs typeface="Times New Roman" pitchFamily="18" charset="0"/>
              </a:rPr>
              <a:t>其中：</a:t>
            </a:r>
          </a:p>
        </p:txBody>
      </p:sp>
      <p:graphicFrame>
        <p:nvGraphicFramePr>
          <p:cNvPr id="57350" name="Object 5"/>
          <p:cNvGraphicFramePr>
            <a:graphicFrameLocks noChangeAspect="1"/>
          </p:cNvGraphicFramePr>
          <p:nvPr/>
        </p:nvGraphicFramePr>
        <p:xfrm>
          <a:off x="1692275" y="5084763"/>
          <a:ext cx="4967288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036" r:id="rId5" imgW="2146300" imgH="431800" progId="Equation.DSMT4">
                  <p:embed/>
                </p:oleObj>
              </mc:Choice>
              <mc:Fallback>
                <p:oleObj r:id="rId5" imgW="21463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084763"/>
                        <a:ext cx="4967288" cy="1000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665956"/>
            <a:ext cx="8229600" cy="725487"/>
          </a:xfrm>
        </p:spPr>
        <p:txBody>
          <a:bodyPr/>
          <a:lstStyle/>
          <a:p>
            <a:pPr algn="l" eaLnBrk="1" hangingPunct="1"/>
            <a:r>
              <a:rPr lang="zh-CN" altLang="en-US" dirty="0" smtClean="0"/>
              <a:t>几个常见混合泊松分布的比较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泊松</a:t>
            </a:r>
            <a:r>
              <a:rPr lang="en-US" altLang="zh-CN" dirty="0"/>
              <a:t>-</a:t>
            </a:r>
            <a:r>
              <a:rPr lang="zh-CN" altLang="en-US" dirty="0"/>
              <a:t>伽</a:t>
            </a:r>
            <a:r>
              <a:rPr lang="zh-CN" altLang="en-US" dirty="0" smtClean="0"/>
              <a:t>马（负二项）：</a:t>
            </a:r>
            <a:endParaRPr lang="zh-CN" altLang="en-US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泊松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逆高斯：</a:t>
            </a:r>
          </a:p>
          <a:p>
            <a:pPr eaLnBrk="1" hangingPunct="1">
              <a:lnSpc>
                <a:spcPct val="150000"/>
              </a:lnSpc>
            </a:pPr>
            <a:endParaRPr lang="zh-CN" altLang="en-US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泊松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对数正态：</a:t>
            </a:r>
          </a:p>
          <a:p>
            <a:pPr eaLnBrk="1" hangingPunct="1"/>
            <a:endParaRPr lang="zh-CN" altLang="en-US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58373" name="Object 4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615956779"/>
              </p:ext>
            </p:extLst>
          </p:nvPr>
        </p:nvGraphicFramePr>
        <p:xfrm>
          <a:off x="4310212" y="1767951"/>
          <a:ext cx="11525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32" name="Equation" r:id="rId3" imgW="863280" imgH="444240" progId="Equation.DSMT4">
                  <p:embed/>
                </p:oleObj>
              </mc:Choice>
              <mc:Fallback>
                <p:oleObj name="Equation" r:id="rId3" imgW="863280" imgH="4442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0212" y="1767951"/>
                        <a:ext cx="11525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4" name="Object 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90990896"/>
              </p:ext>
            </p:extLst>
          </p:nvPr>
        </p:nvGraphicFramePr>
        <p:xfrm>
          <a:off x="4231842" y="2881464"/>
          <a:ext cx="1152525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33" name="Equation" r:id="rId5" imgW="863280" imgH="444240" progId="Equation.DSMT4">
                  <p:embed/>
                </p:oleObj>
              </mc:Choice>
              <mc:Fallback>
                <p:oleObj name="Equation" r:id="rId5" imgW="863280" imgH="4442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31842" y="2881464"/>
                        <a:ext cx="1152525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0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C3C46243-E723-4C18-BBD2-F5090F6DE2D0}" type="slidenum">
              <a:rPr lang="zh-CN" altLang="en-US" sz="1400"/>
              <a:pPr eaLnBrk="1" hangingPunct="1"/>
              <a:t>48</a:t>
            </a:fld>
            <a:endParaRPr lang="en-US" altLang="zh-CN" sz="1400"/>
          </a:p>
        </p:txBody>
      </p:sp>
      <p:graphicFrame>
        <p:nvGraphicFramePr>
          <p:cNvPr id="5837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2198429"/>
              </p:ext>
            </p:extLst>
          </p:nvPr>
        </p:nvGraphicFramePr>
        <p:xfrm>
          <a:off x="3973240" y="4168850"/>
          <a:ext cx="2035175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034" name="Equation" r:id="rId7" imgW="1434960" imgH="444240" progId="Equation.DSMT4">
                  <p:embed/>
                </p:oleObj>
              </mc:Choice>
              <mc:Fallback>
                <p:oleObj name="Equation" r:id="rId7" imgW="143496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3240" y="4168850"/>
                        <a:ext cx="2035175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-1066652" y="152486"/>
            <a:ext cx="8229600" cy="789140"/>
          </a:xfrm>
        </p:spPr>
        <p:txBody>
          <a:bodyPr/>
          <a:lstStyle/>
          <a:p>
            <a:r>
              <a:rPr lang="zh-CN" altLang="en-US" dirty="0" smtClean="0"/>
              <a:t>例：泊松</a:t>
            </a:r>
            <a:r>
              <a:rPr lang="en-US" altLang="zh-CN" dirty="0" smtClean="0"/>
              <a:t>-</a:t>
            </a:r>
            <a:r>
              <a:rPr lang="zh-CN" altLang="en-US" dirty="0" smtClean="0"/>
              <a:t>逆高斯分布的概率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228714" y="715564"/>
            <a:ext cx="8534284" cy="838226"/>
          </a:xfrm>
        </p:spPr>
        <p:txBody>
          <a:bodyPr/>
          <a:lstStyle/>
          <a:p>
            <a:r>
              <a:rPr lang="zh-CN" altLang="en-US" dirty="0" smtClean="0"/>
              <a:t>泊松参数为</a:t>
            </a:r>
            <a:r>
              <a:rPr lang="en-US" altLang="zh-CN" dirty="0" smtClean="0"/>
              <a:t>lambda =1.2，</a:t>
            </a:r>
            <a:r>
              <a:rPr lang="zh-CN" altLang="en-US" dirty="0" smtClean="0"/>
              <a:t>逆高斯分布均值为</a:t>
            </a:r>
            <a:r>
              <a:rPr lang="en-US" altLang="zh-CN" dirty="0" smtClean="0"/>
              <a:t>1，tau = 0.5，</a:t>
            </a:r>
            <a:r>
              <a:rPr lang="zh-CN" altLang="en-US" dirty="0" smtClean="0"/>
              <a:t>请计算泊松</a:t>
            </a:r>
            <a:r>
              <a:rPr lang="en-US" altLang="zh-CN" dirty="0" smtClean="0"/>
              <a:t>-</a:t>
            </a:r>
            <a:r>
              <a:rPr lang="zh-CN" altLang="en-US" dirty="0" smtClean="0"/>
              <a:t>逆高斯分布的概率。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1E395E-9852-4F5C-B10C-290EDA4F6186}" type="slidenum">
              <a:rPr lang="zh-CN" altLang="en-US" smtClean="0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10" name="矩形 9"/>
          <p:cNvSpPr/>
          <p:nvPr/>
        </p:nvSpPr>
        <p:spPr>
          <a:xfrm>
            <a:off x="0" y="1981238"/>
            <a:ext cx="9220078" cy="4247317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smtClean="0">
                <a:latin typeface="Consolas" panose="020B0609020204030204" pitchFamily="49" charset="0"/>
                <a:ea typeface="宋体"/>
                <a:cs typeface="Times New Roman"/>
              </a:rPr>
              <a:t>lam 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=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1.2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/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tao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 =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0.5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/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f =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function(x) </a:t>
            </a:r>
            <a:r>
              <a:rPr lang="en-US" altLang="zh-CN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宋体"/>
                <a:cs typeface="Times New Roman"/>
              </a:rPr>
              <a:t>exp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(-lam *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x) *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(lam *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x)^k/</a:t>
            </a:r>
            <a:r>
              <a:rPr lang="en-US" altLang="zh-CN" sz="1200" b="1" dirty="0">
                <a:solidFill>
                  <a:srgbClr val="204A87"/>
                </a:solidFill>
                <a:latin typeface="Consolas" panose="020B0609020204030204" pitchFamily="49" charset="0"/>
                <a:ea typeface="宋体"/>
                <a:cs typeface="Times New Roman"/>
              </a:rPr>
              <a:t>gamma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(k +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1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) *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宋体"/>
                <a:cs typeface="Times New Roman"/>
              </a:rPr>
              <a:t>exp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(-(x -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1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)^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2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/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2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/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tao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/x)/</a:t>
            </a:r>
            <a:r>
              <a:rPr lang="en-US" altLang="zh-CN" sz="1200" b="1" dirty="0" err="1">
                <a:solidFill>
                  <a:srgbClr val="204A87"/>
                </a:solidFill>
                <a:latin typeface="Consolas" panose="020B0609020204030204" pitchFamily="49" charset="0"/>
                <a:ea typeface="宋体"/>
                <a:cs typeface="Times New Roman"/>
              </a:rPr>
              <a:t>sqrt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(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2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 smtClean="0">
                <a:latin typeface="Consolas" panose="020B0609020204030204" pitchFamily="49" charset="0"/>
                <a:ea typeface="宋体"/>
                <a:cs typeface="Times New Roman"/>
              </a:rPr>
              <a:t>*</a:t>
            </a:r>
            <a:r>
              <a:rPr lang="en-US" altLang="zh-CN" sz="1200" dirty="0" smtClean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pi *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x^</a:t>
            </a:r>
            <a:r>
              <a:rPr lang="en-US" altLang="zh-CN" sz="1200" dirty="0" err="1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3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 *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tao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)</a:t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p =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8F5902"/>
                </a:solidFill>
                <a:latin typeface="Consolas" panose="020B0609020204030204" pitchFamily="49" charset="0"/>
                <a:ea typeface="宋体"/>
                <a:cs typeface="Times New Roman"/>
              </a:rPr>
              <a:t>NULL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/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 =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0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/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for (k in 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0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: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20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) {</a:t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   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 =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 +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1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/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    p[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i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] =</a:t>
            </a:r>
            <a:r>
              <a:rPr lang="en-US" altLang="zh-CN" sz="1200" dirty="0">
                <a:solidFill>
                  <a:srgbClr val="4E9A06"/>
                </a:solidFill>
                <a:latin typeface="Consolas" panose="020B0609020204030204" pitchFamily="49" charset="0"/>
                <a:ea typeface="宋体"/>
                <a:cs typeface="Times New Roman"/>
              </a:rPr>
              <a:t> </a:t>
            </a:r>
            <a:r>
              <a:rPr lang="en-US" altLang="zh-CN" sz="1200" b="1" dirty="0">
                <a:solidFill>
                  <a:srgbClr val="204A87"/>
                </a:solidFill>
                <a:latin typeface="Consolas" panose="020B0609020204030204" pitchFamily="49" charset="0"/>
                <a:ea typeface="宋体"/>
                <a:cs typeface="Times New Roman"/>
              </a:rPr>
              <a:t>integrate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(f, </a:t>
            </a:r>
            <a:r>
              <a:rPr lang="en-US" altLang="zh-CN" sz="1200" dirty="0">
                <a:solidFill>
                  <a:srgbClr val="0000CF"/>
                </a:solidFill>
                <a:latin typeface="Consolas" panose="020B0609020204030204" pitchFamily="49" charset="0"/>
                <a:ea typeface="宋体"/>
                <a:cs typeface="Times New Roman"/>
              </a:rPr>
              <a:t>0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, </a:t>
            </a:r>
            <a:r>
              <a:rPr lang="en-US" altLang="zh-CN" sz="1200" dirty="0" err="1">
                <a:solidFill>
                  <a:srgbClr val="8F5902"/>
                </a:solidFill>
                <a:latin typeface="Consolas" panose="020B0609020204030204" pitchFamily="49" charset="0"/>
                <a:ea typeface="宋体"/>
                <a:cs typeface="Times New Roman"/>
              </a:rPr>
              <a:t>Inf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)$value</a:t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}</a:t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p</a:t>
            </a:r>
            <a:endParaRPr lang="zh-CN" altLang="zh-CN" sz="1200" dirty="0">
              <a:latin typeface="Consolas" panose="020B0609020204030204" pitchFamily="49" charset="0"/>
              <a:ea typeface="宋体"/>
              <a:cs typeface="Times New Roman"/>
            </a:endParaRPr>
          </a:p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##  [1]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3.80e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-01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3.08e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-01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1.66e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-01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7.90e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-02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3.60e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-02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1.63e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-02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7.47e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-03</a:t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##  [8]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3.45e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-03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1.62e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-03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7.67e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-04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3.67e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-04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1.78e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-04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8.64e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-05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4.24e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-05</a:t>
            </a:r>
            <a:b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</a:b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## [15]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2.10e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-05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1.05e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-05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5.28e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-06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2.67e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-06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1.35e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-06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6.78e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-07 </a:t>
            </a:r>
            <a:r>
              <a:rPr lang="en-US" altLang="zh-CN" sz="1200" dirty="0" err="1">
                <a:latin typeface="Consolas" panose="020B0609020204030204" pitchFamily="49" charset="0"/>
                <a:ea typeface="宋体"/>
                <a:cs typeface="Times New Roman"/>
              </a:rPr>
              <a:t>3.38e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-07</a:t>
            </a:r>
            <a:endParaRPr lang="zh-CN" altLang="zh-CN" sz="1200" dirty="0">
              <a:latin typeface="Consolas" panose="020B0609020204030204" pitchFamily="49" charset="0"/>
              <a:ea typeface="宋体"/>
              <a:cs typeface="Times New Roman"/>
            </a:endParaRPr>
          </a:p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204A87"/>
                </a:solidFill>
                <a:latin typeface="Consolas" panose="020B0609020204030204" pitchFamily="49" charset="0"/>
                <a:ea typeface="宋体"/>
                <a:cs typeface="Times New Roman"/>
              </a:rPr>
              <a:t>sum</a:t>
            </a: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(p)</a:t>
            </a:r>
            <a:endParaRPr lang="zh-CN" altLang="zh-CN" sz="1200" dirty="0">
              <a:latin typeface="Consolas" panose="020B0609020204030204" pitchFamily="49" charset="0"/>
              <a:ea typeface="宋体"/>
              <a:cs typeface="Times New Roman"/>
            </a:endParaRPr>
          </a:p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latin typeface="Consolas" panose="020B0609020204030204" pitchFamily="49" charset="0"/>
                <a:ea typeface="宋体"/>
                <a:cs typeface="Times New Roman"/>
              </a:rPr>
              <a:t>## [1] 1</a:t>
            </a:r>
            <a:endParaRPr lang="zh-CN" altLang="zh-CN" sz="1200" dirty="0">
              <a:effectLst/>
              <a:latin typeface="Consolas" panose="020B0609020204030204" pitchFamily="49" charset="0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7316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990454" y="228684"/>
            <a:ext cx="8229600" cy="789140"/>
          </a:xfrm>
        </p:spPr>
        <p:txBody>
          <a:bodyPr/>
          <a:lstStyle/>
          <a:p>
            <a:r>
              <a:rPr lang="zh-CN" altLang="en-US" dirty="0" smtClean="0"/>
              <a:t>例：泊松</a:t>
            </a:r>
            <a:r>
              <a:rPr lang="en-US" altLang="zh-CN" dirty="0" smtClean="0"/>
              <a:t>-</a:t>
            </a:r>
            <a:r>
              <a:rPr lang="zh-CN" altLang="en-US" dirty="0" smtClean="0"/>
              <a:t>对数正态分布的概率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28" y="914466"/>
            <a:ext cx="8610482" cy="990622"/>
          </a:xfrm>
        </p:spPr>
        <p:txBody>
          <a:bodyPr/>
          <a:lstStyle/>
          <a:p>
            <a:r>
              <a:rPr lang="zh-CN" altLang="en-US" dirty="0"/>
              <a:t>泊松参数为</a:t>
            </a:r>
            <a:r>
              <a:rPr lang="en-US" altLang="zh-CN" dirty="0"/>
              <a:t>lambda =1.2</a:t>
            </a:r>
            <a:r>
              <a:rPr lang="en-US" altLang="zh-CN" dirty="0" smtClean="0"/>
              <a:t>，</a:t>
            </a:r>
            <a:r>
              <a:rPr lang="zh-CN" altLang="en-US" dirty="0" smtClean="0"/>
              <a:t>对数正态分布的均值</a:t>
            </a:r>
            <a:r>
              <a:rPr lang="zh-CN" altLang="en-US" dirty="0"/>
              <a:t>为</a:t>
            </a:r>
            <a:r>
              <a:rPr lang="en-US" altLang="zh-CN" dirty="0" err="1" smtClean="0"/>
              <a:t>1，sigma</a:t>
            </a:r>
            <a:r>
              <a:rPr lang="en-US" altLang="zh-CN" dirty="0" smtClean="0"/>
              <a:t>=0.5</a:t>
            </a:r>
            <a:r>
              <a:rPr lang="en-US" altLang="zh-CN" dirty="0"/>
              <a:t>，</a:t>
            </a:r>
            <a:r>
              <a:rPr lang="zh-CN" altLang="en-US" dirty="0"/>
              <a:t>请计算泊松</a:t>
            </a:r>
            <a:r>
              <a:rPr lang="en-US" altLang="zh-CN" dirty="0" smtClean="0"/>
              <a:t>-</a:t>
            </a:r>
            <a:r>
              <a:rPr lang="zh-CN" altLang="en-US" dirty="0"/>
              <a:t>对数正态</a:t>
            </a:r>
            <a:r>
              <a:rPr lang="zh-CN" altLang="en-US" dirty="0" smtClean="0"/>
              <a:t>分布</a:t>
            </a:r>
            <a:r>
              <a:rPr lang="zh-CN" altLang="en-US" dirty="0"/>
              <a:t>的概率。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F939C6-56B5-4C59-A8F1-006D8D67E42F}" type="slidenum">
              <a:rPr lang="zh-CN" altLang="en-US" smtClean="0"/>
              <a:pPr>
                <a:defRPr/>
              </a:pPr>
              <a:t>50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228714" y="2229603"/>
            <a:ext cx="8686572" cy="3970318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smtClean="0">
                <a:latin typeface="Consolas"/>
                <a:ea typeface="宋体"/>
                <a:cs typeface="Times New Roman"/>
              </a:rPr>
              <a:t>lam 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1.2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200" dirty="0">
                <a:latin typeface="Consolas"/>
                <a:ea typeface="宋体"/>
                <a:cs typeface="Times New Roman"/>
              </a:rPr>
            </a:br>
            <a:r>
              <a:rPr lang="en-US" altLang="zh-CN" sz="1200" dirty="0">
                <a:latin typeface="Consolas"/>
                <a:ea typeface="宋体"/>
                <a:cs typeface="Times New Roman"/>
              </a:rPr>
              <a:t>sig =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0.5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200" dirty="0">
                <a:latin typeface="Consolas"/>
                <a:ea typeface="宋体"/>
                <a:cs typeface="Times New Roman"/>
              </a:rPr>
            </a:br>
            <a:r>
              <a:rPr lang="en-US" altLang="zh-CN" sz="1200" dirty="0">
                <a:latin typeface="Consolas"/>
                <a:ea typeface="宋体"/>
                <a:cs typeface="Times New Roman"/>
              </a:rPr>
              <a:t>f =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function(x) </a:t>
            </a:r>
            <a:r>
              <a:rPr lang="en-US" altLang="zh-CN" sz="12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exp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(-lam *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x) *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(lam *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x)^k/</a:t>
            </a:r>
            <a:r>
              <a:rPr lang="en-US" altLang="zh-CN" sz="12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gamma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(k +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) *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dlnorm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(x, </a:t>
            </a:r>
            <a:r>
              <a:rPr lang="en-US" altLang="zh-CN" sz="1200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meanlog</a:t>
            </a:r>
            <a:r>
              <a:rPr lang="en-US" altLang="zh-CN" sz="1200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 -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sig^</a:t>
            </a:r>
            <a:r>
              <a:rPr lang="en-US" altLang="zh-CN" sz="1200" dirty="0" err="1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1200" dirty="0" smtClean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200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sdlog</a:t>
            </a:r>
            <a:r>
              <a:rPr lang="en-US" altLang="zh-CN" sz="1200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sig^</a:t>
            </a:r>
            <a:r>
              <a:rPr lang="en-US" altLang="zh-CN" sz="1200" dirty="0" err="1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1200" dirty="0">
                <a:latin typeface="Consolas"/>
                <a:ea typeface="宋体"/>
                <a:cs typeface="Times New Roman"/>
              </a:rPr>
            </a:br>
            <a:r>
              <a:rPr lang="en-US" altLang="zh-CN" sz="1200" dirty="0">
                <a:latin typeface="Consolas"/>
                <a:ea typeface="宋体"/>
                <a:cs typeface="Times New Roman"/>
              </a:rPr>
              <a:t>p =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NULL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200" dirty="0">
                <a:latin typeface="Consolas"/>
                <a:ea typeface="宋体"/>
                <a:cs typeface="Times New Roman"/>
              </a:rPr>
            </a:b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200" dirty="0">
                <a:latin typeface="Consolas"/>
                <a:ea typeface="宋体"/>
                <a:cs typeface="Times New Roman"/>
              </a:rPr>
            </a:br>
            <a:r>
              <a:rPr lang="en-US" altLang="zh-CN" sz="1200" dirty="0">
                <a:latin typeface="Consolas"/>
                <a:ea typeface="宋体"/>
                <a:cs typeface="Times New Roman"/>
              </a:rPr>
              <a:t>for (k in </a:t>
            </a:r>
            <a:r>
              <a:rPr lang="en-US" altLang="zh-CN" sz="12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12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) {</a:t>
            </a:r>
            <a:br>
              <a:rPr lang="en-US" altLang="zh-CN" sz="1200" dirty="0">
                <a:latin typeface="Consolas"/>
                <a:ea typeface="宋体"/>
                <a:cs typeface="Times New Roman"/>
              </a:rPr>
            </a:br>
            <a:r>
              <a:rPr lang="en-US" altLang="zh-CN" sz="1200" dirty="0"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 +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200" dirty="0">
                <a:latin typeface="Consolas"/>
                <a:ea typeface="宋体"/>
                <a:cs typeface="Times New Roman"/>
              </a:rPr>
            </a:br>
            <a:r>
              <a:rPr lang="en-US" altLang="zh-CN" sz="1200" dirty="0">
                <a:latin typeface="Consolas"/>
                <a:ea typeface="宋体"/>
                <a:cs typeface="Times New Roman"/>
              </a:rPr>
              <a:t>    p[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i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] =</a:t>
            </a:r>
            <a:r>
              <a:rPr lang="en-US" altLang="zh-CN" sz="1200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2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integrate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(f, </a:t>
            </a:r>
            <a:r>
              <a:rPr lang="en-US" altLang="zh-CN" sz="1200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200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Inf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)$value</a:t>
            </a:r>
            <a:br>
              <a:rPr lang="en-US" altLang="zh-CN" sz="1200" dirty="0">
                <a:latin typeface="Consolas"/>
                <a:ea typeface="宋体"/>
                <a:cs typeface="Times New Roman"/>
              </a:rPr>
            </a:br>
            <a:r>
              <a:rPr lang="en-US" altLang="zh-CN" sz="1200" dirty="0">
                <a:latin typeface="Consolas"/>
                <a:ea typeface="宋体"/>
                <a:cs typeface="Times New Roman"/>
              </a:rPr>
              <a:t>}</a:t>
            </a:r>
            <a:br>
              <a:rPr lang="en-US" altLang="zh-CN" sz="1200" dirty="0">
                <a:latin typeface="Consolas"/>
                <a:ea typeface="宋体"/>
                <a:cs typeface="Times New Roman"/>
              </a:rPr>
            </a:br>
            <a:r>
              <a:rPr lang="en-US" altLang="zh-CN" sz="1200" dirty="0">
                <a:latin typeface="Consolas"/>
                <a:ea typeface="宋体"/>
                <a:cs typeface="Times New Roman"/>
              </a:rPr>
              <a:t>p</a:t>
            </a:r>
            <a:endParaRPr lang="zh-CN" altLang="zh-CN" sz="1200" dirty="0">
              <a:latin typeface="Consolas"/>
              <a:ea typeface="宋体"/>
              <a:cs typeface="Times New Roman"/>
            </a:endParaRPr>
          </a:p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latin typeface="Consolas"/>
                <a:ea typeface="宋体"/>
                <a:cs typeface="Times New Roman"/>
              </a:rPr>
              <a:t>##  [1]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3.92e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-01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3.57e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-01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1.72e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-01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5.87e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-02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1.59e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-02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3.66e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-03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7.43e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-04</a:t>
            </a:r>
            <a:br>
              <a:rPr lang="en-US" altLang="zh-CN" sz="1200" dirty="0">
                <a:latin typeface="Consolas"/>
                <a:ea typeface="宋体"/>
                <a:cs typeface="Times New Roman"/>
              </a:rPr>
            </a:br>
            <a:r>
              <a:rPr lang="en-US" altLang="zh-CN" sz="1200" dirty="0">
                <a:latin typeface="Consolas"/>
                <a:ea typeface="宋体"/>
                <a:cs typeface="Times New Roman"/>
              </a:rPr>
              <a:t>##  [8]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1.37e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-04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2.34e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-05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3.77e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-06 </a:t>
            </a:r>
            <a:r>
              <a:rPr lang="en-US" altLang="zh-CN" sz="1200" dirty="0" err="1">
                <a:latin typeface="Consolas"/>
                <a:ea typeface="宋体"/>
                <a:cs typeface="Times New Roman"/>
              </a:rPr>
              <a:t>5.78e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-07</a:t>
            </a:r>
            <a:endParaRPr lang="zh-CN" altLang="zh-CN" sz="1200" dirty="0">
              <a:latin typeface="Consolas"/>
              <a:ea typeface="宋体"/>
              <a:cs typeface="Times New Roman"/>
            </a:endParaRPr>
          </a:p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sz="1200" dirty="0">
                <a:latin typeface="Consolas"/>
                <a:ea typeface="宋体"/>
                <a:cs typeface="Times New Roman"/>
              </a:rPr>
              <a:t>(p)</a:t>
            </a:r>
            <a:endParaRPr lang="zh-CN" altLang="zh-CN" sz="1200" dirty="0">
              <a:latin typeface="Consolas"/>
              <a:ea typeface="宋体"/>
              <a:cs typeface="Times New Roman"/>
            </a:endParaRPr>
          </a:p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latin typeface="Consolas"/>
                <a:ea typeface="宋体"/>
                <a:cs typeface="Times New Roman"/>
              </a:rPr>
              <a:t>## [1] 1</a:t>
            </a:r>
            <a:endParaRPr lang="zh-CN" altLang="zh-CN" sz="1200" dirty="0">
              <a:effectLst/>
              <a:latin typeface="Consolas"/>
              <a:ea typeface="宋体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4041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49008"/>
            <a:ext cx="8229600" cy="789140"/>
          </a:xfrm>
        </p:spPr>
        <p:txBody>
          <a:bodyPr/>
          <a:lstStyle/>
          <a:p>
            <a:pPr eaLnBrk="1" hangingPunct="1"/>
            <a:r>
              <a:rPr lang="zh-CN" altLang="en-US" sz="3600" dirty="0" smtClean="0"/>
              <a:t>复合分布（</a:t>
            </a:r>
            <a:r>
              <a:rPr lang="en-US" altLang="zh-CN" sz="3600" dirty="0" smtClean="0"/>
              <a:t>Compound distribution</a:t>
            </a:r>
            <a:r>
              <a:rPr lang="zh-CN" altLang="en-US" sz="3600" dirty="0" smtClean="0"/>
              <a:t>）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214098" y="1143060"/>
            <a:ext cx="8507412" cy="4525962"/>
          </a:xfrm>
        </p:spPr>
        <p:txBody>
          <a:bodyPr/>
          <a:lstStyle/>
          <a:p>
            <a:pPr eaLnBrk="1" hangingPunct="1">
              <a:lnSpc>
                <a:spcPct val="165000"/>
              </a:lnSpc>
            </a:pPr>
            <a:r>
              <a:rPr lang="zh-CN" altLang="en-US" dirty="0" smtClean="0">
                <a:ea typeface="黑体" panose="02010609060101010101" pitchFamily="49" charset="-122"/>
              </a:rPr>
              <a:t>令 </a:t>
            </a:r>
            <a:r>
              <a:rPr lang="en-US" altLang="zh-CN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N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ea typeface="黑体" panose="02010609060101010101" pitchFamily="49" charset="-122"/>
              </a:rPr>
              <a:t>是索赔次数随机变量，母函数为 </a:t>
            </a:r>
            <a:r>
              <a:rPr lang="en-US" altLang="zh-CN" i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i="1" baseline="-25000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N</a:t>
            </a:r>
            <a:r>
              <a:rPr lang="en-US" altLang="zh-CN" baseline="-25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z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).</a:t>
            </a:r>
            <a:r>
              <a:rPr lang="en-US" altLang="zh-CN" dirty="0" smtClean="0">
                <a:ea typeface="黑体" panose="02010609060101010101" pitchFamily="49" charset="-122"/>
              </a:rPr>
              <a:t> </a:t>
            </a:r>
          </a:p>
          <a:p>
            <a:pPr eaLnBrk="1" hangingPunct="1">
              <a:lnSpc>
                <a:spcPct val="165000"/>
              </a:lnSpc>
            </a:pPr>
            <a:r>
              <a:rPr lang="zh-CN" altLang="en-US" dirty="0" smtClean="0">
                <a:ea typeface="黑体" panose="02010609060101010101" pitchFamily="49" charset="-122"/>
              </a:rPr>
              <a:t>令 </a:t>
            </a:r>
            <a:r>
              <a:rPr lang="en-US" altLang="zh-CN" b="1" i="1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aseline="-25000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, </a:t>
            </a:r>
            <a:r>
              <a:rPr lang="en-US" altLang="zh-CN" b="1" i="1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aseline="-25000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,</a:t>
            </a:r>
            <a:r>
              <a:rPr lang="en-US" altLang="zh-CN" dirty="0" smtClean="0">
                <a:ea typeface="黑体" panose="02010609060101010101" pitchFamily="49" charset="-122"/>
              </a:rPr>
              <a:t> …</a:t>
            </a:r>
            <a:r>
              <a:rPr lang="zh-CN" altLang="en-US" dirty="0" smtClean="0">
                <a:ea typeface="黑体" panose="02010609060101010101" pitchFamily="49" charset="-122"/>
              </a:rPr>
              <a:t>是独立同分布的随机变量，母函数为 </a:t>
            </a:r>
            <a:r>
              <a:rPr lang="en-US" altLang="zh-CN" i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i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z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).</a:t>
            </a:r>
          </a:p>
          <a:p>
            <a:pPr eaLnBrk="1" hangingPunct="1">
              <a:lnSpc>
                <a:spcPct val="165000"/>
              </a:lnSpc>
            </a:pPr>
            <a:r>
              <a:rPr lang="zh-CN" altLang="en-US" dirty="0" smtClean="0">
                <a:ea typeface="黑体" panose="02010609060101010101" pitchFamily="49" charset="-122"/>
              </a:rPr>
              <a:t>假设 </a:t>
            </a:r>
            <a:r>
              <a:rPr lang="en-US" altLang="zh-CN" b="1" i="1" dirty="0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i="1" baseline="-25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i </a:t>
            </a:r>
            <a:r>
              <a:rPr lang="zh-CN" altLang="en-US" dirty="0" smtClean="0">
                <a:ea typeface="黑体" panose="02010609060101010101" pitchFamily="49" charset="-122"/>
              </a:rPr>
              <a:t>与 </a:t>
            </a:r>
            <a:r>
              <a:rPr lang="en-US" altLang="zh-CN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N</a:t>
            </a:r>
            <a:r>
              <a:rPr lang="en-US" altLang="zh-CN" i="1" dirty="0" smtClean="0">
                <a:ea typeface="黑体" panose="02010609060101010101" pitchFamily="49" charset="-122"/>
              </a:rPr>
              <a:t> </a:t>
            </a:r>
            <a:r>
              <a:rPr lang="zh-CN" altLang="en-US" dirty="0" smtClean="0">
                <a:ea typeface="黑体" panose="02010609060101010101" pitchFamily="49" charset="-122"/>
              </a:rPr>
              <a:t>相互独立</a:t>
            </a:r>
            <a:r>
              <a:rPr lang="en-US" altLang="zh-CN" dirty="0" smtClean="0">
                <a:ea typeface="黑体" panose="02010609060101010101" pitchFamily="49" charset="-122"/>
              </a:rPr>
              <a:t>, </a:t>
            </a:r>
            <a:r>
              <a:rPr lang="zh-CN" altLang="en-US" dirty="0" smtClean="0">
                <a:ea typeface="黑体" panose="02010609060101010101" pitchFamily="49" charset="-122"/>
              </a:rPr>
              <a:t>则</a:t>
            </a:r>
            <a:r>
              <a:rPr lang="en-US" altLang="zh-CN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S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 = </a:t>
            </a:r>
            <a:r>
              <a:rPr lang="en-US" altLang="zh-CN" b="1" i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aseline="-25000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en-US" altLang="zh-CN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+</a:t>
            </a:r>
            <a:r>
              <a:rPr lang="en-US" altLang="zh-CN" b="1" i="1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aseline="-25000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+…+</a:t>
            </a:r>
            <a:r>
              <a:rPr lang="en-US" altLang="zh-CN" b="1" i="1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i="1" baseline="-25000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N</a:t>
            </a:r>
            <a:r>
              <a:rPr lang="en-US" altLang="zh-CN" baseline="-25000" dirty="0" smtClean="0">
                <a:ea typeface="黑体" panose="02010609060101010101" pitchFamily="49" charset="-122"/>
              </a:rPr>
              <a:t>  </a:t>
            </a:r>
            <a:r>
              <a:rPr lang="zh-CN" altLang="en-US" dirty="0" smtClean="0">
                <a:ea typeface="黑体" panose="02010609060101010101" pitchFamily="49" charset="-122"/>
              </a:rPr>
              <a:t>的母函数为</a:t>
            </a:r>
          </a:p>
          <a:p>
            <a:pPr eaLnBrk="1" hangingPunct="1">
              <a:lnSpc>
                <a:spcPct val="165000"/>
              </a:lnSpc>
              <a:buNone/>
            </a:pPr>
            <a:r>
              <a:rPr lang="zh-CN" altLang="en-US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                  </a:t>
            </a:r>
            <a:r>
              <a:rPr lang="en-US" altLang="zh-CN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i="1" baseline="-25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S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z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) = </a:t>
            </a:r>
            <a:r>
              <a:rPr lang="en-US" altLang="zh-CN" i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i="1" baseline="-25000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N</a:t>
            </a:r>
            <a:r>
              <a:rPr lang="en-US" altLang="zh-CN" i="1" baseline="-25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[</a:t>
            </a:r>
            <a:r>
              <a:rPr lang="en-US" altLang="zh-CN" i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i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z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)]              </a:t>
            </a:r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（证明见下页）</a:t>
            </a:r>
          </a:p>
          <a:p>
            <a:pPr eaLnBrk="1" hangingPunct="1">
              <a:lnSpc>
                <a:spcPct val="165000"/>
              </a:lnSpc>
            </a:pPr>
            <a:r>
              <a:rPr lang="zh-CN" altLang="en-US" dirty="0" smtClean="0">
                <a:ea typeface="黑体" panose="02010609060101010101" pitchFamily="49" charset="-122"/>
              </a:rPr>
              <a:t>其中 </a:t>
            </a:r>
            <a:r>
              <a:rPr lang="en-US" altLang="zh-CN" i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i="1" baseline="-25000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N</a:t>
            </a:r>
            <a:r>
              <a:rPr lang="en-US" altLang="zh-CN" baseline="-25000" dirty="0" smtClean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z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)</a:t>
            </a:r>
            <a:r>
              <a:rPr lang="zh-CN" altLang="en-US" dirty="0" smtClean="0">
                <a:ea typeface="黑体" panose="02010609060101010101" pitchFamily="49" charset="-122"/>
              </a:rPr>
              <a:t>称作</a:t>
            </a:r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首分布</a:t>
            </a:r>
            <a:r>
              <a:rPr lang="zh-CN" altLang="en-US" i="1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(</a:t>
            </a:r>
            <a:r>
              <a:rPr lang="en-US" altLang="zh-CN" i="1" dirty="0" smtClean="0">
                <a:ea typeface="黑体" panose="02010609060101010101" pitchFamily="49" charset="-122"/>
              </a:rPr>
              <a:t>primary </a:t>
            </a:r>
            <a:r>
              <a:rPr lang="en-US" altLang="zh-CN" dirty="0" smtClean="0">
                <a:ea typeface="黑体" panose="02010609060101010101" pitchFamily="49" charset="-122"/>
              </a:rPr>
              <a:t>distribution )</a:t>
            </a:r>
          </a:p>
          <a:p>
            <a:pPr eaLnBrk="1" hangingPunct="1">
              <a:lnSpc>
                <a:spcPct val="165000"/>
              </a:lnSpc>
              <a:buNone/>
            </a:pPr>
            <a:r>
              <a:rPr lang="en-US" altLang="zh-CN" dirty="0" smtClean="0">
                <a:ea typeface="黑体" panose="02010609060101010101" pitchFamily="49" charset="-122"/>
              </a:rPr>
              <a:t>             </a:t>
            </a:r>
            <a:r>
              <a:rPr lang="en-US" altLang="zh-CN" i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P</a:t>
            </a:r>
            <a:r>
              <a:rPr lang="en-US" altLang="zh-CN" b="1" i="1" baseline="-25000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i="1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(</a:t>
            </a:r>
            <a:r>
              <a:rPr lang="en-US" altLang="zh-CN" i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z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)</a:t>
            </a:r>
            <a:r>
              <a:rPr lang="zh-CN" altLang="en-US" dirty="0" smtClean="0">
                <a:ea typeface="黑体" panose="02010609060101010101" pitchFamily="49" charset="-122"/>
              </a:rPr>
              <a:t>称作</a:t>
            </a:r>
            <a:r>
              <a:rPr lang="zh-CN" altLang="en-US" dirty="0" smtClean="0">
                <a:solidFill>
                  <a:srgbClr val="0000CC"/>
                </a:solidFill>
                <a:ea typeface="黑体" panose="02010609060101010101" pitchFamily="49" charset="-122"/>
              </a:rPr>
              <a:t>次分布</a:t>
            </a:r>
            <a:r>
              <a:rPr lang="zh-CN" altLang="en-US" dirty="0" smtClean="0">
                <a:ea typeface="黑体" panose="02010609060101010101" pitchFamily="49" charset="-122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</a:rPr>
              <a:t>(</a:t>
            </a:r>
            <a:r>
              <a:rPr lang="en-US" altLang="zh-CN" i="1" dirty="0" smtClean="0">
                <a:ea typeface="黑体" panose="02010609060101010101" pitchFamily="49" charset="-122"/>
              </a:rPr>
              <a:t>secondary</a:t>
            </a:r>
            <a:r>
              <a:rPr lang="en-US" altLang="zh-CN" dirty="0" smtClean="0">
                <a:ea typeface="黑体" panose="02010609060101010101" pitchFamily="49" charset="-122"/>
              </a:rPr>
              <a:t> distribution )</a:t>
            </a:r>
          </a:p>
        </p:txBody>
      </p:sp>
      <p:sp>
        <p:nvSpPr>
          <p:cNvPr id="6349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B043092-6436-4D5A-A5E3-4A92B3C0DEF2}" type="slidenum">
              <a:rPr lang="zh-CN" altLang="en-US" sz="1400"/>
              <a:pPr eaLnBrk="1" hangingPunct="1"/>
              <a:t>51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 build="p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912" y="685872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复合分布 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itchFamily="18" charset="0"/>
              </a:rPr>
              <a:t>S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</a:rPr>
              <a:t> = </a:t>
            </a:r>
            <a:r>
              <a:rPr lang="en-US" altLang="zh-CN" i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baseline="-25000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</a:rPr>
              <a:t>+ </a:t>
            </a:r>
            <a:r>
              <a:rPr lang="en-US" altLang="zh-CN" i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baseline="-25000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</a:rPr>
              <a:t>+ … + </a:t>
            </a:r>
            <a:r>
              <a:rPr lang="en-US" altLang="zh-CN" i="1" dirty="0" err="1" smtClean="0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i="1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  </a:t>
            </a:r>
            <a:r>
              <a:rPr lang="zh-CN" altLang="en-US" dirty="0" smtClean="0"/>
              <a:t>的母函数：</a:t>
            </a:r>
          </a:p>
        </p:txBody>
      </p:sp>
      <p:graphicFrame>
        <p:nvGraphicFramePr>
          <p:cNvPr id="66566" name="Object 6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20170849"/>
              </p:ext>
            </p:extLst>
          </p:nvPr>
        </p:nvGraphicFramePr>
        <p:xfrm>
          <a:off x="1862138" y="3657600"/>
          <a:ext cx="2205037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32" name="Equation" r:id="rId3" imgW="990360" imgH="330120" progId="Equation.DSMT4">
                  <p:embed/>
                </p:oleObj>
              </mc:Choice>
              <mc:Fallback>
                <p:oleObj name="Equation" r:id="rId3" imgW="990360" imgH="3301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2138" y="3657600"/>
                        <a:ext cx="2205037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4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69D6C53-4449-4CEB-B865-03F88E0082D5}" type="slidenum">
              <a:rPr lang="zh-CN" altLang="en-US" sz="1400"/>
              <a:pPr eaLnBrk="1" hangingPunct="1"/>
              <a:t>52</a:t>
            </a:fld>
            <a:endParaRPr lang="en-US" altLang="zh-CN" sz="1400"/>
          </a:p>
        </p:txBody>
      </p:sp>
      <p:graphicFrame>
        <p:nvGraphicFramePr>
          <p:cNvPr id="665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0283771"/>
              </p:ext>
            </p:extLst>
          </p:nvPr>
        </p:nvGraphicFramePr>
        <p:xfrm>
          <a:off x="857250" y="2435225"/>
          <a:ext cx="5929313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33" name="Equation" r:id="rId5" imgW="2654280" imgH="304560" progId="Equation.DSMT4">
                  <p:embed/>
                </p:oleObj>
              </mc:Choice>
              <mc:Fallback>
                <p:oleObj name="Equation" r:id="rId5" imgW="2654280" imgH="3045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2435225"/>
                        <a:ext cx="5929313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8641648"/>
              </p:ext>
            </p:extLst>
          </p:nvPr>
        </p:nvGraphicFramePr>
        <p:xfrm>
          <a:off x="1890713" y="4926013"/>
          <a:ext cx="171132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34" name="Equation" r:id="rId7" imgW="787320" imgH="253800" progId="Equation.DSMT4">
                  <p:embed/>
                </p:oleObj>
              </mc:Choice>
              <mc:Fallback>
                <p:oleObj name="Equation" r:id="rId7" imgW="787320" imgH="253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0713" y="4926013"/>
                        <a:ext cx="171132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6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381110" y="685872"/>
            <a:ext cx="8229600" cy="114300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复合分布 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itchFamily="18" charset="0"/>
              </a:rPr>
              <a:t>S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</a:rPr>
              <a:t> = </a:t>
            </a:r>
            <a:r>
              <a:rPr lang="en-US" altLang="zh-CN" i="1" dirty="0" err="1" smtClean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baseline="-25000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</a:rPr>
              <a:t>+ </a:t>
            </a:r>
            <a:r>
              <a:rPr lang="en-US" altLang="zh-CN" i="1" dirty="0" err="1" smtClean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baseline="-25000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Times New Roman" pitchFamily="18" charset="0"/>
              </a:rPr>
              <a:t>+ …  + </a:t>
            </a:r>
            <a:r>
              <a:rPr lang="en-US" altLang="zh-CN" i="1" dirty="0" err="1" smtClean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i="1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zh-CN" altLang="en-US" dirty="0" smtClean="0"/>
              <a:t>的矩母函数：</a:t>
            </a:r>
          </a:p>
        </p:txBody>
      </p:sp>
      <p:graphicFrame>
        <p:nvGraphicFramePr>
          <p:cNvPr id="67590" name="Object 6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05032962"/>
              </p:ext>
            </p:extLst>
          </p:nvPr>
        </p:nvGraphicFramePr>
        <p:xfrm>
          <a:off x="1711325" y="3581400"/>
          <a:ext cx="2319338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54" name="Equation" r:id="rId3" imgW="1028520" imgH="330120" progId="Equation.DSMT4">
                  <p:embed/>
                </p:oleObj>
              </mc:Choice>
              <mc:Fallback>
                <p:oleObj name="Equation" r:id="rId3" imgW="1028520" imgH="3301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3581400"/>
                        <a:ext cx="2319338" cy="744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8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8093B00-43FA-4158-87A7-0E3F5DBAC21F}" type="slidenum">
              <a:rPr lang="zh-CN" altLang="en-US" sz="1400"/>
              <a:pPr eaLnBrk="1" hangingPunct="1"/>
              <a:t>53</a:t>
            </a:fld>
            <a:endParaRPr lang="en-US" altLang="zh-CN" sz="1400"/>
          </a:p>
        </p:txBody>
      </p:sp>
      <p:graphicFrame>
        <p:nvGraphicFramePr>
          <p:cNvPr id="6758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3966426"/>
              </p:ext>
            </p:extLst>
          </p:nvPr>
        </p:nvGraphicFramePr>
        <p:xfrm>
          <a:off x="609704" y="2209832"/>
          <a:ext cx="6469062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55" name="Equation" r:id="rId5" imgW="2895600" imgH="508000" progId="Equation.DSMT4">
                  <p:embed/>
                </p:oleObj>
              </mc:Choice>
              <mc:Fallback>
                <p:oleObj name="Equation" r:id="rId5" imgW="2895600" imgH="508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704" y="2209832"/>
                        <a:ext cx="6469062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4460496"/>
              </p:ext>
            </p:extLst>
          </p:nvPr>
        </p:nvGraphicFramePr>
        <p:xfrm>
          <a:off x="1725613" y="5002213"/>
          <a:ext cx="1819275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956" name="Equation" r:id="rId7" imgW="838080" imgH="253800" progId="Equation.DSMT4">
                  <p:embed/>
                </p:oleObj>
              </mc:Choice>
              <mc:Fallback>
                <p:oleObj name="Equation" r:id="rId7" imgW="838080" imgH="253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5613" y="5002213"/>
                        <a:ext cx="1819275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7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mtClean="0"/>
              <a:t>对复合分布的一种解释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</a:rPr>
              <a:t>: </a:t>
            </a:r>
            <a:r>
              <a:rPr lang="zh-CN" altLang="en-US" b="1" dirty="0" smtClean="0">
                <a:latin typeface="Times New Roman" pitchFamily="18" charset="0"/>
              </a:rPr>
              <a:t>一个风险集合发生的事故次数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i="1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i="1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k</a:t>
            </a:r>
            <a:r>
              <a:rPr lang="en-US" altLang="zh-CN" b="1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  </a:t>
            </a:r>
            <a:r>
              <a:rPr lang="en-US" altLang="zh-CN" b="1" dirty="0" smtClean="0">
                <a:latin typeface="Times New Roman" pitchFamily="18" charset="0"/>
              </a:rPr>
              <a:t>( </a:t>
            </a:r>
            <a:r>
              <a:rPr lang="en-US" altLang="zh-CN" b="1" i="1" dirty="0" smtClean="0">
                <a:latin typeface="Times New Roman" pitchFamily="18" charset="0"/>
              </a:rPr>
              <a:t>k</a:t>
            </a:r>
            <a:r>
              <a:rPr lang="en-US" altLang="zh-CN" b="1" dirty="0" smtClean="0">
                <a:latin typeface="Times New Roman" pitchFamily="18" charset="0"/>
              </a:rPr>
              <a:t> =1, 2, …, </a:t>
            </a:r>
            <a:r>
              <a:rPr lang="en-US" altLang="zh-CN" b="1" i="1" dirty="0" smtClean="0">
                <a:latin typeface="Times New Roman" pitchFamily="18" charset="0"/>
              </a:rPr>
              <a:t>N</a:t>
            </a:r>
            <a:r>
              <a:rPr lang="en-US" altLang="zh-CN" b="1" dirty="0" smtClean="0">
                <a:latin typeface="Times New Roman" pitchFamily="18" charset="0"/>
              </a:rPr>
              <a:t>): </a:t>
            </a:r>
            <a:r>
              <a:rPr lang="zh-CN" altLang="en-US" b="1" dirty="0" smtClean="0">
                <a:latin typeface="Times New Roman" pitchFamily="18" charset="0"/>
              </a:rPr>
              <a:t>每次事故导致的索赔次数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</a:rPr>
              <a:t>S</a:t>
            </a:r>
            <a:r>
              <a:rPr lang="en-US" altLang="zh-CN" b="1" dirty="0" smtClean="0">
                <a:latin typeface="Times New Roman" pitchFamily="18" charset="0"/>
              </a:rPr>
              <a:t>:  </a:t>
            </a:r>
            <a:r>
              <a:rPr lang="zh-CN" altLang="en-US" b="1" dirty="0" smtClean="0">
                <a:latin typeface="Times New Roman" pitchFamily="18" charset="0"/>
              </a:rPr>
              <a:t>风险集合的索赔次数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b="1" i="1" dirty="0" smtClean="0">
                <a:latin typeface="Times New Roman" pitchFamily="18" charset="0"/>
              </a:rPr>
              <a:t>        </a:t>
            </a:r>
            <a:r>
              <a:rPr lang="en-US" altLang="zh-CN" b="1" i="1" dirty="0" smtClean="0">
                <a:latin typeface="Times New Roman" pitchFamily="18" charset="0"/>
              </a:rPr>
              <a:t>S</a:t>
            </a:r>
            <a:r>
              <a:rPr lang="en-US" altLang="zh-CN" b="1" dirty="0" smtClean="0">
                <a:latin typeface="Times New Roman" pitchFamily="18" charset="0"/>
              </a:rPr>
              <a:t> = </a:t>
            </a:r>
            <a:r>
              <a:rPr lang="en-US" altLang="zh-CN" b="1" i="1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 err="1" smtClean="0">
                <a:latin typeface="Times New Roman" pitchFamily="18" charset="0"/>
              </a:rPr>
              <a:t>1</a:t>
            </a:r>
            <a:r>
              <a:rPr lang="en-US" altLang="zh-CN" b="1" baseline="-25000" dirty="0" smtClean="0">
                <a:latin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</a:rPr>
              <a:t>+ </a:t>
            </a:r>
            <a:r>
              <a:rPr lang="en-US" altLang="zh-CN" b="1" i="1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baseline="-25000" dirty="0" err="1" smtClean="0">
                <a:latin typeface="Times New Roman" pitchFamily="18" charset="0"/>
              </a:rPr>
              <a:t>2</a:t>
            </a:r>
            <a:r>
              <a:rPr lang="en-US" altLang="zh-CN" b="1" baseline="-25000" dirty="0" smtClean="0">
                <a:latin typeface="Times New Roman" pitchFamily="18" charset="0"/>
              </a:rPr>
              <a:t> </a:t>
            </a:r>
            <a:r>
              <a:rPr lang="en-US" altLang="zh-CN" b="1" dirty="0" smtClean="0">
                <a:latin typeface="Times New Roman" pitchFamily="18" charset="0"/>
              </a:rPr>
              <a:t>+… + </a:t>
            </a:r>
            <a:r>
              <a:rPr lang="en-US" altLang="zh-CN" b="1" i="1" dirty="0" err="1">
                <a:solidFill>
                  <a:srgbClr val="FF0000"/>
                </a:solidFill>
                <a:ea typeface="黑体" panose="02010609060101010101" pitchFamily="49" charset="-122"/>
              </a:rPr>
              <a:t>X</a:t>
            </a:r>
            <a:r>
              <a:rPr lang="en-US" altLang="zh-CN" b="1" i="1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endParaRPr lang="en-US" altLang="zh-CN" b="1" dirty="0" smtClean="0">
              <a:solidFill>
                <a:srgbClr val="FF0000"/>
              </a:solidFill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b="1" dirty="0" smtClean="0"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b="1" dirty="0" smtClean="0">
              <a:latin typeface="Times New Roman" pitchFamily="18" charset="0"/>
            </a:endParaRPr>
          </a:p>
        </p:txBody>
      </p:sp>
      <p:sp>
        <p:nvSpPr>
          <p:cNvPr id="665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EA7D839-2858-4C41-83D8-F12F7496DD94}" type="slidenum">
              <a:rPr lang="zh-CN" altLang="en-US" sz="1400"/>
              <a:pPr eaLnBrk="1" hangingPunct="1"/>
              <a:t>54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1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33388"/>
            <a:ext cx="8229600" cy="777875"/>
          </a:xfrm>
        </p:spPr>
        <p:txBody>
          <a:bodyPr/>
          <a:lstStyle/>
          <a:p>
            <a:pPr eaLnBrk="1" hangingPunct="1"/>
            <a:r>
              <a:rPr lang="zh-CN" altLang="en-US" smtClean="0">
                <a:solidFill>
                  <a:schemeClr val="accent2"/>
                </a:solidFill>
              </a:rPr>
              <a:t>定理</a:t>
            </a:r>
            <a:r>
              <a:rPr lang="en-US" altLang="zh-CN" smtClean="0">
                <a:solidFill>
                  <a:schemeClr val="accent2"/>
                </a:solidFill>
              </a:rPr>
              <a:t>1</a:t>
            </a:r>
            <a:r>
              <a:rPr lang="zh-CN" altLang="en-US" smtClean="0">
                <a:solidFill>
                  <a:schemeClr val="accent2"/>
                </a:solidFill>
              </a:rPr>
              <a:t>：如何计算复合分布的概率？ （递推公式</a:t>
            </a:r>
            <a:r>
              <a:rPr lang="en-US" altLang="zh-CN" smtClean="0">
                <a:solidFill>
                  <a:schemeClr val="accent2"/>
                </a:solidFill>
              </a:rPr>
              <a:t>1</a:t>
            </a:r>
            <a:r>
              <a:rPr lang="zh-CN" altLang="en-US" smtClean="0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idx="1"/>
          </p:nvPr>
        </p:nvSpPr>
        <p:spPr>
          <a:xfrm>
            <a:off x="435792" y="1676446"/>
            <a:ext cx="8374062" cy="10080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zh-CN" altLang="en-US" b="1" dirty="0" smtClean="0">
                <a:latin typeface="Times New Roman" pitchFamily="18" charset="0"/>
              </a:rPr>
              <a:t>定理</a:t>
            </a:r>
            <a:r>
              <a:rPr lang="en-US" altLang="zh-CN" b="1" dirty="0" smtClean="0">
                <a:latin typeface="Times New Roman" pitchFamily="18" charset="0"/>
              </a:rPr>
              <a:t>1</a:t>
            </a:r>
            <a:r>
              <a:rPr lang="zh-CN" altLang="en-US" b="1" dirty="0" smtClean="0">
                <a:latin typeface="Times New Roman" pitchFamily="18" charset="0"/>
              </a:rPr>
              <a:t>：如果 </a:t>
            </a:r>
            <a:r>
              <a:rPr lang="en-US" altLang="zh-CN" b="1" i="1" dirty="0" smtClean="0">
                <a:latin typeface="Times New Roman" pitchFamily="18" charset="0"/>
              </a:rPr>
              <a:t>N </a:t>
            </a:r>
            <a:r>
              <a:rPr lang="zh-CN" altLang="en-US" b="1" dirty="0" smtClean="0">
                <a:latin typeface="Times New Roman" pitchFamily="18" charset="0"/>
              </a:rPr>
              <a:t>属于（</a:t>
            </a:r>
            <a:r>
              <a:rPr lang="en-US" altLang="zh-CN" b="1" i="1" dirty="0" smtClean="0">
                <a:latin typeface="Times New Roman" pitchFamily="18" charset="0"/>
              </a:rPr>
              <a:t>a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</a:rPr>
              <a:t>b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dirty="0" smtClean="0">
                <a:latin typeface="Times New Roman" pitchFamily="18" charset="0"/>
              </a:rPr>
              <a:t>0</a:t>
            </a:r>
            <a:r>
              <a:rPr lang="zh-CN" altLang="en-US" b="1" dirty="0" smtClean="0">
                <a:latin typeface="Times New Roman" pitchFamily="18" charset="0"/>
              </a:rPr>
              <a:t>）分布类，则复合分布 </a:t>
            </a:r>
            <a:r>
              <a:rPr lang="en-US" altLang="zh-CN" b="1" i="1" dirty="0" smtClean="0">
                <a:latin typeface="Times New Roman" pitchFamily="18" charset="0"/>
              </a:rPr>
              <a:t>S </a:t>
            </a:r>
            <a:r>
              <a:rPr lang="zh-CN" altLang="en-US" b="1" dirty="0" smtClean="0">
                <a:latin typeface="Times New Roman" pitchFamily="18" charset="0"/>
              </a:rPr>
              <a:t>的概率可以通过下述递推公式计算：</a:t>
            </a:r>
          </a:p>
        </p:txBody>
      </p:sp>
      <p:sp>
        <p:nvSpPr>
          <p:cNvPr id="686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990F92C-F0EE-42B8-9AF5-23518163D4EC}" type="slidenum">
              <a:rPr lang="zh-CN" altLang="en-US" sz="1400" b="1"/>
              <a:pPr eaLnBrk="1" hangingPunct="1"/>
              <a:t>55</a:t>
            </a:fld>
            <a:endParaRPr lang="en-US" altLang="zh-CN" sz="1400" b="1"/>
          </a:p>
        </p:txBody>
      </p:sp>
      <p:sp>
        <p:nvSpPr>
          <p:cNvPr id="68613" name="Rectangle 4"/>
          <p:cNvSpPr>
            <a:spLocks noChangeArrowheads="1"/>
          </p:cNvSpPr>
          <p:nvPr/>
        </p:nvSpPr>
        <p:spPr bwMode="auto">
          <a:xfrm>
            <a:off x="335017" y="4701435"/>
            <a:ext cx="800079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 fontAlgn="base"/>
            <a:r>
              <a:rPr lang="zh-CN" altLang="en-US" sz="2400" b="1" dirty="0">
                <a:latin typeface="Times New Roman" pitchFamily="18" charset="0"/>
              </a:rPr>
              <a:t>其中</a:t>
            </a:r>
            <a:r>
              <a:rPr lang="en-US" altLang="zh-CN" sz="2400" b="1" i="1" dirty="0">
                <a:latin typeface="Times New Roman" pitchFamily="18" charset="0"/>
              </a:rPr>
              <a:t>a </a:t>
            </a:r>
            <a:r>
              <a:rPr lang="zh-CN" altLang="en-US" sz="2400" b="1" dirty="0">
                <a:latin typeface="Times New Roman" pitchFamily="18" charset="0"/>
              </a:rPr>
              <a:t>和 </a:t>
            </a:r>
            <a:r>
              <a:rPr lang="en-US" altLang="zh-CN" sz="2400" b="1" i="1" dirty="0">
                <a:latin typeface="Times New Roman" pitchFamily="18" charset="0"/>
              </a:rPr>
              <a:t>b </a:t>
            </a:r>
            <a:r>
              <a:rPr lang="zh-CN" altLang="en-US" sz="2400" b="1" dirty="0">
                <a:latin typeface="Times New Roman" pitchFamily="18" charset="0"/>
              </a:rPr>
              <a:t>由首分布确定，</a:t>
            </a:r>
            <a:r>
              <a:rPr lang="en-US" altLang="zh-CN" sz="2400" b="1" i="1" dirty="0">
                <a:latin typeface="Times New Roman" pitchFamily="18" charset="0"/>
              </a:rPr>
              <a:t>f</a:t>
            </a:r>
            <a:r>
              <a:rPr lang="en-US" altLang="zh-CN" sz="2400" b="1" i="1" baseline="-25000" dirty="0">
                <a:latin typeface="Times New Roman" pitchFamily="18" charset="0"/>
              </a:rPr>
              <a:t>j </a:t>
            </a:r>
            <a:r>
              <a:rPr lang="en-US" altLang="zh-CN" sz="2400" b="1" i="1" baseline="-25000" dirty="0" smtClean="0">
                <a:latin typeface="Times New Roman" pitchFamily="18" charset="0"/>
              </a:rPr>
              <a:t> </a:t>
            </a:r>
            <a:r>
              <a:rPr lang="en-US" altLang="zh-CN" sz="2400" dirty="0" smtClean="0">
                <a:latin typeface="Times New Roman" pitchFamily="18" charset="0"/>
              </a:rPr>
              <a:t>= </a:t>
            </a:r>
            <a:r>
              <a:rPr lang="en-US" altLang="zh-CN" sz="2400" b="1" dirty="0" err="1" smtClean="0">
                <a:latin typeface="Times New Roman" pitchFamily="18" charset="0"/>
              </a:rPr>
              <a:t>Pr</a:t>
            </a:r>
            <a:r>
              <a:rPr lang="en-US" altLang="zh-CN" sz="2400" b="1" dirty="0" smtClean="0">
                <a:latin typeface="Times New Roman" pitchFamily="18" charset="0"/>
              </a:rPr>
              <a:t>( </a:t>
            </a:r>
            <a:r>
              <a:rPr lang="en-US" altLang="zh-CN" sz="2400" b="1" i="1" dirty="0" smtClean="0">
                <a:latin typeface="Times New Roman" pitchFamily="18" charset="0"/>
              </a:rPr>
              <a:t>X </a:t>
            </a:r>
            <a:r>
              <a:rPr lang="en-US" altLang="zh-CN" sz="2400" b="1" dirty="0" smtClean="0">
                <a:latin typeface="Times New Roman" pitchFamily="18" charset="0"/>
              </a:rPr>
              <a:t>= </a:t>
            </a:r>
            <a:r>
              <a:rPr lang="en-US" altLang="zh-CN" sz="2400" b="1" i="1" dirty="0" smtClean="0">
                <a:latin typeface="Times New Roman" pitchFamily="18" charset="0"/>
              </a:rPr>
              <a:t>j </a:t>
            </a:r>
            <a:r>
              <a:rPr lang="en-US" altLang="zh-CN" sz="2400" b="1" dirty="0" smtClean="0">
                <a:latin typeface="Times New Roman" pitchFamily="18" charset="0"/>
              </a:rPr>
              <a:t>)</a:t>
            </a:r>
            <a:r>
              <a:rPr lang="en-US" altLang="zh-CN" sz="2400" baseline="-25000" dirty="0" smtClean="0">
                <a:latin typeface="Times New Roman" pitchFamily="18" charset="0"/>
              </a:rPr>
              <a:t> </a:t>
            </a:r>
            <a:r>
              <a:rPr lang="zh-CN" altLang="en-US" sz="2400" b="1" dirty="0" smtClean="0">
                <a:latin typeface="Times New Roman" pitchFamily="18" charset="0"/>
              </a:rPr>
              <a:t>是</a:t>
            </a:r>
            <a:r>
              <a:rPr lang="zh-CN" altLang="en-US" sz="2400" b="1" dirty="0">
                <a:latin typeface="Times New Roman" pitchFamily="18" charset="0"/>
              </a:rPr>
              <a:t>次分布的</a:t>
            </a:r>
            <a:r>
              <a:rPr lang="zh-CN" altLang="en-US" sz="2400" b="1" dirty="0" smtClean="0">
                <a:latin typeface="Times New Roman" pitchFamily="18" charset="0"/>
              </a:rPr>
              <a:t>概率。  </a:t>
            </a:r>
            <a:endParaRPr lang="zh-CN" altLang="en-US" sz="2400" b="1" dirty="0">
              <a:latin typeface="Times New Roman" pitchFamily="18" charset="0"/>
            </a:endParaRPr>
          </a:p>
        </p:txBody>
      </p:sp>
      <p:sp>
        <p:nvSpPr>
          <p:cNvPr id="68614" name="Text Box 5"/>
          <p:cNvSpPr txBox="1">
            <a:spLocks noChangeArrowheads="1"/>
          </p:cNvSpPr>
          <p:nvPr/>
        </p:nvSpPr>
        <p:spPr bwMode="auto">
          <a:xfrm>
            <a:off x="335017" y="5486346"/>
            <a:ext cx="8473965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应用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：需要已知首分布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en-US" altLang="zh-CN" sz="2400" b="1" i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次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分布的 </a:t>
            </a:r>
            <a:r>
              <a:rPr lang="en-US" altLang="zh-CN" sz="2400" b="1" i="1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altLang="zh-CN" sz="2400" b="1" i="1" baseline="-48000" dirty="0" smtClean="0">
                <a:latin typeface="Times New Roman" pitchFamily="18" charset="0"/>
                <a:cs typeface="Times New Roman" pitchFamily="18" charset="0"/>
              </a:rPr>
              <a:t>j  </a:t>
            </a:r>
            <a:r>
              <a:rPr lang="zh-CN" altLang="en-US" sz="2400" b="1" baseline="-25000" dirty="0" smtClean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复合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分布的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altLang="zh-CN" sz="2400" b="1" baseline="-40000" dirty="0" err="1">
                <a:latin typeface="Times New Roman" pitchFamily="18" charset="0"/>
                <a:cs typeface="Times New Roman" pitchFamily="18" charset="0"/>
              </a:rPr>
              <a:t>0</a:t>
            </a:r>
            <a:endParaRPr lang="en-US" altLang="zh-CN" sz="2400" b="1" baseline="-400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861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678529"/>
              </p:ext>
            </p:extLst>
          </p:nvPr>
        </p:nvGraphicFramePr>
        <p:xfrm>
          <a:off x="1371684" y="3333544"/>
          <a:ext cx="6061075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963" r:id="rId3" imgW="2754704" imgH="444307" progId="Equation.DSMT4">
                  <p:embed/>
                </p:oleObj>
              </mc:Choice>
              <mc:Fallback>
                <p:oleObj r:id="rId3" imgW="2754704" imgH="444307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84" y="3333544"/>
                        <a:ext cx="6061075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5B07CC3-028C-4FB9-9D4A-A18C455CF43A}" type="slidenum">
              <a:rPr lang="zh-CN" altLang="en-US" sz="1400"/>
              <a:pPr eaLnBrk="1" hangingPunct="1"/>
              <a:t>56</a:t>
            </a:fld>
            <a:endParaRPr lang="en-US" altLang="zh-CN" sz="1400"/>
          </a:p>
        </p:txBody>
      </p:sp>
      <p:graphicFrame>
        <p:nvGraphicFramePr>
          <p:cNvPr id="798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5085122"/>
              </p:ext>
            </p:extLst>
          </p:nvPr>
        </p:nvGraphicFramePr>
        <p:xfrm>
          <a:off x="6659563" y="765175"/>
          <a:ext cx="1655762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39" r:id="rId3" imgW="762000" imgH="228600" progId="Equation.DSMT4">
                  <p:embed/>
                </p:oleObj>
              </mc:Choice>
              <mc:Fallback>
                <p:oleObj r:id="rId3" imgW="762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765175"/>
                        <a:ext cx="1655762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7084446"/>
              </p:ext>
            </p:extLst>
          </p:nvPr>
        </p:nvGraphicFramePr>
        <p:xfrm>
          <a:off x="1908175" y="1412875"/>
          <a:ext cx="792163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40" r:id="rId5" imgW="393871" imgH="228699" progId="Equation.DSMT4">
                  <p:embed/>
                </p:oleObj>
              </mc:Choice>
              <mc:Fallback>
                <p:oleObj r:id="rId5" imgW="393871" imgH="22869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412875"/>
                        <a:ext cx="792163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583493"/>
              </p:ext>
            </p:extLst>
          </p:nvPr>
        </p:nvGraphicFramePr>
        <p:xfrm>
          <a:off x="1908175" y="1989138"/>
          <a:ext cx="3063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41" r:id="rId7" imgW="165315" imgH="228898" progId="Equation.DSMT4">
                  <p:embed/>
                </p:oleObj>
              </mc:Choice>
              <mc:Fallback>
                <p:oleObj r:id="rId7" imgW="165315" imgH="228898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989138"/>
                        <a:ext cx="3063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7" name="Rectangle 5"/>
          <p:cNvSpPr>
            <a:spLocks noChangeArrowheads="1"/>
          </p:cNvSpPr>
          <p:nvPr/>
        </p:nvSpPr>
        <p:spPr bwMode="auto">
          <a:xfrm>
            <a:off x="827088" y="823913"/>
            <a:ext cx="6553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zh-CN" altLang="en-US" sz="2400" b="1" dirty="0" smtClean="0">
                <a:solidFill>
                  <a:schemeClr val="accent2"/>
                </a:solidFill>
                <a:latin typeface="Times New Roman" pitchFamily="18" charset="0"/>
                <a:cs typeface="Times New Roman" pitchFamily="18" charset="0"/>
              </a:rPr>
              <a:t>定理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复合分布在零点的概率可以表示为</a:t>
            </a:r>
            <a:endParaRPr lang="zh-CN" altLang="en-US" sz="2400" b="1" dirty="0"/>
          </a:p>
        </p:txBody>
      </p:sp>
      <p:sp>
        <p:nvSpPr>
          <p:cNvPr id="79878" name="Rectangle 6"/>
          <p:cNvSpPr>
            <a:spLocks noChangeArrowheads="1"/>
          </p:cNvSpPr>
          <p:nvPr/>
        </p:nvSpPr>
        <p:spPr bwMode="auto">
          <a:xfrm>
            <a:off x="827088" y="1410643"/>
            <a:ext cx="8034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400" b="1">
                <a:latin typeface="Times New Roman" pitchFamily="18" charset="0"/>
                <a:cs typeface="Times New Roman" pitchFamily="18" charset="0"/>
              </a:rPr>
              <a:t>其中</a:t>
            </a:r>
            <a:endParaRPr lang="zh-CN" altLang="en-US" sz="2400" b="1"/>
          </a:p>
        </p:txBody>
      </p:sp>
      <p:sp>
        <p:nvSpPr>
          <p:cNvPr id="79879" name="Rectangle 7"/>
          <p:cNvSpPr>
            <a:spLocks noChangeArrowheads="1"/>
          </p:cNvSpPr>
          <p:nvPr/>
        </p:nvSpPr>
        <p:spPr bwMode="auto">
          <a:xfrm>
            <a:off x="2555875" y="1410643"/>
            <a:ext cx="334578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/>
            <a:r>
              <a:rPr lang="zh-CN" altLang="en-US" sz="2400" b="1">
                <a:latin typeface="Times New Roman" pitchFamily="18" charset="0"/>
                <a:cs typeface="Times New Roman" pitchFamily="18" charset="0"/>
              </a:rPr>
              <a:t>是首分布 </a:t>
            </a:r>
            <a:r>
              <a:rPr lang="en-US" altLang="zh-CN" sz="2400" b="1" i="1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400" b="1">
                <a:latin typeface="Times New Roman" pitchFamily="18" charset="0"/>
                <a:cs typeface="Times New Roman" pitchFamily="18" charset="0"/>
              </a:rPr>
              <a:t>的母函数，</a:t>
            </a:r>
            <a:endParaRPr lang="zh-CN" altLang="en-US" sz="2400" b="1"/>
          </a:p>
        </p:txBody>
      </p:sp>
      <p:sp>
        <p:nvSpPr>
          <p:cNvPr id="79880" name="Rectangle 8"/>
          <p:cNvSpPr>
            <a:spLocks noChangeArrowheads="1"/>
          </p:cNvSpPr>
          <p:nvPr/>
        </p:nvSpPr>
        <p:spPr bwMode="auto">
          <a:xfrm>
            <a:off x="2268538" y="1989138"/>
            <a:ext cx="38814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zh-CN" altLang="en-US" sz="2400" b="1">
                <a:latin typeface="Times New Roman" pitchFamily="18" charset="0"/>
                <a:cs typeface="Times New Roman" pitchFamily="18" charset="0"/>
              </a:rPr>
              <a:t>是次分布在零点的概率。</a:t>
            </a:r>
            <a:endParaRPr lang="zh-CN" altLang="en-US" sz="2400" b="1"/>
          </a:p>
        </p:txBody>
      </p:sp>
      <p:sp>
        <p:nvSpPr>
          <p:cNvPr id="77834" name="Rectangle 9"/>
          <p:cNvSpPr>
            <a:spLocks noChangeArrowheads="1"/>
          </p:cNvSpPr>
          <p:nvPr/>
        </p:nvSpPr>
        <p:spPr bwMode="auto">
          <a:xfrm>
            <a:off x="4479634" y="2633990"/>
            <a:ext cx="1847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 b="1"/>
          </a:p>
        </p:txBody>
      </p:sp>
      <p:graphicFrame>
        <p:nvGraphicFramePr>
          <p:cNvPr id="7988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8316924"/>
              </p:ext>
            </p:extLst>
          </p:nvPr>
        </p:nvGraphicFramePr>
        <p:xfrm>
          <a:off x="827088" y="3213100"/>
          <a:ext cx="30241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42" name="Equation" r:id="rId9" imgW="1397607" imgH="228699" progId="Equation.DSMT4">
                  <p:embed/>
                </p:oleObj>
              </mc:Choice>
              <mc:Fallback>
                <p:oleObj name="Equation" r:id="rId9" imgW="1397607" imgH="22869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213100"/>
                        <a:ext cx="30241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3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8847182"/>
              </p:ext>
            </p:extLst>
          </p:nvPr>
        </p:nvGraphicFramePr>
        <p:xfrm>
          <a:off x="5148263" y="4470400"/>
          <a:ext cx="23034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43" name="Equation" r:id="rId11" imgW="1130040" imgH="228600" progId="Equation.DSMT4">
                  <p:embed/>
                </p:oleObj>
              </mc:Choice>
              <mc:Fallback>
                <p:oleObj name="Equation" r:id="rId11" imgW="1130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470400"/>
                        <a:ext cx="2303462" cy="4683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CC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4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891779"/>
              </p:ext>
            </p:extLst>
          </p:nvPr>
        </p:nvGraphicFramePr>
        <p:xfrm>
          <a:off x="2855913" y="4437063"/>
          <a:ext cx="1630362" cy="477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44" name="Equation" r:id="rId13" imgW="761760" imgH="228600" progId="Equation.DSMT4">
                  <p:embed/>
                </p:oleObj>
              </mc:Choice>
              <mc:Fallback>
                <p:oleObj name="Equation" r:id="rId13" imgW="7617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913" y="4437063"/>
                        <a:ext cx="1630362" cy="477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885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336641"/>
              </p:ext>
            </p:extLst>
          </p:nvPr>
        </p:nvGraphicFramePr>
        <p:xfrm>
          <a:off x="2843213" y="5516563"/>
          <a:ext cx="115252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45" name="Equation" r:id="rId15" imgW="571748" imgH="228699" progId="Equation.DSMT4">
                  <p:embed/>
                </p:oleObj>
              </mc:Choice>
              <mc:Fallback>
                <p:oleObj name="Equation" r:id="rId15" imgW="571748" imgH="22869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5516563"/>
                        <a:ext cx="115252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86" name="Text Box 14"/>
          <p:cNvSpPr txBox="1">
            <a:spLocks noChangeArrowheads="1"/>
          </p:cNvSpPr>
          <p:nvPr/>
        </p:nvSpPr>
        <p:spPr bwMode="auto">
          <a:xfrm>
            <a:off x="4498975" y="3284538"/>
            <a:ext cx="4189413" cy="309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（随机变量等于</a:t>
            </a:r>
            <a:r>
              <a:rPr lang="en-US" altLang="zh-CN" sz="14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的概率</a:t>
            </a:r>
            <a:r>
              <a:rPr lang="zh-CN" altLang="en-US" sz="14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＝  </a:t>
            </a:r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母函数在</a:t>
            </a:r>
            <a:r>
              <a:rPr lang="en-US" altLang="zh-CN" sz="14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zh-CN" altLang="en-US" sz="14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点的值）</a:t>
            </a:r>
          </a:p>
        </p:txBody>
      </p:sp>
    </p:spTree>
    <p:extLst>
      <p:ext uri="{BB962C8B-B14F-4D97-AF65-F5344CB8AC3E}">
        <p14:creationId xmlns:p14="http://schemas.microsoft.com/office/powerpoint/2010/main" val="74261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9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9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9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9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9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98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9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9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9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9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9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9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9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7" grpId="0" autoUpdateAnimBg="0"/>
      <p:bldP spid="79878" grpId="0" autoUpdateAnimBg="0"/>
      <p:bldP spid="79879" grpId="0" autoUpdateAnimBg="0"/>
      <p:bldP spid="79880" grpId="0" autoUpdateAnimBg="0"/>
      <p:bldP spid="79886" grpId="0" autoUpdateAnimBg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446088" y="605629"/>
            <a:ext cx="8229600" cy="792224"/>
          </a:xfrm>
        </p:spPr>
        <p:txBody>
          <a:bodyPr/>
          <a:lstStyle/>
          <a:p>
            <a:pPr algn="l" eaLnBrk="1" hangingPunct="1"/>
            <a:r>
              <a:rPr lang="zh-CN" altLang="en-US" dirty="0" smtClean="0">
                <a:solidFill>
                  <a:schemeClr val="accent2"/>
                </a:solidFill>
                <a:latin typeface="Times New Roman" pitchFamily="18" charset="0"/>
              </a:rPr>
              <a:t>复合泊松分布的递推公式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484313"/>
            <a:ext cx="8147050" cy="533400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如果首分布是泊松分布，则 </a:t>
            </a:r>
            <a:r>
              <a:rPr lang="en-US" altLang="zh-CN" b="1" i="1" dirty="0" smtClean="0">
                <a:latin typeface="Times New Roman" pitchFamily="18" charset="0"/>
              </a:rPr>
              <a:t>a </a:t>
            </a:r>
            <a:r>
              <a:rPr lang="en-US" altLang="zh-CN" b="1" dirty="0" smtClean="0">
                <a:latin typeface="Times New Roman" pitchFamily="18" charset="0"/>
              </a:rPr>
              <a:t>= 0,  </a:t>
            </a:r>
            <a:r>
              <a:rPr lang="en-US" altLang="zh-CN" b="1" i="1" dirty="0" smtClean="0">
                <a:latin typeface="Times New Roman" pitchFamily="18" charset="0"/>
              </a:rPr>
              <a:t>b</a:t>
            </a:r>
            <a:r>
              <a:rPr lang="en-US" altLang="zh-CN" b="1" dirty="0" smtClean="0">
                <a:latin typeface="Times New Roman" pitchFamily="18" charset="0"/>
              </a:rPr>
              <a:t> = </a:t>
            </a:r>
            <a:r>
              <a:rPr lang="en-US" altLang="zh-CN" b="1" dirty="0" smtClean="0">
                <a:latin typeface="Symbol" pitchFamily="18" charset="2"/>
              </a:rPr>
              <a:t>l, </a:t>
            </a:r>
            <a:r>
              <a:rPr lang="zh-CN" altLang="en-US" b="1" dirty="0" smtClean="0">
                <a:latin typeface="Times New Roman" pitchFamily="18" charset="0"/>
              </a:rPr>
              <a:t>故递推公式为：</a:t>
            </a:r>
          </a:p>
        </p:txBody>
      </p:sp>
      <p:sp>
        <p:nvSpPr>
          <p:cNvPr id="69634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8F3FAA48-A286-43D6-AC1E-B1051E688E23}" type="slidenum">
              <a:rPr lang="zh-CN" altLang="en-US" sz="1400"/>
              <a:pPr eaLnBrk="1" hangingPunct="1"/>
              <a:t>57</a:t>
            </a:fld>
            <a:endParaRPr lang="en-US" altLang="zh-CN" sz="1400"/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539750" y="4149725"/>
            <a:ext cx="8135938" cy="978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344488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buSzPct val="65000"/>
              <a:buFontTx/>
              <a:buBlip>
                <a:blip r:embed="rId3"/>
              </a:buBlip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如果给定次分布的名称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，则复合泊松分布可以被称作 </a:t>
            </a:r>
          </a:p>
          <a:p>
            <a:pPr algn="l" eaLnBrk="1" hangingPunct="1">
              <a:lnSpc>
                <a:spcPct val="120000"/>
              </a:lnSpc>
              <a:buSzPct val="65000"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“泊松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-X” </a:t>
            </a:r>
            <a:r>
              <a:rPr lang="zh-CN" altLang="en-US" sz="2400" b="1" dirty="0" smtClean="0">
                <a:latin typeface="Times New Roman" pitchFamily="18" charset="0"/>
                <a:cs typeface="Times New Roman" pitchFamily="18" charset="0"/>
              </a:rPr>
              <a:t>。</a:t>
            </a:r>
            <a:endParaRPr lang="zh-CN" alt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16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0514576"/>
              </p:ext>
            </p:extLst>
          </p:nvPr>
        </p:nvGraphicFramePr>
        <p:xfrm>
          <a:off x="990694" y="2514624"/>
          <a:ext cx="6299279" cy="1295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217" name="Equation" r:id="rId4" imgW="2158920" imgH="444240" progId="Equation.DSMT4">
                  <p:embed/>
                </p:oleObj>
              </mc:Choice>
              <mc:Fallback>
                <p:oleObj name="Equation" r:id="rId4" imgW="2158920" imgH="4442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94" y="2514624"/>
                        <a:ext cx="6299279" cy="12953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5" grpId="0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7961" y="685872"/>
            <a:ext cx="8610374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i="1" dirty="0" smtClean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 </a:t>
            </a:r>
            <a:r>
              <a:rPr lang="en-US" altLang="zh-CN" sz="1800" b="1" dirty="0" err="1" smtClean="0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复合泊松分布的递推公式</a:t>
            </a:r>
            <a:endParaRPr lang="en-US" altLang="zh-CN" sz="1800" b="1" dirty="0" smtClean="0">
              <a:solidFill>
                <a:srgbClr val="8F5902"/>
              </a:solidFill>
              <a:latin typeface="宋体"/>
              <a:ea typeface="宋体"/>
              <a:cs typeface="Times New Roman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dirty="0" smtClean="0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# lam</a:t>
            </a:r>
            <a:r>
              <a:rPr lang="zh-CN" altLang="en-US" sz="1800" b="1" dirty="0" smtClean="0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表示泊松参数</a:t>
            </a:r>
            <a:endParaRPr lang="en-US" altLang="zh-CN" sz="1800" b="1" dirty="0" smtClean="0">
              <a:solidFill>
                <a:srgbClr val="8F5902"/>
              </a:solidFill>
              <a:latin typeface="宋体"/>
              <a:ea typeface="宋体"/>
              <a:cs typeface="Times New Roman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dirty="0" smtClean="0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# </a:t>
            </a:r>
            <a:r>
              <a:rPr lang="en-US" altLang="zh-CN" sz="1800" b="1" dirty="0" err="1" smtClean="0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f0</a:t>
            </a:r>
            <a:r>
              <a:rPr lang="zh-CN" altLang="en-US" sz="1800" b="1" dirty="0" smtClean="0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是次分布在零点的概率，</a:t>
            </a:r>
            <a:r>
              <a:rPr lang="en-US" altLang="zh-CN" sz="1800" b="1" dirty="0" smtClean="0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f</a:t>
            </a:r>
            <a:r>
              <a:rPr lang="zh-CN" altLang="en-US" sz="1800" b="1" dirty="0" smtClean="0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是在其他非零点上的概率</a:t>
            </a:r>
            <a:endParaRPr lang="en-US" altLang="zh-CN" sz="1800" b="1" dirty="0" smtClean="0">
              <a:solidFill>
                <a:srgbClr val="8F5902"/>
              </a:solidFill>
              <a:latin typeface="宋体"/>
              <a:ea typeface="宋体"/>
              <a:cs typeface="Times New Roman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COM</a:t>
            </a:r>
            <a:r>
              <a:rPr lang="en-US" altLang="zh-CN" sz="1800" b="1" dirty="0" smtClean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PO 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function (lam, </a:t>
            </a:r>
            <a:r>
              <a:rPr lang="en-US" altLang="zh-CN" sz="1800" b="1" dirty="0" err="1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f0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, f) {</a:t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cum 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g 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 err="1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exp</a:t>
            </a:r>
            <a:r>
              <a:rPr lang="en-US" altLang="zh-CN" sz="1800" b="1" dirty="0" smtClean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(lam*(</a:t>
            </a:r>
            <a:r>
              <a:rPr lang="en-US" altLang="zh-CN" sz="1800" b="1" dirty="0" err="1" smtClean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f0</a:t>
            </a:r>
            <a:r>
              <a:rPr lang="en-US" altLang="zh-CN" sz="1800" b="1" dirty="0" smtClean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- 1))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k 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repeat </a:t>
            </a:r>
            <a:r>
              <a:rPr lang="en-US" altLang="zh-CN" sz="1800" b="1" dirty="0" smtClean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{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    k 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 smtClean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k </a:t>
            </a:r>
            <a:r>
              <a:rPr lang="en-US" altLang="zh-CN" sz="1800" b="1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+ 1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    last 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lam /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k *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sum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800" b="1" dirty="0" err="1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1800" b="1" dirty="0" err="1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:k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*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head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(f</a:t>
            </a:r>
            <a:r>
              <a:rPr lang="en-US" altLang="zh-CN" sz="1800" b="1" dirty="0" smtClean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, k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) *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rev</a:t>
            </a:r>
            <a:r>
              <a:rPr lang="en-US" altLang="zh-CN" sz="1800" b="1" dirty="0" smtClean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(g))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    g 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(g</a:t>
            </a:r>
            <a:r>
              <a:rPr lang="en-US" altLang="zh-CN" sz="1800" b="1" dirty="0" smtClean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, last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    cum 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cum +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last</a:t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    if (cum &gt;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0.9999999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) break  </a:t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    }</a:t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return</a:t>
            </a: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(g) </a:t>
            </a:r>
            <a:b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    </a:t>
            </a:r>
            <a:r>
              <a:rPr lang="en-US" altLang="zh-CN" sz="1800" b="1" dirty="0" smtClean="0">
                <a:solidFill>
                  <a:srgbClr val="000000"/>
                </a:solidFill>
                <a:latin typeface="Consolas"/>
                <a:ea typeface="宋体"/>
                <a:cs typeface="Times New Roman"/>
              </a:rPr>
              <a:t>}</a:t>
            </a:r>
            <a:endParaRPr lang="zh-CN" altLang="en-US" sz="18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253623"/>
              </p:ext>
            </p:extLst>
          </p:nvPr>
        </p:nvGraphicFramePr>
        <p:xfrm>
          <a:off x="6202591" y="4724456"/>
          <a:ext cx="2941409" cy="2133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67" name="Equation" r:id="rId3" imgW="1295280" imgH="939600" progId="Equation.DSMT4">
                  <p:embed/>
                </p:oleObj>
              </mc:Choice>
              <mc:Fallback>
                <p:oleObj name="Equation" r:id="rId3" imgW="129528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2591" y="4724456"/>
                        <a:ext cx="2941409" cy="2133544"/>
                      </a:xfrm>
                      <a:prstGeom prst="rect">
                        <a:avLst/>
                      </a:prstGeom>
                      <a:solidFill>
                        <a:srgbClr val="B3E6EB"/>
                      </a:solidFill>
                      <a:ln>
                        <a:solidFill>
                          <a:schemeClr val="accent1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3553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59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76318" y="511558"/>
                <a:ext cx="792459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2400" b="1" dirty="0" smtClean="0">
                    <a:latin typeface="Cambria"/>
                    <a:ea typeface="宋体"/>
                    <a:cs typeface="Times New Roman"/>
                  </a:rPr>
                  <a:t>例：</a:t>
                </a:r>
                <a:r>
                  <a:rPr lang="zh-CN" altLang="zh-CN" sz="2400" b="1" dirty="0">
                    <a:latin typeface="Cambria"/>
                    <a:ea typeface="宋体"/>
                    <a:cs typeface="Times New Roman"/>
                  </a:rPr>
                  <a:t>假设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ea typeface="宋体"/>
                        <a:cs typeface="Times New Roman"/>
                      </a:rPr>
                      <m:t>𝐍</m:t>
                    </m:r>
                  </m:oMath>
                </a14:m>
                <a:r>
                  <a:rPr lang="zh-CN" altLang="zh-CN" sz="2400" b="1" dirty="0">
                    <a:latin typeface="Cambria"/>
                    <a:ea typeface="宋体"/>
                    <a:cs typeface="Times New Roman"/>
                  </a:rPr>
                  <a:t>服从参数为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ea typeface="宋体"/>
                        <a:cs typeface="Times New Roman"/>
                      </a:rPr>
                      <m:t>𝐥𝐚𝐦𝐛𝐝𝐚</m:t>
                    </m:r>
                    <m:r>
                      <a:rPr lang="en-US" altLang="zh-CN" sz="2400" b="1">
                        <a:latin typeface="Cambria Math"/>
                        <a:ea typeface="宋体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latin typeface="Cambria Math"/>
                        <a:ea typeface="宋体"/>
                        <a:cs typeface="Times New Roman"/>
                      </a:rPr>
                      <m:t>𝟐</m:t>
                    </m:r>
                  </m:oMath>
                </a14:m>
                <a:r>
                  <a:rPr lang="zh-CN" altLang="zh-CN" sz="2400" b="1" dirty="0">
                    <a:latin typeface="Cambria"/>
                    <a:ea typeface="宋体"/>
                    <a:cs typeface="Times New Roman"/>
                  </a:rPr>
                  <a:t>的泊松分布，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/>
                        <a:ea typeface="宋体"/>
                        <a:cs typeface="Times New Roman"/>
                      </a:rPr>
                      <m:t>𝑿</m:t>
                    </m:r>
                  </m:oMath>
                </a14:m>
                <a:r>
                  <a:rPr lang="zh-CN" altLang="zh-CN" sz="2400" b="1" dirty="0">
                    <a:latin typeface="Cambria"/>
                    <a:ea typeface="宋体"/>
                    <a:cs typeface="Times New Roman"/>
                  </a:rPr>
                  <a:t>服从参数为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/>
                        <a:ea typeface="宋体"/>
                        <a:cs typeface="Times New Roman"/>
                      </a:rPr>
                      <m:t>(</m:t>
                    </m:r>
                    <m:r>
                      <a:rPr lang="en-US" altLang="zh-CN" sz="2400" b="1" i="1">
                        <a:latin typeface="Cambria Math"/>
                        <a:ea typeface="宋体"/>
                        <a:cs typeface="Times New Roman"/>
                      </a:rPr>
                      <m:t>𝐫</m:t>
                    </m:r>
                    <m:r>
                      <a:rPr lang="en-US" altLang="zh-CN" sz="2400" b="1">
                        <a:latin typeface="Cambria Math"/>
                        <a:ea typeface="宋体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latin typeface="Cambria Math"/>
                        <a:ea typeface="宋体"/>
                        <a:cs typeface="Times New Roman"/>
                      </a:rPr>
                      <m:t>𝟒</m:t>
                    </m:r>
                    <m:r>
                      <a:rPr lang="en-US" altLang="zh-CN" sz="2400" b="1">
                        <a:latin typeface="Cambria Math"/>
                        <a:ea typeface="宋体"/>
                        <a:cs typeface="Times New Roman"/>
                      </a:rPr>
                      <m:t>,  </m:t>
                    </m:r>
                    <m:r>
                      <a:rPr lang="en-US" altLang="zh-CN" sz="2400" b="1" i="1">
                        <a:latin typeface="Cambria Math"/>
                        <a:ea typeface="宋体"/>
                        <a:cs typeface="Times New Roman"/>
                      </a:rPr>
                      <m:t>𝐩</m:t>
                    </m:r>
                    <m:r>
                      <a:rPr lang="en-US" altLang="zh-CN" sz="2400" b="1">
                        <a:latin typeface="Cambria Math"/>
                        <a:ea typeface="宋体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latin typeface="Cambria Math"/>
                        <a:ea typeface="宋体"/>
                        <a:cs typeface="Times New Roman"/>
                      </a:rPr>
                      <m:t>𝟎</m:t>
                    </m:r>
                    <m:r>
                      <a:rPr lang="en-US" altLang="zh-CN" sz="2400" b="1">
                        <a:latin typeface="Cambria Math"/>
                        <a:ea typeface="宋体"/>
                        <a:cs typeface="Times New Roman"/>
                      </a:rPr>
                      <m:t>.</m:t>
                    </m:r>
                    <m:r>
                      <a:rPr lang="en-US" altLang="zh-CN" sz="2400" b="1" i="1">
                        <a:latin typeface="Cambria Math"/>
                        <a:ea typeface="宋体"/>
                        <a:cs typeface="Times New Roman"/>
                      </a:rPr>
                      <m:t>𝟑</m:t>
                    </m:r>
                    <m:r>
                      <a:rPr lang="en-US" altLang="zh-CN" sz="2400" b="1">
                        <a:latin typeface="Cambria Math"/>
                        <a:ea typeface="宋体"/>
                        <a:cs typeface="Times New Roman"/>
                      </a:rPr>
                      <m:t>)</m:t>
                    </m:r>
                  </m:oMath>
                </a14:m>
                <a:r>
                  <a:rPr lang="zh-CN" altLang="zh-CN" sz="2400" b="1" dirty="0">
                    <a:latin typeface="Cambria"/>
                    <a:ea typeface="宋体"/>
                    <a:cs typeface="Times New Roman"/>
                  </a:rPr>
                  <a:t>的</a:t>
                </a:r>
                <a:r>
                  <a:rPr lang="zh-CN" altLang="zh-CN" sz="2400" b="1" dirty="0" smtClean="0">
                    <a:latin typeface="Cambria"/>
                    <a:ea typeface="宋体"/>
                    <a:cs typeface="Times New Roman"/>
                  </a:rPr>
                  <a:t>负二项分布</a:t>
                </a:r>
                <a:r>
                  <a:rPr lang="zh-CN" altLang="en-US" sz="2400" b="1" dirty="0" smtClean="0">
                    <a:latin typeface="Cambria"/>
                    <a:ea typeface="宋体"/>
                    <a:cs typeface="Times New Roman"/>
                  </a:rPr>
                  <a:t>。</a:t>
                </a:r>
                <a:r>
                  <a:rPr lang="zh-CN" altLang="zh-CN" sz="2400" b="1" dirty="0" smtClean="0">
                    <a:latin typeface="Cambria"/>
                    <a:ea typeface="宋体"/>
                    <a:cs typeface="Times New Roman"/>
                  </a:rPr>
                  <a:t>求</a:t>
                </a:r>
                <a:r>
                  <a:rPr lang="en-US" altLang="zh-CN" sz="2400" b="1" dirty="0">
                    <a:latin typeface="Cambria"/>
                    <a:ea typeface="宋体"/>
                    <a:cs typeface="Times New Roman"/>
                  </a:rPr>
                  <a:t>S</a:t>
                </a:r>
                <a:r>
                  <a:rPr lang="zh-CN" altLang="zh-CN" sz="2400" b="1" dirty="0" smtClean="0">
                    <a:latin typeface="Cambria"/>
                    <a:ea typeface="宋体"/>
                    <a:cs typeface="Times New Roman"/>
                  </a:rPr>
                  <a:t>的</a:t>
                </a:r>
                <a:r>
                  <a:rPr lang="zh-CN" altLang="en-US" sz="2400" b="1" dirty="0" smtClean="0">
                    <a:latin typeface="Cambria"/>
                    <a:ea typeface="宋体"/>
                    <a:cs typeface="Times New Roman"/>
                  </a:rPr>
                  <a:t>分布</a:t>
                </a:r>
                <a:r>
                  <a:rPr lang="zh-CN" altLang="zh-CN" sz="2400" b="1" dirty="0" smtClean="0">
                    <a:latin typeface="Cambria"/>
                    <a:ea typeface="宋体"/>
                    <a:cs typeface="Times New Roman"/>
                  </a:rPr>
                  <a:t>。</a:t>
                </a:r>
                <a:endParaRPr lang="zh-CN" altLang="zh-CN" sz="2400" b="1" dirty="0">
                  <a:latin typeface="Cambria"/>
                  <a:ea typeface="宋体"/>
                  <a:cs typeface="Times New Roman"/>
                </a:endParaRPr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18" y="511558"/>
                <a:ext cx="7924592" cy="830997"/>
              </a:xfrm>
              <a:prstGeom prst="rect">
                <a:avLst/>
              </a:prstGeom>
              <a:blipFill>
                <a:blip r:embed="rId2"/>
                <a:stretch>
                  <a:fillRect l="-1232" t="-5882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183203" y="1342555"/>
            <a:ext cx="8191285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 b="1" dirty="0" smtClean="0">
                <a:latin typeface="Consolas"/>
                <a:ea typeface="宋体"/>
                <a:cs typeface="Times New Roman"/>
              </a:rPr>
              <a:t>解：应用前述自定义函数</a:t>
            </a:r>
            <a:endParaRPr lang="en-US" altLang="zh-CN" sz="1800" b="1" dirty="0" smtClean="0">
              <a:latin typeface="Consolas"/>
              <a:ea typeface="宋体"/>
              <a:cs typeface="Times New Roman"/>
            </a:endParaRPr>
          </a:p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</a:t>
            </a:r>
            <a:r>
              <a:rPr lang="en-US" altLang="zh-CN" sz="1800" b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负二项分布的概率函数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b="1" dirty="0">
                <a:latin typeface="Consolas"/>
                <a:ea typeface="宋体"/>
                <a:cs typeface="Times New Roman"/>
              </a:rPr>
            </a:br>
            <a:r>
              <a:rPr lang="en-US" altLang="zh-CN" sz="1800" b="1" dirty="0" err="1">
                <a:latin typeface="Consolas"/>
                <a:ea typeface="宋体"/>
                <a:cs typeface="Times New Roman"/>
              </a:rPr>
              <a:t>f0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dnbinom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8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size =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prob</a:t>
            </a: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0.3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)  </a:t>
            </a: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   </a:t>
            </a:r>
            <a:r>
              <a:rPr lang="en-US" altLang="zh-CN" sz="1800" b="1" dirty="0" smtClean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</a:t>
            </a:r>
            <a:r>
              <a:rPr lang="en-US" altLang="zh-CN" sz="1800" b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零点的概率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b="1" dirty="0">
                <a:latin typeface="Consolas"/>
                <a:ea typeface="宋体"/>
                <a:cs typeface="Times New Roman"/>
              </a:rPr>
            </a:b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f 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dnbinom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8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18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500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size =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8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prob</a:t>
            </a: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0.3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)  </a:t>
            </a:r>
            <a:r>
              <a:rPr lang="en-US" altLang="zh-CN" sz="1800" b="1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</a:t>
            </a:r>
            <a:r>
              <a:rPr lang="en-US" altLang="zh-CN" sz="1800" b="1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1:500</a:t>
            </a:r>
            <a:r>
              <a:rPr lang="en-US" altLang="zh-CN" sz="1800" b="1" dirty="0" err="1" smtClean="0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的概率</a:t>
            </a:r>
            <a:endParaRPr lang="en-US" altLang="zh-CN" sz="1800" b="1" dirty="0" smtClean="0">
              <a:solidFill>
                <a:srgbClr val="8F5902"/>
              </a:solidFill>
              <a:latin typeface="宋体"/>
              <a:ea typeface="宋体"/>
              <a:cs typeface="Times New Roman"/>
            </a:endParaRPr>
          </a:p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#</a:t>
            </a:r>
            <a:r>
              <a:rPr lang="en-US" altLang="zh-CN" sz="1800" b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泊松</a:t>
            </a:r>
            <a:r>
              <a:rPr lang="en-US" altLang="zh-CN" sz="1800" b="1" dirty="0" err="1">
                <a:solidFill>
                  <a:srgbClr val="8F5902"/>
                </a:solidFill>
                <a:latin typeface="Consolas"/>
                <a:ea typeface="宋体"/>
                <a:cs typeface="Times New Roman"/>
              </a:rPr>
              <a:t>-</a:t>
            </a:r>
            <a:r>
              <a:rPr lang="en-US" altLang="zh-CN" sz="1800" b="1" dirty="0" err="1">
                <a:solidFill>
                  <a:srgbClr val="8F5902"/>
                </a:solidFill>
                <a:latin typeface="宋体"/>
                <a:ea typeface="宋体"/>
                <a:cs typeface="Times New Roman"/>
              </a:rPr>
              <a:t>负二项分布的概率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800" b="1" dirty="0">
                <a:latin typeface="Consolas"/>
                <a:ea typeface="宋体"/>
                <a:cs typeface="Times New Roman"/>
              </a:rPr>
            </a:b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g 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=</a:t>
            </a:r>
            <a:r>
              <a:rPr lang="en-US" altLang="zh-CN" sz="18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COMP</a:t>
            </a:r>
            <a:r>
              <a:rPr lang="en-US" altLang="zh-CN" sz="1800" b="1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O</a:t>
            </a: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800" b="1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lam </a:t>
            </a:r>
            <a:r>
              <a:rPr lang="en-US" altLang="zh-CN" sz="18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=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8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800" b="1" dirty="0" err="1">
                <a:latin typeface="Consolas"/>
                <a:ea typeface="宋体"/>
                <a:cs typeface="Times New Roman"/>
              </a:rPr>
              <a:t>f0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, f) </a:t>
            </a:r>
            <a:endParaRPr lang="en-US" altLang="zh-CN" sz="1800" b="1" dirty="0" smtClean="0">
              <a:latin typeface="Consolas"/>
              <a:ea typeface="宋体"/>
              <a:cs typeface="Times New Roman"/>
            </a:endParaRPr>
          </a:p>
          <a:p>
            <a:pPr algn="l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 b="1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plot</a:t>
            </a: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800" b="1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:(</a:t>
            </a:r>
            <a:r>
              <a:rPr lang="en-US" altLang="zh-CN" sz="1800" b="1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length</a:t>
            </a: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(g)-</a:t>
            </a:r>
            <a:r>
              <a:rPr lang="en-US" altLang="zh-CN" sz="1800" b="1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), g, </a:t>
            </a:r>
            <a:r>
              <a:rPr lang="en-US" altLang="zh-CN" sz="1800" b="1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type = </a:t>
            </a:r>
            <a:r>
              <a:rPr lang="en-US" altLang="zh-CN" sz="1800" b="1" dirty="0" smtClean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'h'</a:t>
            </a: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800" b="1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col = </a:t>
            </a:r>
            <a:r>
              <a:rPr lang="en-US" altLang="zh-CN" sz="1800" b="1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800" b="1" dirty="0" err="1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xlim</a:t>
            </a:r>
            <a:r>
              <a:rPr lang="en-US" altLang="zh-CN" sz="1800" b="1" dirty="0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 c</a:t>
            </a: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800" b="1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800" b="1" dirty="0" smtClean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800" b="1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50</a:t>
            </a:r>
            <a:r>
              <a:rPr lang="en-US" altLang="zh-CN" sz="1800" b="1" dirty="0">
                <a:latin typeface="Consolas"/>
                <a:ea typeface="宋体"/>
                <a:cs typeface="Times New Roman"/>
              </a:rPr>
              <a:t>))</a:t>
            </a:r>
            <a:endParaRPr lang="zh-CN" altLang="zh-CN" sz="1800" b="1" dirty="0">
              <a:effectLst/>
              <a:latin typeface="Consolas"/>
              <a:ea typeface="宋体"/>
              <a:cs typeface="Times New Roman"/>
            </a:endParaRPr>
          </a:p>
        </p:txBody>
      </p:sp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018" y="4343376"/>
            <a:ext cx="4197350" cy="2635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095960" y="3124208"/>
            <a:ext cx="21403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 smtClean="0"/>
              <a:t>注：</a:t>
            </a:r>
            <a:r>
              <a:rPr lang="en-US" altLang="zh-CN" sz="900" dirty="0" smtClean="0"/>
              <a:t>f</a:t>
            </a:r>
            <a:r>
              <a:rPr lang="zh-CN" altLang="en-US" sz="900" dirty="0" smtClean="0"/>
              <a:t>的取值范围不能小于</a:t>
            </a:r>
            <a:r>
              <a:rPr lang="en-US" altLang="zh-CN" sz="900" dirty="0" smtClean="0"/>
              <a:t>S</a:t>
            </a:r>
            <a:r>
              <a:rPr lang="zh-CN" altLang="en-US" sz="900" dirty="0" smtClean="0"/>
              <a:t>的取值范围</a:t>
            </a:r>
            <a:endParaRPr lang="zh-CN" altLang="en-US" sz="900" dirty="0"/>
          </a:p>
        </p:txBody>
      </p:sp>
    </p:spTree>
    <p:extLst>
      <p:ext uri="{BB962C8B-B14F-4D97-AF65-F5344CB8AC3E}">
        <p14:creationId xmlns:p14="http://schemas.microsoft.com/office/powerpoint/2010/main" val="3871108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60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457308" y="609674"/>
            <a:ext cx="838178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zh-CN" altLang="en-US" sz="1800" b="1" dirty="0">
                <a:latin typeface="Cambria"/>
                <a:ea typeface="宋体"/>
                <a:cs typeface="Times New Roman"/>
              </a:rPr>
              <a:t>解</a:t>
            </a:r>
            <a:r>
              <a:rPr lang="zh-CN" altLang="zh-CN" sz="1800" b="1" dirty="0" smtClean="0">
                <a:latin typeface="Cambria"/>
                <a:ea typeface="宋体"/>
                <a:cs typeface="Times New Roman"/>
              </a:rPr>
              <a:t>：</a:t>
            </a:r>
            <a:r>
              <a:rPr lang="zh-CN" altLang="en-US" sz="1800" b="1" dirty="0" smtClean="0">
                <a:latin typeface="Cambria"/>
                <a:ea typeface="宋体"/>
                <a:cs typeface="Times New Roman"/>
              </a:rPr>
              <a:t>应用</a:t>
            </a:r>
            <a:r>
              <a:rPr lang="en-US" altLang="zh-CN" sz="1800" b="1" dirty="0" err="1" smtClean="0">
                <a:latin typeface="Cambria"/>
                <a:ea typeface="宋体"/>
                <a:cs typeface="Times New Roman"/>
              </a:rPr>
              <a:t>actuar</a:t>
            </a:r>
            <a:r>
              <a:rPr lang="zh-CN" altLang="en-US" sz="1800" b="1" dirty="0" smtClean="0">
                <a:latin typeface="Cambria"/>
                <a:ea typeface="宋体"/>
                <a:cs typeface="Times New Roman"/>
              </a:rPr>
              <a:t>程序包</a:t>
            </a:r>
            <a:endParaRPr lang="en-US" altLang="zh-CN" sz="1800" b="1" dirty="0" smtClean="0">
              <a:latin typeface="Cambria"/>
              <a:ea typeface="宋体"/>
              <a:cs typeface="Times New Roman"/>
            </a:endParaRPr>
          </a:p>
          <a:p>
            <a:pPr algn="l" latinLnBrk="1">
              <a:spcBef>
                <a:spcPts val="900"/>
              </a:spcBef>
              <a:spcAft>
                <a:spcPts val="900"/>
              </a:spcAft>
            </a:pP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library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 err="1">
                <a:latin typeface="Consolas"/>
                <a:ea typeface="宋体"/>
                <a:cs typeface="Times New Roman"/>
              </a:rPr>
              <a:t>actuar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1400" b="1" dirty="0">
                <a:latin typeface="Consolas"/>
                <a:ea typeface="宋体"/>
                <a:cs typeface="Times New Roman"/>
              </a:rPr>
            </a:b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par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mfrow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3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))</a:t>
            </a:r>
            <a:br>
              <a:rPr lang="en-US" altLang="zh-CN" sz="1400" b="1" dirty="0">
                <a:latin typeface="Consolas"/>
                <a:ea typeface="宋体"/>
                <a:cs typeface="Times New Roman"/>
              </a:rPr>
            </a:br>
            <a:r>
              <a:rPr lang="en-US" altLang="zh-CN" sz="1400" b="1" dirty="0" err="1">
                <a:latin typeface="Consolas"/>
                <a:ea typeface="宋体"/>
                <a:cs typeface="Times New Roman"/>
              </a:rPr>
              <a:t>sev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 err="1" smtClean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dnbinom</a:t>
            </a:r>
            <a:r>
              <a:rPr lang="en-US" altLang="zh-CN" sz="1400" b="1" dirty="0" smtClean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400" b="1" dirty="0" smtClean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5</a:t>
            </a:r>
            <a:r>
              <a:rPr lang="en-US" altLang="zh-CN" sz="1400" b="1" dirty="0" smtClean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size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prob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0.3</a:t>
            </a:r>
            <a:r>
              <a:rPr lang="en-US" altLang="zh-CN" sz="1400" b="1" dirty="0" smtClean="0">
                <a:latin typeface="Consolas"/>
                <a:ea typeface="宋体"/>
                <a:cs typeface="Times New Roman"/>
              </a:rPr>
              <a:t>)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/>
            </a:r>
            <a:br>
              <a:rPr lang="en-US" altLang="zh-CN" sz="1400" b="1" dirty="0">
                <a:latin typeface="Consolas"/>
                <a:ea typeface="宋体"/>
                <a:cs typeface="Times New Roman"/>
              </a:rPr>
            </a:br>
            <a:r>
              <a:rPr lang="en-US" altLang="zh-CN" sz="1400" b="1" dirty="0" err="1">
                <a:latin typeface="Consolas"/>
                <a:ea typeface="宋体"/>
                <a:cs typeface="Times New Roman"/>
              </a:rPr>
              <a:t>Fs1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aggregateDist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method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"recursive"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model.freq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</a:t>
            </a:r>
            <a:r>
              <a:rPr lang="en-US" altLang="zh-CN" sz="1400" b="1" dirty="0" err="1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poisson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model.sev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 err="1">
                <a:latin typeface="Consolas"/>
                <a:ea typeface="宋体"/>
                <a:cs typeface="Times New Roman"/>
              </a:rPr>
              <a:t>sev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lambda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1400" b="1" dirty="0">
                <a:latin typeface="Consolas"/>
                <a:ea typeface="宋体"/>
                <a:cs typeface="Times New Roman"/>
              </a:rPr>
            </a:b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plot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dpois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10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),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type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"h"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col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xlab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ylab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main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</a:t>
            </a:r>
            <a:r>
              <a:rPr lang="en-US" altLang="zh-CN" sz="1400" b="1" dirty="0" err="1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poisson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1400" b="1" dirty="0">
                <a:latin typeface="Consolas"/>
                <a:ea typeface="宋体"/>
                <a:cs typeface="Times New Roman"/>
              </a:rPr>
            </a:b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plot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50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dnbinom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: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50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size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4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prob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0.3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),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type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"h"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col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xlab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ylab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main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"negative binomial"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)</a:t>
            </a:r>
            <a:br>
              <a:rPr lang="en-US" altLang="zh-CN" sz="1400" b="1" dirty="0">
                <a:latin typeface="Consolas"/>
                <a:ea typeface="宋体"/>
                <a:cs typeface="Times New Roman"/>
              </a:rPr>
            </a:b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plot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diff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 err="1">
                <a:latin typeface="Consolas"/>
                <a:ea typeface="宋体"/>
                <a:cs typeface="Times New Roman"/>
              </a:rPr>
              <a:t>Fs1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),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type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"h"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col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2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xlab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ylab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 err="1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xlim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c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(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, </a:t>
            </a:r>
            <a:r>
              <a:rPr lang="en-US" altLang="zh-CN" sz="1400" b="1" dirty="0">
                <a:solidFill>
                  <a:srgbClr val="0000CF"/>
                </a:solidFill>
                <a:latin typeface="Consolas"/>
                <a:ea typeface="宋体"/>
                <a:cs typeface="Times New Roman"/>
              </a:rPr>
              <a:t>50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), </a:t>
            </a:r>
            <a:r>
              <a:rPr lang="en-US" altLang="zh-CN" sz="1400" b="1" dirty="0">
                <a:solidFill>
                  <a:srgbClr val="204A87"/>
                </a:solidFill>
                <a:latin typeface="Consolas"/>
                <a:ea typeface="宋体"/>
                <a:cs typeface="Times New Roman"/>
              </a:rPr>
              <a:t>main =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 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"</a:t>
            </a:r>
            <a:r>
              <a:rPr lang="en-US" altLang="zh-CN" sz="1400" b="1" dirty="0" err="1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poisson</a:t>
            </a:r>
            <a:r>
              <a:rPr lang="en-US" altLang="zh-CN" sz="1400" b="1" dirty="0">
                <a:solidFill>
                  <a:srgbClr val="4E9A06"/>
                </a:solidFill>
                <a:latin typeface="Consolas"/>
                <a:ea typeface="宋体"/>
                <a:cs typeface="Times New Roman"/>
              </a:rPr>
              <a:t>-negative binomial"</a:t>
            </a:r>
            <a:r>
              <a:rPr lang="en-US" altLang="zh-CN" sz="1400" b="1" dirty="0">
                <a:latin typeface="Consolas"/>
                <a:ea typeface="宋体"/>
                <a:cs typeface="Times New Roman"/>
              </a:rPr>
              <a:t>)</a:t>
            </a:r>
            <a:endParaRPr lang="zh-CN" altLang="zh-CN" sz="1400" b="1" dirty="0">
              <a:latin typeface="Consolas"/>
              <a:ea typeface="宋体"/>
              <a:cs typeface="Times New Roman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</a:pPr>
            <a:endParaRPr lang="zh-CN" altLang="zh-CN" sz="1800" b="1" dirty="0">
              <a:effectLst/>
              <a:latin typeface="Cambria"/>
              <a:ea typeface="宋体"/>
              <a:cs typeface="Times New Roman"/>
            </a:endParaRPr>
          </a:p>
        </p:txBody>
      </p:sp>
      <p:pic>
        <p:nvPicPr>
          <p:cNvPr id="4" name="Picture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90694" y="3581397"/>
            <a:ext cx="7162612" cy="266693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982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110" y="740212"/>
            <a:ext cx="8616834" cy="777875"/>
          </a:xfrm>
        </p:spPr>
        <p:txBody>
          <a:bodyPr/>
          <a:lstStyle/>
          <a:p>
            <a:pPr eaLnBrk="1" hangingPunct="1"/>
            <a:r>
              <a:rPr lang="zh-CN" altLang="en-US" sz="3200" dirty="0" smtClean="0">
                <a:solidFill>
                  <a:schemeClr val="accent2"/>
                </a:solidFill>
              </a:rPr>
              <a:t>定理 </a:t>
            </a:r>
            <a:r>
              <a:rPr lang="en-US" altLang="zh-CN" sz="3200" dirty="0" smtClean="0">
                <a:solidFill>
                  <a:schemeClr val="accent2"/>
                </a:solidFill>
              </a:rPr>
              <a:t>2</a:t>
            </a:r>
            <a:r>
              <a:rPr lang="zh-CN" altLang="en-US" sz="3200" dirty="0" smtClean="0">
                <a:solidFill>
                  <a:schemeClr val="accent2"/>
                </a:solidFill>
              </a:rPr>
              <a:t>：如何计算复合分布的概率（递推公式</a:t>
            </a:r>
            <a:r>
              <a:rPr lang="en-US" altLang="zh-CN" sz="3200" dirty="0" smtClean="0">
                <a:solidFill>
                  <a:schemeClr val="accent2"/>
                </a:solidFill>
              </a:rPr>
              <a:t>2</a:t>
            </a:r>
            <a:r>
              <a:rPr lang="zh-CN" altLang="en-US" sz="3200" dirty="0" smtClean="0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768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93A33BA-241E-4CC2-882F-9CB03AD5039D}" type="slidenum">
              <a:rPr lang="zh-CN" altLang="en-US" sz="1400" b="1"/>
              <a:pPr eaLnBrk="1" hangingPunct="1"/>
              <a:t>61</a:t>
            </a:fld>
            <a:endParaRPr lang="en-US" altLang="zh-CN" sz="1400" b="1"/>
          </a:p>
        </p:txBody>
      </p:sp>
      <p:sp>
        <p:nvSpPr>
          <p:cNvPr id="76804" name="Rectangle 3"/>
          <p:cNvSpPr>
            <a:spLocks noChangeArrowheads="1"/>
          </p:cNvSpPr>
          <p:nvPr/>
        </p:nvSpPr>
        <p:spPr bwMode="auto">
          <a:xfrm>
            <a:off x="92876" y="1734264"/>
            <a:ext cx="905112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algn="l"/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定理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：如果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属于（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）分布类，则复合分布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S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的概率</a:t>
            </a:r>
            <a:r>
              <a:rPr lang="zh-CN" altLang="en-US" sz="2400" b="1" dirty="0"/>
              <a:t>可以通过下述递推公式计算：</a:t>
            </a:r>
          </a:p>
        </p:txBody>
      </p:sp>
      <p:graphicFrame>
        <p:nvGraphicFramePr>
          <p:cNvPr id="7680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099113"/>
              </p:ext>
            </p:extLst>
          </p:nvPr>
        </p:nvGraphicFramePr>
        <p:xfrm>
          <a:off x="457308" y="2781438"/>
          <a:ext cx="7815263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867" name="Equation" r:id="rId3" imgW="4152600" imgH="482400" progId="Equation.DSMT4">
                  <p:embed/>
                </p:oleObj>
              </mc:Choice>
              <mc:Fallback>
                <p:oleObj name="Equation" r:id="rId3" imgW="4152600" imgH="482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08" y="2781438"/>
                        <a:ext cx="7815263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6" name="Text Box 5"/>
          <p:cNvSpPr txBox="1">
            <a:spLocks noChangeArrowheads="1"/>
          </p:cNvSpPr>
          <p:nvPr/>
        </p:nvSpPr>
        <p:spPr bwMode="auto">
          <a:xfrm>
            <a:off x="457308" y="4103689"/>
            <a:ext cx="64953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fontAlgn="base" hangingPunct="1"/>
            <a:r>
              <a:rPr lang="zh-CN" altLang="en-US" sz="1800" b="1"/>
              <a:t>其中</a:t>
            </a:r>
          </a:p>
        </p:txBody>
      </p:sp>
      <p:graphicFrame>
        <p:nvGraphicFramePr>
          <p:cNvPr id="7680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442352"/>
              </p:ext>
            </p:extLst>
          </p:nvPr>
        </p:nvGraphicFramePr>
        <p:xfrm>
          <a:off x="1291610" y="4036459"/>
          <a:ext cx="17272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868" r:id="rId5" imgW="901700" imgH="228600" progId="Equation.DSMT4">
                  <p:embed/>
                </p:oleObj>
              </mc:Choice>
              <mc:Fallback>
                <p:oleObj r:id="rId5" imgW="9017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1610" y="4036459"/>
                        <a:ext cx="17272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8" name="Rectangle 7"/>
          <p:cNvSpPr>
            <a:spLocks noChangeArrowheads="1"/>
          </p:cNvSpPr>
          <p:nvPr/>
        </p:nvSpPr>
        <p:spPr bwMode="auto">
          <a:xfrm>
            <a:off x="3139564" y="4049337"/>
            <a:ext cx="48301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fontAlgn="base"/>
            <a:r>
              <a:rPr lang="zh-CN" altLang="en-US" sz="1800" b="1" dirty="0">
                <a:latin typeface="Times New Roman" pitchFamily="18" charset="0"/>
              </a:rPr>
              <a:t>是首分布的概率函数，</a:t>
            </a:r>
            <a:r>
              <a:rPr lang="en-US" altLang="zh-CN" sz="1800" b="1" i="1" dirty="0">
                <a:latin typeface="Times New Roman" pitchFamily="18" charset="0"/>
              </a:rPr>
              <a:t>a </a:t>
            </a:r>
            <a:r>
              <a:rPr lang="zh-CN" altLang="en-US" sz="1800" b="1" dirty="0">
                <a:latin typeface="Times New Roman" pitchFamily="18" charset="0"/>
              </a:rPr>
              <a:t>和 </a:t>
            </a:r>
            <a:r>
              <a:rPr lang="en-US" altLang="zh-CN" sz="1800" b="1" i="1" dirty="0">
                <a:latin typeface="Times New Roman" pitchFamily="18" charset="0"/>
              </a:rPr>
              <a:t>b </a:t>
            </a:r>
            <a:r>
              <a:rPr lang="zh-CN" altLang="en-US" sz="1800" b="1" dirty="0">
                <a:latin typeface="Times New Roman" pitchFamily="18" charset="0"/>
              </a:rPr>
              <a:t>由首分布决定。 </a:t>
            </a:r>
          </a:p>
        </p:txBody>
      </p:sp>
      <p:graphicFrame>
        <p:nvGraphicFramePr>
          <p:cNvPr id="7680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5950408"/>
              </p:ext>
            </p:extLst>
          </p:nvPr>
        </p:nvGraphicFramePr>
        <p:xfrm>
          <a:off x="1291610" y="4892578"/>
          <a:ext cx="162877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869" name="Equation" r:id="rId7" imgW="939600" imgH="241200" progId="Equation.DSMT4">
                  <p:embed/>
                </p:oleObj>
              </mc:Choice>
              <mc:Fallback>
                <p:oleObj name="Equation" r:id="rId7" imgW="93960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1610" y="4892578"/>
                        <a:ext cx="162877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0" name="Rectangle 9"/>
          <p:cNvSpPr>
            <a:spLocks noChangeArrowheads="1"/>
          </p:cNvSpPr>
          <p:nvPr/>
        </p:nvSpPr>
        <p:spPr bwMode="auto">
          <a:xfrm>
            <a:off x="3139564" y="4896975"/>
            <a:ext cx="257314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fontAlgn="base"/>
            <a:r>
              <a:rPr lang="zh-CN" altLang="en-US" sz="1800" b="1" dirty="0"/>
              <a:t>是次分布的概率函数。 </a:t>
            </a:r>
          </a:p>
        </p:txBody>
      </p:sp>
      <p:sp>
        <p:nvSpPr>
          <p:cNvPr id="76811" name="Rectangle 10"/>
          <p:cNvSpPr>
            <a:spLocks noChangeArrowheads="1"/>
          </p:cNvSpPr>
          <p:nvPr/>
        </p:nvSpPr>
        <p:spPr bwMode="auto">
          <a:xfrm>
            <a:off x="0" y="5659716"/>
            <a:ext cx="68563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fontAlgn="base"/>
            <a:r>
              <a:rPr lang="zh-CN" altLang="en-US" sz="1800" b="1" dirty="0">
                <a:latin typeface="Times New Roman" pitchFamily="18" charset="0"/>
              </a:rPr>
              <a:t>注意：如果</a:t>
            </a:r>
            <a:r>
              <a:rPr lang="zh-CN" altLang="en-US" sz="1800" b="1" dirty="0" smtClean="0">
                <a:latin typeface="Times New Roman" pitchFamily="18" charset="0"/>
              </a:rPr>
              <a:t>把 </a:t>
            </a:r>
            <a:r>
              <a:rPr lang="en-US" altLang="zh-CN" sz="1800" b="1" i="1" dirty="0" smtClean="0">
                <a:latin typeface="Times New Roman" pitchFamily="18" charset="0"/>
              </a:rPr>
              <a:t>N </a:t>
            </a:r>
            <a:r>
              <a:rPr lang="zh-CN" altLang="en-US" sz="1800" b="1" dirty="0">
                <a:latin typeface="Times New Roman" pitchFamily="18" charset="0"/>
              </a:rPr>
              <a:t>限制在（</a:t>
            </a:r>
            <a:r>
              <a:rPr lang="en-US" altLang="zh-CN" sz="1800" b="1" i="1" dirty="0">
                <a:latin typeface="Times New Roman" pitchFamily="18" charset="0"/>
              </a:rPr>
              <a:t>a</a:t>
            </a:r>
            <a:r>
              <a:rPr lang="zh-CN" altLang="en-US" sz="1800" b="1" dirty="0">
                <a:latin typeface="Times New Roman" pitchFamily="18" charset="0"/>
              </a:rPr>
              <a:t>，</a:t>
            </a:r>
            <a:r>
              <a:rPr lang="en-US" altLang="zh-CN" sz="1800" b="1" i="1" dirty="0">
                <a:latin typeface="Times New Roman" pitchFamily="18" charset="0"/>
              </a:rPr>
              <a:t>b</a:t>
            </a:r>
            <a:r>
              <a:rPr lang="zh-CN" altLang="en-US" sz="1800" b="1" dirty="0">
                <a:latin typeface="Times New Roman" pitchFamily="18" charset="0"/>
              </a:rPr>
              <a:t>，</a:t>
            </a:r>
            <a:r>
              <a:rPr lang="en-US" altLang="zh-CN" sz="1800" b="1" dirty="0">
                <a:latin typeface="Times New Roman" pitchFamily="18" charset="0"/>
              </a:rPr>
              <a:t>0</a:t>
            </a:r>
            <a:r>
              <a:rPr lang="zh-CN" altLang="en-US" sz="1800" b="1" dirty="0">
                <a:latin typeface="Times New Roman" pitchFamily="18" charset="0"/>
              </a:rPr>
              <a:t>）分布类，则上述递推公式中的 </a:t>
            </a:r>
          </a:p>
        </p:txBody>
      </p:sp>
      <p:graphicFrame>
        <p:nvGraphicFramePr>
          <p:cNvPr id="768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2518373"/>
              </p:ext>
            </p:extLst>
          </p:nvPr>
        </p:nvGraphicFramePr>
        <p:xfrm>
          <a:off x="6708683" y="5659716"/>
          <a:ext cx="136842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1870" r:id="rId9" imgW="863600" imgH="228600" progId="Equation.DSMT4">
                  <p:embed/>
                </p:oleObj>
              </mc:Choice>
              <mc:Fallback>
                <p:oleObj r:id="rId9" imgW="863600" imgH="2286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8683" y="5659716"/>
                        <a:ext cx="1368425" cy="360363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solidFill>
                          <a:schemeClr val="accent1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60" name="Rectangle 12"/>
          <p:cNvSpPr>
            <a:spLocks noChangeArrowheads="1"/>
          </p:cNvSpPr>
          <p:nvPr/>
        </p:nvSpPr>
        <p:spPr bwMode="auto">
          <a:xfrm>
            <a:off x="7956550" y="5659716"/>
            <a:ext cx="14109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fontAlgn="base"/>
            <a:r>
              <a:rPr lang="zh-CN" altLang="en-US" sz="1800" b="1"/>
              <a:t>将等于零。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60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62</a:t>
            </a:fld>
            <a:endParaRPr lang="en-US" altLang="zh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/>
              <p:cNvSpPr/>
              <p:nvPr/>
            </p:nvSpPr>
            <p:spPr>
              <a:xfrm>
                <a:off x="457308" y="533476"/>
                <a:ext cx="8381780" cy="38549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zh-CN" altLang="zh-CN" sz="2400" b="1" dirty="0">
                    <a:latin typeface="Cambria"/>
                    <a:ea typeface="宋体"/>
                    <a:cs typeface="Times New Roman"/>
                  </a:rPr>
                  <a:t>例：</a:t>
                </a:r>
                <a:r>
                  <a:rPr lang="zh-CN" altLang="zh-CN" sz="2400" b="1" dirty="0">
                    <a:effectLst/>
                    <a:latin typeface="Cambria"/>
                    <a:ea typeface="宋体"/>
                    <a:cs typeface="Times New Roman"/>
                  </a:rPr>
                  <a:t>假设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𝐍</m:t>
                    </m:r>
                  </m:oMath>
                </a14:m>
                <a:r>
                  <a:rPr lang="zh-CN" altLang="zh-CN" sz="2400" b="1" dirty="0">
                    <a:effectLst/>
                    <a:latin typeface="Cambria"/>
                    <a:ea typeface="宋体"/>
                    <a:cs typeface="Times New Roman"/>
                  </a:rPr>
                  <a:t>服从参数为</a:t>
                </a:r>
                <a14:m>
                  <m:oMath xmlns:m="http://schemas.openxmlformats.org/officeDocument/2006/math"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(</m:t>
                    </m:r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𝐫</m:t>
                    </m:r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𝟐</m:t>
                    </m:r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,</m:t>
                    </m:r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𝐩</m:t>
                    </m:r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𝟎</m:t>
                    </m:r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.</m:t>
                    </m:r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𝟓</m:t>
                    </m:r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)</m:t>
                    </m:r>
                  </m:oMath>
                </a14:m>
                <a:r>
                  <a:rPr lang="zh-CN" altLang="zh-CN" sz="2400" b="1" dirty="0">
                    <a:effectLst/>
                    <a:latin typeface="Cambria"/>
                    <a:ea typeface="宋体"/>
                    <a:cs typeface="Times New Roman"/>
                  </a:rPr>
                  <a:t>的零截断负二项分布</a:t>
                </a:r>
                <a:r>
                  <a:rPr lang="zh-CN" altLang="zh-CN" sz="2400" b="1" dirty="0" smtClean="0">
                    <a:effectLst/>
                    <a:latin typeface="Cambria"/>
                    <a:ea typeface="宋体"/>
                    <a:cs typeface="Times New Roman"/>
                  </a:rPr>
                  <a:t>，</a:t>
                </a:r>
                <a:r>
                  <a:rPr lang="en-US" altLang="zh-CN" sz="2400" b="1" dirty="0" smtClean="0">
                    <a:effectLst/>
                    <a:latin typeface="Cambria"/>
                    <a:ea typeface="宋体"/>
                    <a:cs typeface="Times New Roman"/>
                  </a:rPr>
                  <a:t>X</a:t>
                </a:r>
                <a:r>
                  <a:rPr lang="zh-CN" altLang="zh-CN" sz="2400" b="1" dirty="0" smtClean="0">
                    <a:effectLst/>
                    <a:latin typeface="Cambria"/>
                    <a:ea typeface="宋体"/>
                    <a:cs typeface="Times New Roman"/>
                  </a:rPr>
                  <a:t>服从</a:t>
                </a:r>
                <a:r>
                  <a:rPr lang="zh-CN" altLang="zh-CN" sz="2400" b="1" dirty="0">
                    <a:effectLst/>
                    <a:latin typeface="Cambria"/>
                    <a:ea typeface="宋体"/>
                    <a:cs typeface="Times New Roman"/>
                  </a:rPr>
                  <a:t>参数为</a:t>
                </a:r>
                <a14:m>
                  <m:oMath xmlns:m="http://schemas.openxmlformats.org/officeDocument/2006/math"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(</m:t>
                    </m:r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𝐫</m:t>
                    </m:r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𝟒</m:t>
                    </m:r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,</m:t>
                    </m:r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𝐩</m:t>
                    </m:r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𝟎</m:t>
                    </m:r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.</m:t>
                    </m:r>
                    <m:r>
                      <a:rPr lang="en-US" altLang="zh-CN" sz="2400" b="1" i="1">
                        <a:effectLst/>
                        <a:latin typeface="Cambria Math"/>
                        <a:ea typeface="宋体"/>
                        <a:cs typeface="Times New Roman"/>
                      </a:rPr>
                      <m:t>𝟕</m:t>
                    </m:r>
                    <m:r>
                      <a:rPr lang="en-US" altLang="zh-CN" sz="2400" b="1">
                        <a:effectLst/>
                        <a:latin typeface="Cambria Math"/>
                        <a:ea typeface="宋体"/>
                        <a:cs typeface="Times New Roman"/>
                      </a:rPr>
                      <m:t>)</m:t>
                    </m:r>
                  </m:oMath>
                </a14:m>
                <a:r>
                  <a:rPr lang="zh-CN" altLang="zh-CN" sz="2400" b="1" dirty="0">
                    <a:effectLst/>
                    <a:latin typeface="Cambria"/>
                    <a:ea typeface="宋体"/>
                    <a:cs typeface="Times New Roman"/>
                  </a:rPr>
                  <a:t>的</a:t>
                </a:r>
                <a:r>
                  <a:rPr lang="zh-CN" altLang="zh-CN" sz="2400" b="1" dirty="0" smtClean="0">
                    <a:effectLst/>
                    <a:latin typeface="Cambria"/>
                    <a:ea typeface="宋体"/>
                    <a:cs typeface="Times New Roman"/>
                  </a:rPr>
                  <a:t>负二项分布</a:t>
                </a:r>
                <a:r>
                  <a:rPr lang="zh-CN" altLang="en-US" sz="2400" b="1" dirty="0">
                    <a:latin typeface="Cambria"/>
                    <a:ea typeface="宋体"/>
                    <a:cs typeface="Times New Roman"/>
                  </a:rPr>
                  <a:t>。</a:t>
                </a:r>
                <a:r>
                  <a:rPr lang="zh-CN" altLang="zh-CN" sz="2400" b="1" dirty="0" smtClean="0">
                    <a:effectLst/>
                    <a:latin typeface="Cambria"/>
                    <a:ea typeface="宋体"/>
                    <a:cs typeface="Times New Roman"/>
                  </a:rPr>
                  <a:t>求</a:t>
                </a:r>
                <a:r>
                  <a:rPr lang="en-US" altLang="zh-CN" sz="2400" b="1" dirty="0">
                    <a:effectLst/>
                    <a:latin typeface="Cambria"/>
                    <a:ea typeface="宋体"/>
                    <a:cs typeface="Times New Roman"/>
                  </a:rPr>
                  <a:t>S</a:t>
                </a:r>
                <a:r>
                  <a:rPr lang="zh-CN" altLang="zh-CN" sz="2400" b="1" dirty="0" smtClean="0">
                    <a:effectLst/>
                    <a:latin typeface="Cambria"/>
                    <a:ea typeface="宋体"/>
                    <a:cs typeface="Times New Roman"/>
                  </a:rPr>
                  <a:t>的</a:t>
                </a:r>
                <a:r>
                  <a:rPr lang="zh-CN" altLang="en-US" sz="2400" b="1" dirty="0" smtClean="0">
                    <a:effectLst/>
                    <a:latin typeface="Cambria"/>
                    <a:ea typeface="宋体"/>
                    <a:cs typeface="Times New Roman"/>
                  </a:rPr>
                  <a:t>分布</a:t>
                </a:r>
                <a:r>
                  <a:rPr lang="zh-CN" altLang="zh-CN" sz="2400" b="1" dirty="0" smtClean="0">
                    <a:effectLst/>
                    <a:latin typeface="Cambria"/>
                    <a:ea typeface="宋体"/>
                    <a:cs typeface="Times New Roman"/>
                  </a:rPr>
                  <a:t>。</a:t>
                </a:r>
                <a:endParaRPr lang="zh-CN" altLang="zh-CN" sz="2400" b="1" dirty="0">
                  <a:effectLst/>
                  <a:latin typeface="Cambria"/>
                  <a:ea typeface="宋体"/>
                  <a:cs typeface="Times New Roman"/>
                </a:endParaRPr>
              </a:p>
              <a:p>
                <a:pPr algn="l">
                  <a:lnSpc>
                    <a:spcPct val="150000"/>
                  </a:lnSpc>
                </a:pPr>
                <a:r>
                  <a:rPr lang="en-US" altLang="zh-CN" sz="1800" b="1" dirty="0" smtClean="0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library</a:t>
                </a:r>
                <a:r>
                  <a:rPr lang="en-US" altLang="zh-CN" sz="1800" b="1" dirty="0" smtClean="0">
                    <a:effectLst/>
                    <a:latin typeface="Consolas"/>
                    <a:ea typeface="宋体"/>
                    <a:cs typeface="Times New Roman"/>
                  </a:rPr>
                  <a:t>(</a:t>
                </a:r>
                <a:r>
                  <a:rPr lang="en-US" altLang="zh-CN" sz="1800" b="1" dirty="0" err="1" smtClean="0">
                    <a:effectLst/>
                    <a:latin typeface="Consolas"/>
                    <a:ea typeface="宋体"/>
                    <a:cs typeface="Times New Roman"/>
                  </a:rPr>
                  <a:t>actuar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)</a:t>
                </a:r>
                <a:r>
                  <a:rPr lang="en-US" altLang="zh-CN" sz="1800" b="1" dirty="0">
                    <a:effectLst/>
                    <a:latin typeface="Cambria"/>
                    <a:ea typeface="宋体"/>
                    <a:cs typeface="Times New Roman"/>
                  </a:rPr>
                  <a:t/>
                </a:r>
                <a:br>
                  <a:rPr lang="en-US" altLang="zh-CN" sz="1800" b="1" dirty="0">
                    <a:effectLst/>
                    <a:latin typeface="Cambria"/>
                    <a:ea typeface="宋体"/>
                    <a:cs typeface="Times New Roman"/>
                  </a:rPr>
                </a:br>
                <a:r>
                  <a:rPr lang="en-US" altLang="zh-CN" sz="1800" b="1" dirty="0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par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(</a:t>
                </a:r>
                <a:r>
                  <a:rPr lang="en-US" altLang="zh-CN" sz="1800" b="1" dirty="0" err="1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mfrow</a:t>
                </a:r>
                <a:r>
                  <a:rPr lang="en-US" altLang="zh-CN" sz="1800" b="1" dirty="0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 =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c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(</a:t>
                </a:r>
                <a:r>
                  <a:rPr lang="en-US" altLang="zh-CN" sz="1800" b="1" dirty="0">
                    <a:solidFill>
                      <a:srgbClr val="0000CF"/>
                    </a:solidFill>
                    <a:effectLst/>
                    <a:latin typeface="Consolas"/>
                    <a:ea typeface="宋体"/>
                    <a:cs typeface="Times New Roman"/>
                  </a:rPr>
                  <a:t>1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, </a:t>
                </a:r>
                <a:r>
                  <a:rPr lang="en-US" altLang="zh-CN" sz="1800" b="1" dirty="0">
                    <a:solidFill>
                      <a:srgbClr val="0000CF"/>
                    </a:solidFill>
                    <a:effectLst/>
                    <a:latin typeface="Consolas"/>
                    <a:ea typeface="宋体"/>
                    <a:cs typeface="Times New Roman"/>
                  </a:rPr>
                  <a:t>3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))</a:t>
                </a:r>
                <a:r>
                  <a:rPr lang="en-US" altLang="zh-CN" sz="1800" b="1" dirty="0">
                    <a:effectLst/>
                    <a:latin typeface="Cambria"/>
                    <a:ea typeface="宋体"/>
                    <a:cs typeface="Times New Roman"/>
                  </a:rPr>
                  <a:t/>
                </a:r>
                <a:br>
                  <a:rPr lang="en-US" altLang="zh-CN" sz="1800" b="1" dirty="0">
                    <a:effectLst/>
                    <a:latin typeface="Cambria"/>
                    <a:ea typeface="宋体"/>
                    <a:cs typeface="Times New Roman"/>
                  </a:rPr>
                </a:br>
                <a:r>
                  <a:rPr lang="en-US" altLang="zh-CN" sz="1800" b="1" dirty="0" err="1">
                    <a:effectLst/>
                    <a:latin typeface="Consolas"/>
                    <a:ea typeface="宋体"/>
                    <a:cs typeface="Times New Roman"/>
                  </a:rPr>
                  <a:t>r1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=</a:t>
                </a:r>
                <a:r>
                  <a:rPr lang="en-US" altLang="zh-CN" sz="1800" b="1" dirty="0">
                    <a:solidFill>
                      <a:srgbClr val="4E9A06"/>
                    </a:solidFill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 smtClean="0">
                    <a:solidFill>
                      <a:srgbClr val="0000CF"/>
                    </a:solidFill>
                    <a:effectLst/>
                    <a:latin typeface="Consolas"/>
                    <a:ea typeface="宋体"/>
                    <a:cs typeface="Times New Roman"/>
                  </a:rPr>
                  <a:t>2; </a:t>
                </a:r>
                <a:r>
                  <a:rPr lang="en-US" altLang="zh-CN" sz="1800" b="1" dirty="0" err="1" smtClean="0">
                    <a:effectLst/>
                    <a:latin typeface="Consolas"/>
                    <a:ea typeface="宋体"/>
                    <a:cs typeface="Times New Roman"/>
                  </a:rPr>
                  <a:t>p1</a:t>
                </a:r>
                <a:r>
                  <a:rPr lang="en-US" altLang="zh-CN" sz="1800" b="1" dirty="0" smtClean="0"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=</a:t>
                </a:r>
                <a:r>
                  <a:rPr lang="en-US" altLang="zh-CN" sz="1800" b="1" dirty="0">
                    <a:solidFill>
                      <a:srgbClr val="4E9A06"/>
                    </a:solidFill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>
                    <a:solidFill>
                      <a:srgbClr val="0000CF"/>
                    </a:solidFill>
                    <a:effectLst/>
                    <a:latin typeface="Consolas"/>
                    <a:ea typeface="宋体"/>
                    <a:cs typeface="Times New Roman"/>
                  </a:rPr>
                  <a:t>0.5</a:t>
                </a:r>
                <a:r>
                  <a:rPr lang="en-US" altLang="zh-CN" sz="1800" b="1" dirty="0">
                    <a:effectLst/>
                    <a:latin typeface="Cambria"/>
                    <a:ea typeface="宋体"/>
                    <a:cs typeface="Times New Roman"/>
                  </a:rPr>
                  <a:t/>
                </a:r>
                <a:br>
                  <a:rPr lang="en-US" altLang="zh-CN" sz="1800" b="1" dirty="0">
                    <a:effectLst/>
                    <a:latin typeface="Cambria"/>
                    <a:ea typeface="宋体"/>
                    <a:cs typeface="Times New Roman"/>
                  </a:rPr>
                </a:br>
                <a:r>
                  <a:rPr lang="en-US" altLang="zh-CN" sz="1800" b="1" dirty="0" err="1">
                    <a:effectLst/>
                    <a:latin typeface="Consolas"/>
                    <a:ea typeface="宋体"/>
                    <a:cs typeface="Times New Roman"/>
                  </a:rPr>
                  <a:t>r2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=</a:t>
                </a:r>
                <a:r>
                  <a:rPr lang="en-US" altLang="zh-CN" sz="1800" b="1" dirty="0">
                    <a:solidFill>
                      <a:srgbClr val="4E9A06"/>
                    </a:solidFill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 smtClean="0">
                    <a:solidFill>
                      <a:srgbClr val="0000CF"/>
                    </a:solidFill>
                    <a:effectLst/>
                    <a:latin typeface="Consolas"/>
                    <a:ea typeface="宋体"/>
                    <a:cs typeface="Times New Roman"/>
                  </a:rPr>
                  <a:t>4; </a:t>
                </a:r>
                <a:r>
                  <a:rPr lang="en-US" altLang="zh-CN" sz="1800" b="1" dirty="0" err="1" smtClean="0">
                    <a:effectLst/>
                    <a:latin typeface="Consolas"/>
                    <a:ea typeface="宋体"/>
                    <a:cs typeface="Times New Roman"/>
                  </a:rPr>
                  <a:t>p2</a:t>
                </a:r>
                <a:r>
                  <a:rPr lang="en-US" altLang="zh-CN" sz="1800" b="1" dirty="0" smtClean="0"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=</a:t>
                </a:r>
                <a:r>
                  <a:rPr lang="en-US" altLang="zh-CN" sz="1800" b="1" dirty="0">
                    <a:solidFill>
                      <a:srgbClr val="4E9A06"/>
                    </a:solidFill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>
                    <a:solidFill>
                      <a:srgbClr val="0000CF"/>
                    </a:solidFill>
                    <a:effectLst/>
                    <a:latin typeface="Consolas"/>
                    <a:ea typeface="宋体"/>
                    <a:cs typeface="Times New Roman"/>
                  </a:rPr>
                  <a:t>0.7</a:t>
                </a:r>
                <a:r>
                  <a:rPr lang="en-US" altLang="zh-CN" sz="1800" b="1" dirty="0">
                    <a:effectLst/>
                    <a:latin typeface="Cambria"/>
                    <a:ea typeface="宋体"/>
                    <a:cs typeface="Times New Roman"/>
                  </a:rPr>
                  <a:t/>
                </a:r>
                <a:br>
                  <a:rPr lang="en-US" altLang="zh-CN" sz="1800" b="1" dirty="0">
                    <a:effectLst/>
                    <a:latin typeface="Cambria"/>
                    <a:ea typeface="宋体"/>
                    <a:cs typeface="Times New Roman"/>
                  </a:rPr>
                </a:br>
                <a:r>
                  <a:rPr lang="en-US" altLang="zh-CN" sz="1800" b="1" dirty="0" err="1">
                    <a:effectLst/>
                    <a:latin typeface="Consolas"/>
                    <a:ea typeface="宋体"/>
                    <a:cs typeface="Times New Roman"/>
                  </a:rPr>
                  <a:t>sev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=</a:t>
                </a:r>
                <a:r>
                  <a:rPr lang="en-US" altLang="zh-CN" sz="1800" b="1" dirty="0">
                    <a:solidFill>
                      <a:srgbClr val="4E9A06"/>
                    </a:solidFill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 err="1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dnbinom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(</a:t>
                </a:r>
                <a:r>
                  <a:rPr lang="en-US" altLang="zh-CN" sz="1800" b="1" dirty="0">
                    <a:solidFill>
                      <a:srgbClr val="0000CF"/>
                    </a:solidFill>
                    <a:effectLst/>
                    <a:latin typeface="Consolas"/>
                    <a:ea typeface="宋体"/>
                    <a:cs typeface="Times New Roman"/>
                  </a:rPr>
                  <a:t>0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:</a:t>
                </a:r>
                <a:r>
                  <a:rPr lang="en-US" altLang="zh-CN" sz="1800" b="1" dirty="0">
                    <a:solidFill>
                      <a:srgbClr val="0000CF"/>
                    </a:solidFill>
                    <a:effectLst/>
                    <a:latin typeface="Consolas"/>
                    <a:ea typeface="宋体"/>
                    <a:cs typeface="Times New Roman"/>
                  </a:rPr>
                  <a:t>100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, </a:t>
                </a:r>
                <a:r>
                  <a:rPr lang="en-US" altLang="zh-CN" sz="1800" b="1" dirty="0" err="1">
                    <a:effectLst/>
                    <a:latin typeface="Consolas"/>
                    <a:ea typeface="宋体"/>
                    <a:cs typeface="Times New Roman"/>
                  </a:rPr>
                  <a:t>r2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, </a:t>
                </a:r>
                <a:r>
                  <a:rPr lang="en-US" altLang="zh-CN" sz="1800" b="1" dirty="0" err="1">
                    <a:effectLst/>
                    <a:latin typeface="Consolas"/>
                    <a:ea typeface="宋体"/>
                    <a:cs typeface="Times New Roman"/>
                  </a:rPr>
                  <a:t>p2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)</a:t>
                </a:r>
                <a:r>
                  <a:rPr lang="en-US" altLang="zh-CN" sz="1800" b="1" dirty="0">
                    <a:effectLst/>
                    <a:latin typeface="Cambria"/>
                    <a:ea typeface="宋体"/>
                    <a:cs typeface="Times New Roman"/>
                  </a:rPr>
                  <a:t/>
                </a:r>
                <a:br>
                  <a:rPr lang="en-US" altLang="zh-CN" sz="1800" b="1" dirty="0">
                    <a:effectLst/>
                    <a:latin typeface="Cambria"/>
                    <a:ea typeface="宋体"/>
                    <a:cs typeface="Times New Roman"/>
                  </a:rPr>
                </a:br>
                <a:r>
                  <a:rPr lang="en-US" altLang="zh-CN" sz="1800" b="1" dirty="0" err="1">
                    <a:effectLst/>
                    <a:latin typeface="Consolas"/>
                    <a:ea typeface="宋体"/>
                    <a:cs typeface="Times New Roman"/>
                  </a:rPr>
                  <a:t>Fs1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=</a:t>
                </a:r>
                <a:r>
                  <a:rPr lang="en-US" altLang="zh-CN" sz="1800" b="1" dirty="0">
                    <a:solidFill>
                      <a:srgbClr val="4E9A06"/>
                    </a:solidFill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 err="1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aggregateDist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(</a:t>
                </a:r>
                <a:r>
                  <a:rPr lang="en-US" altLang="zh-CN" sz="1800" b="1" dirty="0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method =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>
                    <a:solidFill>
                      <a:srgbClr val="4E9A06"/>
                    </a:solidFill>
                    <a:effectLst/>
                    <a:latin typeface="Consolas"/>
                    <a:ea typeface="宋体"/>
                    <a:cs typeface="Times New Roman"/>
                  </a:rPr>
                  <a:t>"recursive"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, </a:t>
                </a:r>
                <a:r>
                  <a:rPr lang="en-US" altLang="zh-CN" sz="1800" b="1" dirty="0" err="1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model.freq</a:t>
                </a:r>
                <a:r>
                  <a:rPr lang="en-US" altLang="zh-CN" sz="1800" b="1" dirty="0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 =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>
                    <a:solidFill>
                      <a:srgbClr val="4E9A06"/>
                    </a:solidFill>
                    <a:effectLst/>
                    <a:latin typeface="Consolas"/>
                    <a:ea typeface="宋体"/>
                    <a:cs typeface="Times New Roman"/>
                  </a:rPr>
                  <a:t>"negative binomial"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, </a:t>
                </a:r>
                <a:r>
                  <a:rPr lang="en-US" altLang="zh-CN" sz="1800" b="1" dirty="0" err="1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model.sev</a:t>
                </a:r>
                <a:r>
                  <a:rPr lang="en-US" altLang="zh-CN" sz="1800" b="1" dirty="0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 =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 err="1">
                    <a:effectLst/>
                    <a:latin typeface="Consolas"/>
                    <a:ea typeface="宋体"/>
                    <a:cs typeface="Times New Roman"/>
                  </a:rPr>
                  <a:t>sev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, </a:t>
                </a:r>
                <a:r>
                  <a:rPr lang="en-US" altLang="zh-CN" sz="1800" b="1" dirty="0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size =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 err="1">
                    <a:effectLst/>
                    <a:latin typeface="Consolas"/>
                    <a:ea typeface="宋体"/>
                    <a:cs typeface="Times New Roman"/>
                  </a:rPr>
                  <a:t>r1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, </a:t>
                </a:r>
                <a:r>
                  <a:rPr lang="en-US" altLang="zh-CN" sz="1800" b="1" dirty="0" err="1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prob</a:t>
                </a:r>
                <a:r>
                  <a:rPr lang="en-US" altLang="zh-CN" sz="1800" b="1" dirty="0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 =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 err="1">
                    <a:effectLst/>
                    <a:latin typeface="Consolas"/>
                    <a:ea typeface="宋体"/>
                    <a:cs typeface="Times New Roman"/>
                  </a:rPr>
                  <a:t>p1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, </a:t>
                </a:r>
                <a:r>
                  <a:rPr lang="en-US" altLang="zh-CN" sz="1800" b="1" dirty="0" err="1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p0</a:t>
                </a:r>
                <a:r>
                  <a:rPr lang="en-US" altLang="zh-CN" sz="1800" b="1" dirty="0">
                    <a:solidFill>
                      <a:srgbClr val="204A87"/>
                    </a:solidFill>
                    <a:effectLst/>
                    <a:latin typeface="Consolas"/>
                    <a:ea typeface="宋体"/>
                    <a:cs typeface="Times New Roman"/>
                  </a:rPr>
                  <a:t> =</a:t>
                </a:r>
                <a:r>
                  <a:rPr lang="en-US" altLang="zh-CN" sz="1800" b="1" dirty="0">
                    <a:effectLst/>
                    <a:latin typeface="Consolas"/>
                    <a:ea typeface="宋体"/>
                    <a:cs typeface="Times New Roman"/>
                  </a:rPr>
                  <a:t> </a:t>
                </a:r>
                <a:r>
                  <a:rPr lang="en-US" altLang="zh-CN" sz="1800" b="1" dirty="0">
                    <a:solidFill>
                      <a:srgbClr val="0000CF"/>
                    </a:solidFill>
                    <a:effectLst/>
                    <a:latin typeface="Consolas"/>
                    <a:ea typeface="宋体"/>
                    <a:cs typeface="Times New Roman"/>
                  </a:rPr>
                  <a:t>0</a:t>
                </a:r>
                <a:r>
                  <a:rPr lang="en-US" altLang="zh-CN" sz="1800" b="1" dirty="0" smtClean="0">
                    <a:effectLst/>
                    <a:latin typeface="Consolas"/>
                    <a:ea typeface="宋体"/>
                    <a:cs typeface="Times New Roman"/>
                  </a:rPr>
                  <a:t>)</a:t>
                </a:r>
                <a:endParaRPr lang="zh-CN" altLang="en-US" sz="1800" b="1" dirty="0"/>
              </a:p>
            </p:txBody>
          </p:sp>
        </mc:Choice>
        <mc:Fallback xmlns=""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308" y="533476"/>
                <a:ext cx="8381780" cy="3854901"/>
              </a:xfrm>
              <a:prstGeom prst="rect">
                <a:avLst/>
              </a:prstGeom>
              <a:blipFill>
                <a:blip r:embed="rId2"/>
                <a:stretch>
                  <a:fillRect l="-1091" t="-1266" r="-1164" b="-15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"/>
          <p:cNvPicPr/>
          <p:nvPr/>
        </p:nvPicPr>
        <p:blipFill>
          <a:blip r:embed="rId3"/>
          <a:stretch>
            <a:fillRect/>
          </a:stretch>
        </p:blipFill>
        <p:spPr bwMode="auto">
          <a:xfrm>
            <a:off x="1295486" y="4291683"/>
            <a:ext cx="6705424" cy="257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66827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6318" y="-26567"/>
            <a:ext cx="8229600" cy="789140"/>
          </a:xfrm>
        </p:spPr>
        <p:txBody>
          <a:bodyPr/>
          <a:lstStyle/>
          <a:p>
            <a:r>
              <a:rPr lang="zh-CN" altLang="en-US" dirty="0">
                <a:solidFill>
                  <a:srgbClr val="0000FF"/>
                </a:solidFill>
                <a:latin typeface="Cambria"/>
                <a:cs typeface="Times New Roman"/>
              </a:rPr>
              <a:t>练习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152516" y="914466"/>
                <a:ext cx="8762770" cy="4382717"/>
              </a:xfrm>
            </p:spPr>
            <p:txBody>
              <a:bodyPr/>
              <a:lstStyle/>
              <a:p>
                <a:r>
                  <a:rPr lang="en-US" altLang="zh-CN" sz="2400" b="1" dirty="0">
                    <a:latin typeface="Cambria"/>
                    <a:cs typeface="Times New Roman"/>
                  </a:rPr>
                  <a:t>1、</a:t>
                </a:r>
                <a:r>
                  <a:rPr lang="zh-CN" altLang="en-US" sz="2400" b="1" dirty="0">
                    <a:latin typeface="Cambria"/>
                    <a:cs typeface="Times New Roman"/>
                  </a:rPr>
                  <a:t>假设</a:t>
                </a:r>
                <a:r>
                  <a:rPr lang="en-US" altLang="zh-CN" sz="2400" b="1" dirty="0">
                    <a:latin typeface="Cambria"/>
                    <a:cs typeface="Times New Roman"/>
                  </a:rPr>
                  <a:t>N</a:t>
                </a:r>
                <a:r>
                  <a:rPr lang="zh-CN" altLang="en-US" sz="2400" b="1" dirty="0">
                    <a:latin typeface="Cambria"/>
                    <a:cs typeface="Times New Roman"/>
                  </a:rPr>
                  <a:t>服从</a:t>
                </a:r>
                <a:r>
                  <a:rPr lang="zh-CN" altLang="zh-CN" sz="2400" b="1" dirty="0">
                    <a:latin typeface="Cambria"/>
                    <a:cs typeface="Times New Roman"/>
                  </a:rPr>
                  <a:t>参数为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/>
                        <a:cs typeface="Times New Roman"/>
                      </a:rPr>
                      <m:t>(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𝐫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𝟑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, 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𝐩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𝟎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.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𝟐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zh-CN" altLang="zh-CN" sz="2400" b="1" dirty="0">
                    <a:latin typeface="Cambria"/>
                    <a:cs typeface="Times New Roman"/>
                  </a:rPr>
                  <a:t>的负二项分布</a:t>
                </a:r>
                <a:r>
                  <a:rPr lang="zh-CN" altLang="en-US" sz="2400" b="1" dirty="0" smtClean="0">
                    <a:latin typeface="Cambria"/>
                    <a:cs typeface="Times New Roman"/>
                  </a:rPr>
                  <a:t>，</a:t>
                </a:r>
                <a:r>
                  <a:rPr lang="en-US" altLang="zh-CN" sz="2400" b="1" dirty="0" smtClean="0">
                    <a:latin typeface="Cambria"/>
                    <a:cs typeface="Times New Roman"/>
                  </a:rPr>
                  <a:t>X</a:t>
                </a:r>
                <a:r>
                  <a:rPr lang="zh-CN" altLang="en-US" sz="2400" b="1" dirty="0" smtClean="0">
                    <a:latin typeface="Cambria"/>
                    <a:cs typeface="Times New Roman"/>
                  </a:rPr>
                  <a:t>等于</a:t>
                </a:r>
                <a:r>
                  <a:rPr lang="en-US" altLang="zh-CN" sz="2400" b="1" dirty="0">
                    <a:latin typeface="Cambria"/>
                    <a:cs typeface="Times New Roman"/>
                  </a:rPr>
                  <a:t>1, 2, 3</a:t>
                </a:r>
                <a:r>
                  <a:rPr lang="zh-CN" altLang="en-US" sz="2400" b="1" dirty="0">
                    <a:latin typeface="Cambria"/>
                    <a:cs typeface="Times New Roman"/>
                  </a:rPr>
                  <a:t>的概率分别为</a:t>
                </a:r>
                <a:r>
                  <a:rPr lang="en-US" altLang="zh-CN" sz="2400" b="1" dirty="0">
                    <a:latin typeface="Cambria"/>
                    <a:cs typeface="Times New Roman"/>
                  </a:rPr>
                  <a:t>0.5，0.3</a:t>
                </a:r>
                <a:r>
                  <a:rPr lang="zh-CN" altLang="en-US" sz="2400" b="1" dirty="0">
                    <a:latin typeface="Cambria"/>
                    <a:cs typeface="Times New Roman"/>
                  </a:rPr>
                  <a:t>和</a:t>
                </a:r>
                <a:r>
                  <a:rPr lang="en-US" altLang="zh-CN" sz="2400" b="1" dirty="0">
                    <a:latin typeface="Cambria"/>
                    <a:cs typeface="Times New Roman"/>
                  </a:rPr>
                  <a:t>0.2。</a:t>
                </a:r>
                <a:r>
                  <a:rPr lang="zh-CN" altLang="en-US" sz="2400" b="1" dirty="0">
                    <a:latin typeface="Cambria"/>
                    <a:cs typeface="Times New Roman"/>
                  </a:rPr>
                  <a:t>求</a:t>
                </a:r>
                <a:r>
                  <a:rPr lang="en-US" altLang="zh-CN" sz="2400" b="1" dirty="0">
                    <a:latin typeface="Cambria"/>
                    <a:cs typeface="Times New Roman"/>
                  </a:rPr>
                  <a:t>S</a:t>
                </a:r>
                <a:r>
                  <a:rPr lang="zh-CN" altLang="en-US" sz="2400" b="1" dirty="0" smtClean="0">
                    <a:latin typeface="Cambria"/>
                    <a:cs typeface="Times New Roman"/>
                  </a:rPr>
                  <a:t>的分布</a:t>
                </a:r>
                <a:r>
                  <a:rPr lang="zh-CN" altLang="en-US" sz="2400" b="1" dirty="0">
                    <a:latin typeface="Cambria"/>
                    <a:cs typeface="Times New Roman"/>
                  </a:rPr>
                  <a:t>。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Cambria"/>
                    <a:cs typeface="Times New Roman"/>
                  </a:rPr>
                  <a:t>（要求：先写出适用于（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Cambria"/>
                    <a:cs typeface="Times New Roman"/>
                  </a:rPr>
                  <a:t>a， b， 0）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Cambria"/>
                    <a:cs typeface="Times New Roman"/>
                  </a:rPr>
                  <a:t>分布类的一般迭代公式，再将其应用于本例）</a:t>
                </a:r>
                <a:r>
                  <a:rPr lang="zh-CN" altLang="en-US" sz="2400" b="1" dirty="0" smtClean="0">
                    <a:solidFill>
                      <a:srgbClr val="0000FF"/>
                    </a:solidFill>
                    <a:latin typeface="Cambria"/>
                    <a:cs typeface="Times New Roman"/>
                  </a:rPr>
                  <a:t>。</a:t>
                </a:r>
                <a:endParaRPr lang="en-US" altLang="zh-CN" sz="2400" b="1" dirty="0" smtClean="0">
                  <a:solidFill>
                    <a:srgbClr val="0000FF"/>
                  </a:solidFill>
                  <a:latin typeface="Cambria"/>
                  <a:cs typeface="Times New Roman"/>
                </a:endParaRPr>
              </a:p>
              <a:p>
                <a:endParaRPr lang="en-US" altLang="zh-CN" sz="2400" b="1" dirty="0">
                  <a:solidFill>
                    <a:srgbClr val="0000FF"/>
                  </a:solidFill>
                  <a:latin typeface="Cambria"/>
                  <a:cs typeface="Times New Roman"/>
                </a:endParaRPr>
              </a:p>
              <a:p>
                <a:r>
                  <a:rPr lang="en-US" altLang="zh-CN" sz="2400" b="1" dirty="0">
                    <a:latin typeface="Cambria"/>
                    <a:cs typeface="Times New Roman"/>
                  </a:rPr>
                  <a:t>2、</a:t>
                </a:r>
                <a:r>
                  <a:rPr lang="zh-CN" altLang="zh-CN" sz="2400" b="1" dirty="0">
                    <a:latin typeface="Cambria"/>
                    <a:cs typeface="Times New Roman"/>
                  </a:rPr>
                  <a:t>假设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𝐍</m:t>
                    </m:r>
                  </m:oMath>
                </a14:m>
                <a:r>
                  <a:rPr lang="zh-CN" altLang="zh-CN" sz="2400" b="1" dirty="0">
                    <a:latin typeface="Cambria"/>
                    <a:cs typeface="Times New Roman"/>
                  </a:rPr>
                  <a:t>服从参数为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/>
                        <a:cs typeface="Times New Roman"/>
                      </a:rPr>
                      <m:t>(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𝐫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𝟐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,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𝐩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𝟎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.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𝟓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zh-CN" altLang="zh-CN" sz="2400" b="1" dirty="0">
                    <a:latin typeface="Cambria"/>
                    <a:cs typeface="Times New Roman"/>
                  </a:rPr>
                  <a:t>的零截断负二项分布</a:t>
                </a:r>
                <a:r>
                  <a:rPr lang="zh-CN" altLang="zh-CN" sz="2400" b="1" dirty="0" smtClean="0">
                    <a:latin typeface="Cambria"/>
                    <a:cs typeface="Times New Roman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1" dirty="0">
                        <a:latin typeface="Cambria Math"/>
                        <a:cs typeface="Times New Roman"/>
                      </a:rPr>
                      <m:t>X</m:t>
                    </m:r>
                  </m:oMath>
                </a14:m>
                <a:r>
                  <a:rPr lang="zh-CN" altLang="zh-CN" sz="2400" b="1" dirty="0" smtClean="0">
                    <a:latin typeface="Cambria"/>
                    <a:cs typeface="Times New Roman"/>
                  </a:rPr>
                  <a:t>服从</a:t>
                </a:r>
                <a:r>
                  <a:rPr lang="zh-CN" altLang="zh-CN" sz="2400" b="1" dirty="0">
                    <a:latin typeface="Cambria"/>
                    <a:cs typeface="Times New Roman"/>
                  </a:rPr>
                  <a:t>参数为</a:t>
                </a:r>
                <a14:m>
                  <m:oMath xmlns:m="http://schemas.openxmlformats.org/officeDocument/2006/math">
                    <m:r>
                      <a:rPr lang="en-US" altLang="zh-CN" sz="2400" b="1">
                        <a:latin typeface="Cambria Math"/>
                        <a:cs typeface="Times New Roman"/>
                      </a:rPr>
                      <m:t>(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𝐫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𝟒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, 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𝐩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=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𝟎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.</m:t>
                    </m:r>
                    <m:r>
                      <a:rPr lang="en-US" altLang="zh-CN" sz="2400" b="1" i="1">
                        <a:latin typeface="Cambria Math"/>
                        <a:cs typeface="Times New Roman"/>
                      </a:rPr>
                      <m:t>𝟕</m:t>
                    </m:r>
                    <m:r>
                      <a:rPr lang="en-US" altLang="zh-CN" sz="2400" b="1">
                        <a:latin typeface="Cambria Math"/>
                        <a:cs typeface="Times New Roman"/>
                      </a:rPr>
                      <m:t>)</m:t>
                    </m:r>
                  </m:oMath>
                </a14:m>
                <a:r>
                  <a:rPr lang="zh-CN" altLang="zh-CN" sz="2400" b="1" dirty="0">
                    <a:latin typeface="Cambria"/>
                    <a:cs typeface="Times New Roman"/>
                  </a:rPr>
                  <a:t>的负二项分布</a:t>
                </a:r>
                <a:r>
                  <a:rPr lang="zh-CN" altLang="en-US" sz="2400" b="1" dirty="0">
                    <a:latin typeface="Cambria"/>
                    <a:cs typeface="Times New Roman"/>
                  </a:rPr>
                  <a:t>。</a:t>
                </a:r>
                <a:r>
                  <a:rPr lang="zh-CN" altLang="zh-CN" sz="2400" b="1" dirty="0">
                    <a:latin typeface="Cambria"/>
                    <a:cs typeface="Times New Roman"/>
                  </a:rPr>
                  <a:t>求</a:t>
                </a:r>
                <a:r>
                  <a:rPr lang="en-US" altLang="zh-CN" sz="2400" b="1" dirty="0">
                    <a:latin typeface="Cambria"/>
                    <a:cs typeface="Times New Roman"/>
                  </a:rPr>
                  <a:t>S</a:t>
                </a:r>
                <a:r>
                  <a:rPr lang="zh-CN" altLang="zh-CN" sz="2400" b="1" dirty="0" smtClean="0">
                    <a:latin typeface="Cambria"/>
                    <a:cs typeface="Times New Roman"/>
                  </a:rPr>
                  <a:t>的</a:t>
                </a:r>
                <a:r>
                  <a:rPr lang="zh-CN" altLang="en-US" sz="2400" b="1" dirty="0" smtClean="0">
                    <a:latin typeface="Cambria"/>
                    <a:cs typeface="Times New Roman"/>
                  </a:rPr>
                  <a:t>分布</a:t>
                </a:r>
                <a:r>
                  <a:rPr lang="zh-CN" altLang="zh-CN" sz="2400" b="1" dirty="0">
                    <a:latin typeface="Cambria"/>
                    <a:cs typeface="Times New Roman"/>
                  </a:rPr>
                  <a:t>。</a:t>
                </a:r>
                <a:r>
                  <a:rPr lang="zh-CN" altLang="en-US" sz="2400" b="1" dirty="0">
                    <a:latin typeface="Cambria"/>
                    <a:cs typeface="Times New Roman"/>
                  </a:rPr>
                  <a:t>   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Cambria"/>
                    <a:cs typeface="Times New Roman"/>
                  </a:rPr>
                  <a:t>（要求：先写出适用于（</a:t>
                </a:r>
                <a:r>
                  <a:rPr lang="en-US" altLang="zh-CN" sz="2400" b="1" dirty="0">
                    <a:solidFill>
                      <a:srgbClr val="0000FF"/>
                    </a:solidFill>
                    <a:latin typeface="Cambria"/>
                    <a:cs typeface="Times New Roman"/>
                  </a:rPr>
                  <a:t>a， b， 1）</a:t>
                </a:r>
                <a:r>
                  <a:rPr lang="zh-CN" altLang="en-US" sz="2400" b="1" dirty="0">
                    <a:solidFill>
                      <a:srgbClr val="0000FF"/>
                    </a:solidFill>
                    <a:latin typeface="Cambria"/>
                    <a:cs typeface="Times New Roman"/>
                  </a:rPr>
                  <a:t>分布类的一般迭代公式，再将其应用于本例）。</a:t>
                </a:r>
                <a:endParaRPr lang="en-US" altLang="zh-CN" sz="2400" b="1" dirty="0">
                  <a:solidFill>
                    <a:srgbClr val="0000FF"/>
                  </a:solidFill>
                  <a:latin typeface="Cambria"/>
                  <a:cs typeface="Times New Roman"/>
                </a:endParaRPr>
              </a:p>
              <a:p>
                <a:endParaRPr lang="zh-CN" altLang="en-US" sz="2400" b="1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516" y="914466"/>
                <a:ext cx="8762770" cy="4382717"/>
              </a:xfrm>
              <a:blipFill>
                <a:blip r:embed="rId2"/>
                <a:stretch>
                  <a:fillRect l="-1044" r="-2088" b="-159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63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5534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8291512" cy="593725"/>
          </a:xfrm>
        </p:spPr>
        <p:txBody>
          <a:bodyPr/>
          <a:lstStyle/>
          <a:p>
            <a:pPr eaLnBrk="1" hangingPunct="1"/>
            <a:r>
              <a:rPr lang="zh-CN" altLang="en-US" sz="3200" smtClean="0">
                <a:solidFill>
                  <a:schemeClr val="accent2"/>
                </a:solidFill>
              </a:rPr>
              <a:t>复合泊松分布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371600"/>
            <a:ext cx="8229600" cy="4497388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复合泊松分布的重要性</a:t>
            </a:r>
            <a:r>
              <a:rPr lang="en-US" altLang="zh-CN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lvl="1" eaLnBrk="1" hangingPunct="1">
              <a:lnSpc>
                <a:spcPct val="200000"/>
              </a:lnSpc>
            </a:pPr>
            <a:r>
              <a:rPr lang="zh-CN" altLang="en-US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描述事故次数服从泊松分布，而一次事故所导致的索赔次数又是一个随机变量的情形。</a:t>
            </a:r>
          </a:p>
          <a:p>
            <a:pPr lvl="1" eaLnBrk="1" hangingPunct="1">
              <a:lnSpc>
                <a:spcPct val="200000"/>
              </a:lnSpc>
            </a:pPr>
            <a:r>
              <a:rPr lang="zh-CN" altLang="en-US" b="1" dirty="0" smtClean="0"/>
              <a:t>目的是为了获得更长的右尾的损失次数模型</a:t>
            </a:r>
            <a:endParaRPr lang="en-US" altLang="zh-CN" b="1" dirty="0" smtClean="0"/>
          </a:p>
          <a:p>
            <a:pPr lvl="1" eaLnBrk="1" hangingPunct="1">
              <a:lnSpc>
                <a:spcPct val="200000"/>
              </a:lnSpc>
            </a:pPr>
            <a:endParaRPr lang="zh-CN" altLang="en-US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85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F1C19BD-1EB9-4998-95EA-95E861369688}" type="slidenum">
              <a:rPr lang="zh-CN" altLang="en-US" sz="1400"/>
              <a:pPr eaLnBrk="1" hangingPunct="1"/>
              <a:t>64</a:t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0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0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549275"/>
            <a:ext cx="8291512" cy="593725"/>
          </a:xfrm>
        </p:spPr>
        <p:txBody>
          <a:bodyPr/>
          <a:lstStyle/>
          <a:p>
            <a:pPr eaLnBrk="1" hangingPunct="1"/>
            <a:r>
              <a:rPr lang="zh-CN" altLang="en-US" sz="3200" dirty="0" smtClean="0">
                <a:solidFill>
                  <a:schemeClr val="accent2"/>
                </a:solidFill>
              </a:rPr>
              <a:t>复合泊松分布的均值和方差</a:t>
            </a:r>
          </a:p>
        </p:txBody>
      </p:sp>
      <p:sp>
        <p:nvSpPr>
          <p:cNvPr id="7885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F1C19BD-1EB9-4998-95EA-95E861369688}" type="slidenum">
              <a:rPr lang="zh-CN" altLang="en-US" sz="1400"/>
              <a:pPr eaLnBrk="1" hangingPunct="1"/>
              <a:t>65</a:t>
            </a:fld>
            <a:endParaRPr lang="en-US" altLang="zh-CN" sz="140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6903979"/>
              </p:ext>
            </p:extLst>
          </p:nvPr>
        </p:nvGraphicFramePr>
        <p:xfrm>
          <a:off x="1072769" y="2286030"/>
          <a:ext cx="6530975" cy="2281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57" name="Equation" r:id="rId3" imgW="3276360" imgH="1143000" progId="Equation.DSMT4">
                  <p:embed/>
                </p:oleObj>
              </mc:Choice>
              <mc:Fallback>
                <p:oleObj name="Equation" r:id="rId3" imgW="3276360" imgH="1143000" progId="Equation.DSMT4">
                  <p:embed/>
                  <p:pic>
                    <p:nvPicPr>
                      <p:cNvPr id="8295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769" y="2286030"/>
                        <a:ext cx="6530975" cy="2281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31096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325" y="533476"/>
            <a:ext cx="8785225" cy="993775"/>
          </a:xfrm>
        </p:spPr>
        <p:txBody>
          <a:bodyPr/>
          <a:lstStyle/>
          <a:p>
            <a:pPr eaLnBrk="1" hangingPunct="1"/>
            <a:r>
              <a:rPr lang="zh-CN" altLang="en-US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给定</a:t>
            </a:r>
            <a:r>
              <a:rPr lang="zh-CN" altLang="en-US" dirty="0" smtClean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均值和方差的条件下比较复合泊松分布的偏度</a:t>
            </a:r>
          </a:p>
        </p:txBody>
      </p:sp>
      <p:sp>
        <p:nvSpPr>
          <p:cNvPr id="8294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8BE4548-056D-4BBF-B08D-FAC0E895060B}" type="slidenum">
              <a:rPr lang="zh-CN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pPr eaLnBrk="1" hangingPunct="1"/>
              <a:t>66</a:t>
            </a:fld>
            <a:endParaRPr lang="en-US" altLang="zh-CN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948" name="Text Box 3"/>
          <p:cNvSpPr txBox="1">
            <a:spLocks noChangeArrowheads="1"/>
          </p:cNvSpPr>
          <p:nvPr/>
        </p:nvSpPr>
        <p:spPr bwMode="auto">
          <a:xfrm>
            <a:off x="692491" y="2072781"/>
            <a:ext cx="2467640" cy="1701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>
              <a:lnSpc>
                <a:spcPct val="145000"/>
              </a:lnSpc>
            </a:pPr>
            <a:r>
              <a:rPr lang="zh-CN" altLang="en-US" sz="2400" b="1" dirty="0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m = </a:t>
            </a:r>
            <a:r>
              <a:rPr lang="zh-CN" altLang="en-US" sz="2400" b="1" dirty="0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均值</a:t>
            </a:r>
          </a:p>
          <a:p>
            <a:pPr algn="l" eaLnBrk="1" hangingPunct="1">
              <a:lnSpc>
                <a:spcPct val="145000"/>
              </a:lnSpc>
            </a:pPr>
            <a:r>
              <a:rPr lang="zh-CN" altLang="en-US" sz="2400" b="1" dirty="0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baseline="30000" dirty="0" err="1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zh-CN" altLang="en-US" sz="2400" b="1" dirty="0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方差</a:t>
            </a:r>
          </a:p>
          <a:p>
            <a:pPr algn="l" eaLnBrk="1" hangingPunct="1">
              <a:lnSpc>
                <a:spcPct val="145000"/>
              </a:lnSpc>
            </a:pPr>
            <a:r>
              <a:rPr lang="zh-CN" altLang="en-US" sz="2400" b="1" dirty="0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 err="1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baseline="-25000" dirty="0" err="1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baseline="-25000" dirty="0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zh-CN" altLang="en-US" sz="2400" b="1" dirty="0">
                <a:latin typeface="Symbol" panose="05050102010706020507" pitchFamily="18" charset="2"/>
                <a:ea typeface="黑体" panose="02010609060101010101" pitchFamily="49" charset="-122"/>
                <a:cs typeface="Times New Roman" panose="02020603050405020304" pitchFamily="18" charset="0"/>
              </a:rPr>
              <a:t>三阶中心矩</a:t>
            </a:r>
          </a:p>
        </p:txBody>
      </p:sp>
      <p:sp>
        <p:nvSpPr>
          <p:cNvPr id="82949" name="Text Box 4"/>
          <p:cNvSpPr txBox="1">
            <a:spLocks noChangeArrowheads="1"/>
          </p:cNvSpPr>
          <p:nvPr/>
        </p:nvSpPr>
        <p:spPr bwMode="auto">
          <a:xfrm>
            <a:off x="638419" y="4206341"/>
            <a:ext cx="5894860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偏度系数（</a:t>
            </a:r>
            <a:r>
              <a:rPr lang="en-US" altLang="zh-CN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The coefficient of skewness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）：</a:t>
            </a:r>
          </a:p>
        </p:txBody>
      </p:sp>
      <p:graphicFrame>
        <p:nvGraphicFramePr>
          <p:cNvPr id="8295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042425"/>
              </p:ext>
            </p:extLst>
          </p:nvPr>
        </p:nvGraphicFramePr>
        <p:xfrm>
          <a:off x="6533279" y="4045358"/>
          <a:ext cx="9366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300" r:id="rId3" imgW="470104" imgH="393871" progId="Equation.DSMT4">
                  <p:embed/>
                </p:oleObj>
              </mc:Choice>
              <mc:Fallback>
                <p:oleObj r:id="rId3" imgW="470104" imgH="393871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3279" y="4045358"/>
                        <a:ext cx="936625" cy="785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1" name="Text Box 6"/>
          <p:cNvSpPr txBox="1">
            <a:spLocks noChangeArrowheads="1"/>
          </p:cNvSpPr>
          <p:nvPr/>
        </p:nvSpPr>
        <p:spPr bwMode="auto">
          <a:xfrm>
            <a:off x="233110" y="5074351"/>
            <a:ext cx="8534176" cy="46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 b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在给定均值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方差的</a:t>
            </a:r>
            <a:r>
              <a:rPr lang="zh-CN" altLang="en-US" sz="24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条件下，偏度系数取决于三阶</a:t>
            </a:r>
            <a:r>
              <a:rPr lang="zh-CN" altLang="en-US" sz="24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中心矩 </a:t>
            </a:r>
            <a:endParaRPr lang="en-US" altLang="zh-CN" sz="2000" b="1" baseline="-250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1116013" y="549275"/>
            <a:ext cx="5057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400">
                <a:latin typeface="Symbol" pitchFamily="18" charset="2"/>
                <a:cs typeface="Times New Roman" pitchFamily="18" charset="0"/>
              </a:rPr>
              <a:t>m = </a:t>
            </a:r>
            <a:r>
              <a:rPr lang="zh-CN" altLang="en-US" sz="2400">
                <a:latin typeface="Times New Roman" pitchFamily="18" charset="0"/>
                <a:cs typeface="Times New Roman" pitchFamily="18" charset="0"/>
              </a:rPr>
              <a:t>均值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altLang="zh-CN" sz="2400">
                <a:latin typeface="Symbol" pitchFamily="18" charset="2"/>
                <a:cs typeface="Times New Roman" pitchFamily="18" charset="0"/>
              </a:rPr>
              <a:t>s</a:t>
            </a:r>
            <a:r>
              <a:rPr lang="en-US" altLang="zh-CN" sz="2400" baseline="30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zh-CN" altLang="en-US" sz="2400">
                <a:latin typeface="Times New Roman" pitchFamily="18" charset="0"/>
                <a:cs typeface="Times New Roman" pitchFamily="18" charset="0"/>
              </a:rPr>
              <a:t>方差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altLang="zh-CN" sz="2400">
                <a:latin typeface="Symbol" pitchFamily="18" charset="2"/>
                <a:cs typeface="Times New Roman" pitchFamily="18" charset="0"/>
              </a:rPr>
              <a:t>m</a:t>
            </a:r>
            <a:r>
              <a:rPr lang="en-US" altLang="zh-CN" sz="2400" baseline="-25000">
                <a:latin typeface="Symbol" pitchFamily="18" charset="2"/>
                <a:cs typeface="Times New Roman" pitchFamily="18" charset="0"/>
              </a:rPr>
              <a:t>3 </a:t>
            </a:r>
            <a:r>
              <a:rPr lang="en-US" altLang="zh-CN" sz="2400">
                <a:latin typeface="Symbol" pitchFamily="18" charset="2"/>
                <a:cs typeface="Times New Roman" pitchFamily="18" charset="0"/>
              </a:rPr>
              <a:t>= </a:t>
            </a:r>
            <a:r>
              <a:rPr lang="zh-CN" altLang="en-US" sz="2400">
                <a:latin typeface="Times New Roman" pitchFamily="18" charset="0"/>
                <a:cs typeface="Times New Roman" pitchFamily="18" charset="0"/>
              </a:rPr>
              <a:t>三阶中心矩</a:t>
            </a: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042988" y="1341438"/>
            <a:ext cx="436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400">
                <a:latin typeface="Times New Roman" pitchFamily="18" charset="0"/>
                <a:cs typeface="Times New Roman" pitchFamily="18" charset="0"/>
              </a:rPr>
              <a:t>令 </a:t>
            </a: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A = 3</a:t>
            </a:r>
            <a:r>
              <a:rPr lang="en-US" altLang="zh-CN" sz="2400">
                <a:latin typeface="Symbol" pitchFamily="18" charset="2"/>
                <a:cs typeface="Times New Roman" pitchFamily="18" charset="0"/>
              </a:rPr>
              <a:t>s</a:t>
            </a:r>
            <a:r>
              <a:rPr lang="en-US" altLang="zh-CN" sz="2400" baseline="30000">
                <a:latin typeface="Symbol" pitchFamily="18" charset="2"/>
                <a:cs typeface="Times New Roman" pitchFamily="18" charset="0"/>
              </a:rPr>
              <a:t>2</a:t>
            </a:r>
            <a:r>
              <a:rPr lang="en-US" altLang="zh-CN" sz="2400">
                <a:latin typeface="Symbol" pitchFamily="18" charset="2"/>
                <a:cs typeface="Times New Roman" pitchFamily="18" charset="0"/>
              </a:rPr>
              <a:t>-2m ,     B = (s</a:t>
            </a:r>
            <a:r>
              <a:rPr lang="en-US" altLang="zh-CN" sz="2400" baseline="30000">
                <a:latin typeface="Symbol" pitchFamily="18" charset="2"/>
                <a:cs typeface="Times New Roman" pitchFamily="18" charset="0"/>
              </a:rPr>
              <a:t>2</a:t>
            </a:r>
            <a:r>
              <a:rPr lang="en-US" altLang="zh-CN" sz="2400">
                <a:latin typeface="Symbol" pitchFamily="18" charset="2"/>
                <a:cs typeface="Times New Roman" pitchFamily="18" charset="0"/>
              </a:rPr>
              <a:t>-m)</a:t>
            </a:r>
            <a:r>
              <a:rPr lang="en-US" altLang="zh-CN" sz="2400" baseline="30000">
                <a:latin typeface="Symbol" pitchFamily="18" charset="2"/>
                <a:cs typeface="Times New Roman" pitchFamily="18" charset="0"/>
              </a:rPr>
              <a:t>2</a:t>
            </a:r>
            <a:r>
              <a:rPr lang="en-US" altLang="zh-CN" sz="2400">
                <a:latin typeface="Symbol" pitchFamily="18" charset="2"/>
                <a:cs typeface="Times New Roman" pitchFamily="18" charset="0"/>
              </a:rPr>
              <a:t>/m </a:t>
            </a:r>
          </a:p>
        </p:txBody>
      </p:sp>
      <p:graphicFrame>
        <p:nvGraphicFramePr>
          <p:cNvPr id="87044" name="Group 4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4277651933"/>
              </p:ext>
            </p:extLst>
          </p:nvPr>
        </p:nvGraphicFramePr>
        <p:xfrm>
          <a:off x="381110" y="1905040"/>
          <a:ext cx="8374063" cy="4724314"/>
        </p:xfrm>
        <a:graphic>
          <a:graphicData uri="http://schemas.openxmlformats.org/drawingml/2006/table">
            <a:tbl>
              <a:tblPr/>
              <a:tblGrid>
                <a:gridCol w="3325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7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14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Compound Poisson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三阶中心矩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偏度比较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64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0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-binomial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[(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-2)/(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-1)]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≤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(</a:t>
                      </a:r>
                      <a:r>
                        <a:rPr kumimoji="0" lang="zh-CN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-2)/(</a:t>
                      </a:r>
                      <a:r>
                        <a:rPr kumimoji="0" lang="zh-CN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-1)&lt;1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7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-Poisson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7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-geometric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1.5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1.5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7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Negative binomial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-logarithmic)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50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ETNB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[(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+2)/(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+1)]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&lt; (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+2)/(</a:t>
                      </a:r>
                      <a:r>
                        <a:rPr kumimoji="0" lang="en-US" altLang="zh-CN" sz="2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 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+1) &lt;∞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5031" name="AutoShape 46"/>
          <p:cNvSpPr>
            <a:spLocks noChangeArrowheads="1"/>
          </p:cNvSpPr>
          <p:nvPr/>
        </p:nvSpPr>
        <p:spPr bwMode="auto">
          <a:xfrm>
            <a:off x="7235825" y="476250"/>
            <a:ext cx="73025" cy="73025"/>
          </a:xfrm>
          <a:prstGeom prst="wedgeEllipseCallout">
            <a:avLst>
              <a:gd name="adj1" fmla="val -43750"/>
              <a:gd name="adj2" fmla="val 7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7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7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2" grpId="0" autoUpdateAnimBg="0"/>
      <p:bldP spid="87043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090" name="Group 2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326936920"/>
              </p:ext>
            </p:extLst>
          </p:nvPr>
        </p:nvGraphicFramePr>
        <p:xfrm>
          <a:off x="381110" y="990664"/>
          <a:ext cx="8374063" cy="4922837"/>
        </p:xfrm>
        <a:graphic>
          <a:graphicData uri="http://schemas.openxmlformats.org/drawingml/2006/table">
            <a:tbl>
              <a:tblPr/>
              <a:tblGrid>
                <a:gridCol w="316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41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2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三阶中心矩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0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尾部比较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1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-binomial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[(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-2)/(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-1)]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≤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(</a:t>
                      </a:r>
                      <a:r>
                        <a:rPr kumimoji="0" lang="zh-CN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-2)/(</a:t>
                      </a:r>
                      <a:r>
                        <a:rPr kumimoji="0" lang="zh-CN" altLang="en-US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m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-1)&lt;1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3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-Poisson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98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-geometric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1.5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1.5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97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Negative binomial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-logarithmic)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Poisson-Inverse Gaussian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Poisson-Lognormal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[2+exp(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9999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)]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2+exp(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  <a:ea typeface="宋体" pitchFamily="2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 &gt;3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75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Poisson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-ETNB</a:t>
                      </a:r>
                    </a:p>
                  </a:txBody>
                  <a:tcPr marL="90000" marR="90000" marT="0" marB="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A+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[(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+2)/(</a:t>
                      </a:r>
                      <a:r>
                        <a:rPr kumimoji="0" lang="en-US" altLang="zh-CN" sz="20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+1)]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B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 &lt; (</a:t>
                      </a:r>
                      <a:r>
                        <a:rPr kumimoji="0" lang="en-US" altLang="zh-CN" sz="20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+2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)/(</a:t>
                      </a:r>
                      <a:r>
                        <a:rPr kumimoji="0" lang="en-US" altLang="zh-CN" sz="20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r</a:t>
                      </a:r>
                      <a:r>
                        <a:rPr kumimoji="0" lang="en-US" altLang="zh-CN" sz="2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+1</a:t>
                      </a:r>
                      <a:r>
                        <a:rPr kumimoji="0" lang="en-US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) &lt; ∞</a:t>
                      </a:r>
                    </a:p>
                  </a:txBody>
                  <a:tcPr marL="90000" marR="9000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70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AEB6F099-8A38-4290-B9A3-1858FAD767CC}" type="slidenum">
              <a:rPr lang="zh-CN" altLang="en-US" sz="1400"/>
              <a:pPr eaLnBrk="1" hangingPunct="1"/>
              <a:t>68</a:t>
            </a:fld>
            <a:endParaRPr lang="en-US" altLang="zh-CN" sz="1400"/>
          </a:p>
        </p:txBody>
      </p:sp>
      <p:sp>
        <p:nvSpPr>
          <p:cNvPr id="87085" name="Text Box 60"/>
          <p:cNvSpPr txBox="1">
            <a:spLocks noChangeArrowheads="1"/>
          </p:cNvSpPr>
          <p:nvPr/>
        </p:nvSpPr>
        <p:spPr bwMode="auto">
          <a:xfrm>
            <a:off x="2590800" y="304800"/>
            <a:ext cx="3355960" cy="402291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en-US" altLang="zh-CN" sz="20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2000" b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en-US" altLang="zh-CN" sz="2000" b="1" baseline="30000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2</a:t>
            </a:r>
            <a:r>
              <a:rPr lang="en-US" altLang="zh-CN" sz="2000" b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-2m</a:t>
            </a:r>
            <a:r>
              <a:rPr lang="en-US" altLang="zh-CN" sz="2000" b="1" dirty="0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 ,     </a:t>
            </a:r>
            <a:r>
              <a:rPr lang="en-US" altLang="zh-CN" sz="2000" b="1" i="1" dirty="0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B</a:t>
            </a:r>
            <a:r>
              <a:rPr lang="en-US" altLang="zh-CN" sz="2000" b="1" dirty="0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 = (</a:t>
            </a:r>
            <a:r>
              <a:rPr lang="en-US" altLang="zh-CN" sz="2000" b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s</a:t>
            </a:r>
            <a:r>
              <a:rPr lang="en-US" altLang="zh-CN" sz="2000" b="1" baseline="30000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-m)</a:t>
            </a:r>
            <a:r>
              <a:rPr lang="en-US" altLang="zh-CN" sz="2000" b="1" baseline="30000" dirty="0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2</a:t>
            </a:r>
            <a:r>
              <a:rPr lang="en-US" altLang="zh-CN" sz="2000" b="1" dirty="0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/m </a:t>
            </a:r>
            <a:endParaRPr lang="en-US" altLang="zh-CN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Rectangle 2"/>
          <p:cNvSpPr>
            <a:spLocks noGrp="1" noChangeArrowheads="1"/>
          </p:cNvSpPr>
          <p:nvPr>
            <p:ph type="title"/>
          </p:nvPr>
        </p:nvSpPr>
        <p:spPr>
          <a:xfrm>
            <a:off x="158391" y="655597"/>
            <a:ext cx="8229600" cy="654050"/>
          </a:xfrm>
        </p:spPr>
        <p:txBody>
          <a:bodyPr/>
          <a:lstStyle/>
          <a:p>
            <a:pPr algn="l" eaLnBrk="1" hangingPunct="1"/>
            <a:r>
              <a:rPr lang="zh-CN" altLang="en-US" dirty="0" smtClean="0"/>
              <a:t>例： 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-11471" y="1447852"/>
            <a:ext cx="8569325" cy="5638800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根据偏度系数为索赔次数数据选择合适的模型。</a:t>
            </a:r>
          </a:p>
          <a:p>
            <a:pPr lvl="1" eaLnBrk="1" hangingPunct="1"/>
            <a:r>
              <a:rPr lang="zh-CN" altLang="en-US" b="1" dirty="0" smtClean="0">
                <a:latin typeface="Times New Roman" pitchFamily="18" charset="0"/>
              </a:rPr>
              <a:t>均值 </a:t>
            </a:r>
            <a:r>
              <a:rPr lang="en-US" altLang="zh-CN" b="1" dirty="0" smtClean="0">
                <a:latin typeface="Symbol" pitchFamily="18" charset="2"/>
              </a:rPr>
              <a:t>m </a:t>
            </a:r>
            <a:r>
              <a:rPr lang="en-US" altLang="zh-CN" b="1" dirty="0" smtClean="0">
                <a:latin typeface="Times New Roman" pitchFamily="18" charset="0"/>
              </a:rPr>
              <a:t>= 0.1254614</a:t>
            </a:r>
          </a:p>
          <a:p>
            <a:pPr lvl="1" eaLnBrk="1" hangingPunct="1"/>
            <a:r>
              <a:rPr lang="zh-CN" altLang="en-US" b="1" dirty="0" smtClean="0">
                <a:latin typeface="Times New Roman" pitchFamily="18" charset="0"/>
              </a:rPr>
              <a:t>方差 </a:t>
            </a:r>
            <a:r>
              <a:rPr lang="en-US" altLang="zh-CN" b="1" dirty="0" err="1" smtClean="0">
                <a:latin typeface="Symbol" pitchFamily="18" charset="2"/>
              </a:rPr>
              <a:t>s</a:t>
            </a:r>
            <a:r>
              <a:rPr lang="en-US" altLang="zh-CN" b="1" baseline="30000" dirty="0" err="1" smtClean="0">
                <a:latin typeface="Symbol" pitchFamily="18" charset="2"/>
              </a:rPr>
              <a:t>2</a:t>
            </a:r>
            <a:r>
              <a:rPr lang="en-US" altLang="zh-CN" b="1" dirty="0" smtClean="0">
                <a:latin typeface="Times New Roman" pitchFamily="18" charset="0"/>
              </a:rPr>
              <a:t>= 0.1299599</a:t>
            </a:r>
          </a:p>
          <a:p>
            <a:pPr lvl="1" eaLnBrk="1" hangingPunct="1"/>
            <a:r>
              <a:rPr lang="zh-CN" altLang="en-US" b="1" dirty="0" smtClean="0">
                <a:latin typeface="Times New Roman" pitchFamily="18" charset="0"/>
              </a:rPr>
              <a:t>三阶中心矩  </a:t>
            </a:r>
            <a:r>
              <a:rPr lang="en-US" altLang="zh-CN" b="1" dirty="0" err="1" smtClean="0">
                <a:latin typeface="Symbol" pitchFamily="18" charset="2"/>
              </a:rPr>
              <a:t>m</a:t>
            </a:r>
            <a:r>
              <a:rPr lang="en-US" altLang="zh-CN" b="1" baseline="-25000" dirty="0" err="1" smtClean="0">
                <a:latin typeface="Symbol" pitchFamily="18" charset="2"/>
              </a:rPr>
              <a:t>3</a:t>
            </a:r>
            <a:r>
              <a:rPr lang="en-US" altLang="zh-CN" b="1" dirty="0" smtClean="0">
                <a:latin typeface="Times New Roman" pitchFamily="18" charset="0"/>
              </a:rPr>
              <a:t>=0.1401737</a:t>
            </a:r>
          </a:p>
          <a:p>
            <a:pPr lvl="1" eaLnBrk="1" hangingPunct="1"/>
            <a:r>
              <a:rPr lang="en-US" altLang="zh-CN" b="1" dirty="0" smtClean="0">
                <a:latin typeface="Times New Roman" pitchFamily="18" charset="0"/>
              </a:rPr>
              <a:t>A= </a:t>
            </a:r>
            <a:r>
              <a:rPr lang="en-US" altLang="zh-CN" b="1" dirty="0" err="1" smtClean="0">
                <a:latin typeface="Symbol" pitchFamily="18" charset="2"/>
              </a:rPr>
              <a:t>3s</a:t>
            </a:r>
            <a:r>
              <a:rPr lang="en-US" altLang="zh-CN" b="1" baseline="30000" dirty="0" err="1" smtClean="0">
                <a:latin typeface="Symbol" pitchFamily="18" charset="2"/>
              </a:rPr>
              <a:t>2</a:t>
            </a:r>
            <a:r>
              <a:rPr lang="en-US" altLang="zh-CN" b="1" dirty="0" err="1" smtClean="0">
                <a:latin typeface="Symbol" pitchFamily="18" charset="2"/>
              </a:rPr>
              <a:t>-2m</a:t>
            </a:r>
            <a:r>
              <a:rPr lang="en-US" altLang="zh-CN" b="1" dirty="0" smtClean="0"/>
              <a:t> </a:t>
            </a:r>
            <a:endParaRPr lang="en-US" altLang="zh-CN" b="1" dirty="0" smtClean="0">
              <a:latin typeface="Times New Roman" pitchFamily="18" charset="0"/>
            </a:endParaRPr>
          </a:p>
          <a:p>
            <a:pPr lvl="1" eaLnBrk="1" hangingPunct="1"/>
            <a:r>
              <a:rPr lang="en-US" altLang="zh-CN" b="1" dirty="0" smtClean="0">
                <a:latin typeface="Times New Roman" pitchFamily="18" charset="0"/>
              </a:rPr>
              <a:t>B = </a:t>
            </a:r>
            <a:r>
              <a:rPr lang="en-US" altLang="zh-CN" b="1" dirty="0" smtClean="0">
                <a:latin typeface="Symbol" pitchFamily="18" charset="2"/>
              </a:rPr>
              <a:t>(</a:t>
            </a:r>
            <a:r>
              <a:rPr lang="en-US" altLang="zh-CN" b="1" dirty="0" err="1" smtClean="0">
                <a:latin typeface="Symbol" pitchFamily="18" charset="2"/>
              </a:rPr>
              <a:t>s</a:t>
            </a:r>
            <a:r>
              <a:rPr lang="en-US" altLang="zh-CN" b="1" baseline="30000" dirty="0" err="1" smtClean="0">
                <a:latin typeface="Symbol" pitchFamily="18" charset="2"/>
              </a:rPr>
              <a:t>2</a:t>
            </a:r>
            <a:r>
              <a:rPr lang="en-US" altLang="zh-CN" b="1" dirty="0" smtClean="0">
                <a:latin typeface="Symbol" pitchFamily="18" charset="2"/>
              </a:rPr>
              <a:t>-m)</a:t>
            </a:r>
            <a:r>
              <a:rPr lang="en-US" altLang="zh-CN" b="1" baseline="30000" dirty="0" smtClean="0">
                <a:latin typeface="Symbol" pitchFamily="18" charset="2"/>
              </a:rPr>
              <a:t>2</a:t>
            </a:r>
            <a:r>
              <a:rPr lang="en-US" altLang="zh-CN" b="1" dirty="0" smtClean="0">
                <a:latin typeface="Symbol" pitchFamily="18" charset="2"/>
              </a:rPr>
              <a:t>/m</a:t>
            </a:r>
            <a:r>
              <a:rPr lang="en-US" altLang="zh-CN" b="1" dirty="0" smtClean="0"/>
              <a:t> </a:t>
            </a:r>
            <a:endParaRPr lang="en-US" altLang="zh-CN" b="1" dirty="0" smtClean="0">
              <a:latin typeface="Times New Roman" pitchFamily="18" charset="0"/>
            </a:endParaRPr>
          </a:p>
          <a:p>
            <a:pPr lvl="1" eaLnBrk="1" hangingPunct="1"/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en-US" altLang="zh-CN" b="1" dirty="0" err="1" smtClean="0">
                <a:latin typeface="Symbol" pitchFamily="18" charset="2"/>
              </a:rPr>
              <a:t>m</a:t>
            </a:r>
            <a:r>
              <a:rPr lang="en-US" altLang="zh-CN" b="1" baseline="-25000" dirty="0" err="1" smtClean="0">
                <a:latin typeface="Symbol" pitchFamily="18" charset="2"/>
              </a:rPr>
              <a:t>3</a:t>
            </a:r>
            <a:r>
              <a:rPr lang="en-US" altLang="zh-CN" b="1" dirty="0" smtClean="0">
                <a:latin typeface="Symbol" pitchFamily="18" charset="2"/>
              </a:rPr>
              <a:t>-A)</a:t>
            </a:r>
            <a:r>
              <a:rPr lang="en-US" altLang="zh-CN" b="1" dirty="0" smtClean="0">
                <a:latin typeface="Times New Roman" pitchFamily="18" charset="0"/>
              </a:rPr>
              <a:t>/B = 7.543865</a:t>
            </a:r>
          </a:p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故：泊松</a:t>
            </a:r>
            <a:r>
              <a:rPr lang="en-US" altLang="zh-CN" b="1" dirty="0" smtClean="0">
                <a:latin typeface="Times New Roman" pitchFamily="18" charset="0"/>
              </a:rPr>
              <a:t>-</a:t>
            </a:r>
            <a:r>
              <a:rPr lang="zh-CN" altLang="en-US" b="1" dirty="0" smtClean="0">
                <a:latin typeface="Times New Roman" pitchFamily="18" charset="0"/>
              </a:rPr>
              <a:t>零截断负二项比较合适。</a:t>
            </a:r>
          </a:p>
          <a:p>
            <a:pPr lvl="1" eaLnBrk="1" hangingPunct="1"/>
            <a:r>
              <a:rPr lang="zh-CN" altLang="en-US" b="1" dirty="0" smtClean="0">
                <a:latin typeface="Times New Roman" pitchFamily="18" charset="0"/>
              </a:rPr>
              <a:t>由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en-US" altLang="zh-CN" b="1" i="1" dirty="0" err="1" smtClean="0">
                <a:latin typeface="Times New Roman" pitchFamily="18" charset="0"/>
              </a:rPr>
              <a:t>r</a:t>
            </a:r>
            <a:r>
              <a:rPr lang="en-US" altLang="zh-CN" b="1" dirty="0" err="1" smtClean="0">
                <a:latin typeface="Times New Roman" pitchFamily="18" charset="0"/>
              </a:rPr>
              <a:t>+2</a:t>
            </a:r>
            <a:r>
              <a:rPr lang="en-US" altLang="zh-CN" b="1" dirty="0" smtClean="0">
                <a:latin typeface="Times New Roman" pitchFamily="18" charset="0"/>
              </a:rPr>
              <a:t>)/(</a:t>
            </a:r>
            <a:r>
              <a:rPr lang="en-US" altLang="zh-CN" b="1" i="1" dirty="0" err="1" smtClean="0">
                <a:latin typeface="Times New Roman" pitchFamily="18" charset="0"/>
              </a:rPr>
              <a:t>r</a:t>
            </a:r>
            <a:r>
              <a:rPr lang="en-US" altLang="zh-CN" b="1" dirty="0" err="1" smtClean="0">
                <a:latin typeface="Times New Roman" pitchFamily="18" charset="0"/>
              </a:rPr>
              <a:t>+1</a:t>
            </a:r>
            <a:r>
              <a:rPr lang="en-US" altLang="zh-CN" b="1" dirty="0" smtClean="0">
                <a:latin typeface="Times New Roman" pitchFamily="18" charset="0"/>
              </a:rPr>
              <a:t>) =7.543865, </a:t>
            </a:r>
            <a:r>
              <a:rPr lang="zh-CN" altLang="en-US" b="1" dirty="0" smtClean="0">
                <a:latin typeface="Times New Roman" pitchFamily="18" charset="0"/>
              </a:rPr>
              <a:t>得 </a:t>
            </a:r>
            <a:r>
              <a:rPr lang="en-US" altLang="zh-CN" b="1" i="1" dirty="0" smtClean="0">
                <a:latin typeface="Times New Roman" pitchFamily="18" charset="0"/>
              </a:rPr>
              <a:t>r </a:t>
            </a:r>
            <a:r>
              <a:rPr lang="en-US" altLang="zh-CN" b="1" dirty="0" smtClean="0">
                <a:latin typeface="Times New Roman" pitchFamily="18" charset="0"/>
              </a:rPr>
              <a:t>=-0.8471851</a:t>
            </a:r>
          </a:p>
        </p:txBody>
      </p:sp>
      <p:graphicFrame>
        <p:nvGraphicFramePr>
          <p:cNvPr id="90116" name="Group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516402416"/>
              </p:ext>
            </p:extLst>
          </p:nvPr>
        </p:nvGraphicFramePr>
        <p:xfrm>
          <a:off x="5562574" y="1981238"/>
          <a:ext cx="3246438" cy="2936872"/>
        </p:xfrm>
        <a:graphic>
          <a:graphicData uri="http://schemas.openxmlformats.org/drawingml/2006/table">
            <a:tbl>
              <a:tblPr/>
              <a:tblGrid>
                <a:gridCol w="1441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索赔次数</a:t>
                      </a: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保单数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565664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</a:t>
                      </a: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68714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</a:t>
                      </a: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5177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</a:t>
                      </a: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365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2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4</a:t>
                      </a: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24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5</a:t>
                      </a: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6+</a:t>
                      </a:r>
                    </a:p>
                  </a:txBody>
                  <a:tcPr marL="90000" marR="9000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>
                          <a:srgbClr val="000066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0</a:t>
                      </a:r>
                    </a:p>
                  </a:txBody>
                  <a:tcPr marL="90000" marR="9000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8066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370E74E-F2A1-4832-8C18-5083486B0216}" type="slidenum">
              <a:rPr lang="zh-CN" altLang="en-US" sz="1400"/>
              <a:pPr eaLnBrk="1" hangingPunct="1"/>
              <a:t>69</a:t>
            </a:fld>
            <a:endParaRPr lang="en-US" altLang="zh-CN" sz="1400"/>
          </a:p>
        </p:txBody>
      </p:sp>
      <p:sp>
        <p:nvSpPr>
          <p:cNvPr id="2" name="TextBox 1"/>
          <p:cNvSpPr txBox="1"/>
          <p:nvPr/>
        </p:nvSpPr>
        <p:spPr>
          <a:xfrm>
            <a:off x="7551078" y="304882"/>
            <a:ext cx="47481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pt-BR" altLang="zh-CN" sz="100" dirty="0"/>
              <a:t>n = 0:5</a:t>
            </a:r>
          </a:p>
          <a:p>
            <a:pPr algn="l"/>
            <a:r>
              <a:rPr lang="pt-BR" altLang="zh-CN" sz="100" dirty="0"/>
              <a:t>num = c(565664, 68714, 5177, 365, 24, 6)</a:t>
            </a:r>
          </a:p>
          <a:p>
            <a:pPr algn="l"/>
            <a:r>
              <a:rPr lang="pt-BR" altLang="zh-CN" sz="100" dirty="0"/>
              <a:t>mu = sum(n*num/sum(num)); mu</a:t>
            </a:r>
          </a:p>
          <a:p>
            <a:pPr algn="l"/>
            <a:r>
              <a:rPr lang="pt-BR" altLang="zh-CN" sz="100" dirty="0"/>
              <a:t>sigma2 = sum(n^2*num)/sum(num) - mu^2; sigma2</a:t>
            </a:r>
          </a:p>
          <a:p>
            <a:pPr algn="l"/>
            <a:r>
              <a:rPr lang="pt-BR" altLang="zh-CN" sz="100" dirty="0"/>
              <a:t>mu3 = sum((n - mu)^3*num/sum(num)); mu3</a:t>
            </a:r>
          </a:p>
          <a:p>
            <a:pPr algn="l"/>
            <a:r>
              <a:rPr lang="pt-BR" altLang="zh-CN" sz="100" dirty="0"/>
              <a:t>A = 3*sigma2 - 2*mu</a:t>
            </a:r>
          </a:p>
          <a:p>
            <a:pPr algn="l"/>
            <a:r>
              <a:rPr lang="pt-BR" altLang="zh-CN" sz="100" dirty="0"/>
              <a:t>B = (sigma2 -mu)^2/mu</a:t>
            </a:r>
          </a:p>
          <a:p>
            <a:pPr algn="l"/>
            <a:r>
              <a:rPr lang="pt-BR" altLang="zh-CN" sz="100" dirty="0"/>
              <a:t>(mu3 - A)/B</a:t>
            </a:r>
          </a:p>
          <a:p>
            <a:pPr algn="l"/>
            <a:r>
              <a:rPr lang="pt-BR" altLang="zh-CN" sz="100" dirty="0"/>
              <a:t>uniroot(function(r) (r+2)/(r+1)-7.543865, c(-1,1))$root</a:t>
            </a:r>
            <a:endParaRPr lang="zh-CN" altLang="en-US" sz="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0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90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90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0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01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901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build="p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FAC66A-7389-4AA5-AF53-07E643891D87}" type="slidenum">
              <a:rPr lang="zh-CN" altLang="en-US" smtClean="0"/>
              <a:pPr>
                <a:defRPr/>
              </a:pPr>
              <a:t>70</a:t>
            </a:fld>
            <a:endParaRPr lang="en-US" altLang="zh-CN"/>
          </a:p>
        </p:txBody>
      </p:sp>
      <p:pic>
        <p:nvPicPr>
          <p:cNvPr id="15667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04" y="569566"/>
            <a:ext cx="7695998" cy="5675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77752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891278"/>
            <a:ext cx="2133600" cy="476250"/>
          </a:xfrm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235232A-F988-4C2B-8694-AA39FAF3B039}" type="slidenum">
              <a:rPr lang="zh-CN" altLang="en-US" sz="1400"/>
              <a:pPr eaLnBrk="1" hangingPunct="1"/>
              <a:t>71</a:t>
            </a:fld>
            <a:endParaRPr lang="en-US" altLang="zh-CN" sz="1400"/>
          </a:p>
        </p:txBody>
      </p:sp>
      <p:sp>
        <p:nvSpPr>
          <p:cNvPr id="118787" name="Oval 3"/>
          <p:cNvSpPr>
            <a:spLocks noChangeArrowheads="1"/>
          </p:cNvSpPr>
          <p:nvPr/>
        </p:nvSpPr>
        <p:spPr bwMode="auto">
          <a:xfrm>
            <a:off x="3276600" y="914466"/>
            <a:ext cx="2519363" cy="935037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/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b</a:t>
            </a:r>
            <a:r>
              <a:rPr lang="en-US" altLang="zh-C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0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118788" name="Oval 4"/>
          <p:cNvSpPr>
            <a:spLocks noChangeArrowheads="1"/>
          </p:cNvSpPr>
          <p:nvPr/>
        </p:nvSpPr>
        <p:spPr bwMode="auto">
          <a:xfrm>
            <a:off x="2484438" y="2354328"/>
            <a:ext cx="4679950" cy="1152525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/>
            <a:r>
              <a:rPr lang="en-US" altLang="zh-CN" sz="1800" dirty="0"/>
              <a:t>(</a:t>
            </a:r>
            <a:r>
              <a:rPr lang="en-US" altLang="zh-CN" sz="18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a, b</a:t>
            </a:r>
            <a:r>
              <a:rPr lang="en-US" altLang="zh-CN" sz="1800" dirty="0" smtClean="0"/>
              <a:t>, 1</a:t>
            </a:r>
            <a:r>
              <a:rPr lang="en-US" altLang="zh-CN" sz="1800" dirty="0"/>
              <a:t>) </a:t>
            </a:r>
          </a:p>
        </p:txBody>
      </p:sp>
      <p:sp>
        <p:nvSpPr>
          <p:cNvPr id="118789" name="Oval 5"/>
          <p:cNvSpPr>
            <a:spLocks noChangeArrowheads="1"/>
          </p:cNvSpPr>
          <p:nvPr/>
        </p:nvSpPr>
        <p:spPr bwMode="auto">
          <a:xfrm>
            <a:off x="1116013" y="3795778"/>
            <a:ext cx="3600450" cy="8636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/>
            <a:r>
              <a:rPr lang="zh-CN" altLang="en-US" sz="1800" dirty="0" smtClean="0"/>
              <a:t>复合</a:t>
            </a:r>
            <a:endParaRPr lang="en-US" altLang="zh-CN" sz="1800" dirty="0"/>
          </a:p>
        </p:txBody>
      </p:sp>
      <p:sp>
        <p:nvSpPr>
          <p:cNvPr id="118790" name="Oval 6"/>
          <p:cNvSpPr>
            <a:spLocks noChangeArrowheads="1"/>
          </p:cNvSpPr>
          <p:nvPr/>
        </p:nvSpPr>
        <p:spPr bwMode="auto">
          <a:xfrm>
            <a:off x="4859338" y="3795778"/>
            <a:ext cx="3455987" cy="8636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/>
            <a:r>
              <a:rPr lang="zh-CN" altLang="en-US" sz="1800" dirty="0" smtClean="0"/>
              <a:t>混合</a:t>
            </a:r>
            <a:endParaRPr lang="en-US" altLang="zh-CN" sz="1800" dirty="0"/>
          </a:p>
        </p:txBody>
      </p:sp>
      <p:sp>
        <p:nvSpPr>
          <p:cNvPr id="118791" name="Oval 7"/>
          <p:cNvSpPr>
            <a:spLocks noChangeArrowheads="1"/>
          </p:cNvSpPr>
          <p:nvPr/>
        </p:nvSpPr>
        <p:spPr bwMode="auto">
          <a:xfrm>
            <a:off x="2627313" y="5235641"/>
            <a:ext cx="2089150" cy="576262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/>
            <a:r>
              <a:rPr lang="zh-CN" altLang="en-US" sz="1800" dirty="0" smtClean="0"/>
              <a:t>复合泊松</a:t>
            </a:r>
            <a:endParaRPr lang="en-US" altLang="zh-CN" sz="1800" dirty="0"/>
          </a:p>
        </p:txBody>
      </p:sp>
      <p:sp>
        <p:nvSpPr>
          <p:cNvPr id="118792" name="Oval 8"/>
          <p:cNvSpPr>
            <a:spLocks noChangeArrowheads="1"/>
          </p:cNvSpPr>
          <p:nvPr/>
        </p:nvSpPr>
        <p:spPr bwMode="auto">
          <a:xfrm>
            <a:off x="5148263" y="5307078"/>
            <a:ext cx="2160587" cy="576263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/>
            <a:r>
              <a:rPr lang="zh-CN" altLang="en-US" sz="1800" dirty="0" smtClean="0"/>
              <a:t>混合泊松</a:t>
            </a:r>
            <a:endParaRPr lang="en-US" altLang="zh-CN" sz="1800" dirty="0"/>
          </a:p>
        </p:txBody>
      </p:sp>
      <p:sp>
        <p:nvSpPr>
          <p:cNvPr id="118793" name="AutoShape 9"/>
          <p:cNvSpPr>
            <a:spLocks noChangeArrowheads="1"/>
          </p:cNvSpPr>
          <p:nvPr/>
        </p:nvSpPr>
        <p:spPr bwMode="auto">
          <a:xfrm>
            <a:off x="3419475" y="3435416"/>
            <a:ext cx="287338" cy="358775"/>
          </a:xfrm>
          <a:prstGeom prst="downArrow">
            <a:avLst>
              <a:gd name="adj1" fmla="val 50000"/>
              <a:gd name="adj2" fmla="val 3121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18794" name="AutoShape 10"/>
          <p:cNvSpPr>
            <a:spLocks noChangeArrowheads="1"/>
          </p:cNvSpPr>
          <p:nvPr/>
        </p:nvSpPr>
        <p:spPr bwMode="auto">
          <a:xfrm>
            <a:off x="4427538" y="1851091"/>
            <a:ext cx="287337" cy="358775"/>
          </a:xfrm>
          <a:prstGeom prst="downArrow">
            <a:avLst>
              <a:gd name="adj1" fmla="val 50000"/>
              <a:gd name="adj2" fmla="val 3121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18795" name="AutoShape 11"/>
          <p:cNvSpPr>
            <a:spLocks noChangeArrowheads="1"/>
          </p:cNvSpPr>
          <p:nvPr/>
        </p:nvSpPr>
        <p:spPr bwMode="auto">
          <a:xfrm>
            <a:off x="5795963" y="3435416"/>
            <a:ext cx="287337" cy="358775"/>
          </a:xfrm>
          <a:prstGeom prst="downArrow">
            <a:avLst>
              <a:gd name="adj1" fmla="val 50000"/>
              <a:gd name="adj2" fmla="val 3121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18796" name="AutoShape 12"/>
          <p:cNvSpPr>
            <a:spLocks noChangeArrowheads="1"/>
          </p:cNvSpPr>
          <p:nvPr/>
        </p:nvSpPr>
        <p:spPr bwMode="auto">
          <a:xfrm>
            <a:off x="3419475" y="4730816"/>
            <a:ext cx="287338" cy="358775"/>
          </a:xfrm>
          <a:prstGeom prst="downArrow">
            <a:avLst>
              <a:gd name="adj1" fmla="val 50000"/>
              <a:gd name="adj2" fmla="val 3121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18797" name="AutoShape 13"/>
          <p:cNvSpPr>
            <a:spLocks noChangeArrowheads="1"/>
          </p:cNvSpPr>
          <p:nvPr/>
        </p:nvSpPr>
        <p:spPr bwMode="auto">
          <a:xfrm>
            <a:off x="5867400" y="4803841"/>
            <a:ext cx="287338" cy="358775"/>
          </a:xfrm>
          <a:prstGeom prst="downArrow">
            <a:avLst>
              <a:gd name="adj1" fmla="val 50000"/>
              <a:gd name="adj2" fmla="val 3121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118798" name="AutoShape 14"/>
          <p:cNvSpPr>
            <a:spLocks noChangeArrowheads="1"/>
          </p:cNvSpPr>
          <p:nvPr/>
        </p:nvSpPr>
        <p:spPr bwMode="auto">
          <a:xfrm>
            <a:off x="4787900" y="5596003"/>
            <a:ext cx="215900" cy="71438"/>
          </a:xfrm>
          <a:prstGeom prst="leftRightArrow">
            <a:avLst>
              <a:gd name="adj1" fmla="val 50000"/>
              <a:gd name="adj2" fmla="val 60444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-1318923" y="62554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小结：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8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8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8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18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8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8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8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7" grpId="0" animBg="1" autoUpdateAnimBg="0"/>
      <p:bldP spid="118788" grpId="0" animBg="1" autoUpdateAnimBg="0"/>
      <p:bldP spid="118789" grpId="0" animBg="1" autoUpdateAnimBg="0"/>
      <p:bldP spid="118790" grpId="0" animBg="1" autoUpdateAnimBg="0"/>
      <p:bldP spid="118791" grpId="0" animBg="1" autoUpdateAnimBg="0"/>
      <p:bldP spid="118792" grpId="0" animBg="1" autoUpdateAnimBg="0"/>
      <p:bldP spid="118793" grpId="0" animBg="1"/>
      <p:bldP spid="118794" grpId="0" animBg="1"/>
      <p:bldP spid="118795" grpId="0" animBg="1"/>
      <p:bldP spid="118796" grpId="0" animBg="1"/>
      <p:bldP spid="118797" grpId="0" animBg="1"/>
      <p:bldP spid="118798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3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71986"/>
            <a:ext cx="8229600" cy="631825"/>
          </a:xfrm>
        </p:spPr>
        <p:txBody>
          <a:bodyPr/>
          <a:lstStyle/>
          <a:p>
            <a:pPr algn="ctr" eaLnBrk="1" hangingPunct="1"/>
            <a:r>
              <a:rPr lang="zh-CN" altLang="en-US" dirty="0" smtClean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免赔额对索赔次数模型的影响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idx="1"/>
          </p:nvPr>
        </p:nvSpPr>
        <p:spPr>
          <a:xfrm>
            <a:off x="381110" y="1196718"/>
            <a:ext cx="8229600" cy="5334000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lang="en-US" altLang="zh-CN" b="1" i="1" dirty="0" smtClean="0">
                <a:latin typeface="Times New Roman" pitchFamily="18" charset="0"/>
              </a:rPr>
              <a:t>X</a:t>
            </a:r>
            <a:r>
              <a:rPr lang="en-US" altLang="zh-CN" b="1" dirty="0" smtClean="0">
                <a:latin typeface="Times New Roman" pitchFamily="18" charset="0"/>
              </a:rPr>
              <a:t>: </a:t>
            </a:r>
            <a:r>
              <a:rPr lang="zh-CN" altLang="en-US" b="1" dirty="0" smtClean="0">
                <a:latin typeface="Times New Roman" pitchFamily="18" charset="0"/>
              </a:rPr>
              <a:t>原始损失金额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: 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原始损失次数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i="1" dirty="0" smtClean="0">
                <a:latin typeface="Times New Roman" pitchFamily="18" charset="0"/>
              </a:rPr>
              <a:t>d</a:t>
            </a:r>
            <a:r>
              <a:rPr lang="en-US" altLang="zh-CN" b="1" dirty="0" smtClean="0">
                <a:latin typeface="Times New Roman" pitchFamily="18" charset="0"/>
              </a:rPr>
              <a:t>: </a:t>
            </a:r>
            <a:r>
              <a:rPr lang="zh-CN" altLang="en-US" b="1" dirty="0" smtClean="0">
                <a:latin typeface="Times New Roman" pitchFamily="18" charset="0"/>
              </a:rPr>
              <a:t>免赔额</a:t>
            </a:r>
          </a:p>
          <a:p>
            <a:pPr eaLnBrk="1" hangingPunct="1">
              <a:lnSpc>
                <a:spcPct val="140000"/>
              </a:lnSpc>
            </a:pPr>
            <a:r>
              <a:rPr lang="en-US" altLang="zh-CN" b="1" i="1" dirty="0" smtClean="0">
                <a:latin typeface="Times New Roman" pitchFamily="18" charset="0"/>
              </a:rPr>
              <a:t>v</a:t>
            </a:r>
            <a:r>
              <a:rPr lang="en-US" altLang="zh-CN" b="1" dirty="0" smtClean="0">
                <a:latin typeface="Times New Roman" pitchFamily="18" charset="0"/>
              </a:rPr>
              <a:t>: </a:t>
            </a:r>
            <a:r>
              <a:rPr lang="zh-CN" altLang="en-US" b="1" dirty="0" smtClean="0">
                <a:latin typeface="Times New Roman" pitchFamily="18" charset="0"/>
              </a:rPr>
              <a:t>一次损失导致索赔的概率 </a:t>
            </a:r>
            <a:r>
              <a:rPr lang="en-US" altLang="zh-CN" b="1" i="1" dirty="0" smtClean="0">
                <a:latin typeface="Times New Roman" pitchFamily="18" charset="0"/>
              </a:rPr>
              <a:t>v</a:t>
            </a:r>
            <a:r>
              <a:rPr lang="en-US" altLang="zh-CN" b="1" dirty="0" smtClean="0">
                <a:latin typeface="Times New Roman" pitchFamily="18" charset="0"/>
              </a:rPr>
              <a:t> = </a:t>
            </a:r>
            <a:r>
              <a:rPr lang="en-US" altLang="zh-CN" b="1" dirty="0" err="1" smtClean="0">
                <a:latin typeface="Times New Roman" pitchFamily="18" charset="0"/>
              </a:rPr>
              <a:t>Pr</a:t>
            </a:r>
            <a:r>
              <a:rPr lang="en-US" altLang="zh-CN" b="1" dirty="0" smtClean="0">
                <a:latin typeface="Times New Roman" pitchFamily="18" charset="0"/>
              </a:rPr>
              <a:t>(</a:t>
            </a:r>
            <a:r>
              <a:rPr lang="en-US" altLang="zh-CN" b="1" i="1" dirty="0" smtClean="0">
                <a:latin typeface="Times New Roman" pitchFamily="18" charset="0"/>
              </a:rPr>
              <a:t>X </a:t>
            </a:r>
            <a:r>
              <a:rPr lang="en-US" altLang="zh-CN" b="1" dirty="0" smtClean="0">
                <a:latin typeface="Times New Roman" pitchFamily="18" charset="0"/>
              </a:rPr>
              <a:t>&gt; </a:t>
            </a:r>
            <a:r>
              <a:rPr lang="en-US" altLang="zh-CN" b="1" i="1" dirty="0" smtClean="0">
                <a:latin typeface="Times New Roman" pitchFamily="18" charset="0"/>
              </a:rPr>
              <a:t>d</a:t>
            </a:r>
            <a:r>
              <a:rPr lang="en-US" altLang="zh-CN" b="1" dirty="0" smtClean="0">
                <a:latin typeface="Times New Roman" pitchFamily="18" charset="0"/>
              </a:rPr>
              <a:t>)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b="1" dirty="0" smtClean="0">
                <a:latin typeface="Times New Roman" pitchFamily="18" charset="0"/>
              </a:rPr>
              <a:t>第 </a:t>
            </a:r>
            <a:r>
              <a:rPr lang="en-US" altLang="zh-CN" b="1" i="1" dirty="0" smtClean="0">
                <a:latin typeface="Times New Roman" pitchFamily="18" charset="0"/>
              </a:rPr>
              <a:t>j </a:t>
            </a:r>
            <a:r>
              <a:rPr lang="zh-CN" altLang="en-US" b="1" dirty="0" smtClean="0">
                <a:latin typeface="Times New Roman" pitchFamily="18" charset="0"/>
              </a:rPr>
              <a:t>次损失导致索赔，</a:t>
            </a:r>
            <a:r>
              <a:rPr lang="en-US" altLang="zh-CN" b="1" i="1" dirty="0" err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CN" b="1" i="1" baseline="-25000" dirty="0" err="1" smtClean="0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=1</a:t>
            </a:r>
            <a:r>
              <a:rPr lang="zh-CN" altLang="en-US" b="1" dirty="0" smtClean="0">
                <a:latin typeface="Times New Roman" pitchFamily="18" charset="0"/>
              </a:rPr>
              <a:t>，否则， </a:t>
            </a:r>
            <a:r>
              <a:rPr lang="en-US" altLang="zh-CN" b="1" i="1" dirty="0" err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CN" b="1" i="1" baseline="-25000" dirty="0" err="1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CN" b="1" i="1" baseline="-25000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=0</a:t>
            </a:r>
            <a:r>
              <a:rPr lang="zh-CN" altLang="en-US" b="1" dirty="0" smtClean="0">
                <a:latin typeface="Times New Roman" pitchFamily="18" charset="0"/>
              </a:rPr>
              <a:t> </a:t>
            </a:r>
            <a:endParaRPr lang="en-US" altLang="zh-CN" b="1" dirty="0" smtClean="0">
              <a:latin typeface="Times New Roman" pitchFamily="18" charset="0"/>
            </a:endParaRPr>
          </a:p>
          <a:p>
            <a:pPr>
              <a:lnSpc>
                <a:spcPct val="140000"/>
              </a:lnSpc>
            </a:pPr>
            <a:r>
              <a:rPr lang="en-US" altLang="zh-CN" b="1" i="1" dirty="0" err="1" smtClean="0">
                <a:latin typeface="Times New Roman" pitchFamily="18" charset="0"/>
              </a:rPr>
              <a:t>I</a:t>
            </a:r>
            <a:r>
              <a:rPr lang="en-US" altLang="zh-CN" b="1" i="1" baseline="-25000" dirty="0" err="1" smtClean="0">
                <a:latin typeface="Times New Roman" pitchFamily="18" charset="0"/>
              </a:rPr>
              <a:t>j</a:t>
            </a:r>
            <a:r>
              <a:rPr lang="en-US" altLang="zh-CN" b="1" i="1" dirty="0" smtClean="0">
                <a:latin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</a:rPr>
              <a:t>是参数为 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</a:rPr>
              <a:t>v </a:t>
            </a:r>
            <a:r>
              <a:rPr lang="zh-CN" altLang="en-US" dirty="0">
                <a:latin typeface="Times New Roman" pitchFamily="18" charset="0"/>
              </a:rPr>
              <a:t>的伯努利分布，</a:t>
            </a:r>
            <a:r>
              <a:rPr lang="zh-CN" altLang="en-US" b="1" dirty="0" smtClean="0">
                <a:latin typeface="Times New Roman" pitchFamily="18" charset="0"/>
              </a:rPr>
              <a:t>母函数</a:t>
            </a:r>
            <a:r>
              <a:rPr lang="en-US" altLang="zh-CN" b="1" dirty="0" smtClean="0">
                <a:latin typeface="Times New Roman" pitchFamily="18" charset="0"/>
              </a:rPr>
              <a:t>:</a:t>
            </a:r>
            <a:endParaRPr lang="en-US" altLang="zh-CN" b="1" i="1" dirty="0" smtClean="0">
              <a:latin typeface="Times New Roman" pitchFamily="18" charset="0"/>
            </a:endParaRPr>
          </a:p>
          <a:p>
            <a:pPr>
              <a:lnSpc>
                <a:spcPct val="140000"/>
              </a:lnSpc>
            </a:pPr>
            <a:r>
              <a:rPr lang="zh-CN" altLang="en-US" b="1" dirty="0" smtClean="0">
                <a:solidFill>
                  <a:srgbClr val="FF0000"/>
                </a:solidFill>
                <a:latin typeface="Times New Roman" pitchFamily="18" charset="0"/>
              </a:rPr>
              <a:t>索赔次数 </a:t>
            </a:r>
            <a:r>
              <a:rPr lang="en-US" altLang="zh-CN" i="1" dirty="0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i="1" baseline="30000" dirty="0" smtClean="0">
                <a:solidFill>
                  <a:srgbClr val="FF0000"/>
                </a:solidFill>
                <a:latin typeface="Times New Roman" pitchFamily="18" charset="0"/>
              </a:rPr>
              <a:t>P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:</a:t>
            </a:r>
          </a:p>
        </p:txBody>
      </p:sp>
      <p:sp>
        <p:nvSpPr>
          <p:cNvPr id="1177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7F3FFC5D-356C-4E47-BD76-FC7699CD621B}" type="slidenum">
              <a:rPr lang="zh-CN" altLang="en-US" sz="1400"/>
              <a:pPr eaLnBrk="1" hangingPunct="1"/>
              <a:t>72</a:t>
            </a:fld>
            <a:endParaRPr lang="en-US" altLang="zh-CN" sz="1400"/>
          </a:p>
        </p:txBody>
      </p:sp>
      <p:graphicFrame>
        <p:nvGraphicFramePr>
          <p:cNvPr id="1198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754386"/>
              </p:ext>
            </p:extLst>
          </p:nvPr>
        </p:nvGraphicFramePr>
        <p:xfrm>
          <a:off x="2695162" y="5405815"/>
          <a:ext cx="3973513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61" name="Equation" r:id="rId3" imgW="1816100" imgH="241300" progId="Equation.DSMT4">
                  <p:embed/>
                </p:oleObj>
              </mc:Choice>
              <mc:Fallback>
                <p:oleObj name="Equation" r:id="rId3" imgW="1816100" imgH="2413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162" y="5405815"/>
                        <a:ext cx="3973513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98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0281310"/>
              </p:ext>
            </p:extLst>
          </p:nvPr>
        </p:nvGraphicFramePr>
        <p:xfrm>
          <a:off x="2667050" y="5974360"/>
          <a:ext cx="3047972" cy="57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462" name="Equation" r:id="rId5" imgW="1333500" imgH="254000" progId="Equation.DSMT4">
                  <p:embed/>
                </p:oleObj>
              </mc:Choice>
              <mc:Fallback>
                <p:oleObj name="Equation" r:id="rId5" imgW="1333500" imgH="2540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50" y="5974360"/>
                        <a:ext cx="3047972" cy="57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98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9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9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9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9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9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9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9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9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1" grpId="0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6B7FA185-C87B-44E1-9E5E-0E8F0002722C}" type="slidenum">
              <a:rPr lang="zh-CN" altLang="en-US" sz="1400"/>
              <a:pPr eaLnBrk="1" hangingPunct="1"/>
              <a:t>73</a:t>
            </a:fld>
            <a:endParaRPr lang="en-US" altLang="zh-CN" sz="1400"/>
          </a:p>
        </p:txBody>
      </p:sp>
      <p:sp>
        <p:nvSpPr>
          <p:cNvPr id="118787" name="Text Box 2"/>
          <p:cNvSpPr txBox="1">
            <a:spLocks noChangeArrowheads="1"/>
          </p:cNvSpPr>
          <p:nvPr/>
        </p:nvSpPr>
        <p:spPr bwMode="auto">
          <a:xfrm>
            <a:off x="762100" y="1219004"/>
            <a:ext cx="7467600" cy="1163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fontAlgn="base" hangingPunct="1">
              <a:lnSpc>
                <a:spcPct val="145000"/>
              </a:lnSpc>
            </a:pPr>
            <a:r>
              <a:rPr lang="zh-CN" altLang="en-US" sz="2400" b="1" dirty="0">
                <a:latin typeface="Times New Roman" pitchFamily="18" charset="0"/>
              </a:rPr>
              <a:t>如果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sz="2400" b="1" i="1" dirty="0" err="1" smtClean="0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CN" sz="2400" b="1" i="1" baseline="-25000" dirty="0" err="1">
                <a:solidFill>
                  <a:srgbClr val="FF0000"/>
                </a:solidFill>
                <a:latin typeface="Times New Roman" pitchFamily="18" charset="0"/>
              </a:rPr>
              <a:t>j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sz="2400" b="1" i="1" dirty="0" smtClean="0"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相互独立，且与 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2400" b="1" i="1" baseline="30000" dirty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zh-CN" sz="2400" b="1" i="1" baseline="30000" dirty="0"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独立</a:t>
            </a:r>
            <a:r>
              <a:rPr lang="zh-CN" altLang="en-US" sz="2400" b="1" i="1" dirty="0">
                <a:latin typeface="Times New Roman" pitchFamily="18" charset="0"/>
              </a:rPr>
              <a:t>，</a:t>
            </a:r>
            <a:r>
              <a:rPr lang="zh-CN" altLang="en-US" sz="2400" b="1" dirty="0">
                <a:latin typeface="Times New Roman" pitchFamily="18" charset="0"/>
              </a:rPr>
              <a:t>则 </a:t>
            </a:r>
            <a:r>
              <a:rPr lang="en-US" altLang="zh-CN" sz="2400" b="1" i="1" dirty="0">
                <a:solidFill>
                  <a:srgbClr val="0000CC"/>
                </a:solidFill>
                <a:latin typeface="Times New Roman" pitchFamily="18" charset="0"/>
              </a:rPr>
              <a:t>N</a:t>
            </a:r>
            <a:r>
              <a:rPr lang="en-US" altLang="zh-CN" sz="2400" b="1" i="1" baseline="30000" dirty="0">
                <a:solidFill>
                  <a:srgbClr val="0000CC"/>
                </a:solidFill>
                <a:latin typeface="Times New Roman" pitchFamily="18" charset="0"/>
              </a:rPr>
              <a:t>P</a:t>
            </a:r>
            <a:r>
              <a:rPr lang="en-US" altLang="zh-CN" sz="2400" b="1" dirty="0">
                <a:solidFill>
                  <a:srgbClr val="0000CC"/>
                </a:solidFill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是复合分布，首分布为 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2400" b="1" i="1" baseline="30000" dirty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altLang="zh-CN" sz="2400" b="1" i="1" baseline="30000" dirty="0">
                <a:latin typeface="Times New Roman" pitchFamily="18" charset="0"/>
              </a:rPr>
              <a:t> </a:t>
            </a:r>
            <a:r>
              <a:rPr lang="zh-CN" altLang="en-US" sz="2400" b="1" dirty="0">
                <a:latin typeface="Times New Roman" pitchFamily="18" charset="0"/>
              </a:rPr>
              <a:t>的分布，次分布为伯努利分布，故</a:t>
            </a:r>
          </a:p>
        </p:txBody>
      </p:sp>
      <p:graphicFrame>
        <p:nvGraphicFramePr>
          <p:cNvPr id="11878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485009"/>
              </p:ext>
            </p:extLst>
          </p:nvPr>
        </p:nvGraphicFramePr>
        <p:xfrm>
          <a:off x="1600278" y="3048010"/>
          <a:ext cx="55562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495" name="Equation" r:id="rId3" imgW="2412720" imgH="304560" progId="Equation.DSMT4">
                  <p:embed/>
                </p:oleObj>
              </mc:Choice>
              <mc:Fallback>
                <p:oleObj name="Equation" r:id="rId3" imgW="2412720" imgH="30456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78" y="3048010"/>
                        <a:ext cx="555625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74</a:t>
            </a:fld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76318" y="951246"/>
            <a:ext cx="82750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400" b="1" dirty="0" smtClean="0">
                <a:solidFill>
                  <a:srgbClr val="0000CC"/>
                </a:solidFill>
                <a:latin typeface="Times New Roman" pitchFamily="18" charset="0"/>
              </a:rPr>
              <a:t>:  </a:t>
            </a:r>
            <a:r>
              <a:rPr lang="zh-CN" altLang="en-US" sz="2400" b="1" dirty="0">
                <a:solidFill>
                  <a:srgbClr val="0000FF"/>
                </a:solidFill>
                <a:latin typeface="Times New Roman" pitchFamily="18" charset="0"/>
              </a:rPr>
              <a:t>若</a:t>
            </a:r>
            <a:r>
              <a:rPr lang="zh-CN" altLang="en-US" sz="2400" b="1" dirty="0" smtClean="0">
                <a:solidFill>
                  <a:srgbClr val="0000FF"/>
                </a:solidFill>
                <a:latin typeface="Times New Roman" pitchFamily="18" charset="0"/>
              </a:rPr>
              <a:t>损失次数是泊松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（</a:t>
            </a:r>
            <a:r>
              <a:rPr lang="el-GR" altLang="zh-CN" sz="2400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b="1" dirty="0" smtClean="0">
                <a:solidFill>
                  <a:srgbClr val="0000FF"/>
                </a:solidFill>
              </a:rPr>
              <a:t>），则索赔</a:t>
            </a:r>
            <a:r>
              <a:rPr lang="zh-CN" altLang="en-US" sz="2400" b="1" dirty="0">
                <a:solidFill>
                  <a:srgbClr val="0000FF"/>
                </a:solidFill>
              </a:rPr>
              <a:t>次数也是泊松（</a:t>
            </a:r>
            <a:r>
              <a:rPr lang="en-US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l-GR" altLang="zh-CN" sz="24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λ</a:t>
            </a:r>
            <a:r>
              <a:rPr lang="zh-CN" altLang="en-US" sz="2400" b="1" dirty="0">
                <a:solidFill>
                  <a:srgbClr val="0000FF"/>
                </a:solidFill>
              </a:rPr>
              <a:t>）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2081042"/>
              </p:ext>
            </p:extLst>
          </p:nvPr>
        </p:nvGraphicFramePr>
        <p:xfrm>
          <a:off x="2209862" y="3429000"/>
          <a:ext cx="4206875" cy="281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465" name="Equation" r:id="rId3" imgW="1993680" imgH="1333440" progId="Equation.DSMT4">
                  <p:embed/>
                </p:oleObj>
              </mc:Choice>
              <mc:Fallback>
                <p:oleObj name="Equation" r:id="rId3" imgW="1993680" imgH="13334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62" y="3429000"/>
                        <a:ext cx="4206875" cy="2816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1654502"/>
              </p:ext>
            </p:extLst>
          </p:nvPr>
        </p:nvGraphicFramePr>
        <p:xfrm>
          <a:off x="2438456" y="1878340"/>
          <a:ext cx="2921000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466" name="Equation" r:id="rId5" imgW="1384200" imgH="253800" progId="Equation.DSMT4">
                  <p:embed/>
                </p:oleObj>
              </mc:Choice>
              <mc:Fallback>
                <p:oleObj name="Equation" r:id="rId5" imgW="1384200" imgH="25380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56" y="1878340"/>
                        <a:ext cx="2921000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6383" y="2728994"/>
            <a:ext cx="1980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 smtClean="0"/>
              <a:t>索赔次数：</a:t>
            </a:r>
            <a:endParaRPr lang="zh-CN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381110" y="1878340"/>
            <a:ext cx="1980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损失</a:t>
            </a:r>
            <a:r>
              <a:rPr lang="zh-CN" altLang="en-US" b="1" dirty="0" smtClean="0"/>
              <a:t>次数：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4044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75</a:t>
            </a:fld>
            <a:endParaRPr lang="en-US" altLang="zh-CN"/>
          </a:p>
        </p:txBody>
      </p:sp>
      <p:graphicFrame>
        <p:nvGraphicFramePr>
          <p:cNvPr id="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5937735"/>
              </p:ext>
            </p:extLst>
          </p:nvPr>
        </p:nvGraphicFramePr>
        <p:xfrm>
          <a:off x="2743248" y="3276604"/>
          <a:ext cx="3886200" cy="233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47" name="Equation" r:id="rId3" imgW="1841400" imgH="1104840" progId="Equation.DSMT4">
                  <p:embed/>
                </p:oleObj>
              </mc:Choice>
              <mc:Fallback>
                <p:oleObj name="Equation" r:id="rId3" imgW="1841400" imgH="1104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48" y="3276604"/>
                        <a:ext cx="3886200" cy="233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8"/>
          <p:cNvSpPr txBox="1">
            <a:spLocks noChangeArrowheads="1"/>
          </p:cNvSpPr>
          <p:nvPr/>
        </p:nvSpPr>
        <p:spPr bwMode="auto">
          <a:xfrm>
            <a:off x="441695" y="457278"/>
            <a:ext cx="6857968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fontAlgn="base" hangingPunct="1">
              <a:lnSpc>
                <a:spcPct val="200000"/>
              </a:lnSpc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免赔额的影响</a:t>
            </a:r>
            <a:r>
              <a:rPr lang="zh-CN" altLang="en-US" sz="2400" dirty="0" smtClean="0">
                <a:latin typeface="Times New Roman" pitchFamily="18" charset="0"/>
              </a:rPr>
              <a:t>：</a:t>
            </a:r>
            <a:r>
              <a:rPr lang="zh-CN" altLang="en-US" sz="2400" b="1" dirty="0" smtClean="0">
                <a:latin typeface="Times New Roman" pitchFamily="18" charset="0"/>
              </a:rPr>
              <a:t>若损失</a:t>
            </a:r>
            <a:r>
              <a:rPr lang="zh-CN" altLang="en-US" sz="2400" b="1" dirty="0">
                <a:latin typeface="Times New Roman" pitchFamily="18" charset="0"/>
              </a:rPr>
              <a:t>次数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2400" b="1" i="1" baseline="30000" dirty="0">
                <a:solidFill>
                  <a:srgbClr val="FF0000"/>
                </a:solidFill>
                <a:latin typeface="Times New Roman" pitchFamily="18" charset="0"/>
              </a:rPr>
              <a:t>L </a:t>
            </a:r>
            <a:r>
              <a:rPr lang="zh-CN" altLang="en-US" sz="2400" b="1" dirty="0">
                <a:latin typeface="Times New Roman" pitchFamily="18" charset="0"/>
              </a:rPr>
              <a:t>是（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dirty="0" smtClean="0">
                <a:latin typeface="Times New Roman" pitchFamily="18" charset="0"/>
              </a:rPr>
              <a:t> </a:t>
            </a:r>
            <a:r>
              <a:rPr lang="en-US" altLang="zh-CN" sz="2400" b="1" i="1" dirty="0" smtClean="0">
                <a:latin typeface="Times New Roman" pitchFamily="18" charset="0"/>
              </a:rPr>
              <a:t>b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dirty="0" smtClean="0">
                <a:latin typeface="Times New Roman" pitchFamily="18" charset="0"/>
              </a:rPr>
              <a:t> 0</a:t>
            </a:r>
            <a:r>
              <a:rPr lang="zh-CN" altLang="en-US" sz="2400" b="1" dirty="0" smtClean="0">
                <a:latin typeface="Times New Roman" pitchFamily="18" charset="0"/>
              </a:rPr>
              <a:t>），</a:t>
            </a:r>
            <a:endParaRPr lang="en-US" altLang="zh-CN" sz="2400" b="1" dirty="0" smtClean="0">
              <a:latin typeface="Times New Roman" pitchFamily="18" charset="0"/>
            </a:endParaRPr>
          </a:p>
          <a:p>
            <a:pPr algn="l" eaLnBrk="1" fontAlgn="base" hangingPunct="1">
              <a:lnSpc>
                <a:spcPct val="200000"/>
              </a:lnSpc>
            </a:pP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 smtClean="0">
                <a:latin typeface="Times New Roman" pitchFamily="18" charset="0"/>
              </a:rPr>
              <a:t>                            </a:t>
            </a:r>
            <a:r>
              <a:rPr lang="zh-CN" altLang="en-US" sz="2400" b="1" dirty="0" smtClean="0">
                <a:latin typeface="Times New Roman" pitchFamily="18" charset="0"/>
              </a:rPr>
              <a:t>则</a:t>
            </a:r>
            <a:r>
              <a:rPr lang="zh-CN" altLang="en-US" sz="2400" b="1" dirty="0">
                <a:latin typeface="Times New Roman" pitchFamily="18" charset="0"/>
              </a:rPr>
              <a:t>索赔</a:t>
            </a:r>
            <a:r>
              <a:rPr lang="zh-CN" altLang="en-US" sz="2400" b="1" dirty="0" smtClean="0">
                <a:latin typeface="Times New Roman" pitchFamily="18" charset="0"/>
              </a:rPr>
              <a:t>次数 </a:t>
            </a:r>
            <a:r>
              <a:rPr lang="en-US" altLang="zh-CN" sz="2400" b="1" i="1" dirty="0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sz="2400" b="1" i="1" baseline="30000" dirty="0" smtClean="0">
                <a:solidFill>
                  <a:srgbClr val="FF0000"/>
                </a:solidFill>
                <a:latin typeface="Times New Roman" pitchFamily="18" charset="0"/>
              </a:rPr>
              <a:t>P </a:t>
            </a:r>
            <a:r>
              <a:rPr lang="zh-CN" altLang="en-US" sz="2400" b="1" dirty="0" smtClean="0">
                <a:latin typeface="Times New Roman" pitchFamily="18" charset="0"/>
              </a:rPr>
              <a:t>与也是</a:t>
            </a:r>
            <a:r>
              <a:rPr lang="zh-CN" altLang="en-US" sz="2400" b="1" dirty="0">
                <a:latin typeface="Times New Roman" pitchFamily="18" charset="0"/>
              </a:rPr>
              <a:t>（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dirty="0" smtClean="0">
                <a:latin typeface="Times New Roman" pitchFamily="18" charset="0"/>
              </a:rPr>
              <a:t> </a:t>
            </a:r>
            <a:r>
              <a:rPr lang="en-US" altLang="zh-CN" sz="2400" b="1" i="1" dirty="0" smtClean="0">
                <a:latin typeface="Times New Roman" pitchFamily="18" charset="0"/>
              </a:rPr>
              <a:t>b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dirty="0" smtClean="0">
                <a:latin typeface="Times New Roman" pitchFamily="18" charset="0"/>
              </a:rPr>
              <a:t> 0</a:t>
            </a:r>
            <a:r>
              <a:rPr lang="zh-CN" altLang="en-US" sz="2400" b="1" dirty="0" smtClean="0">
                <a:latin typeface="Times New Roman" pitchFamily="18" charset="0"/>
              </a:rPr>
              <a:t>）</a:t>
            </a:r>
            <a:endParaRPr lang="zh-CN" altLang="en-US" sz="2400" dirty="0">
              <a:latin typeface="Times New Roman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4186636"/>
              </p:ext>
            </p:extLst>
          </p:nvPr>
        </p:nvGraphicFramePr>
        <p:xfrm>
          <a:off x="2798763" y="2292350"/>
          <a:ext cx="26289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448" name="Equation" r:id="rId5" imgW="1257120" imgH="253800" progId="Equation.DSMT4">
                  <p:embed/>
                </p:oleObj>
              </mc:Choice>
              <mc:Fallback>
                <p:oleObj name="Equation" r:id="rId5" imgW="1257120" imgH="253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8763" y="2292350"/>
                        <a:ext cx="26289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6967" y="2286056"/>
            <a:ext cx="1980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损失</a:t>
            </a:r>
            <a:r>
              <a:rPr lang="zh-CN" altLang="en-US" b="1" dirty="0" smtClean="0"/>
              <a:t>次数：</a:t>
            </a:r>
            <a:endParaRPr lang="zh-CN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430168" y="3210572"/>
            <a:ext cx="19800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索赔</a:t>
            </a:r>
            <a:r>
              <a:rPr lang="zh-CN" altLang="en-US" b="1" dirty="0" smtClean="0"/>
              <a:t>次数：</a:t>
            </a:r>
            <a:endParaRPr lang="zh-CN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094501" y="6019732"/>
            <a:ext cx="2191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 smtClean="0">
                <a:solidFill>
                  <a:srgbClr val="FF3300"/>
                </a:solidFill>
                <a:sym typeface="Symbol"/>
              </a:rPr>
              <a:t></a:t>
            </a:r>
            <a:r>
              <a:rPr lang="zh-CN" altLang="en-US" sz="2400" dirty="0" smtClean="0">
                <a:sym typeface="Symbol"/>
              </a:rPr>
              <a:t>的取值？下页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8379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76</a:t>
            </a:fld>
            <a:endParaRPr lang="en-US" altLang="zh-CN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6533529"/>
              </p:ext>
            </p:extLst>
          </p:nvPr>
        </p:nvGraphicFramePr>
        <p:xfrm>
          <a:off x="1752600" y="2735263"/>
          <a:ext cx="4540250" cy="236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22" name="Equation" r:id="rId3" imgW="2145960" imgH="1117440" progId="Equation.DSMT4">
                  <p:embed/>
                </p:oleObj>
              </mc:Choice>
              <mc:Fallback>
                <p:oleObj name="Equation" r:id="rId3" imgW="2145960" imgH="111744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735263"/>
                        <a:ext cx="4540250" cy="236061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818009"/>
              </p:ext>
            </p:extLst>
          </p:nvPr>
        </p:nvGraphicFramePr>
        <p:xfrm>
          <a:off x="2590852" y="1295456"/>
          <a:ext cx="26289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823" name="Equation" r:id="rId5" imgW="1257120" imgH="253800" progId="Equation.DSMT4">
                  <p:embed/>
                </p:oleObj>
              </mc:Choice>
              <mc:Fallback>
                <p:oleObj name="Equation" r:id="rId5" imgW="1257120" imgH="25380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52" y="1295456"/>
                        <a:ext cx="26289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776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Rectangle 2"/>
          <p:cNvSpPr>
            <a:spLocks noGrp="1" noChangeArrowheads="1"/>
          </p:cNvSpPr>
          <p:nvPr>
            <p:ph idx="1"/>
          </p:nvPr>
        </p:nvSpPr>
        <p:spPr>
          <a:xfrm>
            <a:off x="-37364" y="609674"/>
            <a:ext cx="8229600" cy="297178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zh-CN" altLang="en-US" b="1" dirty="0" smtClean="0"/>
              <a:t>例：如果损失次数 </a:t>
            </a:r>
            <a:r>
              <a:rPr lang="en-US" altLang="zh-CN" b="1" i="1" dirty="0" smtClean="0">
                <a:solidFill>
                  <a:srgbClr val="0000CC"/>
                </a:solidFill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solidFill>
                  <a:srgbClr val="0000CC"/>
                </a:solidFill>
                <a:latin typeface="Times New Roman" pitchFamily="18" charset="0"/>
              </a:rPr>
              <a:t>L </a:t>
            </a:r>
            <a:r>
              <a:rPr lang="zh-CN" altLang="en-US" b="1" dirty="0" smtClean="0"/>
              <a:t>服从负二项分布：</a:t>
            </a:r>
          </a:p>
        </p:txBody>
      </p:sp>
      <p:sp>
        <p:nvSpPr>
          <p:cNvPr id="11981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D16F6C9C-10F7-4A95-8323-F16F1925FA28}" type="slidenum">
              <a:rPr lang="zh-CN" altLang="en-US" sz="1400"/>
              <a:pPr eaLnBrk="1" hangingPunct="1"/>
              <a:t>77</a:t>
            </a:fld>
            <a:endParaRPr lang="en-US" altLang="zh-CN" sz="1400"/>
          </a:p>
        </p:txBody>
      </p:sp>
      <p:graphicFrame>
        <p:nvGraphicFramePr>
          <p:cNvPr id="11981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1914818"/>
              </p:ext>
            </p:extLst>
          </p:nvPr>
        </p:nvGraphicFramePr>
        <p:xfrm>
          <a:off x="2209862" y="1551055"/>
          <a:ext cx="2820988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61" name="Equation" r:id="rId3" imgW="1447560" imgH="279360" progId="Equation.DSMT4">
                  <p:embed/>
                </p:oleObj>
              </mc:Choice>
              <mc:Fallback>
                <p:oleObj name="Equation" r:id="rId3" imgW="1447560" imgH="27936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62" y="1551055"/>
                        <a:ext cx="2820988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814" name="Text Box 9"/>
          <p:cNvSpPr txBox="1">
            <a:spLocks noChangeArrowheads="1"/>
          </p:cNvSpPr>
          <p:nvPr/>
        </p:nvSpPr>
        <p:spPr bwMode="auto">
          <a:xfrm>
            <a:off x="457308" y="2572931"/>
            <a:ext cx="71699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fontAlgn="base" hangingPunct="1"/>
            <a:r>
              <a:rPr lang="zh-CN" altLang="en-US" sz="2400" b="1" dirty="0" smtClean="0">
                <a:latin typeface="Times New Roman" pitchFamily="18" charset="0"/>
              </a:rPr>
              <a:t>索赔次数 </a:t>
            </a:r>
            <a:r>
              <a:rPr lang="en-US" altLang="zh-CN" sz="2400" b="1" i="1" dirty="0" smtClean="0">
                <a:solidFill>
                  <a:srgbClr val="0000CC"/>
                </a:solidFill>
                <a:latin typeface="Times New Roman" pitchFamily="18" charset="0"/>
              </a:rPr>
              <a:t>N</a:t>
            </a:r>
            <a:r>
              <a:rPr lang="en-US" altLang="zh-CN" sz="2400" b="1" i="1" baseline="30000" dirty="0" smtClean="0">
                <a:solidFill>
                  <a:srgbClr val="0000CC"/>
                </a:solidFill>
                <a:latin typeface="Times New Roman" pitchFamily="18" charset="0"/>
              </a:rPr>
              <a:t>P</a:t>
            </a:r>
            <a:r>
              <a:rPr lang="en-US" altLang="zh-CN" sz="2400" b="1" i="1" baseline="30000" dirty="0" smtClean="0">
                <a:latin typeface="Times New Roman" pitchFamily="18" charset="0"/>
              </a:rPr>
              <a:t>  </a:t>
            </a:r>
            <a:r>
              <a:rPr lang="zh-CN" altLang="en-US" sz="2400" b="1" dirty="0" smtClean="0">
                <a:latin typeface="Times New Roman" pitchFamily="18" charset="0"/>
              </a:rPr>
              <a:t>仍然</a:t>
            </a:r>
            <a:r>
              <a:rPr lang="zh-CN" altLang="en-US" sz="2400" b="1" dirty="0">
                <a:latin typeface="Times New Roman" pitchFamily="18" charset="0"/>
              </a:rPr>
              <a:t>服从负二项分布，参数为（</a:t>
            </a:r>
            <a:r>
              <a:rPr lang="en-US" altLang="zh-CN" sz="2400" b="1" i="1" dirty="0">
                <a:latin typeface="Times New Roman" pitchFamily="18" charset="0"/>
              </a:rPr>
              <a:t>r, </a:t>
            </a:r>
            <a:r>
              <a:rPr lang="en-US" altLang="zh-CN" sz="2400" b="1" i="1" dirty="0" smtClean="0">
                <a:latin typeface="Times New Roman" pitchFamily="18" charset="0"/>
              </a:rPr>
              <a:t> </a:t>
            </a:r>
            <a:r>
              <a:rPr lang="en-US" altLang="zh-CN" sz="2400" b="1" i="1" dirty="0" err="1" smtClean="0">
                <a:latin typeface="Times New Roman" pitchFamily="18" charset="0"/>
              </a:rPr>
              <a:t>v</a:t>
            </a:r>
            <a:r>
              <a:rPr lang="en-US" altLang="zh-CN" sz="2400" b="1" i="1" dirty="0" err="1" smtClean="0">
                <a:latin typeface="Symbol" pitchFamily="18" charset="2"/>
              </a:rPr>
              <a:t>b</a:t>
            </a:r>
            <a:r>
              <a:rPr lang="zh-CN" altLang="en-US" sz="2400" b="1" dirty="0">
                <a:latin typeface="Times New Roman" pitchFamily="18" charset="0"/>
              </a:rPr>
              <a:t>）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172534"/>
              </p:ext>
            </p:extLst>
          </p:nvPr>
        </p:nvGraphicFramePr>
        <p:xfrm>
          <a:off x="1676476" y="3429000"/>
          <a:ext cx="4232275" cy="2708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0362" name="Equation" r:id="rId5" imgW="2006280" imgH="1282680" progId="Equation.DSMT4">
                  <p:embed/>
                </p:oleObj>
              </mc:Choice>
              <mc:Fallback>
                <p:oleObj name="Equation" r:id="rId5" imgW="2006280" imgH="128268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76" y="3429000"/>
                        <a:ext cx="4232275" cy="2708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19FC818-8D14-4C13-B560-ABB4AAFB14CC}" type="slidenum">
              <a:rPr lang="zh-CN" altLang="en-US" sz="1400"/>
              <a:pPr eaLnBrk="1" hangingPunct="1"/>
              <a:t>78</a:t>
            </a:fld>
            <a:endParaRPr lang="en-US" altLang="zh-CN" sz="1400"/>
          </a:p>
        </p:txBody>
      </p:sp>
      <p:sp>
        <p:nvSpPr>
          <p:cNvPr id="120835" name="Text Box 2"/>
          <p:cNvSpPr txBox="1">
            <a:spLocks noChangeArrowheads="1"/>
          </p:cNvSpPr>
          <p:nvPr/>
        </p:nvSpPr>
        <p:spPr bwMode="auto">
          <a:xfrm>
            <a:off x="1127125" y="1108075"/>
            <a:ext cx="5502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l" eaLnBrk="1" fontAlgn="base" hangingPunct="1"/>
            <a:r>
              <a:rPr lang="zh-CN" altLang="en-US" sz="2400" b="1" dirty="0">
                <a:latin typeface="Times New Roman" pitchFamily="18" charset="0"/>
              </a:rPr>
              <a:t>例（</a:t>
            </a:r>
            <a:r>
              <a:rPr lang="en-US" altLang="zh-CN" sz="2400" b="1" i="1" dirty="0">
                <a:latin typeface="Times New Roman" pitchFamily="18" charset="0"/>
              </a:rPr>
              <a:t>a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</a:rPr>
              <a:t>b</a:t>
            </a:r>
            <a:r>
              <a:rPr lang="en-US" altLang="zh-CN" sz="2400" b="1" dirty="0">
                <a:latin typeface="Times New Roman" pitchFamily="18" charset="0"/>
              </a:rPr>
              <a:t>, 0</a:t>
            </a:r>
            <a:r>
              <a:rPr lang="zh-CN" altLang="en-US" sz="2400" b="1" dirty="0">
                <a:latin typeface="Times New Roman" pitchFamily="18" charset="0"/>
              </a:rPr>
              <a:t>）</a:t>
            </a:r>
            <a:r>
              <a:rPr lang="zh-CN" altLang="en-US" sz="2400" dirty="0">
                <a:latin typeface="Times New Roman" pitchFamily="18" charset="0"/>
              </a:rPr>
              <a:t>：从 </a:t>
            </a:r>
            <a:r>
              <a:rPr lang="en-US" altLang="zh-CN" sz="2400" i="1" dirty="0">
                <a:latin typeface="Times New Roman" pitchFamily="18" charset="0"/>
              </a:rPr>
              <a:t>N</a:t>
            </a:r>
            <a:r>
              <a:rPr lang="en-US" altLang="zh-CN" sz="2400" i="1" baseline="30000" dirty="0">
                <a:latin typeface="Times New Roman" pitchFamily="18" charset="0"/>
              </a:rPr>
              <a:t>L </a:t>
            </a:r>
            <a:r>
              <a:rPr lang="zh-CN" altLang="en-US" sz="2400" dirty="0">
                <a:latin typeface="Times New Roman" pitchFamily="18" charset="0"/>
              </a:rPr>
              <a:t>推出 </a:t>
            </a:r>
            <a:r>
              <a:rPr lang="en-US" altLang="zh-CN" sz="2400" i="1" dirty="0">
                <a:latin typeface="Times New Roman" pitchFamily="18" charset="0"/>
              </a:rPr>
              <a:t>N</a:t>
            </a:r>
            <a:r>
              <a:rPr lang="en-US" altLang="zh-CN" sz="2400" i="1" baseline="30000" dirty="0">
                <a:latin typeface="Times New Roman" pitchFamily="18" charset="0"/>
              </a:rPr>
              <a:t>P         </a:t>
            </a:r>
          </a:p>
        </p:txBody>
      </p:sp>
      <p:pic>
        <p:nvPicPr>
          <p:cNvPr id="1740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06" y="2514624"/>
            <a:ext cx="8107267" cy="36032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Rectangle 2"/>
          <p:cNvSpPr>
            <a:spLocks noGrp="1" noChangeArrowheads="1"/>
          </p:cNvSpPr>
          <p:nvPr>
            <p:ph type="title"/>
          </p:nvPr>
        </p:nvSpPr>
        <p:spPr>
          <a:xfrm>
            <a:off x="152516" y="968396"/>
            <a:ext cx="8229600" cy="631825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免赔额对复合分布的影响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idx="1"/>
          </p:nvPr>
        </p:nvSpPr>
        <p:spPr>
          <a:xfrm>
            <a:off x="408703" y="1828842"/>
            <a:ext cx="8229600" cy="51054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 smtClean="0">
                <a:latin typeface="Times New Roman" pitchFamily="18" charset="0"/>
              </a:rPr>
              <a:t>当损失次数 </a:t>
            </a:r>
            <a:r>
              <a:rPr lang="en-US" altLang="zh-CN" b="1" i="1" dirty="0" smtClean="0"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latin typeface="Times New Roman" pitchFamily="18" charset="0"/>
              </a:rPr>
              <a:t>L </a:t>
            </a:r>
            <a:r>
              <a:rPr lang="zh-CN" altLang="en-US" b="1" dirty="0" smtClean="0">
                <a:latin typeface="Times New Roman" pitchFamily="18" charset="0"/>
              </a:rPr>
              <a:t>服从一种复合分布时，</a:t>
            </a:r>
          </a:p>
          <a:p>
            <a:pPr eaLnBrk="1" hangingPunct="1">
              <a:lnSpc>
                <a:spcPct val="150000"/>
              </a:lnSpc>
            </a:pPr>
            <a:endParaRPr lang="zh-CN" altLang="en-US" b="1" dirty="0" smtClean="0">
              <a:latin typeface="Times New Roman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 smtClean="0">
                <a:latin typeface="Times New Roman" pitchFamily="18" charset="0"/>
              </a:rPr>
              <a:t>索赔次数 </a:t>
            </a:r>
            <a:r>
              <a:rPr lang="en-US" altLang="zh-CN" b="1" i="1" dirty="0" smtClean="0"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latin typeface="Times New Roman" pitchFamily="18" charset="0"/>
              </a:rPr>
              <a:t>P </a:t>
            </a:r>
            <a:r>
              <a:rPr lang="zh-CN" altLang="en-US" b="1" dirty="0" smtClean="0">
                <a:latin typeface="Times New Roman" pitchFamily="18" charset="0"/>
              </a:rPr>
              <a:t>的母函数为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dirty="0" smtClean="0">
                <a:latin typeface="Times New Roman" pitchFamily="18" charset="0"/>
              </a:rPr>
              <a:t>如果</a:t>
            </a:r>
            <a:r>
              <a:rPr lang="en-US" altLang="zh-CN" b="1" i="1" dirty="0" err="1" smtClean="0">
                <a:latin typeface="Times New Roman" pitchFamily="18" charset="0"/>
              </a:rPr>
              <a:t>P</a:t>
            </a:r>
            <a:r>
              <a:rPr lang="en-US" altLang="zh-CN" b="1" baseline="-25000" dirty="0" err="1" smtClean="0">
                <a:latin typeface="Times New Roman" pitchFamily="18" charset="0"/>
              </a:rPr>
              <a:t>2</a:t>
            </a:r>
            <a:r>
              <a:rPr lang="zh-CN" altLang="en-US" b="1" dirty="0" smtClean="0">
                <a:latin typeface="Times New Roman" pitchFamily="18" charset="0"/>
              </a:rPr>
              <a:t>属于（</a:t>
            </a:r>
            <a:r>
              <a:rPr lang="en-US" altLang="zh-CN" b="1" i="1" dirty="0" smtClean="0">
                <a:latin typeface="Times New Roman" pitchFamily="18" charset="0"/>
              </a:rPr>
              <a:t>a</a:t>
            </a:r>
            <a:r>
              <a:rPr lang="en-US" altLang="zh-CN" b="1" dirty="0" smtClean="0">
                <a:latin typeface="Times New Roman" pitchFamily="18" charset="0"/>
              </a:rPr>
              <a:t>,</a:t>
            </a:r>
            <a:r>
              <a:rPr lang="en-US" altLang="zh-CN" b="1" i="1" dirty="0" smtClean="0">
                <a:latin typeface="Times New Roman" pitchFamily="18" charset="0"/>
              </a:rPr>
              <a:t> b</a:t>
            </a:r>
            <a:r>
              <a:rPr lang="en-US" altLang="zh-CN" b="1" dirty="0" smtClean="0">
                <a:latin typeface="Times New Roman" pitchFamily="18" charset="0"/>
              </a:rPr>
              <a:t>, 0</a:t>
            </a:r>
            <a:r>
              <a:rPr lang="zh-CN" altLang="en-US" b="1" dirty="0" smtClean="0">
                <a:latin typeface="Times New Roman" pitchFamily="18" charset="0"/>
              </a:rPr>
              <a:t>）或（</a:t>
            </a:r>
            <a:r>
              <a:rPr lang="en-US" altLang="zh-CN" b="1" i="1" dirty="0" smtClean="0">
                <a:latin typeface="Times New Roman" pitchFamily="18" charset="0"/>
              </a:rPr>
              <a:t>a</a:t>
            </a:r>
            <a:r>
              <a:rPr lang="en-US" altLang="zh-CN" b="1" dirty="0" smtClean="0">
                <a:latin typeface="Times New Roman" pitchFamily="18" charset="0"/>
              </a:rPr>
              <a:t>,</a:t>
            </a:r>
            <a:r>
              <a:rPr lang="en-US" altLang="zh-CN" b="1" i="1" dirty="0" smtClean="0">
                <a:latin typeface="Times New Roman" pitchFamily="18" charset="0"/>
              </a:rPr>
              <a:t> </a:t>
            </a:r>
            <a:r>
              <a:rPr lang="en-US" altLang="zh-CN" b="1" i="1" dirty="0" err="1" smtClean="0">
                <a:latin typeface="Times New Roman" pitchFamily="18" charset="0"/>
              </a:rPr>
              <a:t>b</a:t>
            </a:r>
            <a:r>
              <a:rPr lang="en-US" altLang="zh-CN" b="1" dirty="0" err="1" smtClean="0">
                <a:latin typeface="Times New Roman" pitchFamily="18" charset="0"/>
              </a:rPr>
              <a:t>,1</a:t>
            </a:r>
            <a:r>
              <a:rPr lang="zh-CN" altLang="en-US" b="1" dirty="0" smtClean="0">
                <a:latin typeface="Times New Roman" pitchFamily="18" charset="0"/>
              </a:rPr>
              <a:t>），则索赔</a:t>
            </a:r>
            <a:r>
              <a:rPr lang="zh-CN" altLang="en-US" b="1" smtClean="0">
                <a:latin typeface="Times New Roman" pitchFamily="18" charset="0"/>
              </a:rPr>
              <a:t>次数</a:t>
            </a:r>
            <a:r>
              <a:rPr lang="en-US" altLang="zh-CN" b="1" i="1" smtClean="0">
                <a:latin typeface="Times New Roman" pitchFamily="18" charset="0"/>
              </a:rPr>
              <a:t>N</a:t>
            </a:r>
            <a:r>
              <a:rPr lang="en-US" altLang="zh-CN" b="1" i="1" baseline="30000" smtClean="0">
                <a:latin typeface="Times New Roman" pitchFamily="18" charset="0"/>
              </a:rPr>
              <a:t>P</a:t>
            </a:r>
            <a:r>
              <a:rPr lang="zh-CN" altLang="en-US" b="1" smtClean="0">
                <a:latin typeface="Times New Roman" pitchFamily="18" charset="0"/>
              </a:rPr>
              <a:t>将</a:t>
            </a:r>
            <a:r>
              <a:rPr lang="zh-CN" altLang="en-US" b="1" dirty="0" smtClean="0">
                <a:latin typeface="Times New Roman" pitchFamily="18" charset="0"/>
              </a:rPr>
              <a:t>与损失次数 </a:t>
            </a:r>
            <a:r>
              <a:rPr lang="en-US" altLang="zh-CN" b="1" i="1" dirty="0" smtClean="0"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latin typeface="Times New Roman" pitchFamily="18" charset="0"/>
              </a:rPr>
              <a:t>L </a:t>
            </a:r>
            <a:r>
              <a:rPr lang="zh-CN" altLang="en-US" b="1" dirty="0" smtClean="0">
                <a:latin typeface="Times New Roman" pitchFamily="18" charset="0"/>
              </a:rPr>
              <a:t>具有相同的复合分布</a:t>
            </a:r>
            <a:r>
              <a:rPr lang="zh-CN" altLang="en-US" b="1" dirty="0">
                <a:latin typeface="Times New Roman" pitchFamily="18" charset="0"/>
              </a:rPr>
              <a:t>类型</a:t>
            </a:r>
            <a:r>
              <a:rPr lang="zh-CN" altLang="en-US" b="1" dirty="0" smtClean="0">
                <a:latin typeface="Times New Roman" pitchFamily="18" charset="0"/>
              </a:rPr>
              <a:t>。首分布不变，次分布（红色部分）具有相同的分布类型。</a:t>
            </a:r>
          </a:p>
        </p:txBody>
      </p:sp>
      <p:sp>
        <p:nvSpPr>
          <p:cNvPr id="12800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E51C1D6D-0E7A-4C60-B42F-06305DB272E9}" type="slidenum">
              <a:rPr lang="zh-CN" altLang="en-US" sz="1400"/>
              <a:pPr eaLnBrk="1" hangingPunct="1"/>
              <a:t>79</a:t>
            </a:fld>
            <a:endParaRPr lang="en-US" altLang="zh-CN" sz="1400"/>
          </a:p>
        </p:txBody>
      </p:sp>
      <p:sp>
        <p:nvSpPr>
          <p:cNvPr id="128005" name="Rectangle 4"/>
          <p:cNvSpPr>
            <a:spLocks noChangeArrowheads="1"/>
          </p:cNvSpPr>
          <p:nvPr/>
        </p:nvSpPr>
        <p:spPr bwMode="auto">
          <a:xfrm>
            <a:off x="0" y="33004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0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0448"/>
              </p:ext>
            </p:extLst>
          </p:nvPr>
        </p:nvGraphicFramePr>
        <p:xfrm>
          <a:off x="4041584" y="2532878"/>
          <a:ext cx="3557588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06" name="Equation" r:id="rId3" imgW="1726920" imgH="279360" progId="Equation.DSMT4">
                  <p:embed/>
                </p:oleObj>
              </mc:Choice>
              <mc:Fallback>
                <p:oleObj name="Equation" r:id="rId3" imgW="1726920" imgH="2793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1584" y="2532878"/>
                        <a:ext cx="3557588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322125"/>
              </p:ext>
            </p:extLst>
          </p:nvPr>
        </p:nvGraphicFramePr>
        <p:xfrm>
          <a:off x="1066892" y="2551926"/>
          <a:ext cx="2336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707" name="Equation" r:id="rId5" imgW="1143000" imgH="253800" progId="Equation.DSMT4">
                  <p:embed/>
                </p:oleObj>
              </mc:Choice>
              <mc:Fallback>
                <p:oleObj name="Equation" r:id="rId5" imgW="1143000" imgH="253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92" y="2551926"/>
                        <a:ext cx="2336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0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0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00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Rectangle 2"/>
          <p:cNvSpPr>
            <a:spLocks noGrp="1" noChangeArrowheads="1"/>
          </p:cNvSpPr>
          <p:nvPr>
            <p:ph type="title"/>
          </p:nvPr>
        </p:nvSpPr>
        <p:spPr>
          <a:xfrm>
            <a:off x="-152276" y="645319"/>
            <a:ext cx="8229600" cy="497681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Times New Roman" pitchFamily="18" charset="0"/>
              </a:rPr>
              <a:t>例</a:t>
            </a:r>
            <a:r>
              <a:rPr lang="zh-CN" altLang="en-US" sz="2400" dirty="0" smtClean="0"/>
              <a:t>：</a:t>
            </a:r>
          </a:p>
        </p:txBody>
      </p:sp>
      <p:sp>
        <p:nvSpPr>
          <p:cNvPr id="1310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381888" cy="4987925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 smtClean="0">
                <a:latin typeface="Times New Roman" pitchFamily="18" charset="0"/>
              </a:rPr>
              <a:t>假设损失次数</a:t>
            </a:r>
            <a:r>
              <a:rPr lang="en-US" altLang="zh-CN" b="1" i="1" dirty="0" smtClean="0"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latin typeface="Times New Roman" pitchFamily="18" charset="0"/>
              </a:rPr>
              <a:t>L</a:t>
            </a:r>
            <a:r>
              <a:rPr lang="zh-CN" altLang="en-US" b="1" dirty="0" smtClean="0">
                <a:latin typeface="Times New Roman" pitchFamily="18" charset="0"/>
              </a:rPr>
              <a:t>服从泊松</a:t>
            </a:r>
            <a:r>
              <a:rPr lang="en-US" altLang="zh-CN" b="1" dirty="0" smtClean="0">
                <a:latin typeface="Times New Roman" pitchFamily="18" charset="0"/>
              </a:rPr>
              <a:t>-</a:t>
            </a:r>
            <a:r>
              <a:rPr lang="zh-CN" altLang="en-US" b="1" dirty="0" smtClean="0">
                <a:latin typeface="Times New Roman" pitchFamily="18" charset="0"/>
              </a:rPr>
              <a:t>负二项分布，参数为</a:t>
            </a:r>
            <a:r>
              <a:rPr lang="zh-CN" altLang="en-US" b="1" dirty="0" smtClean="0">
                <a:latin typeface="Times New Roman" pitchFamily="18" charset="0"/>
                <a:sym typeface="Symbol" pitchFamily="18" charset="2"/>
              </a:rPr>
              <a:t></a:t>
            </a:r>
            <a:r>
              <a:rPr lang="zh-CN" altLang="en-US" b="1" dirty="0" smtClean="0">
                <a:latin typeface="Times New Roman" pitchFamily="18" charset="0"/>
              </a:rPr>
              <a:t>＝</a:t>
            </a:r>
            <a:r>
              <a:rPr lang="en-US" altLang="zh-CN" b="1" dirty="0" smtClean="0">
                <a:latin typeface="Times New Roman" pitchFamily="18" charset="0"/>
              </a:rPr>
              <a:t>0.2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</a:rPr>
              <a:t>r</a:t>
            </a:r>
            <a:r>
              <a:rPr lang="en-US" altLang="zh-CN" b="1" dirty="0" smtClean="0">
                <a:latin typeface="Times New Roman" pitchFamily="18" charset="0"/>
              </a:rPr>
              <a:t> = 3, </a:t>
            </a:r>
            <a:r>
              <a:rPr lang="en-US" altLang="zh-CN" b="1" i="1" dirty="0" smtClean="0">
                <a:latin typeface="Times New Roman" pitchFamily="18" charset="0"/>
                <a:sym typeface="Symbol" pitchFamily="18" charset="2"/>
              </a:rPr>
              <a:t></a:t>
            </a:r>
            <a:r>
              <a:rPr lang="en-US" altLang="zh-CN" b="1" dirty="0" smtClean="0">
                <a:latin typeface="Times New Roman" pitchFamily="18" charset="0"/>
              </a:rPr>
              <a:t> = 0.1</a:t>
            </a:r>
            <a:r>
              <a:rPr lang="zh-CN" altLang="en-US" b="1" dirty="0" smtClean="0">
                <a:latin typeface="Times New Roman" pitchFamily="18" charset="0"/>
              </a:rPr>
              <a:t>，如果</a:t>
            </a:r>
            <a:r>
              <a:rPr lang="en-US" altLang="zh-CN" b="1" i="1" dirty="0" smtClean="0">
                <a:latin typeface="Times New Roman" pitchFamily="18" charset="0"/>
              </a:rPr>
              <a:t>v</a:t>
            </a:r>
            <a:r>
              <a:rPr lang="zh-CN" altLang="en-US" b="1" dirty="0" smtClean="0">
                <a:latin typeface="Times New Roman" pitchFamily="18" charset="0"/>
              </a:rPr>
              <a:t>＝</a:t>
            </a:r>
            <a:r>
              <a:rPr lang="en-US" altLang="zh-CN" b="1" dirty="0" smtClean="0">
                <a:latin typeface="Times New Roman" pitchFamily="18" charset="0"/>
              </a:rPr>
              <a:t>0.8</a:t>
            </a:r>
            <a:r>
              <a:rPr lang="zh-CN" altLang="en-US" b="1" dirty="0" smtClean="0">
                <a:latin typeface="Times New Roman" pitchFamily="18" charset="0"/>
              </a:rPr>
              <a:t>，试确定索赔次数</a:t>
            </a:r>
            <a:r>
              <a:rPr lang="en-US" altLang="zh-CN" b="1" i="1" dirty="0" smtClean="0"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latin typeface="Times New Roman" pitchFamily="18" charset="0"/>
              </a:rPr>
              <a:t>P</a:t>
            </a:r>
            <a:r>
              <a:rPr lang="zh-CN" altLang="en-US" b="1" dirty="0" smtClean="0">
                <a:latin typeface="Times New Roman" pitchFamily="18" charset="0"/>
              </a:rPr>
              <a:t>的分布。 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b="1" dirty="0" smtClean="0">
                <a:latin typeface="Times New Roman" pitchFamily="18" charset="0"/>
              </a:rPr>
              <a:t>索赔次数</a:t>
            </a:r>
            <a:r>
              <a:rPr lang="en-US" altLang="zh-CN" b="1" i="1" dirty="0" smtClean="0"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latin typeface="Times New Roman" pitchFamily="18" charset="0"/>
              </a:rPr>
              <a:t>P</a:t>
            </a:r>
            <a:r>
              <a:rPr lang="zh-CN" altLang="en-US" b="1" dirty="0" smtClean="0">
                <a:latin typeface="Times New Roman" pitchFamily="18" charset="0"/>
              </a:rPr>
              <a:t>是复合泊松：首分布是泊松（</a:t>
            </a:r>
            <a:r>
              <a:rPr lang="zh-CN" altLang="en-US" b="1" dirty="0" smtClean="0">
                <a:latin typeface="Times New Roman" pitchFamily="18" charset="0"/>
                <a:sym typeface="Symbol" pitchFamily="18" charset="2"/>
              </a:rPr>
              <a:t></a:t>
            </a:r>
            <a:r>
              <a:rPr lang="zh-CN" altLang="en-US" b="1" dirty="0" smtClean="0">
                <a:latin typeface="Times New Roman" pitchFamily="18" charset="0"/>
              </a:rPr>
              <a:t>＝</a:t>
            </a:r>
            <a:r>
              <a:rPr lang="en-US" altLang="zh-CN" b="1" dirty="0" smtClean="0">
                <a:latin typeface="Times New Roman" pitchFamily="18" charset="0"/>
              </a:rPr>
              <a:t>0.2</a:t>
            </a:r>
            <a:r>
              <a:rPr lang="zh-CN" altLang="en-US" b="1" dirty="0" smtClean="0">
                <a:latin typeface="Times New Roman" pitchFamily="18" charset="0"/>
              </a:rPr>
              <a:t>），次分布是负二项，参数为： </a:t>
            </a:r>
          </a:p>
          <a:p>
            <a:pPr eaLnBrk="1" hangingPunct="1">
              <a:lnSpc>
                <a:spcPct val="150000"/>
              </a:lnSpc>
            </a:pPr>
            <a:endParaRPr lang="zh-CN" altLang="en-US" b="1" dirty="0" smtClean="0">
              <a:latin typeface="Times New Roman" pitchFamily="18" charset="0"/>
            </a:endParaRPr>
          </a:p>
        </p:txBody>
      </p:sp>
      <p:sp>
        <p:nvSpPr>
          <p:cNvPr id="12902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94494835-910D-4F7D-AD27-E3BEA611A0E5}" type="slidenum">
              <a:rPr lang="zh-CN" altLang="en-US" sz="1400"/>
              <a:pPr eaLnBrk="1" hangingPunct="1"/>
              <a:t>80</a:t>
            </a:fld>
            <a:endParaRPr lang="en-US" altLang="zh-CN" sz="1400"/>
          </a:p>
        </p:txBody>
      </p:sp>
      <p:sp>
        <p:nvSpPr>
          <p:cNvPr id="1290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1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1834442"/>
              </p:ext>
            </p:extLst>
          </p:nvPr>
        </p:nvGraphicFramePr>
        <p:xfrm>
          <a:off x="2514654" y="4605194"/>
          <a:ext cx="1249363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25" name="Equation" r:id="rId3" imgW="621760" imgH="177646" progId="Equation.DSMT4">
                  <p:embed/>
                </p:oleObj>
              </mc:Choice>
              <mc:Fallback>
                <p:oleObj name="Equation" r:id="rId3" imgW="621760" imgH="177646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54" y="4605194"/>
                        <a:ext cx="1249363" cy="365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3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10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25897"/>
              </p:ext>
            </p:extLst>
          </p:nvPr>
        </p:nvGraphicFramePr>
        <p:xfrm>
          <a:off x="2438456" y="5105356"/>
          <a:ext cx="322738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726" name="Equation" r:id="rId5" imgW="1600200" imgH="203200" progId="Equation.DSMT4">
                  <p:embed/>
                </p:oleObj>
              </mc:Choice>
              <mc:Fallback>
                <p:oleObj name="Equation" r:id="rId5" imgW="1600200" imgH="203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56" y="5105356"/>
                        <a:ext cx="3227387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1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1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Rectangle 2"/>
          <p:cNvSpPr>
            <a:spLocks noGrp="1" noChangeArrowheads="1"/>
          </p:cNvSpPr>
          <p:nvPr>
            <p:ph type="title"/>
          </p:nvPr>
        </p:nvSpPr>
        <p:spPr>
          <a:xfrm>
            <a:off x="-3429000" y="640557"/>
            <a:ext cx="8229600" cy="766762"/>
          </a:xfrm>
        </p:spPr>
        <p:txBody>
          <a:bodyPr/>
          <a:lstStyle/>
          <a:p>
            <a:pPr eaLnBrk="1" hangingPunct="1"/>
            <a:r>
              <a:rPr lang="zh-CN" altLang="en-US" sz="2400" dirty="0" smtClean="0">
                <a:latin typeface="Times New Roman" pitchFamily="18" charset="0"/>
              </a:rPr>
              <a:t>例：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假设损失次数</a:t>
            </a:r>
            <a:r>
              <a:rPr lang="en-US" altLang="zh-CN" b="1" i="1" dirty="0" smtClean="0"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latin typeface="Times New Roman" pitchFamily="18" charset="0"/>
              </a:rPr>
              <a:t>L</a:t>
            </a:r>
            <a:r>
              <a:rPr lang="zh-CN" altLang="en-US" b="1" dirty="0" smtClean="0">
                <a:latin typeface="Times New Roman" pitchFamily="18" charset="0"/>
              </a:rPr>
              <a:t>服从泊松</a:t>
            </a:r>
            <a:r>
              <a:rPr lang="en-US" altLang="zh-CN" b="1" dirty="0" smtClean="0">
                <a:latin typeface="Times New Roman" pitchFamily="18" charset="0"/>
              </a:rPr>
              <a:t>-</a:t>
            </a:r>
            <a:r>
              <a:rPr lang="zh-CN" altLang="en-US" b="1" dirty="0" smtClean="0">
                <a:latin typeface="Times New Roman" pitchFamily="18" charset="0"/>
              </a:rPr>
              <a:t>零截断负二项分布，参数为</a:t>
            </a:r>
            <a:r>
              <a:rPr lang="zh-CN" altLang="en-US" b="1" dirty="0" smtClean="0">
                <a:latin typeface="Times New Roman" pitchFamily="18" charset="0"/>
                <a:sym typeface="Symbol" pitchFamily="18" charset="2"/>
              </a:rPr>
              <a:t></a:t>
            </a:r>
            <a:r>
              <a:rPr lang="zh-CN" altLang="en-US" b="1" dirty="0" smtClean="0">
                <a:latin typeface="Times New Roman" pitchFamily="18" charset="0"/>
              </a:rPr>
              <a:t>＝</a:t>
            </a:r>
            <a:r>
              <a:rPr lang="en-US" altLang="zh-CN" b="1" dirty="0" smtClean="0">
                <a:latin typeface="Times New Roman" pitchFamily="18" charset="0"/>
              </a:rPr>
              <a:t>0.2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  <a:r>
              <a:rPr lang="en-US" altLang="zh-CN" b="1" i="1" dirty="0" smtClean="0">
                <a:latin typeface="Times New Roman" pitchFamily="18" charset="0"/>
              </a:rPr>
              <a:t>r</a:t>
            </a:r>
            <a:r>
              <a:rPr lang="en-US" altLang="zh-CN" b="1" dirty="0" smtClean="0">
                <a:latin typeface="Times New Roman" pitchFamily="18" charset="0"/>
              </a:rPr>
              <a:t> = 3, </a:t>
            </a:r>
            <a:r>
              <a:rPr lang="en-US" altLang="zh-CN" b="1" i="1" dirty="0" smtClean="0">
                <a:latin typeface="Times New Roman" pitchFamily="18" charset="0"/>
                <a:sym typeface="Symbol" pitchFamily="18" charset="2"/>
              </a:rPr>
              <a:t></a:t>
            </a:r>
            <a:r>
              <a:rPr lang="en-US" altLang="zh-CN" b="1" dirty="0" smtClean="0">
                <a:latin typeface="Times New Roman" pitchFamily="18" charset="0"/>
              </a:rPr>
              <a:t> = 0.1</a:t>
            </a:r>
            <a:r>
              <a:rPr lang="zh-CN" altLang="en-US" b="1" dirty="0" smtClean="0">
                <a:latin typeface="Times New Roman" pitchFamily="18" charset="0"/>
              </a:rPr>
              <a:t>，如果</a:t>
            </a:r>
            <a:r>
              <a:rPr lang="en-US" altLang="zh-CN" b="1" i="1" dirty="0" smtClean="0">
                <a:latin typeface="Times New Roman" pitchFamily="18" charset="0"/>
              </a:rPr>
              <a:t>v</a:t>
            </a:r>
            <a:r>
              <a:rPr lang="zh-CN" altLang="en-US" b="1" dirty="0" smtClean="0">
                <a:latin typeface="Times New Roman" pitchFamily="18" charset="0"/>
              </a:rPr>
              <a:t>＝</a:t>
            </a:r>
            <a:r>
              <a:rPr lang="en-US" altLang="zh-CN" b="1" dirty="0" smtClean="0">
                <a:latin typeface="Times New Roman" pitchFamily="18" charset="0"/>
              </a:rPr>
              <a:t>0.8</a:t>
            </a:r>
            <a:r>
              <a:rPr lang="zh-CN" altLang="en-US" b="1" dirty="0" smtClean="0">
                <a:latin typeface="Times New Roman" pitchFamily="18" charset="0"/>
              </a:rPr>
              <a:t>，试确定索赔次数</a:t>
            </a:r>
            <a:r>
              <a:rPr lang="en-US" altLang="zh-CN" b="1" i="1" dirty="0" smtClean="0"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latin typeface="Times New Roman" pitchFamily="18" charset="0"/>
              </a:rPr>
              <a:t>P</a:t>
            </a:r>
            <a:r>
              <a:rPr lang="zh-CN" altLang="en-US" b="1" dirty="0" smtClean="0">
                <a:latin typeface="Times New Roman" pitchFamily="18" charset="0"/>
              </a:rPr>
              <a:t>的分布。</a:t>
            </a:r>
          </a:p>
          <a:p>
            <a:pPr eaLnBrk="1" hangingPunct="1"/>
            <a:r>
              <a:rPr lang="zh-CN" altLang="en-US" b="1" dirty="0" smtClean="0">
                <a:latin typeface="Times New Roman" pitchFamily="18" charset="0"/>
              </a:rPr>
              <a:t>索赔次数</a:t>
            </a:r>
            <a:r>
              <a:rPr lang="en-US" altLang="zh-CN" b="1" i="1" dirty="0" smtClean="0">
                <a:latin typeface="Times New Roman" pitchFamily="18" charset="0"/>
              </a:rPr>
              <a:t>N</a:t>
            </a:r>
            <a:r>
              <a:rPr lang="en-US" altLang="zh-CN" b="1" i="1" baseline="30000" dirty="0" smtClean="0">
                <a:latin typeface="Times New Roman" pitchFamily="18" charset="0"/>
              </a:rPr>
              <a:t>P</a:t>
            </a:r>
            <a:r>
              <a:rPr lang="zh-CN" altLang="en-US" b="1" dirty="0" smtClean="0">
                <a:latin typeface="Times New Roman" pitchFamily="18" charset="0"/>
              </a:rPr>
              <a:t>是复合泊松分布：首分布是泊松（</a:t>
            </a:r>
            <a:r>
              <a:rPr lang="zh-CN" altLang="en-US" b="1" dirty="0" smtClean="0">
                <a:latin typeface="Times New Roman" pitchFamily="18" charset="0"/>
                <a:sym typeface="Symbol" pitchFamily="18" charset="2"/>
              </a:rPr>
              <a:t></a:t>
            </a:r>
            <a:r>
              <a:rPr lang="zh-CN" altLang="en-US" b="1" dirty="0" smtClean="0">
                <a:latin typeface="Times New Roman" pitchFamily="18" charset="0"/>
              </a:rPr>
              <a:t>＝</a:t>
            </a:r>
            <a:r>
              <a:rPr lang="en-US" altLang="zh-CN" b="1" dirty="0" smtClean="0">
                <a:latin typeface="Times New Roman" pitchFamily="18" charset="0"/>
              </a:rPr>
              <a:t>0.2</a:t>
            </a:r>
            <a:r>
              <a:rPr lang="zh-CN" altLang="en-US" b="1" dirty="0" smtClean="0">
                <a:latin typeface="Times New Roman" pitchFamily="18" charset="0"/>
              </a:rPr>
              <a:t>），次分布是零</a:t>
            </a:r>
            <a:r>
              <a:rPr lang="zh-CN" altLang="en-US" b="1" dirty="0">
                <a:latin typeface="Times New Roman" pitchFamily="18" charset="0"/>
              </a:rPr>
              <a:t>调整</a:t>
            </a:r>
            <a:r>
              <a:rPr lang="zh-CN" altLang="en-US" b="1" dirty="0" smtClean="0">
                <a:latin typeface="Times New Roman" pitchFamily="18" charset="0"/>
              </a:rPr>
              <a:t>负二项分布，参数为：</a:t>
            </a:r>
          </a:p>
          <a:p>
            <a:pPr eaLnBrk="1" hangingPunct="1">
              <a:buFont typeface="Wingdings" pitchFamily="2" charset="2"/>
              <a:buNone/>
            </a:pPr>
            <a:endParaRPr lang="zh-CN" altLang="en-US" b="1" dirty="0" smtClean="0">
              <a:latin typeface="Times New Roman" pitchFamily="18" charset="0"/>
            </a:endParaRPr>
          </a:p>
          <a:p>
            <a:pPr eaLnBrk="1" hangingPunct="1"/>
            <a:endParaRPr lang="zh-CN" altLang="en-US" b="1" dirty="0" smtClean="0">
              <a:latin typeface="Times New Roman" pitchFamily="18" charset="0"/>
            </a:endParaRPr>
          </a:p>
          <a:p>
            <a:pPr eaLnBrk="1" hangingPunct="1"/>
            <a:endParaRPr lang="zh-CN" altLang="en-US" b="1" dirty="0" smtClean="0">
              <a:latin typeface="Times New Roman" pitchFamily="18" charset="0"/>
            </a:endParaRPr>
          </a:p>
        </p:txBody>
      </p:sp>
      <p:sp>
        <p:nvSpPr>
          <p:cNvPr id="13005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4D3F9177-4D2F-4535-B948-64FC11B32D93}" type="slidenum">
              <a:rPr lang="zh-CN" altLang="en-US" sz="1400"/>
              <a:pPr eaLnBrk="1" hangingPunct="1"/>
              <a:t>81</a:t>
            </a:fld>
            <a:endParaRPr lang="en-US" altLang="zh-CN" sz="1400"/>
          </a:p>
        </p:txBody>
      </p:sp>
      <p:sp>
        <p:nvSpPr>
          <p:cNvPr id="130053" name="Rectangle 4"/>
          <p:cNvSpPr>
            <a:spLocks noChangeArrowheads="1"/>
          </p:cNvSpPr>
          <p:nvPr/>
        </p:nvSpPr>
        <p:spPr bwMode="auto">
          <a:xfrm>
            <a:off x="0" y="32051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30055" name="Rectangle 6"/>
          <p:cNvSpPr>
            <a:spLocks noChangeArrowheads="1"/>
          </p:cNvSpPr>
          <p:nvPr/>
        </p:nvSpPr>
        <p:spPr bwMode="auto">
          <a:xfrm>
            <a:off x="0" y="3338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21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412840"/>
              </p:ext>
            </p:extLst>
          </p:nvPr>
        </p:nvGraphicFramePr>
        <p:xfrm>
          <a:off x="2973039" y="5593755"/>
          <a:ext cx="1249363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09" name="Equation" r:id="rId4" imgW="621760" imgH="177646" progId="Equation.DSMT4">
                  <p:embed/>
                </p:oleObj>
              </mc:Choice>
              <mc:Fallback>
                <p:oleObj name="Equation" r:id="rId4" imgW="621760" imgH="17764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039" y="5593755"/>
                        <a:ext cx="1249363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7" name="Rectangle 8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3210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888556"/>
              </p:ext>
            </p:extLst>
          </p:nvPr>
        </p:nvGraphicFramePr>
        <p:xfrm>
          <a:off x="2949864" y="6151960"/>
          <a:ext cx="175260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10" name="Equation" r:id="rId6" imgW="965200" imgH="203200" progId="Equation.DSMT4">
                  <p:embed/>
                </p:oleObj>
              </mc:Choice>
              <mc:Fallback>
                <p:oleObj name="Equation" r:id="rId6" imgW="965200" imgH="2032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9864" y="6151960"/>
                        <a:ext cx="175260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9" name="Rectangle 10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8972846"/>
              </p:ext>
            </p:extLst>
          </p:nvPr>
        </p:nvGraphicFramePr>
        <p:xfrm>
          <a:off x="378908" y="4542818"/>
          <a:ext cx="8647112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11" name="Equation" r:id="rId8" imgW="4673520" imgH="457200" progId="Equation.DSMT4">
                  <p:embed/>
                </p:oleObj>
              </mc:Choice>
              <mc:Fallback>
                <p:oleObj name="Equation" r:id="rId8" imgW="4673520" imgH="457200" progId="Equation.DSMT4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08" y="4542818"/>
                        <a:ext cx="8647112" cy="842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516" y="762070"/>
            <a:ext cx="8229600" cy="789140"/>
          </a:xfrm>
        </p:spPr>
        <p:txBody>
          <a:bodyPr/>
          <a:lstStyle/>
          <a:p>
            <a:pPr eaLnBrk="1" hangingPunct="1"/>
            <a:r>
              <a:rPr lang="zh-CN" altLang="en-US" dirty="0" smtClean="0"/>
              <a:t>推广：</a:t>
            </a:r>
          </a:p>
        </p:txBody>
      </p:sp>
      <p:sp>
        <p:nvSpPr>
          <p:cNvPr id="131076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28842"/>
            <a:ext cx="8229600" cy="52578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 smtClean="0">
                <a:latin typeface="Times New Roman" pitchFamily="18" charset="0"/>
              </a:rPr>
              <a:t>如果现在的免赔额为 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</a:rPr>
              <a:t>d</a:t>
            </a:r>
            <a:r>
              <a:rPr lang="zh-CN" altLang="en-US" b="1" dirty="0" smtClean="0">
                <a:latin typeface="Times New Roman" pitchFamily="18" charset="0"/>
              </a:rPr>
              <a:t>，相应的索赔次数为 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 smtClean="0">
                <a:latin typeface="Times New Roman" pitchFamily="18" charset="0"/>
              </a:rPr>
              <a:t>将免赔额提高到 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</a:rPr>
              <a:t>d </a:t>
            </a:r>
            <a:r>
              <a:rPr lang="en-US" altLang="zh-CN" b="1" baseline="30000" dirty="0" smtClean="0">
                <a:solidFill>
                  <a:srgbClr val="FF0000"/>
                </a:solidFill>
                <a:latin typeface="Times New Roman" pitchFamily="18" charset="0"/>
              </a:rPr>
              <a:t>*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itchFamily="18" charset="0"/>
              </a:rPr>
              <a:t> &gt; 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</a:rPr>
              <a:t>d</a:t>
            </a:r>
            <a:r>
              <a:rPr lang="zh-CN" altLang="en-US" b="1" dirty="0" smtClean="0">
                <a:latin typeface="Times New Roman" pitchFamily="18" charset="0"/>
              </a:rPr>
              <a:t>以后，相应的索赔次数为 </a:t>
            </a:r>
            <a:r>
              <a:rPr lang="en-US" altLang="zh-CN" b="1" i="1" dirty="0" smtClean="0">
                <a:solidFill>
                  <a:srgbClr val="FF0000"/>
                </a:solidFill>
                <a:latin typeface="Times New Roman" pitchFamily="18" charset="0"/>
              </a:rPr>
              <a:t>N </a:t>
            </a:r>
            <a:r>
              <a:rPr lang="en-US" altLang="zh-CN" b="1" baseline="30000" dirty="0" smtClean="0">
                <a:solidFill>
                  <a:srgbClr val="FF0000"/>
                </a:solidFill>
                <a:latin typeface="Times New Roman" pitchFamily="18" charset="0"/>
              </a:rPr>
              <a:t>*</a:t>
            </a:r>
            <a:r>
              <a:rPr lang="zh-CN" altLang="en-US" b="1" dirty="0" smtClean="0">
                <a:latin typeface="Times New Roman" pitchFamily="18" charset="0"/>
              </a:rPr>
              <a:t>，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b="1" dirty="0" smtClean="0">
                <a:latin typeface="Times New Roman" pitchFamily="18" charset="0"/>
              </a:rPr>
              <a:t>前述公式仍然成立。此时，只需令 ：</a:t>
            </a:r>
          </a:p>
          <a:p>
            <a:pPr eaLnBrk="1" hangingPunct="1">
              <a:lnSpc>
                <a:spcPct val="130000"/>
              </a:lnSpc>
            </a:pPr>
            <a:endParaRPr lang="zh-CN" altLang="en-US" b="1" dirty="0" smtClean="0">
              <a:latin typeface="Times New Roman" pitchFamily="18" charset="0"/>
            </a:endParaRPr>
          </a:p>
          <a:p>
            <a:pPr eaLnBrk="1" hangingPunct="1">
              <a:lnSpc>
                <a:spcPct val="130000"/>
              </a:lnSpc>
            </a:pPr>
            <a:endParaRPr lang="zh-CN" altLang="en-US" b="1" dirty="0" smtClean="0">
              <a:latin typeface="Times New Roman" pitchFamily="18" charset="0"/>
            </a:endParaRPr>
          </a:p>
        </p:txBody>
      </p:sp>
      <p:sp>
        <p:nvSpPr>
          <p:cNvPr id="13107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algn="ctr" eaLnBrk="0" fontAlgn="ctr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BD820D8C-9E74-4C6C-8B4C-01AE80C02951}" type="slidenum">
              <a:rPr lang="zh-CN" altLang="en-US" sz="1400"/>
              <a:pPr eaLnBrk="1" hangingPunct="1"/>
              <a:t>82</a:t>
            </a:fld>
            <a:endParaRPr lang="en-US" altLang="zh-CN" sz="1400"/>
          </a:p>
        </p:txBody>
      </p:sp>
      <p:graphicFrame>
        <p:nvGraphicFramePr>
          <p:cNvPr id="13107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148283"/>
              </p:ext>
            </p:extLst>
          </p:nvPr>
        </p:nvGraphicFramePr>
        <p:xfrm>
          <a:off x="2743248" y="4476649"/>
          <a:ext cx="1752600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425" name="Equation" r:id="rId3" imgW="914400" imgH="431800" progId="Equation.DSMT4">
                  <p:embed/>
                </p:oleObj>
              </mc:Choice>
              <mc:Fallback>
                <p:oleObj name="Equation" r:id="rId3" imgW="9144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48" y="4476649"/>
                        <a:ext cx="1752600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110" y="1143060"/>
            <a:ext cx="8229600" cy="4382717"/>
          </a:xfrm>
        </p:spPr>
        <p:txBody>
          <a:bodyPr/>
          <a:lstStyle/>
          <a:p>
            <a:r>
              <a:rPr lang="zh-CN" altLang="en-US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例：损失金额小于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的概率为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0.1</a:t>
            </a:r>
            <a:r>
              <a:rPr lang="zh-CN" altLang="en-US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，小于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200</a:t>
            </a:r>
            <a:r>
              <a:rPr lang="zh-CN" altLang="en-US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的概率为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0.15</a:t>
            </a:r>
            <a:r>
              <a:rPr lang="zh-CN" altLang="en-US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。免赔额为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时的索赔次数服从参数为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0.5</a:t>
            </a:r>
            <a:r>
              <a:rPr lang="zh-CN" altLang="en-US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的泊松分布，如果免赔提高到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200</a:t>
            </a:r>
            <a:r>
              <a:rPr lang="zh-CN" altLang="en-US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，索赔次数将服从什么分布？</a:t>
            </a:r>
            <a:endParaRPr lang="en-US" altLang="zh-CN" dirty="0" smtClean="0"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endParaRPr lang="en-US" altLang="zh-CN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en-US" altLang="zh-CN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en-US" altLang="zh-CN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= 0.85/0.9 = 0.94</a:t>
            </a:r>
          </a:p>
          <a:p>
            <a:pPr marL="0" indent="0">
              <a:buNone/>
            </a:pPr>
            <a:r>
              <a:rPr lang="zh-CN" altLang="en-US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    服从参数为 </a:t>
            </a:r>
            <a:r>
              <a:rPr lang="en-US" altLang="zh-CN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0.5× 0.94 = 0.47 </a:t>
            </a:r>
            <a:r>
              <a:rPr lang="zh-CN" altLang="en-US" dirty="0" smtClean="0">
                <a:ea typeface="黑体" panose="02010609060101010101" pitchFamily="49" charset="-122"/>
                <a:cs typeface="Times New Roman" panose="02020603050405020304" pitchFamily="18" charset="0"/>
              </a:rPr>
              <a:t>的泊松分布。</a:t>
            </a:r>
            <a:endParaRPr lang="zh-CN" altLang="en-US" dirty="0"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F939C6-56B5-4C59-A8F1-006D8D67E42F}" type="slidenum">
              <a:rPr lang="zh-CN" altLang="en-US" smtClean="0"/>
              <a:pPr>
                <a:defRPr/>
              </a:pPr>
              <a:t>83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3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620599"/>
            <a:ext cx="8229600" cy="789140"/>
          </a:xfrm>
        </p:spPr>
        <p:txBody>
          <a:bodyPr/>
          <a:lstStyle/>
          <a:p>
            <a:r>
              <a:rPr lang="zh-CN" altLang="en-US" dirty="0" smtClean="0"/>
              <a:t>作业：用 </a:t>
            </a:r>
            <a:r>
              <a:rPr lang="en-US" altLang="zh-CN" dirty="0" smtClean="0"/>
              <a:t>R </a:t>
            </a:r>
            <a:r>
              <a:rPr lang="zh-CN" altLang="en-US" dirty="0" smtClean="0"/>
              <a:t>编写代码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38054" y="1246418"/>
            <a:ext cx="8838968" cy="5486256"/>
          </a:xfrm>
        </p:spPr>
        <p:txBody>
          <a:bodyPr/>
          <a:lstStyle/>
          <a:p>
            <a:r>
              <a:rPr lang="en-US" altLang="zh-CN" sz="1800" b="1" dirty="0" smtClean="0"/>
              <a:t>1. </a:t>
            </a:r>
            <a:r>
              <a:rPr lang="zh-CN" altLang="en-US" sz="1800" b="1" dirty="0" smtClean="0"/>
              <a:t>某团体意外伤害险保单在保险期间的事故</a:t>
            </a:r>
            <a:r>
              <a:rPr lang="zh-CN" altLang="en-US" sz="1800" b="1" dirty="0"/>
              <a:t>次</a:t>
            </a:r>
            <a:r>
              <a:rPr lang="zh-CN" altLang="en-US" sz="1800" b="1" dirty="0" smtClean="0"/>
              <a:t>数服从负二项分布（</a:t>
            </a:r>
            <a:r>
              <a:rPr lang="en-US" altLang="zh-CN" sz="1800" b="1" dirty="0" smtClean="0"/>
              <a:t>size=1, p=0.1</a:t>
            </a:r>
            <a:r>
              <a:rPr lang="zh-CN" altLang="en-US" sz="1800" b="1" dirty="0" smtClean="0"/>
              <a:t>），假设每次事故导致的索赔次数服从泊松分布</a:t>
            </a:r>
            <a:r>
              <a:rPr lang="en-US" altLang="zh-CN" sz="1800" b="1" dirty="0" smtClean="0"/>
              <a:t>(lambda=2</a:t>
            </a:r>
            <a:r>
              <a:rPr lang="en-US" altLang="zh-CN" sz="1800" b="1" dirty="0" smtClean="0"/>
              <a:t>)</a:t>
            </a:r>
            <a:r>
              <a:rPr lang="zh-CN" altLang="en-US" sz="1800" b="1" dirty="0" smtClean="0"/>
              <a:t> ，</a:t>
            </a:r>
            <a:r>
              <a:rPr lang="zh-CN" altLang="en-US" sz="1800" b="1" dirty="0" smtClean="0"/>
              <a:t>请计算该保单</a:t>
            </a:r>
            <a:r>
              <a:rPr lang="zh-CN" altLang="en-US" sz="1800" b="1" dirty="0"/>
              <a:t>下</a:t>
            </a:r>
            <a:r>
              <a:rPr lang="zh-CN" altLang="en-US" sz="1800" b="1" dirty="0" smtClean="0"/>
              <a:t>的索赔次数的分布。</a:t>
            </a:r>
            <a:endParaRPr lang="en-US" altLang="zh-CN" sz="1800" b="1" dirty="0" smtClean="0"/>
          </a:p>
          <a:p>
            <a:r>
              <a:rPr lang="en-US" altLang="zh-CN" sz="1800" b="1" dirty="0" smtClean="0"/>
              <a:t>2. </a:t>
            </a:r>
            <a:r>
              <a:rPr lang="zh-CN" altLang="en-US" sz="1800" b="1" dirty="0" smtClean="0"/>
              <a:t>首分布为｛</a:t>
            </a:r>
            <a:r>
              <a:rPr lang="en-US" altLang="zh-CN" sz="1800" b="1" dirty="0" err="1" smtClean="0"/>
              <a:t>p0</a:t>
            </a:r>
            <a:r>
              <a:rPr lang="en-US" altLang="zh-CN" sz="1800" b="1" dirty="0" smtClean="0"/>
              <a:t>=0.1,  </a:t>
            </a:r>
            <a:r>
              <a:rPr lang="en-US" altLang="zh-CN" sz="1800" b="1" dirty="0" err="1" smtClean="0"/>
              <a:t>p1</a:t>
            </a:r>
            <a:r>
              <a:rPr lang="en-US" altLang="zh-CN" sz="1800" b="1" dirty="0" smtClean="0"/>
              <a:t>=0.3,  </a:t>
            </a:r>
            <a:r>
              <a:rPr lang="en-US" altLang="zh-CN" sz="1800" b="1" dirty="0" err="1" smtClean="0"/>
              <a:t>p2</a:t>
            </a:r>
            <a:r>
              <a:rPr lang="en-US" altLang="zh-CN" sz="1800" b="1" dirty="0" smtClean="0"/>
              <a:t>=0.3,  </a:t>
            </a:r>
            <a:r>
              <a:rPr lang="en-US" altLang="zh-CN" sz="1800" b="1" dirty="0" err="1" smtClean="0"/>
              <a:t>p3</a:t>
            </a:r>
            <a:r>
              <a:rPr lang="en-US" altLang="zh-CN" sz="1800" b="1" dirty="0" smtClean="0"/>
              <a:t>=0.2,  </a:t>
            </a:r>
            <a:r>
              <a:rPr lang="en-US" altLang="zh-CN" sz="1800" b="1" dirty="0" err="1" smtClean="0"/>
              <a:t>p4</a:t>
            </a:r>
            <a:r>
              <a:rPr lang="en-US" altLang="zh-CN" sz="1800" b="1" dirty="0" smtClean="0"/>
              <a:t>=0.1</a:t>
            </a:r>
            <a:r>
              <a:rPr lang="zh-CN" altLang="en-US" sz="1800" b="1" dirty="0" smtClean="0"/>
              <a:t>｝，次分布为｛</a:t>
            </a:r>
            <a:r>
              <a:rPr lang="en-US" altLang="zh-CN" sz="1800" b="1" dirty="0" err="1" smtClean="0"/>
              <a:t>q1</a:t>
            </a:r>
            <a:r>
              <a:rPr lang="en-US" altLang="zh-CN" sz="1800" b="1" dirty="0" smtClean="0"/>
              <a:t>=0.2,  </a:t>
            </a:r>
            <a:r>
              <a:rPr lang="en-US" altLang="zh-CN" sz="1800" b="1" dirty="0" err="1" smtClean="0"/>
              <a:t>q2</a:t>
            </a:r>
            <a:r>
              <a:rPr lang="en-US" altLang="zh-CN" sz="1800" b="1" dirty="0" smtClean="0"/>
              <a:t>=0.3,  </a:t>
            </a:r>
            <a:r>
              <a:rPr lang="en-US" altLang="zh-CN" sz="1800" b="1" dirty="0" err="1" smtClean="0"/>
              <a:t>q3</a:t>
            </a:r>
            <a:r>
              <a:rPr lang="en-US" altLang="zh-CN" sz="1800" b="1" dirty="0" smtClean="0"/>
              <a:t>=0.3,  </a:t>
            </a:r>
            <a:r>
              <a:rPr lang="en-US" altLang="zh-CN" sz="1800" b="1" dirty="0" err="1" smtClean="0"/>
              <a:t>q4</a:t>
            </a:r>
            <a:r>
              <a:rPr lang="en-US" altLang="zh-CN" sz="1800" b="1" dirty="0" smtClean="0"/>
              <a:t>=0.2</a:t>
            </a:r>
            <a:r>
              <a:rPr lang="zh-CN" altLang="en-US" sz="1800" b="1" dirty="0" smtClean="0"/>
              <a:t>｝，求复合分布的概率。</a:t>
            </a:r>
            <a:endParaRPr lang="en-US" altLang="zh-CN" sz="1800" b="1" dirty="0" smtClean="0"/>
          </a:p>
          <a:p>
            <a:r>
              <a:rPr lang="en-US" altLang="zh-CN" sz="1800" b="1" dirty="0" smtClean="0"/>
              <a:t>3. </a:t>
            </a:r>
            <a:r>
              <a:rPr lang="zh-CN" altLang="en-US" sz="1800" b="1" dirty="0" smtClean="0"/>
              <a:t>假设损失次数服从负二项（</a:t>
            </a:r>
            <a:r>
              <a:rPr lang="en-US" altLang="zh-CN" sz="1800" b="1" dirty="0" smtClean="0"/>
              <a:t>r=2, beta=0.5</a:t>
            </a:r>
            <a:r>
              <a:rPr lang="zh-CN" altLang="en-US" sz="1800" b="1" dirty="0" smtClean="0"/>
              <a:t>）</a:t>
            </a:r>
            <a:r>
              <a:rPr lang="en-US" altLang="zh-CN" sz="1800" b="1" dirty="0" smtClean="0"/>
              <a:t>- </a:t>
            </a:r>
            <a:r>
              <a:rPr lang="zh-CN" altLang="en-US" sz="1800" b="1" dirty="0" smtClean="0"/>
              <a:t>零截断负二项（</a:t>
            </a:r>
            <a:r>
              <a:rPr lang="en-US" altLang="zh-CN" sz="1800" b="1" dirty="0"/>
              <a:t> </a:t>
            </a:r>
            <a:r>
              <a:rPr lang="en-US" altLang="zh-CN" sz="1800" b="1" dirty="0" smtClean="0"/>
              <a:t>r=3, beta=0.1</a:t>
            </a:r>
            <a:r>
              <a:rPr lang="zh-CN" altLang="en-US" sz="1800" b="1" dirty="0" smtClean="0"/>
              <a:t>）的复合分布，损失金额小于</a:t>
            </a:r>
            <a:r>
              <a:rPr lang="en-US" altLang="zh-CN" sz="1800" b="1" dirty="0" smtClean="0"/>
              <a:t>500</a:t>
            </a:r>
            <a:r>
              <a:rPr lang="zh-CN" altLang="en-US" sz="1800" b="1" dirty="0" smtClean="0"/>
              <a:t>的概率为</a:t>
            </a:r>
            <a:r>
              <a:rPr lang="en-US" altLang="zh-CN" sz="1800" b="1" dirty="0" smtClean="0"/>
              <a:t>0.1, </a:t>
            </a:r>
            <a:r>
              <a:rPr lang="zh-CN" altLang="en-US" sz="1800" b="1" dirty="0" smtClean="0"/>
              <a:t>如果免赔额为</a:t>
            </a:r>
            <a:r>
              <a:rPr lang="en-US" altLang="zh-CN" sz="1800" b="1" dirty="0" smtClean="0"/>
              <a:t>500</a:t>
            </a:r>
            <a:r>
              <a:rPr lang="zh-CN" altLang="en-US" sz="1800" b="1" dirty="0" smtClean="0"/>
              <a:t>，求索赔次数的分布。</a:t>
            </a:r>
            <a:endParaRPr lang="en-US" altLang="zh-CN" sz="1800" b="1" dirty="0" smtClean="0"/>
          </a:p>
          <a:p>
            <a:r>
              <a:rPr lang="en-US" altLang="zh-CN" sz="1800" smtClean="0"/>
              <a:t>4. </a:t>
            </a:r>
            <a:r>
              <a:rPr lang="zh-CN" altLang="en-US" sz="1800" dirty="0" smtClean="0"/>
              <a:t>模拟</a:t>
            </a:r>
            <a:r>
              <a:rPr lang="en-US" altLang="zh-CN" sz="1800" dirty="0"/>
              <a:t>1000</a:t>
            </a:r>
            <a:r>
              <a:rPr lang="zh-CN" altLang="en-US" sz="1800" dirty="0"/>
              <a:t>个来自泊松</a:t>
            </a:r>
            <a:r>
              <a:rPr lang="en-US" altLang="zh-CN" sz="1800" dirty="0"/>
              <a:t>-</a:t>
            </a:r>
            <a:r>
              <a:rPr lang="zh-CN" altLang="en-US" sz="1800" dirty="0"/>
              <a:t>对数正态分布的随机数，并用负二项、泊松</a:t>
            </a:r>
            <a:r>
              <a:rPr lang="en-US" altLang="zh-CN" sz="1800" dirty="0"/>
              <a:t>-</a:t>
            </a:r>
            <a:r>
              <a:rPr lang="zh-CN" altLang="en-US" sz="1800" dirty="0"/>
              <a:t>逆高斯、泊松</a:t>
            </a:r>
            <a:r>
              <a:rPr lang="en-US" altLang="zh-CN" sz="1800" dirty="0"/>
              <a:t>-</a:t>
            </a:r>
            <a:r>
              <a:rPr lang="zh-CN" altLang="en-US" sz="1800" dirty="0"/>
              <a:t>对数正态、混合负二项分布进行拟合，比较拟合效果</a:t>
            </a:r>
            <a:r>
              <a:rPr lang="zh-CN" altLang="en-US" sz="1800" dirty="0" smtClean="0"/>
              <a:t>。</a:t>
            </a:r>
            <a:endParaRPr lang="en-US" altLang="zh-CN" sz="1800" b="1" dirty="0" smtClean="0"/>
          </a:p>
          <a:p>
            <a:endParaRPr lang="zh-CN" altLang="en-US" sz="1800" b="1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0BB78-806E-449E-80D7-5FA53C6FBAA8}" type="slidenum">
              <a:rPr lang="zh-CN" altLang="en-US" smtClean="0"/>
              <a:pPr>
                <a:defRPr/>
              </a:pPr>
              <a:t>84</a:t>
            </a:fld>
            <a:endParaRPr lang="en-US" altLang="zh-CN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9515053"/>
              </p:ext>
            </p:extLst>
          </p:nvPr>
        </p:nvGraphicFramePr>
        <p:xfrm>
          <a:off x="4394200" y="236220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286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394200" y="2362200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69080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产线精算定价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产线精算定价" id="{42F9244C-4DED-45ED-AADB-DA3FB02D9E16}" vid="{99D26890-5A41-46FD-BD76-F30CD412CAF4}"/>
    </a:ext>
  </a:extLst>
</a:theme>
</file>

<file path=ppt/theme/theme2.xml><?xml version="1.0" encoding="utf-8"?>
<a:theme xmlns:a="http://schemas.openxmlformats.org/drawingml/2006/main" name="演示文稿9">
  <a:themeElements>
    <a:clrScheme name="演示文稿9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00"/>
      </a:hlink>
      <a:folHlink>
        <a:srgbClr val="000000"/>
      </a:folHlink>
    </a:clrScheme>
    <a:fontScheme name="演示文稿9">
      <a:majorFont>
        <a:latin typeface="Arial"/>
        <a:ea typeface="黑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演示文稿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文稿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文稿9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产线精算定价</Template>
  <TotalTime>4167</TotalTime>
  <Pages>0</Pages>
  <Words>4428</Words>
  <Characters>0</Characters>
  <Application>Microsoft Office PowerPoint</Application>
  <DocSecurity>0</DocSecurity>
  <PresentationFormat>全屏显示(4:3)</PresentationFormat>
  <Lines>0</Lines>
  <Paragraphs>617</Paragraphs>
  <Slides>84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84</vt:i4>
      </vt:variant>
    </vt:vector>
  </HeadingPairs>
  <TitlesOfParts>
    <vt:vector size="103" baseType="lpstr">
      <vt:lpstr>黑体</vt:lpstr>
      <vt:lpstr>华文楷体</vt:lpstr>
      <vt:lpstr>华文新魏</vt:lpstr>
      <vt:lpstr>楷体</vt:lpstr>
      <vt:lpstr>宋体</vt:lpstr>
      <vt:lpstr>Arial</vt:lpstr>
      <vt:lpstr>Cambria</vt:lpstr>
      <vt:lpstr>Cambria Math</vt:lpstr>
      <vt:lpstr>Consolas</vt:lpstr>
      <vt:lpstr>Symbol</vt:lpstr>
      <vt:lpstr>Times New Roman</vt:lpstr>
      <vt:lpstr>Verdana</vt:lpstr>
      <vt:lpstr>Wingdings</vt:lpstr>
      <vt:lpstr>Wingdings 2</vt:lpstr>
      <vt:lpstr>ZWAdobeF</vt:lpstr>
      <vt:lpstr>产线精算定价</vt:lpstr>
      <vt:lpstr>演示文稿9</vt:lpstr>
      <vt:lpstr>Equation</vt:lpstr>
      <vt:lpstr>MathType 6.0 Equation</vt:lpstr>
      <vt:lpstr>损失次数模型 Models of Claim Count</vt:lpstr>
      <vt:lpstr>二、主要内容</vt:lpstr>
      <vt:lpstr>符号 </vt:lpstr>
      <vt:lpstr>（a, b, 0）分布</vt:lpstr>
      <vt:lpstr>PowerPoint 演示文稿</vt:lpstr>
      <vt:lpstr>（a, b, 0）分布</vt:lpstr>
      <vt:lpstr>泊松分布(Poisson distribution)</vt:lpstr>
      <vt:lpstr>PowerPoint 演示文稿</vt:lpstr>
      <vt:lpstr>泊松分布的几个重要性质</vt:lpstr>
      <vt:lpstr>泊松分布的可加性</vt:lpstr>
      <vt:lpstr>泊松分布的可分解性</vt:lpstr>
      <vt:lpstr>PowerPoint 演示文稿</vt:lpstr>
      <vt:lpstr>PowerPoint 演示文稿</vt:lpstr>
      <vt:lpstr>PowerPoint 演示文稿</vt:lpstr>
      <vt:lpstr>负二项分布</vt:lpstr>
      <vt:lpstr>PowerPoint 演示文稿</vt:lpstr>
      <vt:lpstr>负二项分布的母函数</vt:lpstr>
      <vt:lpstr>负二项分布的极限：泊松分布</vt:lpstr>
      <vt:lpstr>负二项分布的极限：泊松分布</vt:lpstr>
      <vt:lpstr>二项分布</vt:lpstr>
      <vt:lpstr>PowerPoint 演示文稿</vt:lpstr>
      <vt:lpstr>二项（m, q）与负二项（r, b）的比较</vt:lpstr>
      <vt:lpstr>(a, b, 0)分布类之间的关系</vt:lpstr>
      <vt:lpstr>PowerPoint 演示文稿</vt:lpstr>
      <vt:lpstr>PowerPoint 演示文稿</vt:lpstr>
      <vt:lpstr>(a, b, 1) 的概率计算</vt:lpstr>
      <vt:lpstr>负二项分布及其零截断和零调整：例</vt:lpstr>
      <vt:lpstr>PowerPoint 演示文稿</vt:lpstr>
      <vt:lpstr>PowerPoint 演示文稿</vt:lpstr>
      <vt:lpstr>PowerPoint 演示文稿</vt:lpstr>
      <vt:lpstr>PowerPoint 演示文稿</vt:lpstr>
      <vt:lpstr>混合分布与复合分布</vt:lpstr>
      <vt:lpstr>引言</vt:lpstr>
      <vt:lpstr>混合分布</vt:lpstr>
      <vt:lpstr>负二项分布的生成：混合泊松分布</vt:lpstr>
      <vt:lpstr>PowerPoint 演示文稿</vt:lpstr>
      <vt:lpstr>PowerPoint 演示文稿</vt:lpstr>
      <vt:lpstr>常见的混合分布</vt:lpstr>
      <vt:lpstr>混合泊松分布</vt:lpstr>
      <vt:lpstr>例</vt:lpstr>
      <vt:lpstr>混合泊松分布的母函数</vt:lpstr>
      <vt:lpstr>混合泊松分布的性质</vt:lpstr>
      <vt:lpstr>PowerPoint 演示文稿</vt:lpstr>
      <vt:lpstr>混合泊松的结构函数:伽马分布</vt:lpstr>
      <vt:lpstr>混合泊松的结构函数:逆高斯分布</vt:lpstr>
      <vt:lpstr>混合泊松的结构函数:对数正态分布</vt:lpstr>
      <vt:lpstr>PowerPoint 演示文稿</vt:lpstr>
      <vt:lpstr>几个常见混合泊松分布的比较</vt:lpstr>
      <vt:lpstr>例：泊松-逆高斯分布的概率</vt:lpstr>
      <vt:lpstr>例：泊松-对数正态分布的概率</vt:lpstr>
      <vt:lpstr>复合分布（Compound distribution）</vt:lpstr>
      <vt:lpstr>复合分布 S = X1 + X2 + … + XN  的母函数：</vt:lpstr>
      <vt:lpstr>复合分布 S = X1 + X2 + …  + XN 的矩母函数：</vt:lpstr>
      <vt:lpstr>对复合分布的一种解释</vt:lpstr>
      <vt:lpstr>定理1：如何计算复合分布的概率？ （递推公式1）</vt:lpstr>
      <vt:lpstr>PowerPoint 演示文稿</vt:lpstr>
      <vt:lpstr>复合泊松分布的递推公式</vt:lpstr>
      <vt:lpstr>PowerPoint 演示文稿</vt:lpstr>
      <vt:lpstr>PowerPoint 演示文稿</vt:lpstr>
      <vt:lpstr>PowerPoint 演示文稿</vt:lpstr>
      <vt:lpstr>定理 2：如何计算复合分布的概率（递推公式2）</vt:lpstr>
      <vt:lpstr>PowerPoint 演示文稿</vt:lpstr>
      <vt:lpstr>练习</vt:lpstr>
      <vt:lpstr>复合泊松分布</vt:lpstr>
      <vt:lpstr>复合泊松分布的均值和方差</vt:lpstr>
      <vt:lpstr>在给定均值和方差的条件下比较复合泊松分布的偏度</vt:lpstr>
      <vt:lpstr>PowerPoint 演示文稿</vt:lpstr>
      <vt:lpstr>PowerPoint 演示文稿</vt:lpstr>
      <vt:lpstr>例： </vt:lpstr>
      <vt:lpstr>PowerPoint 演示文稿</vt:lpstr>
      <vt:lpstr>PowerPoint 演示文稿</vt:lpstr>
      <vt:lpstr>免赔额对索赔次数模型的影响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免赔额对复合分布的影响</vt:lpstr>
      <vt:lpstr>例：</vt:lpstr>
      <vt:lpstr>例：</vt:lpstr>
      <vt:lpstr>推广：</vt:lpstr>
      <vt:lpstr>PowerPoint 演示文稿</vt:lpstr>
      <vt:lpstr>作业：用 R 编写代码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meng</dc:creator>
  <cp:lastModifiedBy>李 政宵</cp:lastModifiedBy>
  <cp:revision>663</cp:revision>
  <cp:lastPrinted>2011-10-06T01:18:54Z</cp:lastPrinted>
  <dcterms:created xsi:type="dcterms:W3CDTF">1601-01-01T00:00:00Z</dcterms:created>
  <dcterms:modified xsi:type="dcterms:W3CDTF">2018-09-25T12:51:23Z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2052-6.6.0.2461</vt:lpwstr>
  </property>
</Properties>
</file>