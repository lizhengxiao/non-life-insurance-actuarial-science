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5.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7.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797" r:id="rId2"/>
    <p:sldMasterId id="2147483822" r:id="rId3"/>
    <p:sldMasterId id="2147483842" r:id="rId4"/>
    <p:sldMasterId id="2147483855" r:id="rId5"/>
    <p:sldMasterId id="2147483875" r:id="rId6"/>
    <p:sldMasterId id="2147483888" r:id="rId7"/>
    <p:sldMasterId id="2147483904" r:id="rId8"/>
  </p:sldMasterIdLst>
  <p:notesMasterIdLst>
    <p:notesMasterId r:id="rId166"/>
  </p:notesMasterIdLst>
  <p:handoutMasterIdLst>
    <p:handoutMasterId r:id="rId167"/>
  </p:handoutMasterIdLst>
  <p:sldIdLst>
    <p:sldId id="407" r:id="rId9"/>
    <p:sldId id="283" r:id="rId10"/>
    <p:sldId id="417" r:id="rId11"/>
    <p:sldId id="440" r:id="rId12"/>
    <p:sldId id="441" r:id="rId13"/>
    <p:sldId id="442" r:id="rId14"/>
    <p:sldId id="443" r:id="rId15"/>
    <p:sldId id="444" r:id="rId16"/>
    <p:sldId id="445" r:id="rId17"/>
    <p:sldId id="446" r:id="rId18"/>
    <p:sldId id="447" r:id="rId19"/>
    <p:sldId id="448" r:id="rId20"/>
    <p:sldId id="449" r:id="rId21"/>
    <p:sldId id="450" r:id="rId22"/>
    <p:sldId id="451" r:id="rId23"/>
    <p:sldId id="452" r:id="rId24"/>
    <p:sldId id="453" r:id="rId25"/>
    <p:sldId id="454" r:id="rId26"/>
    <p:sldId id="455" r:id="rId27"/>
    <p:sldId id="457" r:id="rId28"/>
    <p:sldId id="458" r:id="rId29"/>
    <p:sldId id="459" r:id="rId30"/>
    <p:sldId id="460" r:id="rId31"/>
    <p:sldId id="461" r:id="rId32"/>
    <p:sldId id="462" r:id="rId33"/>
    <p:sldId id="463" r:id="rId34"/>
    <p:sldId id="464" r:id="rId35"/>
    <p:sldId id="465" r:id="rId36"/>
    <p:sldId id="466" r:id="rId37"/>
    <p:sldId id="467" r:id="rId38"/>
    <p:sldId id="468" r:id="rId39"/>
    <p:sldId id="470" r:id="rId40"/>
    <p:sldId id="471" r:id="rId41"/>
    <p:sldId id="472" r:id="rId42"/>
    <p:sldId id="473" r:id="rId43"/>
    <p:sldId id="474" r:id="rId44"/>
    <p:sldId id="475" r:id="rId45"/>
    <p:sldId id="476" r:id="rId46"/>
    <p:sldId id="477" r:id="rId47"/>
    <p:sldId id="478" r:id="rId48"/>
    <p:sldId id="479" r:id="rId49"/>
    <p:sldId id="480" r:id="rId50"/>
    <p:sldId id="481" r:id="rId51"/>
    <p:sldId id="482" r:id="rId52"/>
    <p:sldId id="483" r:id="rId53"/>
    <p:sldId id="484" r:id="rId54"/>
    <p:sldId id="485" r:id="rId55"/>
    <p:sldId id="486" r:id="rId56"/>
    <p:sldId id="487" r:id="rId57"/>
    <p:sldId id="488" r:id="rId58"/>
    <p:sldId id="489" r:id="rId59"/>
    <p:sldId id="490" r:id="rId60"/>
    <p:sldId id="491" r:id="rId61"/>
    <p:sldId id="492" r:id="rId62"/>
    <p:sldId id="430" r:id="rId63"/>
    <p:sldId id="284" r:id="rId64"/>
    <p:sldId id="285" r:id="rId65"/>
    <p:sldId id="286" r:id="rId66"/>
    <p:sldId id="287" r:id="rId67"/>
    <p:sldId id="288" r:id="rId68"/>
    <p:sldId id="289" r:id="rId69"/>
    <p:sldId id="292" r:id="rId70"/>
    <p:sldId id="291" r:id="rId71"/>
    <p:sldId id="294" r:id="rId72"/>
    <p:sldId id="296" r:id="rId73"/>
    <p:sldId id="295" r:id="rId74"/>
    <p:sldId id="297" r:id="rId75"/>
    <p:sldId id="397" r:id="rId76"/>
    <p:sldId id="298" r:id="rId77"/>
    <p:sldId id="299" r:id="rId78"/>
    <p:sldId id="300" r:id="rId79"/>
    <p:sldId id="301" r:id="rId80"/>
    <p:sldId id="302" r:id="rId81"/>
    <p:sldId id="303" r:id="rId82"/>
    <p:sldId id="306" r:id="rId83"/>
    <p:sldId id="304" r:id="rId84"/>
    <p:sldId id="305" r:id="rId85"/>
    <p:sldId id="310" r:id="rId86"/>
    <p:sldId id="398" r:id="rId87"/>
    <p:sldId id="311" r:id="rId88"/>
    <p:sldId id="312" r:id="rId89"/>
    <p:sldId id="399" r:id="rId90"/>
    <p:sldId id="313" r:id="rId91"/>
    <p:sldId id="400" r:id="rId92"/>
    <p:sldId id="314" r:id="rId93"/>
    <p:sldId id="401" r:id="rId94"/>
    <p:sldId id="315" r:id="rId95"/>
    <p:sldId id="309" r:id="rId96"/>
    <p:sldId id="317" r:id="rId97"/>
    <p:sldId id="316" r:id="rId98"/>
    <p:sldId id="375" r:id="rId99"/>
    <p:sldId id="376" r:id="rId100"/>
    <p:sldId id="377" r:id="rId101"/>
    <p:sldId id="378" r:id="rId102"/>
    <p:sldId id="402" r:id="rId103"/>
    <p:sldId id="379" r:id="rId104"/>
    <p:sldId id="380" r:id="rId105"/>
    <p:sldId id="381" r:id="rId106"/>
    <p:sldId id="382" r:id="rId107"/>
    <p:sldId id="383" r:id="rId108"/>
    <p:sldId id="384" r:id="rId109"/>
    <p:sldId id="385" r:id="rId110"/>
    <p:sldId id="403" r:id="rId111"/>
    <p:sldId id="386" r:id="rId112"/>
    <p:sldId id="387" r:id="rId113"/>
    <p:sldId id="388" r:id="rId114"/>
    <p:sldId id="389" r:id="rId115"/>
    <p:sldId id="390" r:id="rId116"/>
    <p:sldId id="404" r:id="rId117"/>
    <p:sldId id="405" r:id="rId118"/>
    <p:sldId id="391" r:id="rId119"/>
    <p:sldId id="392" r:id="rId120"/>
    <p:sldId id="408" r:id="rId121"/>
    <p:sldId id="409" r:id="rId122"/>
    <p:sldId id="410" r:id="rId123"/>
    <p:sldId id="393" r:id="rId124"/>
    <p:sldId id="394" r:id="rId125"/>
    <p:sldId id="395" r:id="rId126"/>
    <p:sldId id="396" r:id="rId127"/>
    <p:sldId id="341" r:id="rId128"/>
    <p:sldId id="344" r:id="rId129"/>
    <p:sldId id="345" r:id="rId130"/>
    <p:sldId id="348" r:id="rId131"/>
    <p:sldId id="349" r:id="rId132"/>
    <p:sldId id="350" r:id="rId133"/>
    <p:sldId id="351" r:id="rId134"/>
    <p:sldId id="352" r:id="rId135"/>
    <p:sldId id="353" r:id="rId136"/>
    <p:sldId id="354" r:id="rId137"/>
    <p:sldId id="355" r:id="rId138"/>
    <p:sldId id="356" r:id="rId139"/>
    <p:sldId id="357" r:id="rId140"/>
    <p:sldId id="358" r:id="rId141"/>
    <p:sldId id="359" r:id="rId142"/>
    <p:sldId id="363" r:id="rId143"/>
    <p:sldId id="364" r:id="rId144"/>
    <p:sldId id="365" r:id="rId145"/>
    <p:sldId id="366" r:id="rId146"/>
    <p:sldId id="367" r:id="rId147"/>
    <p:sldId id="368" r:id="rId148"/>
    <p:sldId id="369" r:id="rId149"/>
    <p:sldId id="370" r:id="rId150"/>
    <p:sldId id="411" r:id="rId151"/>
    <p:sldId id="412" r:id="rId152"/>
    <p:sldId id="413" r:id="rId153"/>
    <p:sldId id="414" r:id="rId154"/>
    <p:sldId id="415" r:id="rId155"/>
    <p:sldId id="416" r:id="rId156"/>
    <p:sldId id="431" r:id="rId157"/>
    <p:sldId id="432" r:id="rId158"/>
    <p:sldId id="433" r:id="rId159"/>
    <p:sldId id="434" r:id="rId160"/>
    <p:sldId id="435" r:id="rId161"/>
    <p:sldId id="436" r:id="rId162"/>
    <p:sldId id="437" r:id="rId163"/>
    <p:sldId id="438" r:id="rId164"/>
    <p:sldId id="439" r:id="rId165"/>
  </p:sldIdLst>
  <p:sldSz cx="9144000" cy="6858000" type="screen4x3"/>
  <p:notesSz cx="6761163" cy="9942513"/>
  <p:defaultTextStyle>
    <a:defPPr>
      <a:defRPr lang="zh-CN"/>
    </a:defPPr>
    <a:lvl1pPr algn="l" rtl="0" fontAlgn="base">
      <a:spcBef>
        <a:spcPct val="0"/>
      </a:spcBef>
      <a:spcAft>
        <a:spcPct val="0"/>
      </a:spcAft>
      <a:defRPr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itchFamily="18" charset="0"/>
        <a:ea typeface="宋体" pitchFamily="2" charset="-122"/>
        <a:cs typeface="+mn-cs"/>
      </a:defRPr>
    </a:lvl5pPr>
    <a:lvl6pPr marL="2286000" algn="l" defTabSz="914400" rtl="0" eaLnBrk="1" latinLnBrk="0" hangingPunct="1">
      <a:defRPr sz="2400" kern="1200">
        <a:solidFill>
          <a:schemeClr val="tx1"/>
        </a:solidFill>
        <a:latin typeface="Times New Roman" pitchFamily="18" charset="0"/>
        <a:ea typeface="宋体" pitchFamily="2" charset="-122"/>
        <a:cs typeface="+mn-cs"/>
      </a:defRPr>
    </a:lvl6pPr>
    <a:lvl7pPr marL="2743200" algn="l" defTabSz="914400" rtl="0" eaLnBrk="1" latinLnBrk="0" hangingPunct="1">
      <a:defRPr sz="2400" kern="1200">
        <a:solidFill>
          <a:schemeClr val="tx1"/>
        </a:solidFill>
        <a:latin typeface="Times New Roman" pitchFamily="18" charset="0"/>
        <a:ea typeface="宋体" pitchFamily="2" charset="-122"/>
        <a:cs typeface="+mn-cs"/>
      </a:defRPr>
    </a:lvl7pPr>
    <a:lvl8pPr marL="3200400" algn="l" defTabSz="914400" rtl="0" eaLnBrk="1" latinLnBrk="0" hangingPunct="1">
      <a:defRPr sz="2400" kern="1200">
        <a:solidFill>
          <a:schemeClr val="tx1"/>
        </a:solidFill>
        <a:latin typeface="Times New Roman" pitchFamily="18" charset="0"/>
        <a:ea typeface="宋体" pitchFamily="2" charset="-122"/>
        <a:cs typeface="+mn-cs"/>
      </a:defRPr>
    </a:lvl8pPr>
    <a:lvl9pPr marL="3657600" algn="l" defTabSz="914400" rtl="0" eaLnBrk="1" latinLnBrk="0" hangingPunct="1">
      <a:defRPr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CCFFFF"/>
    <a:srgbClr val="3399FF"/>
    <a:srgbClr val="333399"/>
    <a:srgbClr val="00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33" autoAdjust="0"/>
    <p:restoredTop sz="97175" autoAdjust="0"/>
  </p:normalViewPr>
  <p:slideViewPr>
    <p:cSldViewPr>
      <p:cViewPr varScale="1">
        <p:scale>
          <a:sx n="110" d="100"/>
          <a:sy n="110" d="100"/>
        </p:scale>
        <p:origin x="1338" y="11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244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63" Type="http://schemas.openxmlformats.org/officeDocument/2006/relationships/slide" Target="slides/slide55.xml"/><Relationship Id="rId84" Type="http://schemas.openxmlformats.org/officeDocument/2006/relationships/slide" Target="slides/slide76.xml"/><Relationship Id="rId138" Type="http://schemas.openxmlformats.org/officeDocument/2006/relationships/slide" Target="slides/slide130.xml"/><Relationship Id="rId159" Type="http://schemas.openxmlformats.org/officeDocument/2006/relationships/slide" Target="slides/slide151.xml"/><Relationship Id="rId170" Type="http://schemas.openxmlformats.org/officeDocument/2006/relationships/theme" Target="theme/theme1.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53" Type="http://schemas.openxmlformats.org/officeDocument/2006/relationships/slide" Target="slides/slide45.xml"/><Relationship Id="rId74" Type="http://schemas.openxmlformats.org/officeDocument/2006/relationships/slide" Target="slides/slide66.xml"/><Relationship Id="rId128" Type="http://schemas.openxmlformats.org/officeDocument/2006/relationships/slide" Target="slides/slide120.xml"/><Relationship Id="rId149" Type="http://schemas.openxmlformats.org/officeDocument/2006/relationships/slide" Target="slides/slide141.xml"/><Relationship Id="rId5" Type="http://schemas.openxmlformats.org/officeDocument/2006/relationships/slideMaster" Target="slideMasters/slideMaster5.xml"/><Relationship Id="rId95" Type="http://schemas.openxmlformats.org/officeDocument/2006/relationships/slide" Target="slides/slide87.xml"/><Relationship Id="rId160" Type="http://schemas.openxmlformats.org/officeDocument/2006/relationships/slide" Target="slides/slide152.xml"/><Relationship Id="rId22" Type="http://schemas.openxmlformats.org/officeDocument/2006/relationships/slide" Target="slides/slide14.xml"/><Relationship Id="rId43" Type="http://schemas.openxmlformats.org/officeDocument/2006/relationships/slide" Target="slides/slide35.xml"/><Relationship Id="rId64" Type="http://schemas.openxmlformats.org/officeDocument/2006/relationships/slide" Target="slides/slide56.xml"/><Relationship Id="rId118" Type="http://schemas.openxmlformats.org/officeDocument/2006/relationships/slide" Target="slides/slide110.xml"/><Relationship Id="rId139" Type="http://schemas.openxmlformats.org/officeDocument/2006/relationships/slide" Target="slides/slide131.xml"/><Relationship Id="rId85" Type="http://schemas.openxmlformats.org/officeDocument/2006/relationships/slide" Target="slides/slide77.xml"/><Relationship Id="rId150" Type="http://schemas.openxmlformats.org/officeDocument/2006/relationships/slide" Target="slides/slide142.xml"/><Relationship Id="rId171" Type="http://schemas.openxmlformats.org/officeDocument/2006/relationships/tableStyles" Target="tableStyles.xml"/><Relationship Id="rId12" Type="http://schemas.openxmlformats.org/officeDocument/2006/relationships/slide" Target="slides/slide4.xml"/><Relationship Id="rId33" Type="http://schemas.openxmlformats.org/officeDocument/2006/relationships/slide" Target="slides/slide25.xml"/><Relationship Id="rId108" Type="http://schemas.openxmlformats.org/officeDocument/2006/relationships/slide" Target="slides/slide100.xml"/><Relationship Id="rId129" Type="http://schemas.openxmlformats.org/officeDocument/2006/relationships/slide" Target="slides/slide121.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40" Type="http://schemas.openxmlformats.org/officeDocument/2006/relationships/slide" Target="slides/slide132.xml"/><Relationship Id="rId145" Type="http://schemas.openxmlformats.org/officeDocument/2006/relationships/slide" Target="slides/slide137.xml"/><Relationship Id="rId161" Type="http://schemas.openxmlformats.org/officeDocument/2006/relationships/slide" Target="slides/slide153.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119" Type="http://schemas.openxmlformats.org/officeDocument/2006/relationships/slide" Target="slides/slide111.xml"/><Relationship Id="rId44" Type="http://schemas.openxmlformats.org/officeDocument/2006/relationships/slide" Target="slides/slide36.xml"/><Relationship Id="rId60" Type="http://schemas.openxmlformats.org/officeDocument/2006/relationships/slide" Target="slides/slide52.xml"/><Relationship Id="rId65" Type="http://schemas.openxmlformats.org/officeDocument/2006/relationships/slide" Target="slides/slide57.xml"/><Relationship Id="rId81" Type="http://schemas.openxmlformats.org/officeDocument/2006/relationships/slide" Target="slides/slide73.xml"/><Relationship Id="rId86" Type="http://schemas.openxmlformats.org/officeDocument/2006/relationships/slide" Target="slides/slide78.xml"/><Relationship Id="rId130" Type="http://schemas.openxmlformats.org/officeDocument/2006/relationships/slide" Target="slides/slide122.xml"/><Relationship Id="rId135" Type="http://schemas.openxmlformats.org/officeDocument/2006/relationships/slide" Target="slides/slide127.xml"/><Relationship Id="rId151" Type="http://schemas.openxmlformats.org/officeDocument/2006/relationships/slide" Target="slides/slide143.xml"/><Relationship Id="rId156" Type="http://schemas.openxmlformats.org/officeDocument/2006/relationships/slide" Target="slides/slide148.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slide" Target="slides/slide117.xml"/><Relationship Id="rId141" Type="http://schemas.openxmlformats.org/officeDocument/2006/relationships/slide" Target="slides/slide133.xml"/><Relationship Id="rId146" Type="http://schemas.openxmlformats.org/officeDocument/2006/relationships/slide" Target="slides/slide138.xml"/><Relationship Id="rId167" Type="http://schemas.openxmlformats.org/officeDocument/2006/relationships/handoutMaster" Target="handoutMasters/handoutMaster1.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162" Type="http://schemas.openxmlformats.org/officeDocument/2006/relationships/slide" Target="slides/slide15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131" Type="http://schemas.openxmlformats.org/officeDocument/2006/relationships/slide" Target="slides/slide123.xml"/><Relationship Id="rId136" Type="http://schemas.openxmlformats.org/officeDocument/2006/relationships/slide" Target="slides/slide128.xml"/><Relationship Id="rId157" Type="http://schemas.openxmlformats.org/officeDocument/2006/relationships/slide" Target="slides/slide149.xml"/><Relationship Id="rId61" Type="http://schemas.openxmlformats.org/officeDocument/2006/relationships/slide" Target="slides/slide53.xml"/><Relationship Id="rId82" Type="http://schemas.openxmlformats.org/officeDocument/2006/relationships/slide" Target="slides/slide74.xml"/><Relationship Id="rId152" Type="http://schemas.openxmlformats.org/officeDocument/2006/relationships/slide" Target="slides/slide14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slide" Target="slides/slide118.xml"/><Relationship Id="rId147" Type="http://schemas.openxmlformats.org/officeDocument/2006/relationships/slide" Target="slides/slide139.xml"/><Relationship Id="rId168"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142" Type="http://schemas.openxmlformats.org/officeDocument/2006/relationships/slide" Target="slides/slide134.xml"/><Relationship Id="rId163" Type="http://schemas.openxmlformats.org/officeDocument/2006/relationships/slide" Target="slides/slide155.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137" Type="http://schemas.openxmlformats.org/officeDocument/2006/relationships/slide" Target="slides/slide129.xml"/><Relationship Id="rId158" Type="http://schemas.openxmlformats.org/officeDocument/2006/relationships/slide" Target="slides/slide150.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32" Type="http://schemas.openxmlformats.org/officeDocument/2006/relationships/slide" Target="slides/slide124.xml"/><Relationship Id="rId153" Type="http://schemas.openxmlformats.org/officeDocument/2006/relationships/slide" Target="slides/slide145.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27" Type="http://schemas.openxmlformats.org/officeDocument/2006/relationships/slide" Target="slides/slide119.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slide" Target="slides/slide114.xml"/><Relationship Id="rId143" Type="http://schemas.openxmlformats.org/officeDocument/2006/relationships/slide" Target="slides/slide135.xml"/><Relationship Id="rId148" Type="http://schemas.openxmlformats.org/officeDocument/2006/relationships/slide" Target="slides/slide140.xml"/><Relationship Id="rId164" Type="http://schemas.openxmlformats.org/officeDocument/2006/relationships/slide" Target="slides/slide156.xml"/><Relationship Id="rId16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26" Type="http://schemas.openxmlformats.org/officeDocument/2006/relationships/slide" Target="slides/slide18.xml"/><Relationship Id="rId47" Type="http://schemas.openxmlformats.org/officeDocument/2006/relationships/slide" Target="slides/slide39.xml"/><Relationship Id="rId68" Type="http://schemas.openxmlformats.org/officeDocument/2006/relationships/slide" Target="slides/slide60.xml"/><Relationship Id="rId89" Type="http://schemas.openxmlformats.org/officeDocument/2006/relationships/slide" Target="slides/slide81.xml"/><Relationship Id="rId112" Type="http://schemas.openxmlformats.org/officeDocument/2006/relationships/slide" Target="slides/slide104.xml"/><Relationship Id="rId133" Type="http://schemas.openxmlformats.org/officeDocument/2006/relationships/slide" Target="slides/slide125.xml"/><Relationship Id="rId154" Type="http://schemas.openxmlformats.org/officeDocument/2006/relationships/slide" Target="slides/slide146.xml"/><Relationship Id="rId16" Type="http://schemas.openxmlformats.org/officeDocument/2006/relationships/slide" Target="slides/slide8.xml"/><Relationship Id="rId37" Type="http://schemas.openxmlformats.org/officeDocument/2006/relationships/slide" Target="slides/slide29.xml"/><Relationship Id="rId58" Type="http://schemas.openxmlformats.org/officeDocument/2006/relationships/slide" Target="slides/slide50.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slide" Target="slides/slide115.xml"/><Relationship Id="rId144" Type="http://schemas.openxmlformats.org/officeDocument/2006/relationships/slide" Target="slides/slide136.xml"/><Relationship Id="rId90" Type="http://schemas.openxmlformats.org/officeDocument/2006/relationships/slide" Target="slides/slide82.xml"/><Relationship Id="rId165" Type="http://schemas.openxmlformats.org/officeDocument/2006/relationships/slide" Target="slides/slide157.xml"/><Relationship Id="rId27" Type="http://schemas.openxmlformats.org/officeDocument/2006/relationships/slide" Target="slides/slide19.xml"/><Relationship Id="rId48" Type="http://schemas.openxmlformats.org/officeDocument/2006/relationships/slide" Target="slides/slide40.xml"/><Relationship Id="rId69" Type="http://schemas.openxmlformats.org/officeDocument/2006/relationships/slide" Target="slides/slide61.xml"/><Relationship Id="rId113" Type="http://schemas.openxmlformats.org/officeDocument/2006/relationships/slide" Target="slides/slide105.xml"/><Relationship Id="rId134" Type="http://schemas.openxmlformats.org/officeDocument/2006/relationships/slide" Target="slides/slide126.xml"/><Relationship Id="rId80" Type="http://schemas.openxmlformats.org/officeDocument/2006/relationships/slide" Target="slides/slide72.xml"/><Relationship Id="rId155" Type="http://schemas.openxmlformats.org/officeDocument/2006/relationships/slide" Target="slides/slide147.xml"/><Relationship Id="rId17" Type="http://schemas.openxmlformats.org/officeDocument/2006/relationships/slide" Target="slides/slide9.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24" Type="http://schemas.openxmlformats.org/officeDocument/2006/relationships/slide" Target="slides/slide116.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10" Type="http://schemas.openxmlformats.org/officeDocument/2006/relationships/image" Target="../media/image16.wmf"/><Relationship Id="rId4" Type="http://schemas.openxmlformats.org/officeDocument/2006/relationships/image" Target="../media/image10.wmf"/><Relationship Id="rId9"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5" Type="http://schemas.openxmlformats.org/officeDocument/2006/relationships/image" Target="../media/image54.wmf"/><Relationship Id="rId4"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57.wmf"/><Relationship Id="rId7" Type="http://schemas.openxmlformats.org/officeDocument/2006/relationships/image" Target="../media/image61.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7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5" Type="http://schemas.openxmlformats.org/officeDocument/2006/relationships/image" Target="../media/image81.wmf"/><Relationship Id="rId4" Type="http://schemas.openxmlformats.org/officeDocument/2006/relationships/image" Target="../media/image8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4" Type="http://schemas.openxmlformats.org/officeDocument/2006/relationships/image" Target="../media/image109.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7.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07.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07.wmf"/><Relationship Id="rId4" Type="http://schemas.openxmlformats.org/officeDocument/2006/relationships/image" Target="../media/image11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07.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07.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07.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07.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22.wmf"/><Relationship Id="rId1" Type="http://schemas.openxmlformats.org/officeDocument/2006/relationships/image" Target="../media/image107.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23.wmf"/><Relationship Id="rId1" Type="http://schemas.openxmlformats.org/officeDocument/2006/relationships/image" Target="../media/image107.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24.wmf"/><Relationship Id="rId1" Type="http://schemas.openxmlformats.org/officeDocument/2006/relationships/image" Target="../media/image107.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07.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emf"/><Relationship Id="rId4" Type="http://schemas.openxmlformats.org/officeDocument/2006/relationships/image" Target="../media/image130.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 Id="rId4" Type="http://schemas.openxmlformats.org/officeDocument/2006/relationships/image" Target="../media/image134.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 Id="rId4" Type="http://schemas.openxmlformats.org/officeDocument/2006/relationships/image" Target="../media/image149.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 Id="rId4" Type="http://schemas.openxmlformats.org/officeDocument/2006/relationships/image" Target="../media/image153.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 Id="rId5" Type="http://schemas.openxmlformats.org/officeDocument/2006/relationships/image" Target="../media/image158.wmf"/><Relationship Id="rId4" Type="http://schemas.openxmlformats.org/officeDocument/2006/relationships/image" Target="../media/image157.wmf"/></Relationships>
</file>

<file path=ppt/drawings/_rels/vmlDrawing63.v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image" Target="../media/image161.wmf"/><Relationship Id="rId7" Type="http://schemas.openxmlformats.org/officeDocument/2006/relationships/image" Target="../media/image165.wmf"/><Relationship Id="rId2" Type="http://schemas.openxmlformats.org/officeDocument/2006/relationships/image" Target="../media/image160.wmf"/><Relationship Id="rId1" Type="http://schemas.openxmlformats.org/officeDocument/2006/relationships/image" Target="../media/image159.wmf"/><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 Id="rId4" Type="http://schemas.openxmlformats.org/officeDocument/2006/relationships/image" Target="../media/image170.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175.wmf"/><Relationship Id="rId1" Type="http://schemas.openxmlformats.org/officeDocument/2006/relationships/image" Target="../media/image174.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179.wmf"/><Relationship Id="rId7" Type="http://schemas.openxmlformats.org/officeDocument/2006/relationships/image" Target="../media/image183.wmf"/><Relationship Id="rId2" Type="http://schemas.openxmlformats.org/officeDocument/2006/relationships/image" Target="../media/image178.wmf"/><Relationship Id="rId1" Type="http://schemas.openxmlformats.org/officeDocument/2006/relationships/image" Target="../media/image169.wmf"/><Relationship Id="rId6" Type="http://schemas.openxmlformats.org/officeDocument/2006/relationships/image" Target="../media/image182.wmf"/><Relationship Id="rId5" Type="http://schemas.openxmlformats.org/officeDocument/2006/relationships/image" Target="../media/image181.wmf"/><Relationship Id="rId4" Type="http://schemas.openxmlformats.org/officeDocument/2006/relationships/image" Target="../media/image180.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image" Target="../media/image188.wmf"/><Relationship Id="rId1" Type="http://schemas.openxmlformats.org/officeDocument/2006/relationships/image" Target="../media/image187.wmf"/></Relationships>
</file>

<file path=ppt/drawings/_rels/vmlDrawing70.vml.rels><?xml version="1.0" encoding="UTF-8" standalone="yes"?>
<Relationships xmlns="http://schemas.openxmlformats.org/package/2006/relationships"><Relationship Id="rId2" Type="http://schemas.openxmlformats.org/officeDocument/2006/relationships/image" Target="../media/image191.wmf"/><Relationship Id="rId1" Type="http://schemas.openxmlformats.org/officeDocument/2006/relationships/image" Target="../media/image190.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193.wmf"/><Relationship Id="rId1" Type="http://schemas.openxmlformats.org/officeDocument/2006/relationships/image" Target="../media/image192.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 Id="rId4" Type="http://schemas.openxmlformats.org/officeDocument/2006/relationships/image" Target="../media/image197.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202.wmf"/><Relationship Id="rId2" Type="http://schemas.openxmlformats.org/officeDocument/2006/relationships/image" Target="../media/image201.wmf"/><Relationship Id="rId1" Type="http://schemas.openxmlformats.org/officeDocument/2006/relationships/image" Target="../media/image200.wmf"/><Relationship Id="rId5" Type="http://schemas.openxmlformats.org/officeDocument/2006/relationships/image" Target="../media/image204.wmf"/><Relationship Id="rId4" Type="http://schemas.openxmlformats.org/officeDocument/2006/relationships/image" Target="../media/image203.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203.wmf"/><Relationship Id="rId2" Type="http://schemas.openxmlformats.org/officeDocument/2006/relationships/image" Target="../media/image206.wmf"/><Relationship Id="rId1" Type="http://schemas.openxmlformats.org/officeDocument/2006/relationships/image" Target="../media/image205.wmf"/><Relationship Id="rId4" Type="http://schemas.openxmlformats.org/officeDocument/2006/relationships/image" Target="../media/image207.w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08.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212.wmf"/><Relationship Id="rId2" Type="http://schemas.openxmlformats.org/officeDocument/2006/relationships/image" Target="../media/image211.wmf"/><Relationship Id="rId1" Type="http://schemas.openxmlformats.org/officeDocument/2006/relationships/image" Target="../media/image210.wmf"/><Relationship Id="rId4" Type="http://schemas.openxmlformats.org/officeDocument/2006/relationships/image" Target="../media/image213.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216.wmf"/><Relationship Id="rId7" Type="http://schemas.openxmlformats.org/officeDocument/2006/relationships/image" Target="../media/image220.wmf"/><Relationship Id="rId2" Type="http://schemas.openxmlformats.org/officeDocument/2006/relationships/image" Target="../media/image215.wmf"/><Relationship Id="rId1" Type="http://schemas.openxmlformats.org/officeDocument/2006/relationships/image" Target="../media/image214.wmf"/><Relationship Id="rId6" Type="http://schemas.openxmlformats.org/officeDocument/2006/relationships/image" Target="../media/image219.wmf"/><Relationship Id="rId5" Type="http://schemas.openxmlformats.org/officeDocument/2006/relationships/image" Target="../media/image218.wmf"/><Relationship Id="rId4" Type="http://schemas.openxmlformats.org/officeDocument/2006/relationships/image" Target="../media/image217.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 Id="rId4" Type="http://schemas.openxmlformats.org/officeDocument/2006/relationships/image" Target="../media/image224.w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25.wmf"/></Relationships>
</file>

<file path=ppt/drawings/_rels/vmlDrawing81.vml.rels><?xml version="1.0" encoding="UTF-8" standalone="yes"?>
<Relationships xmlns="http://schemas.openxmlformats.org/package/2006/relationships"><Relationship Id="rId3" Type="http://schemas.openxmlformats.org/officeDocument/2006/relationships/image" Target="../media/image228.wmf"/><Relationship Id="rId2" Type="http://schemas.openxmlformats.org/officeDocument/2006/relationships/image" Target="../media/image227.wmf"/><Relationship Id="rId1" Type="http://schemas.openxmlformats.org/officeDocument/2006/relationships/image" Target="../media/image226.wmf"/></Relationships>
</file>

<file path=ppt/drawings/_rels/vmlDrawing82.vml.rels><?xml version="1.0" encoding="UTF-8" standalone="yes"?>
<Relationships xmlns="http://schemas.openxmlformats.org/package/2006/relationships"><Relationship Id="rId2" Type="http://schemas.openxmlformats.org/officeDocument/2006/relationships/image" Target="../media/image230.wmf"/><Relationship Id="rId1" Type="http://schemas.openxmlformats.org/officeDocument/2006/relationships/image" Target="../media/image229.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233.wmf"/><Relationship Id="rId2" Type="http://schemas.openxmlformats.org/officeDocument/2006/relationships/image" Target="../media/image232.wmf"/><Relationship Id="rId1" Type="http://schemas.openxmlformats.org/officeDocument/2006/relationships/image" Target="../media/image231.w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 Id="rId4" Type="http://schemas.openxmlformats.org/officeDocument/2006/relationships/image" Target="../media/image237.wmf"/></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238.wmf"/><Relationship Id="rId4" Type="http://schemas.openxmlformats.org/officeDocument/2006/relationships/image" Target="../media/image241.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44.wmf"/><Relationship Id="rId1" Type="http://schemas.openxmlformats.org/officeDocument/2006/relationships/image" Target="../media/image243.wmf"/></Relationships>
</file>

<file path=ppt/drawings/_rels/vmlDrawing87.vml.rels><?xml version="1.0" encoding="UTF-8" standalone="yes"?>
<Relationships xmlns="http://schemas.openxmlformats.org/package/2006/relationships"><Relationship Id="rId3" Type="http://schemas.openxmlformats.org/officeDocument/2006/relationships/image" Target="../media/image247.wmf"/><Relationship Id="rId2" Type="http://schemas.openxmlformats.org/officeDocument/2006/relationships/image" Target="../media/image246.wmf"/><Relationship Id="rId1" Type="http://schemas.openxmlformats.org/officeDocument/2006/relationships/image" Target="../media/image245.wmf"/><Relationship Id="rId4" Type="http://schemas.openxmlformats.org/officeDocument/2006/relationships/image" Target="../media/image248.wmf"/></Relationships>
</file>

<file path=ppt/drawings/_rels/vmlDrawing88.vml.rels><?xml version="1.0" encoding="UTF-8" standalone="yes"?>
<Relationships xmlns="http://schemas.openxmlformats.org/package/2006/relationships"><Relationship Id="rId2" Type="http://schemas.openxmlformats.org/officeDocument/2006/relationships/image" Target="../media/image250.wmf"/><Relationship Id="rId1" Type="http://schemas.openxmlformats.org/officeDocument/2006/relationships/image" Target="../media/image249.wmf"/></Relationships>
</file>

<file path=ppt/drawings/_rels/vmlDrawing89.vml.rels><?xml version="1.0" encoding="UTF-8" standalone="yes"?>
<Relationships xmlns="http://schemas.openxmlformats.org/package/2006/relationships"><Relationship Id="rId2" Type="http://schemas.openxmlformats.org/officeDocument/2006/relationships/image" Target="../media/image252.wmf"/><Relationship Id="rId1" Type="http://schemas.openxmlformats.org/officeDocument/2006/relationships/image" Target="../media/image251.wmf"/></Relationships>
</file>

<file path=ppt/drawings/_rels/vmlDrawing90.vml.rels><?xml version="1.0" encoding="UTF-8" standalone="yes"?>
<Relationships xmlns="http://schemas.openxmlformats.org/package/2006/relationships"><Relationship Id="rId2" Type="http://schemas.openxmlformats.org/officeDocument/2006/relationships/image" Target="../media/image254.wmf"/><Relationship Id="rId1" Type="http://schemas.openxmlformats.org/officeDocument/2006/relationships/image" Target="../media/image253.wmf"/></Relationships>
</file>

<file path=ppt/drawings/_rels/vmlDrawing91.vml.rels><?xml version="1.0" encoding="UTF-8" standalone="yes"?>
<Relationships xmlns="http://schemas.openxmlformats.org/package/2006/relationships"><Relationship Id="rId3" Type="http://schemas.openxmlformats.org/officeDocument/2006/relationships/image" Target="../media/image257.wmf"/><Relationship Id="rId2" Type="http://schemas.openxmlformats.org/officeDocument/2006/relationships/image" Target="../media/image256.wmf"/><Relationship Id="rId1" Type="http://schemas.openxmlformats.org/officeDocument/2006/relationships/image" Target="../media/image255.wmf"/><Relationship Id="rId4" Type="http://schemas.openxmlformats.org/officeDocument/2006/relationships/image" Target="../media/image258.wmf"/></Relationships>
</file>

<file path=ppt/drawings/_rels/vmlDrawing92.vml.rels><?xml version="1.0" encoding="UTF-8" standalone="yes"?>
<Relationships xmlns="http://schemas.openxmlformats.org/package/2006/relationships"><Relationship Id="rId2" Type="http://schemas.openxmlformats.org/officeDocument/2006/relationships/image" Target="../media/image260.wmf"/><Relationship Id="rId1" Type="http://schemas.openxmlformats.org/officeDocument/2006/relationships/image" Target="../media/image259.wmf"/></Relationships>
</file>

<file path=ppt/drawings/_rels/vmlDrawing93.vml.rels><?xml version="1.0" encoding="UTF-8" standalone="yes"?>
<Relationships xmlns="http://schemas.openxmlformats.org/package/2006/relationships"><Relationship Id="rId3" Type="http://schemas.openxmlformats.org/officeDocument/2006/relationships/image" Target="../media/image263.wmf"/><Relationship Id="rId2" Type="http://schemas.openxmlformats.org/officeDocument/2006/relationships/image" Target="../media/image262.wmf"/><Relationship Id="rId1" Type="http://schemas.openxmlformats.org/officeDocument/2006/relationships/image" Target="../media/image261.wmf"/><Relationship Id="rId4" Type="http://schemas.openxmlformats.org/officeDocument/2006/relationships/image" Target="../media/image264.w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265.w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266.wmf"/></Relationships>
</file>

<file path=ppt/drawings/_rels/vmlDrawing96.vml.rels><?xml version="1.0" encoding="UTF-8" standalone="yes"?>
<Relationships xmlns="http://schemas.openxmlformats.org/package/2006/relationships"><Relationship Id="rId3" Type="http://schemas.openxmlformats.org/officeDocument/2006/relationships/image" Target="../media/image269.wmf"/><Relationship Id="rId2" Type="http://schemas.openxmlformats.org/officeDocument/2006/relationships/image" Target="../media/image268.wmf"/><Relationship Id="rId1" Type="http://schemas.openxmlformats.org/officeDocument/2006/relationships/image" Target="../media/image267.wmf"/><Relationship Id="rId4" Type="http://schemas.openxmlformats.org/officeDocument/2006/relationships/image" Target="../media/image270.wmf"/></Relationships>
</file>

<file path=ppt/drawings/_rels/vmlDrawing97.vml.rels><?xml version="1.0" encoding="UTF-8" standalone="yes"?>
<Relationships xmlns="http://schemas.openxmlformats.org/package/2006/relationships"><Relationship Id="rId3" Type="http://schemas.openxmlformats.org/officeDocument/2006/relationships/image" Target="../media/image273.wmf"/><Relationship Id="rId2" Type="http://schemas.openxmlformats.org/officeDocument/2006/relationships/image" Target="../media/image272.wmf"/><Relationship Id="rId1" Type="http://schemas.openxmlformats.org/officeDocument/2006/relationships/image" Target="../media/image271.wmf"/><Relationship Id="rId4" Type="http://schemas.openxmlformats.org/officeDocument/2006/relationships/image" Target="../media/image274.wmf"/></Relationships>
</file>

<file path=ppt/drawings/_rels/vmlDrawing98.vml.rels><?xml version="1.0" encoding="UTF-8" standalone="yes"?>
<Relationships xmlns="http://schemas.openxmlformats.org/package/2006/relationships"><Relationship Id="rId3" Type="http://schemas.openxmlformats.org/officeDocument/2006/relationships/image" Target="../media/image277.wmf"/><Relationship Id="rId2" Type="http://schemas.openxmlformats.org/officeDocument/2006/relationships/image" Target="../media/image276.wmf"/><Relationship Id="rId1" Type="http://schemas.openxmlformats.org/officeDocument/2006/relationships/image" Target="../media/image27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t" anchorCtr="0" compatLnSpc="1">
            <a:prstTxWarp prst="textNoShape">
              <a:avLst/>
            </a:prstTxWarp>
          </a:bodyPr>
          <a:lstStyle>
            <a:lvl1pPr defTabSz="954542">
              <a:defRPr sz="1300" smtClean="0">
                <a:latin typeface="Arial" charset="0"/>
              </a:defRPr>
            </a:lvl1pPr>
          </a:lstStyle>
          <a:p>
            <a:pPr>
              <a:defRPr/>
            </a:pPr>
            <a:endParaRPr lang="en-US" altLang="zh-CN"/>
          </a:p>
        </p:txBody>
      </p:sp>
      <p:sp>
        <p:nvSpPr>
          <p:cNvPr id="54275" name="Rectangle 3"/>
          <p:cNvSpPr>
            <a:spLocks noGrp="1" noChangeArrowheads="1"/>
          </p:cNvSpPr>
          <p:nvPr>
            <p:ph type="dt" sz="quarter" idx="1"/>
          </p:nvPr>
        </p:nvSpPr>
        <p:spPr bwMode="auto">
          <a:xfrm>
            <a:off x="3829613" y="0"/>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t" anchorCtr="0" compatLnSpc="1">
            <a:prstTxWarp prst="textNoShape">
              <a:avLst/>
            </a:prstTxWarp>
          </a:bodyPr>
          <a:lstStyle>
            <a:lvl1pPr algn="r" defTabSz="954542">
              <a:defRPr sz="1300" smtClean="0">
                <a:latin typeface="Arial" charset="0"/>
              </a:defRPr>
            </a:lvl1pPr>
          </a:lstStyle>
          <a:p>
            <a:pPr>
              <a:defRPr/>
            </a:pPr>
            <a:endParaRPr lang="en-US" altLang="zh-CN"/>
          </a:p>
        </p:txBody>
      </p:sp>
      <p:sp>
        <p:nvSpPr>
          <p:cNvPr id="54276" name="Rectangle 4"/>
          <p:cNvSpPr>
            <a:spLocks noGrp="1" noChangeArrowheads="1"/>
          </p:cNvSpPr>
          <p:nvPr>
            <p:ph type="ftr" sz="quarter" idx="2"/>
          </p:nvPr>
        </p:nvSpPr>
        <p:spPr bwMode="auto">
          <a:xfrm>
            <a:off x="0" y="9444385"/>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b" anchorCtr="0" compatLnSpc="1">
            <a:prstTxWarp prst="textNoShape">
              <a:avLst/>
            </a:prstTxWarp>
          </a:bodyPr>
          <a:lstStyle>
            <a:lvl1pPr defTabSz="954542">
              <a:defRPr sz="1300" smtClean="0">
                <a:latin typeface="Arial" charset="0"/>
              </a:defRPr>
            </a:lvl1pPr>
          </a:lstStyle>
          <a:p>
            <a:pPr>
              <a:defRPr/>
            </a:pPr>
            <a:endParaRPr lang="en-US" altLang="zh-CN"/>
          </a:p>
        </p:txBody>
      </p:sp>
      <p:sp>
        <p:nvSpPr>
          <p:cNvPr id="54277" name="Rectangle 5"/>
          <p:cNvSpPr>
            <a:spLocks noGrp="1" noChangeArrowheads="1"/>
          </p:cNvSpPr>
          <p:nvPr>
            <p:ph type="sldNum" sz="quarter" idx="3"/>
          </p:nvPr>
        </p:nvSpPr>
        <p:spPr bwMode="auto">
          <a:xfrm>
            <a:off x="3829613" y="9444385"/>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b" anchorCtr="0" compatLnSpc="1">
            <a:prstTxWarp prst="textNoShape">
              <a:avLst/>
            </a:prstTxWarp>
          </a:bodyPr>
          <a:lstStyle>
            <a:lvl1pPr algn="r" defTabSz="954542">
              <a:defRPr sz="1300" smtClean="0">
                <a:latin typeface="Arial" charset="0"/>
              </a:defRPr>
            </a:lvl1pPr>
          </a:lstStyle>
          <a:p>
            <a:pPr>
              <a:defRPr/>
            </a:pPr>
            <a:fld id="{B0F567A3-CC6D-4204-A66F-B8EAA9C38F48}" type="slidenum">
              <a:rPr lang="en-US" altLang="zh-CN"/>
              <a:pPr>
                <a:defRPr/>
              </a:pPr>
              <a:t>‹#›</a:t>
            </a:fld>
            <a:endParaRPr lang="en-US" altLang="zh-CN"/>
          </a:p>
        </p:txBody>
      </p:sp>
    </p:spTree>
    <p:extLst>
      <p:ext uri="{BB962C8B-B14F-4D97-AF65-F5344CB8AC3E}">
        <p14:creationId xmlns:p14="http://schemas.microsoft.com/office/powerpoint/2010/main" val="24032994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t" anchorCtr="0" compatLnSpc="1">
            <a:prstTxWarp prst="textNoShape">
              <a:avLst/>
            </a:prstTxWarp>
          </a:bodyPr>
          <a:lstStyle>
            <a:lvl1pPr defTabSz="954542">
              <a:defRPr sz="1300" smtClean="0">
                <a:latin typeface="Arial" charset="0"/>
              </a:defRPr>
            </a:lvl1pPr>
          </a:lstStyle>
          <a:p>
            <a:pPr>
              <a:defRPr/>
            </a:pPr>
            <a:endParaRPr lang="en-US" altLang="zh-CN"/>
          </a:p>
        </p:txBody>
      </p:sp>
      <p:sp>
        <p:nvSpPr>
          <p:cNvPr id="46083" name="Rectangle 3"/>
          <p:cNvSpPr>
            <a:spLocks noGrp="1" noChangeArrowheads="1"/>
          </p:cNvSpPr>
          <p:nvPr>
            <p:ph type="dt" idx="1"/>
          </p:nvPr>
        </p:nvSpPr>
        <p:spPr bwMode="auto">
          <a:xfrm>
            <a:off x="3829613" y="0"/>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t" anchorCtr="0" compatLnSpc="1">
            <a:prstTxWarp prst="textNoShape">
              <a:avLst/>
            </a:prstTxWarp>
          </a:bodyPr>
          <a:lstStyle>
            <a:lvl1pPr algn="r" defTabSz="954542">
              <a:defRPr sz="1300" smtClean="0">
                <a:latin typeface="Arial" charset="0"/>
              </a:defRPr>
            </a:lvl1pPr>
          </a:lstStyle>
          <a:p>
            <a:pPr>
              <a:defRPr/>
            </a:pPr>
            <a:endParaRPr lang="en-US" altLang="zh-CN"/>
          </a:p>
        </p:txBody>
      </p:sp>
      <p:sp>
        <p:nvSpPr>
          <p:cNvPr id="195588" name="Rectangle 4"/>
          <p:cNvSpPr>
            <a:spLocks noGrp="1" noRot="1" noChangeAspect="1" noChangeArrowheads="1" noTextEdit="1"/>
          </p:cNvSpPr>
          <p:nvPr>
            <p:ph type="sldImg" idx="2"/>
          </p:nvPr>
        </p:nvSpPr>
        <p:spPr bwMode="auto">
          <a:xfrm>
            <a:off x="896938" y="746125"/>
            <a:ext cx="4967287" cy="3727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675815" y="4722192"/>
            <a:ext cx="5409535" cy="447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6086" name="Rectangle 6"/>
          <p:cNvSpPr>
            <a:spLocks noGrp="1" noChangeArrowheads="1"/>
          </p:cNvSpPr>
          <p:nvPr>
            <p:ph type="ftr" sz="quarter" idx="4"/>
          </p:nvPr>
        </p:nvSpPr>
        <p:spPr bwMode="auto">
          <a:xfrm>
            <a:off x="0" y="9444385"/>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b" anchorCtr="0" compatLnSpc="1">
            <a:prstTxWarp prst="textNoShape">
              <a:avLst/>
            </a:prstTxWarp>
          </a:bodyPr>
          <a:lstStyle>
            <a:lvl1pPr defTabSz="954542">
              <a:defRPr sz="1300" smtClean="0">
                <a:latin typeface="Arial" charset="0"/>
              </a:defRPr>
            </a:lvl1pPr>
          </a:lstStyle>
          <a:p>
            <a:pPr>
              <a:defRPr/>
            </a:pPr>
            <a:endParaRPr lang="en-US" altLang="zh-CN"/>
          </a:p>
        </p:txBody>
      </p:sp>
      <p:sp>
        <p:nvSpPr>
          <p:cNvPr id="46087" name="Rectangle 7"/>
          <p:cNvSpPr>
            <a:spLocks noGrp="1" noChangeArrowheads="1"/>
          </p:cNvSpPr>
          <p:nvPr>
            <p:ph type="sldNum" sz="quarter" idx="5"/>
          </p:nvPr>
        </p:nvSpPr>
        <p:spPr bwMode="auto">
          <a:xfrm>
            <a:off x="3829613" y="9444385"/>
            <a:ext cx="2930039" cy="496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443" tIns="47721" rIns="95443" bIns="47721" numCol="1" anchor="b" anchorCtr="0" compatLnSpc="1">
            <a:prstTxWarp prst="textNoShape">
              <a:avLst/>
            </a:prstTxWarp>
          </a:bodyPr>
          <a:lstStyle>
            <a:lvl1pPr algn="r" defTabSz="954542">
              <a:defRPr sz="1300" smtClean="0">
                <a:latin typeface="Arial" charset="0"/>
              </a:defRPr>
            </a:lvl1pPr>
          </a:lstStyle>
          <a:p>
            <a:pPr>
              <a:defRPr/>
            </a:pPr>
            <a:fld id="{F378E4B8-DAEB-475F-9DB2-C43D6A30AA7B}" type="slidenum">
              <a:rPr lang="en-US" altLang="zh-CN"/>
              <a:pPr>
                <a:defRPr/>
              </a:pPr>
              <a:t>‹#›</a:t>
            </a:fld>
            <a:endParaRPr lang="en-US" altLang="zh-CN"/>
          </a:p>
        </p:txBody>
      </p:sp>
    </p:spTree>
    <p:extLst>
      <p:ext uri="{BB962C8B-B14F-4D97-AF65-F5344CB8AC3E}">
        <p14:creationId xmlns:p14="http://schemas.microsoft.com/office/powerpoint/2010/main" val="26893906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80A520B-1857-41B1-97D3-DA3A336EC44E}" type="slidenum">
              <a:rPr lang="en-US" altLang="zh-CN" smtClean="0">
                <a:solidFill>
                  <a:prstClr val="black"/>
                </a:solidFill>
              </a:rPr>
              <a:pPr>
                <a:defRPr/>
              </a:pPr>
              <a:t>1</a:t>
            </a:fld>
            <a:endParaRPr lang="en-US" altLang="zh-CN">
              <a:solidFill>
                <a:prstClr val="black"/>
              </a:solidFill>
            </a:endParaRPr>
          </a:p>
        </p:txBody>
      </p:sp>
    </p:spTree>
    <p:extLst>
      <p:ext uri="{BB962C8B-B14F-4D97-AF65-F5344CB8AC3E}">
        <p14:creationId xmlns:p14="http://schemas.microsoft.com/office/powerpoint/2010/main" val="169264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24</a:t>
            </a:fld>
            <a:endParaRPr lang="en-US" altLang="zh-CN"/>
          </a:p>
        </p:txBody>
      </p:sp>
    </p:spTree>
    <p:extLst>
      <p:ext uri="{BB962C8B-B14F-4D97-AF65-F5344CB8AC3E}">
        <p14:creationId xmlns:p14="http://schemas.microsoft.com/office/powerpoint/2010/main" val="943687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26</a:t>
            </a:fld>
            <a:endParaRPr lang="en-US" altLang="zh-CN"/>
          </a:p>
        </p:txBody>
      </p:sp>
    </p:spTree>
    <p:extLst>
      <p:ext uri="{BB962C8B-B14F-4D97-AF65-F5344CB8AC3E}">
        <p14:creationId xmlns:p14="http://schemas.microsoft.com/office/powerpoint/2010/main" val="3805344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689E923-8F52-498A-9DE1-24E73B12CE65}"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791239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58</a:t>
            </a:fld>
            <a:endParaRPr lang="en-US" altLang="zh-CN"/>
          </a:p>
        </p:txBody>
      </p:sp>
    </p:spTree>
    <p:extLst>
      <p:ext uri="{BB962C8B-B14F-4D97-AF65-F5344CB8AC3E}">
        <p14:creationId xmlns:p14="http://schemas.microsoft.com/office/powerpoint/2010/main" val="1240264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59</a:t>
            </a:fld>
            <a:endParaRPr lang="en-US" altLang="zh-CN"/>
          </a:p>
        </p:txBody>
      </p:sp>
    </p:spTree>
    <p:extLst>
      <p:ext uri="{BB962C8B-B14F-4D97-AF65-F5344CB8AC3E}">
        <p14:creationId xmlns:p14="http://schemas.microsoft.com/office/powerpoint/2010/main" val="2317570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69</a:t>
            </a:fld>
            <a:endParaRPr lang="en-US" altLang="zh-CN"/>
          </a:p>
        </p:txBody>
      </p:sp>
    </p:spTree>
    <p:extLst>
      <p:ext uri="{BB962C8B-B14F-4D97-AF65-F5344CB8AC3E}">
        <p14:creationId xmlns:p14="http://schemas.microsoft.com/office/powerpoint/2010/main" val="1370916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70</a:t>
            </a:fld>
            <a:endParaRPr lang="en-US" altLang="zh-CN"/>
          </a:p>
        </p:txBody>
      </p:sp>
    </p:spTree>
    <p:extLst>
      <p:ext uri="{BB962C8B-B14F-4D97-AF65-F5344CB8AC3E}">
        <p14:creationId xmlns:p14="http://schemas.microsoft.com/office/powerpoint/2010/main" val="3718838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71</a:t>
            </a:fld>
            <a:endParaRPr lang="en-US" altLang="zh-CN"/>
          </a:p>
        </p:txBody>
      </p:sp>
    </p:spTree>
    <p:extLst>
      <p:ext uri="{BB962C8B-B14F-4D97-AF65-F5344CB8AC3E}">
        <p14:creationId xmlns:p14="http://schemas.microsoft.com/office/powerpoint/2010/main" val="394487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72</a:t>
            </a:fld>
            <a:endParaRPr lang="en-US" altLang="zh-CN"/>
          </a:p>
        </p:txBody>
      </p:sp>
    </p:spTree>
    <p:extLst>
      <p:ext uri="{BB962C8B-B14F-4D97-AF65-F5344CB8AC3E}">
        <p14:creationId xmlns:p14="http://schemas.microsoft.com/office/powerpoint/2010/main" val="1816638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73</a:t>
            </a:fld>
            <a:endParaRPr lang="en-US" altLang="zh-CN"/>
          </a:p>
        </p:txBody>
      </p:sp>
    </p:spTree>
    <p:extLst>
      <p:ext uri="{BB962C8B-B14F-4D97-AF65-F5344CB8AC3E}">
        <p14:creationId xmlns:p14="http://schemas.microsoft.com/office/powerpoint/2010/main" val="187539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74</a:t>
            </a:fld>
            <a:endParaRPr lang="en-US" altLang="zh-CN"/>
          </a:p>
        </p:txBody>
      </p:sp>
    </p:spTree>
    <p:extLst>
      <p:ext uri="{BB962C8B-B14F-4D97-AF65-F5344CB8AC3E}">
        <p14:creationId xmlns:p14="http://schemas.microsoft.com/office/powerpoint/2010/main" val="2820298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en-US" altLang="zh-CN" dirty="0" smtClean="0"/>
                  <a:t>Y</a:t>
                </a:r>
                <a:r>
                  <a:rPr lang="zh-CN" altLang="en-US" dirty="0" smtClean="0"/>
                  <a:t>的方差与自然参数</a:t>
                </a:r>
                <a:r>
                  <a:rPr lang="zh-CN" altLang="en-US" sz="1200" i="0" kern="1200" smtClean="0">
                    <a:solidFill>
                      <a:schemeClr val="tx1"/>
                    </a:solidFill>
                    <a:latin typeface="Arial" charset="0"/>
                    <a:ea typeface="宋体" pitchFamily="2" charset="-122"/>
                    <a:cs typeface="+mn-cs"/>
                  </a:rPr>
                  <a:t>𝜃</a:t>
                </a:r>
                <a:r>
                  <a:rPr lang="zh-CN" altLang="en-US" dirty="0" smtClean="0"/>
                  <a:t>有关，</a:t>
                </a:r>
                <a:r>
                  <a:rPr lang="en-US" altLang="zh-CN" dirty="0" smtClean="0"/>
                  <a:t>2.19</a:t>
                </a:r>
                <a:r>
                  <a:rPr lang="zh-CN" altLang="en-US" dirty="0" smtClean="0"/>
                  <a:t>表明自然参数与均值有关，</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75</a:t>
            </a:fld>
            <a:endParaRPr lang="en-US" altLang="zh-CN"/>
          </a:p>
        </p:txBody>
      </p:sp>
    </p:spTree>
    <p:extLst>
      <p:ext uri="{BB962C8B-B14F-4D97-AF65-F5344CB8AC3E}">
        <p14:creationId xmlns:p14="http://schemas.microsoft.com/office/powerpoint/2010/main" val="1090247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76</a:t>
            </a:fld>
            <a:endParaRPr lang="en-US" altLang="zh-CN"/>
          </a:p>
        </p:txBody>
      </p:sp>
    </p:spTree>
    <p:extLst>
      <p:ext uri="{BB962C8B-B14F-4D97-AF65-F5344CB8AC3E}">
        <p14:creationId xmlns:p14="http://schemas.microsoft.com/office/powerpoint/2010/main" val="3895405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77</a:t>
            </a:fld>
            <a:endParaRPr lang="en-US" altLang="zh-CN"/>
          </a:p>
        </p:txBody>
      </p:sp>
    </p:spTree>
    <p:extLst>
      <p:ext uri="{BB962C8B-B14F-4D97-AF65-F5344CB8AC3E}">
        <p14:creationId xmlns:p14="http://schemas.microsoft.com/office/powerpoint/2010/main" val="3796950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第二个等式的积分中是指数分布族的一个密度函数，自然参数为</a:t>
                </a:r>
                <a:r>
                  <a:rPr lang="zh-CN" altLang="en-US" sz="1200" i="0" kern="1200" smtClean="0">
                    <a:solidFill>
                      <a:schemeClr val="tx1"/>
                    </a:solidFill>
                    <a:latin typeface="Arial" charset="0"/>
                    <a:ea typeface="宋体" pitchFamily="2" charset="-122"/>
                    <a:cs typeface="+mn-cs"/>
                  </a:rPr>
                  <a:t>𝑏</a:t>
                </a:r>
                <a:r>
                  <a:rPr lang="zh-CN" altLang="en-US" sz="1200" i="0" kern="1200">
                    <a:solidFill>
                      <a:schemeClr val="tx1"/>
                    </a:solidFill>
                    <a:latin typeface="Arial" charset="0"/>
                    <a:ea typeface="宋体" pitchFamily="2" charset="-122"/>
                    <a:cs typeface="+mn-cs"/>
                  </a:rPr>
                  <a:t>(𝜃+𝑡𝜙∕𝜔)</a:t>
                </a:r>
                <a:r>
                  <a:rPr lang="zh-CN" altLang="en-US" dirty="0" smtClean="0"/>
                  <a:t>，积分</a:t>
                </a:r>
                <a:r>
                  <a:rPr lang="en-US" altLang="zh-CN" dirty="0" smtClean="0"/>
                  <a:t>=1</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78</a:t>
            </a:fld>
            <a:endParaRPr lang="en-US" altLang="zh-CN"/>
          </a:p>
        </p:txBody>
      </p:sp>
    </p:spTree>
    <p:extLst>
      <p:ext uri="{BB962C8B-B14F-4D97-AF65-F5344CB8AC3E}">
        <p14:creationId xmlns:p14="http://schemas.microsoft.com/office/powerpoint/2010/main" val="2804310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第二个等式的积分中是指数分布族的一个密度函数，自然参数为</a:t>
                </a:r>
                <a:r>
                  <a:rPr lang="zh-CN" altLang="en-US" sz="1200" i="0" kern="1200" smtClean="0">
                    <a:solidFill>
                      <a:schemeClr val="tx1"/>
                    </a:solidFill>
                    <a:latin typeface="Arial" charset="0"/>
                    <a:ea typeface="宋体" pitchFamily="2" charset="-122"/>
                    <a:cs typeface="+mn-cs"/>
                  </a:rPr>
                  <a:t>𝑏</a:t>
                </a:r>
                <a:r>
                  <a:rPr lang="zh-CN" altLang="en-US" sz="1200" i="0" kern="1200">
                    <a:solidFill>
                      <a:schemeClr val="tx1"/>
                    </a:solidFill>
                    <a:latin typeface="Arial" charset="0"/>
                    <a:ea typeface="宋体" pitchFamily="2" charset="-122"/>
                    <a:cs typeface="+mn-cs"/>
                  </a:rPr>
                  <a:t>(𝜃+𝑡𝜙∕𝜔)</a:t>
                </a:r>
                <a:r>
                  <a:rPr lang="zh-CN" altLang="en-US" dirty="0" smtClean="0"/>
                  <a:t>，积分</a:t>
                </a:r>
                <a:r>
                  <a:rPr lang="en-US" altLang="zh-CN" dirty="0" smtClean="0"/>
                  <a:t>=1</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79</a:t>
            </a:fld>
            <a:endParaRPr lang="en-US" altLang="zh-CN"/>
          </a:p>
        </p:txBody>
      </p:sp>
    </p:spTree>
    <p:extLst>
      <p:ext uri="{BB962C8B-B14F-4D97-AF65-F5344CB8AC3E}">
        <p14:creationId xmlns:p14="http://schemas.microsoft.com/office/powerpoint/2010/main" val="2804310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80</a:t>
            </a:fld>
            <a:endParaRPr lang="en-US" altLang="zh-CN"/>
          </a:p>
        </p:txBody>
      </p:sp>
    </p:spTree>
    <p:extLst>
      <p:ext uri="{BB962C8B-B14F-4D97-AF65-F5344CB8AC3E}">
        <p14:creationId xmlns:p14="http://schemas.microsoft.com/office/powerpoint/2010/main" val="1997041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81</a:t>
            </a:fld>
            <a:endParaRPr lang="en-US" altLang="zh-CN"/>
          </a:p>
        </p:txBody>
      </p:sp>
    </p:spTree>
    <p:extLst>
      <p:ext uri="{BB962C8B-B14F-4D97-AF65-F5344CB8AC3E}">
        <p14:creationId xmlns:p14="http://schemas.microsoft.com/office/powerpoint/2010/main" val="3861690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82</a:t>
            </a:fld>
            <a:endParaRPr lang="en-US" altLang="zh-CN"/>
          </a:p>
        </p:txBody>
      </p:sp>
    </p:spTree>
    <p:extLst>
      <p:ext uri="{BB962C8B-B14F-4D97-AF65-F5344CB8AC3E}">
        <p14:creationId xmlns:p14="http://schemas.microsoft.com/office/powerpoint/2010/main" val="3861690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对于指数分布族来说，样本均值仍然服从原来的指数分布族，且，自然参数保持不变，只需将离散参数</a:t>
                </a:r>
                <a:r>
                  <a:rPr lang="zh-CN" altLang="en-US" sz="1200" i="0" smtClean="0">
                    <a:latin typeface="Cambria Math" panose="02040503050406030204" pitchFamily="18" charset="0"/>
                  </a:rPr>
                  <a:t>𝜙</a:t>
                </a:r>
                <a:r>
                  <a:rPr lang="zh-CN" altLang="en-US" sz="1200" dirty="0" smtClean="0">
                    <a:latin typeface="华文楷体" panose="02010600040101010101" pitchFamily="2" charset="-122"/>
                    <a:ea typeface="华文楷体" panose="02010600040101010101" pitchFamily="2" charset="-122"/>
                  </a:rPr>
                  <a:t>调整为</a:t>
                </a:r>
                <a:r>
                  <a:rPr lang="zh-CN" altLang="en-US" sz="1200" i="0">
                    <a:latin typeface="Cambria Math" panose="02040503050406030204" pitchFamily="18" charset="0"/>
                  </a:rPr>
                  <a:t>𝜙∕𝜔</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83</a:t>
            </a:fld>
            <a:endParaRPr lang="en-US" altLang="zh-CN"/>
          </a:p>
        </p:txBody>
      </p:sp>
    </p:spTree>
    <p:extLst>
      <p:ext uri="{BB962C8B-B14F-4D97-AF65-F5344CB8AC3E}">
        <p14:creationId xmlns:p14="http://schemas.microsoft.com/office/powerpoint/2010/main" val="2963198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对于指数分布族来说，样本均值仍然服从原来的指数分布族，且，自然参数保持不变，只需将离散参数</a:t>
                </a:r>
                <a:r>
                  <a:rPr lang="zh-CN" altLang="en-US" sz="1200" i="0" smtClean="0">
                    <a:latin typeface="Cambria Math" panose="02040503050406030204" pitchFamily="18" charset="0"/>
                  </a:rPr>
                  <a:t>𝜙</a:t>
                </a:r>
                <a:r>
                  <a:rPr lang="zh-CN" altLang="en-US" sz="1200" dirty="0" smtClean="0">
                    <a:latin typeface="华文楷体" panose="02010600040101010101" pitchFamily="2" charset="-122"/>
                    <a:ea typeface="华文楷体" panose="02010600040101010101" pitchFamily="2" charset="-122"/>
                  </a:rPr>
                  <a:t>调整为</a:t>
                </a:r>
                <a:r>
                  <a:rPr lang="zh-CN" altLang="en-US" sz="1200" i="0">
                    <a:latin typeface="Cambria Math" panose="02040503050406030204" pitchFamily="18" charset="0"/>
                  </a:rPr>
                  <a:t>𝜙∕𝜔</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84</a:t>
            </a:fld>
            <a:endParaRPr lang="en-US" altLang="zh-CN"/>
          </a:p>
        </p:txBody>
      </p:sp>
    </p:spTree>
    <p:extLst>
      <p:ext uri="{BB962C8B-B14F-4D97-AF65-F5344CB8AC3E}">
        <p14:creationId xmlns:p14="http://schemas.microsoft.com/office/powerpoint/2010/main" val="29631984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85</a:t>
            </a:fld>
            <a:endParaRPr lang="en-US" altLang="zh-CN"/>
          </a:p>
        </p:txBody>
      </p:sp>
    </p:spTree>
    <p:extLst>
      <p:ext uri="{BB962C8B-B14F-4D97-AF65-F5344CB8AC3E}">
        <p14:creationId xmlns:p14="http://schemas.microsoft.com/office/powerpoint/2010/main" val="1743015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86</a:t>
            </a:fld>
            <a:endParaRPr lang="en-US" altLang="zh-CN"/>
          </a:p>
        </p:txBody>
      </p:sp>
    </p:spTree>
    <p:extLst>
      <p:ext uri="{BB962C8B-B14F-4D97-AF65-F5344CB8AC3E}">
        <p14:creationId xmlns:p14="http://schemas.microsoft.com/office/powerpoint/2010/main" val="1743015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378E4B8-DAEB-475F-9DB2-C43D6A30AA7B}" type="slidenum">
              <a:rPr lang="en-US" altLang="zh-CN" smtClean="0"/>
              <a:pPr>
                <a:defRPr/>
              </a:pPr>
              <a:t>89</a:t>
            </a:fld>
            <a:endParaRPr lang="en-US" altLang="zh-CN"/>
          </a:p>
        </p:txBody>
      </p:sp>
    </p:spTree>
    <p:extLst>
      <p:ext uri="{BB962C8B-B14F-4D97-AF65-F5344CB8AC3E}">
        <p14:creationId xmlns:p14="http://schemas.microsoft.com/office/powerpoint/2010/main" val="2150675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87"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smtClean="0"/>
              <a:t>单击此处编辑母版标题样式</a:t>
            </a:r>
          </a:p>
        </p:txBody>
      </p:sp>
      <p:sp>
        <p:nvSpPr>
          <p:cNvPr id="41988"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pPr lvl="0"/>
            <a:r>
              <a:rPr lang="zh-CN" altLang="en-US" noProof="0" smtClean="0"/>
              <a:t>单击此处编辑母版副标题样式</a:t>
            </a:r>
          </a:p>
        </p:txBody>
      </p:sp>
      <p:sp>
        <p:nvSpPr>
          <p:cNvPr id="38" name="Rectangle 5"/>
          <p:cNvSpPr>
            <a:spLocks noGrp="1" noChangeArrowheads="1"/>
          </p:cNvSpPr>
          <p:nvPr>
            <p:ph type="dt" sz="half" idx="10"/>
          </p:nvPr>
        </p:nvSpPr>
        <p:spPr/>
        <p:txBody>
          <a:bodyPr/>
          <a:lstStyle>
            <a:lvl1pPr>
              <a:defRPr smtClean="0"/>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smtClean="0"/>
            </a:lvl1pPr>
          </a:lstStyle>
          <a:p>
            <a:pPr>
              <a:defRPr/>
            </a:pPr>
            <a:endParaRPr lang="en-US" altLang="zh-CN"/>
          </a:p>
        </p:txBody>
      </p:sp>
    </p:spTree>
    <p:extLst>
      <p:ext uri="{BB962C8B-B14F-4D97-AF65-F5344CB8AC3E}">
        <p14:creationId xmlns:p14="http://schemas.microsoft.com/office/powerpoint/2010/main" val="1398249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r>
              <a:rPr lang="en-US" altLang="zh-CN"/>
              <a:t>( </a:t>
            </a:r>
            <a:fld id="{6F4965D5-0B8C-4940-A118-ACA2133EA7E7}" type="slidenum">
              <a:rPr lang="en-US" altLang="zh-CN"/>
              <a:pPr>
                <a:defRPr/>
              </a:pPr>
              <a:t>‹#›</a:t>
            </a:fld>
            <a:r>
              <a:rPr lang="en-US" altLang="zh-CN"/>
              <a:t> )</a:t>
            </a:r>
          </a:p>
        </p:txBody>
      </p:sp>
    </p:spTree>
    <p:extLst>
      <p:ext uri="{BB962C8B-B14F-4D97-AF65-F5344CB8AC3E}">
        <p14:creationId xmlns:p14="http://schemas.microsoft.com/office/powerpoint/2010/main" val="1634708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r>
              <a:rPr lang="en-US" altLang="zh-CN"/>
              <a:t>( </a:t>
            </a:r>
            <a:fld id="{D2317117-A1F2-4CFC-BF48-23949CC18A48}" type="slidenum">
              <a:rPr lang="en-US" altLang="zh-CN"/>
              <a:pPr>
                <a:defRPr/>
              </a:pPr>
              <a:t>‹#›</a:t>
            </a:fld>
            <a:r>
              <a:rPr lang="en-US" altLang="zh-CN"/>
              <a:t> )</a:t>
            </a:r>
          </a:p>
        </p:txBody>
      </p:sp>
    </p:spTree>
    <p:extLst>
      <p:ext uri="{BB962C8B-B14F-4D97-AF65-F5344CB8AC3E}">
        <p14:creationId xmlns:p14="http://schemas.microsoft.com/office/powerpoint/2010/main" val="2398369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r>
              <a:rPr lang="en-US" altLang="zh-CN"/>
              <a:t>( </a:t>
            </a:r>
            <a:fld id="{E4706E09-746E-47F2-A172-5718E8C4482E}" type="slidenum">
              <a:rPr lang="en-US" altLang="zh-CN"/>
              <a:pPr>
                <a:defRPr/>
              </a:pPr>
              <a:t>‹#›</a:t>
            </a:fld>
            <a:r>
              <a:rPr lang="en-US" altLang="zh-CN"/>
              <a:t> )</a:t>
            </a:r>
          </a:p>
        </p:txBody>
      </p:sp>
    </p:spTree>
    <p:extLst>
      <p:ext uri="{BB962C8B-B14F-4D97-AF65-F5344CB8AC3E}">
        <p14:creationId xmlns:p14="http://schemas.microsoft.com/office/powerpoint/2010/main" val="664897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r>
              <a:rPr lang="en-US" altLang="zh-CN"/>
              <a:t>( </a:t>
            </a:r>
            <a:fld id="{A79F70CC-4D8C-44F7-823D-54E6D80F8BF6}" type="slidenum">
              <a:rPr lang="en-US" altLang="zh-CN"/>
              <a:pPr>
                <a:defRPr/>
              </a:pPr>
              <a:t>‹#›</a:t>
            </a:fld>
            <a:r>
              <a:rPr lang="en-US" altLang="zh-CN"/>
              <a:t> )</a:t>
            </a:r>
          </a:p>
        </p:txBody>
      </p:sp>
    </p:spTree>
    <p:extLst>
      <p:ext uri="{BB962C8B-B14F-4D97-AF65-F5344CB8AC3E}">
        <p14:creationId xmlns:p14="http://schemas.microsoft.com/office/powerpoint/2010/main" val="739462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r>
              <a:rPr lang="en-US" altLang="zh-CN"/>
              <a:t>( </a:t>
            </a:r>
            <a:fld id="{522078F0-01D5-4825-8829-DEBD3F0F070A}" type="slidenum">
              <a:rPr lang="en-US" altLang="zh-CN"/>
              <a:pPr>
                <a:defRPr/>
              </a:pPr>
              <a:t>‹#›</a:t>
            </a:fld>
            <a:r>
              <a:rPr lang="en-US" altLang="zh-CN"/>
              <a:t> )</a:t>
            </a:r>
          </a:p>
        </p:txBody>
      </p:sp>
    </p:spTree>
    <p:extLst>
      <p:ext uri="{BB962C8B-B14F-4D97-AF65-F5344CB8AC3E}">
        <p14:creationId xmlns:p14="http://schemas.microsoft.com/office/powerpoint/2010/main" val="118409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r>
              <a:rPr lang="en-US" altLang="zh-CN"/>
              <a:t>( </a:t>
            </a:r>
            <a:fld id="{3EBA4A41-DF70-4ED6-A7D0-45645D30423D}" type="slidenum">
              <a:rPr lang="en-US" altLang="zh-CN"/>
              <a:pPr>
                <a:defRPr/>
              </a:pPr>
              <a:t>‹#›</a:t>
            </a:fld>
            <a:r>
              <a:rPr lang="en-US" altLang="zh-CN"/>
              <a:t> )</a:t>
            </a:r>
          </a:p>
        </p:txBody>
      </p:sp>
    </p:spTree>
    <p:extLst>
      <p:ext uri="{BB962C8B-B14F-4D97-AF65-F5344CB8AC3E}">
        <p14:creationId xmlns:p14="http://schemas.microsoft.com/office/powerpoint/2010/main" val="4163517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r>
              <a:rPr lang="en-US" altLang="zh-CN"/>
              <a:t>( </a:t>
            </a:r>
            <a:fld id="{47480C37-97BA-4D91-84A0-84C5B7494D7E}" type="slidenum">
              <a:rPr lang="en-US" altLang="zh-CN"/>
              <a:pPr>
                <a:defRPr/>
              </a:pPr>
              <a:t>‹#›</a:t>
            </a:fld>
            <a:r>
              <a:rPr lang="en-US" altLang="zh-CN"/>
              <a:t> )</a:t>
            </a:r>
          </a:p>
        </p:txBody>
      </p:sp>
    </p:spTree>
    <p:extLst>
      <p:ext uri="{BB962C8B-B14F-4D97-AF65-F5344CB8AC3E}">
        <p14:creationId xmlns:p14="http://schemas.microsoft.com/office/powerpoint/2010/main" val="2023898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r>
              <a:rPr lang="en-US" altLang="zh-CN"/>
              <a:t>( </a:t>
            </a:r>
            <a:fld id="{63CC45AC-8544-4111-AA84-03ED2863251D}" type="slidenum">
              <a:rPr lang="en-US" altLang="zh-CN"/>
              <a:pPr>
                <a:defRPr/>
              </a:pPr>
              <a:t>‹#›</a:t>
            </a:fld>
            <a:r>
              <a:rPr lang="en-US" altLang="zh-CN"/>
              <a:t> )</a:t>
            </a:r>
          </a:p>
        </p:txBody>
      </p:sp>
    </p:spTree>
    <p:extLst>
      <p:ext uri="{BB962C8B-B14F-4D97-AF65-F5344CB8AC3E}">
        <p14:creationId xmlns:p14="http://schemas.microsoft.com/office/powerpoint/2010/main" val="1522852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r>
              <a:rPr lang="en-US" altLang="zh-CN"/>
              <a:t>( </a:t>
            </a:r>
            <a:fld id="{314F7F0D-164C-4BFB-BFB9-C66EBCAC7B2F}" type="slidenum">
              <a:rPr lang="en-US" altLang="zh-CN"/>
              <a:pPr>
                <a:defRPr/>
              </a:pPr>
              <a:t>‹#›</a:t>
            </a:fld>
            <a:r>
              <a:rPr lang="en-US" altLang="zh-CN"/>
              <a:t> )</a:t>
            </a:r>
          </a:p>
        </p:txBody>
      </p:sp>
    </p:spTree>
    <p:extLst>
      <p:ext uri="{BB962C8B-B14F-4D97-AF65-F5344CB8AC3E}">
        <p14:creationId xmlns:p14="http://schemas.microsoft.com/office/powerpoint/2010/main" val="1704707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r>
              <a:rPr lang="en-US" altLang="zh-CN"/>
              <a:t>( </a:t>
            </a:r>
            <a:fld id="{E1EFE567-6706-47D2-99F9-E92822E504EE}" type="slidenum">
              <a:rPr lang="en-US" altLang="zh-CN"/>
              <a:pPr>
                <a:defRPr/>
              </a:pPr>
              <a:t>‹#›</a:t>
            </a:fld>
            <a:r>
              <a:rPr lang="en-US" altLang="zh-CN"/>
              <a:t> )</a:t>
            </a:r>
          </a:p>
        </p:txBody>
      </p:sp>
    </p:spTree>
    <p:extLst>
      <p:ext uri="{BB962C8B-B14F-4D97-AF65-F5344CB8AC3E}">
        <p14:creationId xmlns:p14="http://schemas.microsoft.com/office/powerpoint/2010/main" val="424852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r>
              <a:rPr lang="en-US" altLang="zh-CN"/>
              <a:t>( </a:t>
            </a:r>
            <a:fld id="{3B9A9A36-B939-4FE5-9469-3F8FDAFDD748}" type="slidenum">
              <a:rPr lang="en-US" altLang="zh-CN"/>
              <a:pPr>
                <a:defRPr/>
              </a:pPr>
              <a:t>‹#›</a:t>
            </a:fld>
            <a:r>
              <a:rPr lang="en-US" altLang="zh-CN"/>
              <a:t> )</a:t>
            </a:r>
          </a:p>
        </p:txBody>
      </p:sp>
    </p:spTree>
    <p:extLst>
      <p:ext uri="{BB962C8B-B14F-4D97-AF65-F5344CB8AC3E}">
        <p14:creationId xmlns:p14="http://schemas.microsoft.com/office/powerpoint/2010/main" val="4177564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719263"/>
            <a:ext cx="4038600" cy="21288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00500"/>
            <a:ext cx="4038600" cy="21304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7"/>
          <p:cNvSpPr>
            <a:spLocks noGrp="1" noChangeArrowheads="1"/>
          </p:cNvSpPr>
          <p:nvPr>
            <p:ph type="sldNum" sz="quarter" idx="12"/>
          </p:nvPr>
        </p:nvSpPr>
        <p:spPr>
          <a:ln/>
        </p:spPr>
        <p:txBody>
          <a:bodyPr/>
          <a:lstStyle>
            <a:lvl1pPr>
              <a:defRPr/>
            </a:lvl1pPr>
          </a:lstStyle>
          <a:p>
            <a:pPr>
              <a:defRPr/>
            </a:pPr>
            <a:r>
              <a:rPr lang="en-US" altLang="zh-CN"/>
              <a:t>( </a:t>
            </a:r>
            <a:fld id="{65F69433-E377-4E8C-8E9B-CBA5E9F4ACBE}" type="slidenum">
              <a:rPr lang="en-US" altLang="zh-CN"/>
              <a:pPr>
                <a:defRPr/>
              </a:pPr>
              <a:t>‹#›</a:t>
            </a:fld>
            <a:r>
              <a:rPr lang="en-US" altLang="zh-CN"/>
              <a:t> )</a:t>
            </a:r>
          </a:p>
        </p:txBody>
      </p:sp>
    </p:spTree>
    <p:extLst>
      <p:ext uri="{BB962C8B-B14F-4D97-AF65-F5344CB8AC3E}">
        <p14:creationId xmlns:p14="http://schemas.microsoft.com/office/powerpoint/2010/main" val="2196928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r>
              <a:rPr lang="en-US" altLang="zh-CN"/>
              <a:t>( </a:t>
            </a:r>
            <a:fld id="{CE103320-4602-4EE8-9A02-281BFF16F59E}" type="slidenum">
              <a:rPr lang="en-US" altLang="zh-CN"/>
              <a:pPr>
                <a:defRPr/>
              </a:pPr>
              <a:t>‹#›</a:t>
            </a:fld>
            <a:r>
              <a:rPr lang="en-US" altLang="zh-CN"/>
              <a:t> )</a:t>
            </a:r>
          </a:p>
        </p:txBody>
      </p:sp>
    </p:spTree>
    <p:extLst>
      <p:ext uri="{BB962C8B-B14F-4D97-AF65-F5344CB8AC3E}">
        <p14:creationId xmlns:p14="http://schemas.microsoft.com/office/powerpoint/2010/main" val="173650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b="1">
              <a:solidFill>
                <a:srgbClr val="000000"/>
              </a:solidFill>
              <a:latin typeface="Arial" charset="0"/>
            </a:endParaRPr>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b="1">
              <a:solidFill>
                <a:srgbClr val="000000"/>
              </a:solidFill>
              <a:latin typeface="Arial" charset="0"/>
            </a:endParaRPr>
          </a:p>
        </p:txBody>
      </p:sp>
      <p:sp>
        <p:nvSpPr>
          <p:cNvPr id="15363" name="Rectangle 3"/>
          <p:cNvSpPr>
            <a:spLocks noGrp="1" noChangeArrowheads="1"/>
          </p:cNvSpPr>
          <p:nvPr>
            <p:ph type="ctrTitle"/>
          </p:nvPr>
        </p:nvSpPr>
        <p:spPr>
          <a:xfrm>
            <a:off x="315913" y="466725"/>
            <a:ext cx="6781800" cy="2133600"/>
          </a:xfrm>
        </p:spPr>
        <p:txBody>
          <a:bodyPr/>
          <a:lstStyle>
            <a:lvl1pPr algn="r">
              <a:defRPr sz="3700"/>
            </a:lvl1pPr>
          </a:lstStyle>
          <a:p>
            <a:r>
              <a:rPr lang="zh-CN" altLang="en-US"/>
              <a:t>单击此处编辑母版标题样式</a:t>
            </a:r>
          </a:p>
        </p:txBody>
      </p:sp>
      <p:sp>
        <p:nvSpPr>
          <p:cNvPr id="1536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26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40" name="Rectangle 7"/>
          <p:cNvSpPr>
            <a:spLocks noGrp="1" noChangeArrowheads="1"/>
          </p:cNvSpPr>
          <p:nvPr>
            <p:ph type="sldNum" sz="quarter" idx="12"/>
          </p:nvPr>
        </p:nvSpPr>
        <p:spPr/>
        <p:txBody>
          <a:bodyPr/>
          <a:lstStyle>
            <a:lvl1pPr>
              <a:defRPr/>
            </a:lvl1pPr>
          </a:lstStyle>
          <a:p>
            <a:pPr>
              <a:defRPr/>
            </a:pPr>
            <a:fld id="{4FD1D88B-ED18-47B7-8BD5-D9F332F08024}"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90997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BCA0709D-4CC0-4FBA-A89A-99BF3E30A50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63697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49B143D3-2086-4359-9AC1-0D2C76D06B1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6106045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A39AED2C-33B4-4CEC-AC6A-7600EBCF4038}"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93571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7"/>
          <p:cNvSpPr>
            <a:spLocks noGrp="1" noChangeArrowheads="1"/>
          </p:cNvSpPr>
          <p:nvPr>
            <p:ph type="sldNum" sz="quarter" idx="12"/>
          </p:nvPr>
        </p:nvSpPr>
        <p:spPr>
          <a:ln/>
        </p:spPr>
        <p:txBody>
          <a:bodyPr/>
          <a:lstStyle>
            <a:lvl1pPr>
              <a:defRPr/>
            </a:lvl1pPr>
          </a:lstStyle>
          <a:p>
            <a:pPr>
              <a:defRPr/>
            </a:pPr>
            <a:fld id="{87AE79D3-628E-42AF-996F-A45574B43E59}"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666876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sldNum" sz="quarter" idx="12"/>
          </p:nvPr>
        </p:nvSpPr>
        <p:spPr>
          <a:ln/>
        </p:spPr>
        <p:txBody>
          <a:bodyPr/>
          <a:lstStyle>
            <a:lvl1pPr>
              <a:defRPr/>
            </a:lvl1pPr>
          </a:lstStyle>
          <a:p>
            <a:pPr>
              <a:defRPr/>
            </a:pPr>
            <a:fld id="{9C4130CE-7799-454A-97EB-1A861D68E144}"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025135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7"/>
          <p:cNvSpPr>
            <a:spLocks noGrp="1" noChangeArrowheads="1"/>
          </p:cNvSpPr>
          <p:nvPr>
            <p:ph type="sldNum" sz="quarter" idx="12"/>
          </p:nvPr>
        </p:nvSpPr>
        <p:spPr>
          <a:ln/>
        </p:spPr>
        <p:txBody>
          <a:bodyPr/>
          <a:lstStyle>
            <a:lvl1pPr>
              <a:defRPr/>
            </a:lvl1pPr>
          </a:lstStyle>
          <a:p>
            <a:pPr>
              <a:defRPr/>
            </a:pPr>
            <a:fld id="{863B952E-02FB-4BCA-AE9A-84FD814E150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353547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C8780EB5-36F7-4A4F-8341-0A55C39FB3CC}"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5916888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6B0A509C-56AE-4D09-91EF-190BDDF1EE6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379634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BE388C94-6CE1-4DD4-9FA9-798EBB5479C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2270326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96D0B0BC-C57B-4485-BE8B-AD5B1E4891A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31437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a:prstGeom prst="rect">
            <a:avLst/>
          </a:prstGeom>
        </p:spPr>
        <p:txBody>
          <a:bodyPr/>
          <a:lstStyle>
            <a:lvl1pPr>
              <a:defRPr sz="4000">
                <a:latin typeface="黑体" panose="02010609060101010101" pitchFamily="49" charset="-122"/>
                <a:ea typeface="黑体" panose="02010609060101010101" pitchFamily="49" charset="-122"/>
              </a:defRPr>
            </a:lvl1pPr>
          </a:lstStyle>
          <a:p>
            <a:r>
              <a:rPr lang="zh-CN" altLang="en-US"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p:spPr>
        <p:txBody>
          <a:bodyPr/>
          <a:lstStyle>
            <a:lvl1pPr marL="0" indent="0" algn="ctr">
              <a:buNone/>
              <a:defRPr sz="2400">
                <a:latin typeface="黑体" panose="02010609060101010101" pitchFamily="49" charset="-122"/>
                <a:ea typeface="黑体" panose="02010609060101010101" pitchFamily="49"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单击以编辑母版副标题样式</a:t>
            </a:r>
            <a:endParaRPr lang="zh-CN" altLang="en-US" dirty="0"/>
          </a:p>
        </p:txBody>
      </p:sp>
      <p:sp>
        <p:nvSpPr>
          <p:cNvPr id="4" name="日期占位符 3"/>
          <p:cNvSpPr>
            <a:spLocks noGrp="1"/>
          </p:cNvSpPr>
          <p:nvPr>
            <p:ph type="dt" sz="half" idx="10"/>
          </p:nvPr>
        </p:nvSpPr>
        <p:spPr/>
        <p:txBody>
          <a:bodyPr/>
          <a:lstStyle>
            <a:lvl1pPr>
              <a:defRPr/>
            </a:lvl1pPr>
          </a:lstStyle>
          <a:p>
            <a:pPr>
              <a:buFontTx/>
              <a:buNone/>
              <a:defRPr/>
            </a:pPr>
            <a:fld id="{FBF9AB59-BEC3-4625-9A55-9E57F1D394F5}" type="datetime1">
              <a:rPr lang="zh-CN" altLang="en-US" smtClean="0">
                <a:solidFill>
                  <a:srgbClr val="000000"/>
                </a:solidFill>
              </a:rPr>
              <a:pPr>
                <a:buFontTx/>
                <a:buNone/>
                <a:defRPr/>
              </a:pPr>
              <a:t>2018/11/6 Tuesday</a:t>
            </a:fld>
            <a:endParaRPr lang="en-US" altLang="zh-CN" dirty="0">
              <a:solidFill>
                <a:srgbClr val="000000"/>
              </a:solidFill>
            </a:endParaRPr>
          </a:p>
        </p:txBody>
      </p:sp>
      <p:sp>
        <p:nvSpPr>
          <p:cNvPr id="5" name="页脚占位符 4"/>
          <p:cNvSpPr>
            <a:spLocks noGrp="1"/>
          </p:cNvSpPr>
          <p:nvPr>
            <p:ph type="ftr" sz="quarter" idx="11"/>
          </p:nvPr>
        </p:nvSpPr>
        <p:spPr/>
        <p:txBody>
          <a:bodyPr/>
          <a:lstStyle>
            <a:lvl1pPr>
              <a:buNone/>
              <a:defRPr/>
            </a:lvl1pPr>
          </a:lstStyle>
          <a:p>
            <a:pPr>
              <a:defRPr/>
            </a:pPr>
            <a:endParaRPr lang="en-US" altLang="zh-CN" dirty="0">
              <a:solidFill>
                <a:srgbClr val="000000"/>
              </a:solidFill>
            </a:endParaRPr>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B765765F-A95D-4680-8E91-37BC2C404936}" type="slidenum">
              <a:rPr lang="en-US" altLang="zh-CN" smtClean="0">
                <a:solidFill>
                  <a:srgbClr val="000000"/>
                </a:solidFill>
              </a:rPr>
              <a:pPr>
                <a:buFontTx/>
                <a:buNone/>
              </a:pPr>
              <a:t>‹#›</a:t>
            </a:fld>
            <a:endParaRPr lang="zh-CN" altLang="en-US" dirty="0">
              <a:solidFill>
                <a:srgbClr val="000000"/>
              </a:solidFill>
            </a:endParaRPr>
          </a:p>
        </p:txBody>
      </p:sp>
    </p:spTree>
    <p:extLst>
      <p:ext uri="{BB962C8B-B14F-4D97-AF65-F5344CB8AC3E}">
        <p14:creationId xmlns:p14="http://schemas.microsoft.com/office/powerpoint/2010/main" val="3613949542"/>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11797"/>
            <a:ext cx="8229600" cy="789140"/>
          </a:xfrm>
          <a:prstGeom prst="rect">
            <a:avLst/>
          </a:prstGeom>
        </p:spPr>
        <p:txBody>
          <a:bodyPr/>
          <a:lstStyle>
            <a:lvl1pPr>
              <a:defRPr sz="3600" b="1">
                <a:latin typeface="黑体" pitchFamily="49" charset="-122"/>
                <a:ea typeface="黑体" pitchFamily="49"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684255"/>
            <a:ext cx="8229600" cy="4382717"/>
          </a:xfrm>
        </p:spPr>
        <p:txBody>
          <a:bodyPr/>
          <a:lstStyle>
            <a:lvl1pPr>
              <a:lnSpc>
                <a:spcPct val="150000"/>
              </a:lnSpc>
              <a:spcBef>
                <a:spcPts val="0"/>
              </a:spcBef>
              <a:defRPr sz="2800" b="1">
                <a:latin typeface="黑体" panose="02010609060101010101" pitchFamily="49" charset="-122"/>
                <a:ea typeface="黑体" panose="02010609060101010101" pitchFamily="49" charset="-122"/>
              </a:defRPr>
            </a:lvl1pPr>
            <a:lvl2pPr>
              <a:lnSpc>
                <a:spcPct val="150000"/>
              </a:lnSpc>
              <a:spcBef>
                <a:spcPts val="0"/>
              </a:spcBef>
              <a:defRPr sz="2400">
                <a:latin typeface="黑体" panose="02010609060101010101" pitchFamily="49" charset="-122"/>
                <a:ea typeface="黑体" panose="02010609060101010101" pitchFamily="49" charset="-122"/>
              </a:defRPr>
            </a:lvl2pPr>
            <a:lvl3pPr>
              <a:lnSpc>
                <a:spcPct val="150000"/>
              </a:lnSpc>
              <a:spcBef>
                <a:spcPts val="0"/>
              </a:spcBef>
              <a:defRPr>
                <a:latin typeface="黑体" panose="02010609060101010101" pitchFamily="49" charset="-122"/>
                <a:ea typeface="黑体" panose="02010609060101010101" pitchFamily="49" charset="-122"/>
              </a:defRPr>
            </a:lvl3pPr>
            <a:lvl4pPr>
              <a:lnSpc>
                <a:spcPct val="150000"/>
              </a:lnSpc>
              <a:spcBef>
                <a:spcPts val="0"/>
              </a:spcBef>
              <a:defRPr>
                <a:latin typeface="楷体" pitchFamily="49" charset="-122"/>
                <a:ea typeface="楷体" pitchFamily="49" charset="-122"/>
              </a:defRPr>
            </a:lvl4pPr>
            <a:lvl5pPr>
              <a:lnSpc>
                <a:spcPct val="150000"/>
              </a:lnSpc>
              <a:spcBef>
                <a:spcPts val="0"/>
              </a:spcBef>
              <a:defRPr>
                <a:latin typeface="楷体" pitchFamily="49" charset="-122"/>
                <a:ea typeface="楷体" pitchFamily="49" charset="-122"/>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buFontTx/>
              <a:buNone/>
              <a:defRPr/>
            </a:pPr>
            <a:fld id="{2411E7B0-A2B7-4742-A41D-25E4B9BCF84B}" type="datetime1">
              <a:rPr lang="zh-CN" altLang="en-US" smtClean="0">
                <a:solidFill>
                  <a:srgbClr val="000000"/>
                </a:solidFill>
              </a:rPr>
              <a:pPr>
                <a:buFontTx/>
                <a:buNone/>
                <a:defRPr/>
              </a:pPr>
              <a:t>2018/11/6 Tuesday</a:t>
            </a:fld>
            <a:endParaRPr lang="en-US" altLang="zh-CN" dirty="0">
              <a:solidFill>
                <a:srgbClr val="000000"/>
              </a:solidFill>
            </a:endParaRPr>
          </a:p>
        </p:txBody>
      </p:sp>
      <p:sp>
        <p:nvSpPr>
          <p:cNvPr id="5" name="页脚占位符 4"/>
          <p:cNvSpPr>
            <a:spLocks noGrp="1"/>
          </p:cNvSpPr>
          <p:nvPr>
            <p:ph type="ftr" sz="quarter" idx="11"/>
          </p:nvPr>
        </p:nvSpPr>
        <p:spPr/>
        <p:txBody>
          <a:bodyPr/>
          <a:lstStyle>
            <a:lvl1pPr>
              <a:buNone/>
              <a:defRPr/>
            </a:lvl1pPr>
          </a:lstStyle>
          <a:p>
            <a:pPr>
              <a:defRPr/>
            </a:pPr>
            <a:endParaRPr lang="en-US" altLang="zh-CN" dirty="0">
              <a:solidFill>
                <a:srgbClr val="000000"/>
              </a:solidFill>
            </a:endParaRPr>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Tree>
    <p:extLst>
      <p:ext uri="{BB962C8B-B14F-4D97-AF65-F5344CB8AC3E}">
        <p14:creationId xmlns:p14="http://schemas.microsoft.com/office/powerpoint/2010/main" val="3363137658"/>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a:buFontTx/>
              <a:buNone/>
              <a:defRPr/>
            </a:pPr>
            <a:fld id="{28E4D08C-431F-4BD1-878D-9BF294FE8703}" type="datetime1">
              <a:rPr lang="zh-CN" altLang="en-US" smtClean="0">
                <a:solidFill>
                  <a:srgbClr val="000000"/>
                </a:solidFill>
              </a:rPr>
              <a:pPr>
                <a:buFontTx/>
                <a:buNone/>
                <a:defRPr/>
              </a:pPr>
              <a:t>2018/11/6 Tuesday</a:t>
            </a:fld>
            <a:endParaRPr lang="en-US" altLang="zh-CN" dirty="0">
              <a:solidFill>
                <a:srgbClr val="000000"/>
              </a:solidFill>
            </a:endParaRPr>
          </a:p>
        </p:txBody>
      </p:sp>
      <p:sp>
        <p:nvSpPr>
          <p:cNvPr id="5" name="页脚占位符 4"/>
          <p:cNvSpPr>
            <a:spLocks noGrp="1"/>
          </p:cNvSpPr>
          <p:nvPr>
            <p:ph type="ftr" sz="quarter" idx="11"/>
          </p:nvPr>
        </p:nvSpPr>
        <p:spPr/>
        <p:txBody>
          <a:bodyPr/>
          <a:lstStyle>
            <a:lvl1pPr>
              <a:buNone/>
              <a:defRPr/>
            </a:lvl1pPr>
          </a:lstStyle>
          <a:p>
            <a:pPr>
              <a:defRPr/>
            </a:pPr>
            <a:endParaRPr lang="en-US" altLang="zh-CN" dirty="0">
              <a:solidFill>
                <a:srgbClr val="000000"/>
              </a:solidFill>
            </a:endParaRPr>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43564" y="7628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46552109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2800">
                <a:latin typeface="黑体" panose="02010609060101010101" pitchFamily="49" charset="-122"/>
                <a:ea typeface="黑体" panose="02010609060101010101" pitchFamily="49" charset="-122"/>
              </a:defRPr>
            </a:lvl1pPr>
            <a:lvl2pPr>
              <a:defRPr sz="2400">
                <a:latin typeface="黑体" panose="02010609060101010101" pitchFamily="49" charset="-122"/>
                <a:ea typeface="黑体" panose="02010609060101010101" pitchFamily="49" charset="-122"/>
              </a:defRPr>
            </a:lvl2pPr>
            <a:lvl3pPr>
              <a:defRPr sz="2000">
                <a:latin typeface="黑体" panose="02010609060101010101" pitchFamily="49" charset="-122"/>
                <a:ea typeface="黑体" panose="02010609060101010101" pitchFamily="49" charset="-122"/>
              </a:defRPr>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内容占位符 3"/>
          <p:cNvSpPr>
            <a:spLocks noGrp="1"/>
          </p:cNvSpPr>
          <p:nvPr>
            <p:ph sz="half" idx="2"/>
          </p:nvPr>
        </p:nvSpPr>
        <p:spPr>
          <a:xfrm>
            <a:off x="4648200" y="1600202"/>
            <a:ext cx="4038600" cy="4525963"/>
          </a:xfrm>
        </p:spPr>
        <p:txBody>
          <a:bodyPr/>
          <a:lstStyle>
            <a:lvl1pPr>
              <a:defRPr sz="2800">
                <a:latin typeface="黑体" panose="02010609060101010101" pitchFamily="49" charset="-122"/>
                <a:ea typeface="黑体" panose="02010609060101010101" pitchFamily="49" charset="-122"/>
              </a:defRPr>
            </a:lvl1pPr>
            <a:lvl2pPr>
              <a:defRPr sz="2400">
                <a:latin typeface="黑体" panose="02010609060101010101" pitchFamily="49" charset="-122"/>
                <a:ea typeface="黑体" panose="02010609060101010101" pitchFamily="49" charset="-122"/>
              </a:defRPr>
            </a:lvl2pPr>
            <a:lvl3pPr>
              <a:defRPr sz="2000">
                <a:latin typeface="黑体" panose="02010609060101010101" pitchFamily="49" charset="-122"/>
                <a:ea typeface="黑体" panose="02010609060101010101" pitchFamily="49" charset="-122"/>
              </a:defRPr>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5" name="日期占位符 4"/>
          <p:cNvSpPr>
            <a:spLocks noGrp="1"/>
          </p:cNvSpPr>
          <p:nvPr>
            <p:ph type="dt" sz="half" idx="10"/>
          </p:nvPr>
        </p:nvSpPr>
        <p:spPr/>
        <p:txBody>
          <a:bodyPr/>
          <a:lstStyle>
            <a:lvl1pPr>
              <a:defRPr/>
            </a:lvl1pPr>
          </a:lstStyle>
          <a:p>
            <a:pPr>
              <a:defRPr/>
            </a:pPr>
            <a:fld id="{540B1F74-6003-405E-BBDF-A077AD9DFAF5}" type="datetime1">
              <a:rPr lang="zh-CN" altLang="en-US" smtClean="0">
                <a:solidFill>
                  <a:srgbClr val="000000"/>
                </a:solidFill>
              </a:rPr>
              <a:pPr>
                <a:defRPr/>
              </a:pPr>
              <a:t>2018/11/6 Tuesday</a:t>
            </a:fld>
            <a:endParaRPr lang="zh-CN" altLang="en-US">
              <a:solidFill>
                <a:srgbClr val="000000"/>
              </a:solidFill>
            </a:endParaRPr>
          </a:p>
        </p:txBody>
      </p:sp>
      <p:sp>
        <p:nvSpPr>
          <p:cNvPr id="6" name="页脚占位符 5"/>
          <p:cNvSpPr>
            <a:spLocks noGrp="1"/>
          </p:cNvSpPr>
          <p:nvPr>
            <p:ph type="ftr" sz="quarter" idx="11"/>
          </p:nvPr>
        </p:nvSpPr>
        <p:spPr/>
        <p:txBody>
          <a:bodyPr/>
          <a:lstStyle>
            <a:lvl1pPr>
              <a:defRPr/>
            </a:lvl1pPr>
          </a:lstStyle>
          <a:p>
            <a:pPr>
              <a:defRPr/>
            </a:pPr>
            <a:endParaRPr lang="zh-CN" altLang="en-US">
              <a:solidFill>
                <a:srgbClr val="000000"/>
              </a:solidFill>
            </a:endParaRPr>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zh-CN" altLang="en-US" smtClean="0"/>
            </a:lvl1pPr>
          </a:lstStyle>
          <a:p>
            <a:pPr>
              <a:buFontTx/>
              <a:buNone/>
            </a:pPr>
            <a:fld id="{D8F76D13-C729-4B8F-B6CA-FD324BF34F27}" type="slidenum">
              <a:rPr lang="en-US" altLang="zh-CN" smtClean="0">
                <a:solidFill>
                  <a:srgbClr val="000000"/>
                </a:solidFill>
              </a:rPr>
              <a:pPr>
                <a:buFontTx/>
                <a:buNone/>
              </a:pPr>
              <a:t>‹#›</a:t>
            </a:fld>
            <a:endParaRPr lang="en-US" altLang="zh-CN">
              <a:solidFill>
                <a:srgbClr val="000000"/>
              </a:solidFill>
            </a:endParaRPr>
          </a:p>
        </p:txBody>
      </p:sp>
      <p:sp>
        <p:nvSpPr>
          <p:cNvPr id="10" name="矩形 9"/>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943564" y="-12561"/>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4187196596"/>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fld id="{F18E7B73-644F-4ABA-9B08-45D6A1502684}" type="datetime1">
              <a:rPr lang="zh-CN" altLang="en-US" smtClean="0">
                <a:solidFill>
                  <a:srgbClr val="000000"/>
                </a:solidFill>
              </a:rPr>
              <a:pPr>
                <a:defRPr/>
              </a:pPr>
              <a:t>2018/11/6 Tuesday</a:t>
            </a:fld>
            <a:endParaRPr lang="en-US" altLang="zh-CN" dirty="0">
              <a:solidFill>
                <a:srgbClr val="000000"/>
              </a:solidFill>
            </a:endParaRPr>
          </a:p>
        </p:txBody>
      </p:sp>
      <p:sp>
        <p:nvSpPr>
          <p:cNvPr id="8" name="页脚占位符 7"/>
          <p:cNvSpPr>
            <a:spLocks noGrp="1"/>
          </p:cNvSpPr>
          <p:nvPr>
            <p:ph type="ftr" sz="quarter" idx="11"/>
          </p:nvPr>
        </p:nvSpPr>
        <p:spPr/>
        <p:txBody>
          <a:bodyPr/>
          <a:lstStyle>
            <a:lvl1pPr>
              <a:defRPr/>
            </a:lvl1pPr>
          </a:lstStyle>
          <a:p>
            <a:pPr>
              <a:defRPr/>
            </a:pPr>
            <a:endParaRPr lang="en-US" altLang="zh-CN" dirty="0">
              <a:solidFill>
                <a:srgbClr val="000000"/>
              </a:solidFill>
            </a:endParaRPr>
          </a:p>
        </p:txBody>
      </p:sp>
      <p:sp>
        <p:nvSpPr>
          <p:cNvPr id="9" name="灯片编号占位符 8"/>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10" name="矩形 9"/>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999081" y="-17417"/>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4123860130"/>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fld id="{13783A4D-8CC0-4218-BC96-A24A66EA9BD2}" type="datetime1">
              <a:rPr lang="zh-CN" altLang="en-US" smtClean="0">
                <a:solidFill>
                  <a:srgbClr val="000000"/>
                </a:solidFill>
              </a:rPr>
              <a:pPr>
                <a:defRPr/>
              </a:pPr>
              <a:t>2018/11/6 Tuesday</a:t>
            </a:fld>
            <a:endParaRPr lang="en-US" altLang="zh-CN" dirty="0">
              <a:solidFill>
                <a:srgbClr val="000000"/>
              </a:solidFill>
            </a:endParaRPr>
          </a:p>
        </p:txBody>
      </p:sp>
      <p:sp>
        <p:nvSpPr>
          <p:cNvPr id="4" name="页脚占位符 3"/>
          <p:cNvSpPr>
            <a:spLocks noGrp="1"/>
          </p:cNvSpPr>
          <p:nvPr>
            <p:ph type="ftr" sz="quarter" idx="11"/>
          </p:nvPr>
        </p:nvSpPr>
        <p:spPr/>
        <p:txBody>
          <a:bodyPr/>
          <a:lstStyle/>
          <a:p>
            <a:pPr>
              <a:defRPr/>
            </a:pPr>
            <a:endParaRPr lang="en-US" altLang="zh-CN" dirty="0">
              <a:solidFill>
                <a:srgbClr val="000000"/>
              </a:solidFill>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6" name="矩形 5"/>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989261"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624422478"/>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15E30672-E6D3-469A-91E5-3BE97731462B}" type="datetime1">
              <a:rPr lang="zh-CN" altLang="en-US" smtClean="0">
                <a:solidFill>
                  <a:srgbClr val="000000"/>
                </a:solidFill>
              </a:rPr>
              <a:pPr>
                <a:defRPr/>
              </a:pPr>
              <a:t>2018/11/6 Tuesday</a:t>
            </a:fld>
            <a:endParaRPr lang="en-US" altLang="zh-CN" dirty="0">
              <a:solidFill>
                <a:srgbClr val="000000"/>
              </a:solidFill>
            </a:endParaRPr>
          </a:p>
        </p:txBody>
      </p:sp>
      <p:sp>
        <p:nvSpPr>
          <p:cNvPr id="4" name="页脚占位符 3"/>
          <p:cNvSpPr>
            <a:spLocks noGrp="1"/>
          </p:cNvSpPr>
          <p:nvPr>
            <p:ph type="ftr" sz="quarter" idx="11"/>
          </p:nvPr>
        </p:nvSpPr>
        <p:spPr/>
        <p:txBody>
          <a:bodyPr/>
          <a:lstStyle>
            <a:lvl1pPr>
              <a:defRPr/>
            </a:lvl1pPr>
          </a:lstStyle>
          <a:p>
            <a:pPr>
              <a:defRPr/>
            </a:pPr>
            <a:endParaRPr lang="en-US" altLang="zh-CN" dirty="0">
              <a:solidFill>
                <a:srgbClr val="000000"/>
              </a:solidFill>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6" name="矩形 5"/>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867366" y="-8293"/>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808684496"/>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676A6CC9-7E25-4CA4-8BD1-8E218075AACA}" type="datetime1">
              <a:rPr lang="zh-CN" altLang="en-US" smtClean="0">
                <a:solidFill>
                  <a:srgbClr val="000000"/>
                </a:solidFill>
              </a:rPr>
              <a:pPr/>
              <a:t>2018/11/6 Tuesday</a:t>
            </a:fld>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zh-CN" altLang="en-US">
              <a:solidFill>
                <a:srgbClr val="000000"/>
              </a:solidFill>
            </a:endParaRPr>
          </a:p>
        </p:txBody>
      </p:sp>
      <p:sp>
        <p:nvSpPr>
          <p:cNvPr id="4" name="灯片编号占位符 3"/>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zh-CN" altLang="en-US" smtClean="0"/>
            </a:lvl1pPr>
          </a:lstStyle>
          <a:p>
            <a:pPr>
              <a:buFontTx/>
              <a:buNone/>
            </a:pPr>
            <a:fld id="{E7128283-1589-4972-82BE-045635513151}" type="slidenum">
              <a:rPr lang="en-US" altLang="zh-CN" smtClean="0">
                <a:solidFill>
                  <a:srgbClr val="000000"/>
                </a:solidFill>
              </a:rPr>
              <a:pPr>
                <a:buFontTx/>
                <a:buNone/>
              </a:pPr>
              <a:t>‹#›</a:t>
            </a:fld>
            <a:endParaRPr lang="en-US">
              <a:solidFill>
                <a:srgbClr val="000000"/>
              </a:solidFill>
            </a:endParaRPr>
          </a:p>
        </p:txBody>
      </p:sp>
      <p:sp>
        <p:nvSpPr>
          <p:cNvPr id="5" name="矩形 4"/>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943564"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554878275"/>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fld id="{E4625D28-3E65-45F8-B554-203226C392CA}" type="datetime1">
              <a:rPr lang="zh-CN" altLang="en-US" smtClean="0">
                <a:solidFill>
                  <a:srgbClr val="000000"/>
                </a:solidFill>
              </a:rPr>
              <a:pPr/>
              <a:t>2018/11/6 Tuesday</a:t>
            </a:fld>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D150E68F-F507-451A-9D67-67B52CEB2145}" type="slidenum">
              <a:rPr lang="en-US" altLang="zh-CN" smtClean="0">
                <a:solidFill>
                  <a:srgbClr val="000000"/>
                </a:solidFill>
              </a:rPr>
              <a:pPr>
                <a:buFontTx/>
                <a:buNone/>
              </a:pPr>
              <a:t>‹#›</a:t>
            </a:fld>
            <a:endParaRPr lang="en-US" altLang="zh-CN">
              <a:solidFill>
                <a:srgbClr val="000000"/>
              </a:solidFill>
            </a:endParaRPr>
          </a:p>
        </p:txBody>
      </p:sp>
      <p:sp>
        <p:nvSpPr>
          <p:cNvPr id="8" name="矩形 7"/>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986737"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651632511"/>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a:defRPr/>
            </a:pPr>
            <a:fld id="{64A5B3B6-0CE9-41AF-8C08-C00F12DE3106}" type="datetime1">
              <a:rPr lang="zh-CN" altLang="en-US" smtClean="0">
                <a:solidFill>
                  <a:srgbClr val="000000"/>
                </a:solidFill>
              </a:rPr>
              <a:pPr>
                <a:defRPr/>
              </a:pPr>
              <a:t>2018/11/6 Tuesday</a:t>
            </a:fld>
            <a:endParaRPr lang="en-US" altLang="zh-CN" dirty="0">
              <a:solidFill>
                <a:srgbClr val="000000"/>
              </a:solidFill>
            </a:endParaRPr>
          </a:p>
        </p:txBody>
      </p:sp>
      <p:sp>
        <p:nvSpPr>
          <p:cNvPr id="6" name="页脚占位符 5"/>
          <p:cNvSpPr>
            <a:spLocks noGrp="1"/>
          </p:cNvSpPr>
          <p:nvPr>
            <p:ph type="ftr" sz="quarter" idx="11"/>
          </p:nvPr>
        </p:nvSpPr>
        <p:spPr/>
        <p:txBody>
          <a:bodyPr/>
          <a:lstStyle>
            <a:lvl1pPr>
              <a:defRPr/>
            </a:lvl1pPr>
          </a:lstStyle>
          <a:p>
            <a:pPr>
              <a:defRPr/>
            </a:pPr>
            <a:endParaRPr lang="en-US" altLang="zh-CN" dirty="0">
              <a:solidFill>
                <a:srgbClr val="000000"/>
              </a:solidFill>
            </a:endParaRPr>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8" name="矩形 7"/>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994982" y="10401"/>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452053827"/>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B24348A-96B1-4517-BB67-3B1581B8E309}" type="datetime1">
              <a:rPr lang="zh-CN" altLang="en-US" smtClean="0">
                <a:solidFill>
                  <a:srgbClr val="000000"/>
                </a:solidFill>
              </a:rPr>
              <a:pPr>
                <a:defRPr/>
              </a:pPr>
              <a:t>2018/11/6 Tuesday</a:t>
            </a:fld>
            <a:endParaRPr lang="en-US" altLang="zh-CN" dirty="0">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dirty="0">
              <a:solidFill>
                <a:srgbClr val="000000"/>
              </a:solidFill>
            </a:endParaRPr>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019800" y="-873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3163913525"/>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19800" cy="5851525"/>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2124629-BB37-4738-868A-694567712E05}" type="datetime1">
              <a:rPr lang="zh-CN" altLang="en-US" smtClean="0">
                <a:solidFill>
                  <a:srgbClr val="000000"/>
                </a:solidFill>
              </a:rPr>
              <a:pPr>
                <a:defRPr/>
              </a:pPr>
              <a:t>2018/11/6 Tuesday</a:t>
            </a:fld>
            <a:endParaRPr lang="en-US" altLang="zh-CN" dirty="0">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dirty="0">
              <a:solidFill>
                <a:srgbClr val="000000"/>
              </a:solidFill>
            </a:endParaRPr>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019800" y="4697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687317687"/>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lnSpc>
                <a:spcPct val="140000"/>
              </a:lnSpc>
              <a:spcBef>
                <a:spcPct val="20000"/>
              </a:spcBef>
              <a:defRPr/>
            </a:pPr>
            <a:fld id="{D867D3BC-E722-4E8E-8D82-B9550D6C128A}" type="datetime1">
              <a:rPr lang="zh-CN" altLang="en-US" b="1" smtClean="0">
                <a:solidFill>
                  <a:srgbClr val="000000"/>
                </a:solidFill>
                <a:ea typeface="楷体_GB2312" pitchFamily="49" charset="-122"/>
              </a:rPr>
              <a:pPr>
                <a:lnSpc>
                  <a:spcPct val="140000"/>
                </a:lnSpc>
                <a:spcBef>
                  <a:spcPct val="20000"/>
                </a:spcBef>
                <a:defRPr/>
              </a:pPr>
              <a:t>2018/11/6 Tuesday</a:t>
            </a:fld>
            <a:endParaRPr lang="en-US" altLang="zh-CN" b="1" dirty="0">
              <a:solidFill>
                <a:srgbClr val="000000"/>
              </a:solidFill>
              <a:ea typeface="楷体_GB2312" pitchFamily="49" charset="-122"/>
            </a:endParaRPr>
          </a:p>
        </p:txBody>
      </p:sp>
      <p:sp>
        <p:nvSpPr>
          <p:cNvPr id="7" name="Rectangle 5"/>
          <p:cNvSpPr>
            <a:spLocks noGrp="1" noChangeArrowheads="1"/>
          </p:cNvSpPr>
          <p:nvPr>
            <p:ph type="ftr" sz="quarter" idx="11"/>
          </p:nvPr>
        </p:nvSpPr>
        <p:spPr>
          <a:ln/>
        </p:spPr>
        <p:txBody>
          <a:bodyPr/>
          <a:lstStyle>
            <a:lvl1pPr>
              <a:defRPr/>
            </a:lvl1pPr>
          </a:lstStyle>
          <a:p>
            <a:pPr>
              <a:lnSpc>
                <a:spcPct val="140000"/>
              </a:lnSpc>
              <a:spcBef>
                <a:spcPct val="20000"/>
              </a:spcBef>
              <a:defRPr/>
            </a:pPr>
            <a:endParaRPr lang="en-US" altLang="zh-CN" b="1" dirty="0">
              <a:solidFill>
                <a:srgbClr val="000000"/>
              </a:solidFill>
              <a:ea typeface="楷体_GB2312" pitchFamily="49" charset="-122"/>
            </a:endParaRPr>
          </a:p>
        </p:txBody>
      </p:sp>
      <p:sp>
        <p:nvSpPr>
          <p:cNvPr id="8" name="Rectangle 6"/>
          <p:cNvSpPr>
            <a:spLocks noGrp="1" noChangeArrowheads="1"/>
          </p:cNvSpPr>
          <p:nvPr>
            <p:ph type="sldNum" sz="quarter" idx="12"/>
          </p:nvPr>
        </p:nvSpPr>
        <p:spPr>
          <a:ln/>
        </p:spPr>
        <p:txBody>
          <a:bodyPr/>
          <a:lstStyle>
            <a:lvl1pPr>
              <a:defRPr/>
            </a:lvl1pPr>
          </a:lstStyle>
          <a:p>
            <a:pPr>
              <a:lnSpc>
                <a:spcPct val="140000"/>
              </a:lnSpc>
              <a:spcBef>
                <a:spcPct val="20000"/>
              </a:spcBef>
              <a:defRPr/>
            </a:pPr>
            <a:fld id="{62BE8675-7E1E-4F0D-99E8-4CEF8F868FF2}" type="slidenum">
              <a:rPr lang="en-US" altLang="zh-CN" b="1" smtClean="0">
                <a:solidFill>
                  <a:srgbClr val="000000"/>
                </a:solidFill>
              </a:rPr>
              <a:pPr>
                <a:lnSpc>
                  <a:spcPct val="140000"/>
                </a:lnSpc>
                <a:spcBef>
                  <a:spcPct val="20000"/>
                </a:spcBef>
                <a:defRPr/>
              </a:pPr>
              <a:t>‹#›</a:t>
            </a:fld>
            <a:endParaRPr lang="en-US" altLang="zh-CN" b="1" dirty="0">
              <a:solidFill>
                <a:srgbClr val="000000"/>
              </a:solidFill>
            </a:endParaRPr>
          </a:p>
        </p:txBody>
      </p:sp>
    </p:spTree>
    <p:extLst>
      <p:ext uri="{BB962C8B-B14F-4D97-AF65-F5344CB8AC3E}">
        <p14:creationId xmlns:p14="http://schemas.microsoft.com/office/powerpoint/2010/main" val="1553230992"/>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lnSpc>
                <a:spcPct val="140000"/>
              </a:lnSpc>
              <a:spcBef>
                <a:spcPct val="20000"/>
              </a:spcBef>
              <a:defRPr/>
            </a:pPr>
            <a:fld id="{D867D3BC-E722-4E8E-8D82-B9550D6C128A}" type="datetime1">
              <a:rPr lang="zh-CN" altLang="en-US" b="1" smtClean="0">
                <a:solidFill>
                  <a:srgbClr val="000000"/>
                </a:solidFill>
                <a:ea typeface="楷体_GB2312" pitchFamily="49" charset="-122"/>
              </a:rPr>
              <a:pPr>
                <a:lnSpc>
                  <a:spcPct val="140000"/>
                </a:lnSpc>
                <a:spcBef>
                  <a:spcPct val="20000"/>
                </a:spcBef>
                <a:defRPr/>
              </a:pPr>
              <a:t>2018/11/6 Tuesday</a:t>
            </a:fld>
            <a:endParaRPr lang="en-US" altLang="zh-CN" b="1" dirty="0">
              <a:solidFill>
                <a:srgbClr val="000000"/>
              </a:solidFill>
              <a:ea typeface="楷体_GB2312" pitchFamily="49" charset="-122"/>
            </a:endParaRPr>
          </a:p>
        </p:txBody>
      </p:sp>
      <p:sp>
        <p:nvSpPr>
          <p:cNvPr id="6" name="Rectangle 5"/>
          <p:cNvSpPr>
            <a:spLocks noGrp="1" noChangeArrowheads="1"/>
          </p:cNvSpPr>
          <p:nvPr>
            <p:ph type="ftr" sz="quarter" idx="11"/>
          </p:nvPr>
        </p:nvSpPr>
        <p:spPr>
          <a:ln/>
        </p:spPr>
        <p:txBody>
          <a:bodyPr/>
          <a:lstStyle>
            <a:lvl1pPr>
              <a:defRPr/>
            </a:lvl1pPr>
          </a:lstStyle>
          <a:p>
            <a:pPr>
              <a:lnSpc>
                <a:spcPct val="140000"/>
              </a:lnSpc>
              <a:spcBef>
                <a:spcPct val="20000"/>
              </a:spcBef>
              <a:defRPr/>
            </a:pPr>
            <a:endParaRPr lang="en-US" altLang="zh-CN" b="1" dirty="0">
              <a:solidFill>
                <a:srgbClr val="000000"/>
              </a:solidFill>
              <a:ea typeface="楷体_GB2312" pitchFamily="49" charset="-122"/>
            </a:endParaRPr>
          </a:p>
        </p:txBody>
      </p:sp>
      <p:sp>
        <p:nvSpPr>
          <p:cNvPr id="7" name="Rectangle 6"/>
          <p:cNvSpPr>
            <a:spLocks noGrp="1" noChangeArrowheads="1"/>
          </p:cNvSpPr>
          <p:nvPr>
            <p:ph type="sldNum" sz="quarter" idx="12"/>
          </p:nvPr>
        </p:nvSpPr>
        <p:spPr>
          <a:ln/>
        </p:spPr>
        <p:txBody>
          <a:bodyPr/>
          <a:lstStyle>
            <a:lvl1pPr>
              <a:defRPr/>
            </a:lvl1pPr>
          </a:lstStyle>
          <a:p>
            <a:pPr>
              <a:lnSpc>
                <a:spcPct val="140000"/>
              </a:lnSpc>
              <a:spcBef>
                <a:spcPct val="20000"/>
              </a:spcBef>
              <a:defRPr/>
            </a:pPr>
            <a:fld id="{62BE8675-7E1E-4F0D-99E8-4CEF8F868FF2}" type="slidenum">
              <a:rPr lang="en-US" altLang="zh-CN" b="1" smtClean="0">
                <a:solidFill>
                  <a:srgbClr val="000000"/>
                </a:solidFill>
              </a:rPr>
              <a:pPr>
                <a:lnSpc>
                  <a:spcPct val="140000"/>
                </a:lnSpc>
                <a:spcBef>
                  <a:spcPct val="20000"/>
                </a:spcBef>
                <a:defRPr/>
              </a:pPr>
              <a:t>‹#›</a:t>
            </a:fld>
            <a:endParaRPr lang="en-US" altLang="zh-CN" b="1" dirty="0">
              <a:solidFill>
                <a:srgbClr val="000000"/>
              </a:solidFill>
            </a:endParaRPr>
          </a:p>
        </p:txBody>
      </p:sp>
    </p:spTree>
    <p:extLst>
      <p:ext uri="{BB962C8B-B14F-4D97-AF65-F5344CB8AC3E}">
        <p14:creationId xmlns:p14="http://schemas.microsoft.com/office/powerpoint/2010/main" val="1607278280"/>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lnSpc>
                <a:spcPct val="140000"/>
              </a:lnSpc>
              <a:spcBef>
                <a:spcPct val="20000"/>
              </a:spcBef>
              <a:defRPr/>
            </a:pPr>
            <a:fld id="{D867D3BC-E722-4E8E-8D82-B9550D6C128A}" type="datetime1">
              <a:rPr lang="zh-CN" altLang="en-US" b="1" smtClean="0">
                <a:solidFill>
                  <a:srgbClr val="000000"/>
                </a:solidFill>
                <a:ea typeface="楷体_GB2312" pitchFamily="49" charset="-122"/>
              </a:rPr>
              <a:pPr>
                <a:lnSpc>
                  <a:spcPct val="140000"/>
                </a:lnSpc>
                <a:spcBef>
                  <a:spcPct val="20000"/>
                </a:spcBef>
                <a:defRPr/>
              </a:pPr>
              <a:t>2018/11/6 Tuesday</a:t>
            </a:fld>
            <a:endParaRPr lang="en-US" altLang="zh-CN" b="1" dirty="0">
              <a:solidFill>
                <a:srgbClr val="000000"/>
              </a:solidFill>
              <a:ea typeface="楷体_GB2312" pitchFamily="49" charset="-122"/>
            </a:endParaRPr>
          </a:p>
        </p:txBody>
      </p:sp>
      <p:sp>
        <p:nvSpPr>
          <p:cNvPr id="8" name="Rectangle 5"/>
          <p:cNvSpPr>
            <a:spLocks noGrp="1" noChangeArrowheads="1"/>
          </p:cNvSpPr>
          <p:nvPr>
            <p:ph type="ftr" sz="quarter" idx="11"/>
          </p:nvPr>
        </p:nvSpPr>
        <p:spPr>
          <a:ln/>
        </p:spPr>
        <p:txBody>
          <a:bodyPr/>
          <a:lstStyle>
            <a:lvl1pPr>
              <a:defRPr/>
            </a:lvl1pPr>
          </a:lstStyle>
          <a:p>
            <a:pPr>
              <a:lnSpc>
                <a:spcPct val="140000"/>
              </a:lnSpc>
              <a:spcBef>
                <a:spcPct val="20000"/>
              </a:spcBef>
              <a:defRPr/>
            </a:pPr>
            <a:endParaRPr lang="en-US" altLang="zh-CN" b="1" dirty="0">
              <a:solidFill>
                <a:srgbClr val="000000"/>
              </a:solidFill>
              <a:ea typeface="楷体_GB2312" pitchFamily="49" charset="-122"/>
            </a:endParaRPr>
          </a:p>
        </p:txBody>
      </p:sp>
      <p:sp>
        <p:nvSpPr>
          <p:cNvPr id="9" name="Rectangle 6"/>
          <p:cNvSpPr>
            <a:spLocks noGrp="1" noChangeArrowheads="1"/>
          </p:cNvSpPr>
          <p:nvPr>
            <p:ph type="sldNum" sz="quarter" idx="12"/>
          </p:nvPr>
        </p:nvSpPr>
        <p:spPr>
          <a:ln/>
        </p:spPr>
        <p:txBody>
          <a:bodyPr/>
          <a:lstStyle>
            <a:lvl1pPr>
              <a:defRPr/>
            </a:lvl1pPr>
          </a:lstStyle>
          <a:p>
            <a:pPr>
              <a:lnSpc>
                <a:spcPct val="140000"/>
              </a:lnSpc>
              <a:spcBef>
                <a:spcPct val="20000"/>
              </a:spcBef>
              <a:defRPr/>
            </a:pPr>
            <a:fld id="{62BE8675-7E1E-4F0D-99E8-4CEF8F868FF2}" type="slidenum">
              <a:rPr lang="en-US" altLang="zh-CN" b="1" smtClean="0">
                <a:solidFill>
                  <a:srgbClr val="000000"/>
                </a:solidFill>
              </a:rPr>
              <a:pPr>
                <a:lnSpc>
                  <a:spcPct val="140000"/>
                </a:lnSpc>
                <a:spcBef>
                  <a:spcPct val="20000"/>
                </a:spcBef>
                <a:defRPr/>
              </a:pPr>
              <a:t>‹#›</a:t>
            </a:fld>
            <a:endParaRPr lang="en-US" altLang="zh-CN" b="1" dirty="0">
              <a:solidFill>
                <a:srgbClr val="000000"/>
              </a:solidFill>
            </a:endParaRPr>
          </a:p>
        </p:txBody>
      </p:sp>
    </p:spTree>
    <p:extLst>
      <p:ext uri="{BB962C8B-B14F-4D97-AF65-F5344CB8AC3E}">
        <p14:creationId xmlns:p14="http://schemas.microsoft.com/office/powerpoint/2010/main" val="3741828473"/>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lnSpc>
                <a:spcPct val="140000"/>
              </a:lnSpc>
              <a:spcBef>
                <a:spcPct val="20000"/>
              </a:spcBef>
              <a:defRPr/>
            </a:pPr>
            <a:fld id="{D867D3BC-E722-4E8E-8D82-B9550D6C128A}" type="datetime1">
              <a:rPr lang="zh-CN" altLang="en-US" b="1" smtClean="0">
                <a:solidFill>
                  <a:srgbClr val="000000"/>
                </a:solidFill>
                <a:ea typeface="楷体_GB2312" pitchFamily="49" charset="-122"/>
              </a:rPr>
              <a:pPr>
                <a:lnSpc>
                  <a:spcPct val="140000"/>
                </a:lnSpc>
                <a:spcBef>
                  <a:spcPct val="20000"/>
                </a:spcBef>
                <a:defRPr/>
              </a:pPr>
              <a:t>2018/11/6 Tuesday</a:t>
            </a:fld>
            <a:endParaRPr lang="en-US" altLang="zh-CN" b="1" dirty="0">
              <a:solidFill>
                <a:srgbClr val="000000"/>
              </a:solidFill>
              <a:ea typeface="楷体_GB2312" pitchFamily="49" charset="-122"/>
            </a:endParaRPr>
          </a:p>
        </p:txBody>
      </p:sp>
      <p:sp>
        <p:nvSpPr>
          <p:cNvPr id="4" name="Rectangle 5"/>
          <p:cNvSpPr>
            <a:spLocks noGrp="1" noChangeArrowheads="1"/>
          </p:cNvSpPr>
          <p:nvPr>
            <p:ph type="ftr" sz="quarter" idx="11"/>
          </p:nvPr>
        </p:nvSpPr>
        <p:spPr>
          <a:ln/>
        </p:spPr>
        <p:txBody>
          <a:bodyPr/>
          <a:lstStyle>
            <a:lvl1pPr>
              <a:defRPr/>
            </a:lvl1pPr>
          </a:lstStyle>
          <a:p>
            <a:pPr>
              <a:lnSpc>
                <a:spcPct val="140000"/>
              </a:lnSpc>
              <a:spcBef>
                <a:spcPct val="20000"/>
              </a:spcBef>
              <a:defRPr/>
            </a:pPr>
            <a:endParaRPr lang="en-US" altLang="zh-CN" b="1" dirty="0">
              <a:solidFill>
                <a:srgbClr val="000000"/>
              </a:solidFill>
              <a:ea typeface="楷体_GB2312" pitchFamily="49" charset="-122"/>
            </a:endParaRPr>
          </a:p>
        </p:txBody>
      </p:sp>
      <p:sp>
        <p:nvSpPr>
          <p:cNvPr id="5" name="Rectangle 6"/>
          <p:cNvSpPr>
            <a:spLocks noGrp="1" noChangeArrowheads="1"/>
          </p:cNvSpPr>
          <p:nvPr>
            <p:ph type="sldNum" sz="quarter" idx="12"/>
          </p:nvPr>
        </p:nvSpPr>
        <p:spPr>
          <a:ln/>
        </p:spPr>
        <p:txBody>
          <a:bodyPr/>
          <a:lstStyle>
            <a:lvl1pPr>
              <a:defRPr/>
            </a:lvl1pPr>
          </a:lstStyle>
          <a:p>
            <a:pPr>
              <a:lnSpc>
                <a:spcPct val="140000"/>
              </a:lnSpc>
              <a:spcBef>
                <a:spcPct val="20000"/>
              </a:spcBef>
              <a:defRPr/>
            </a:pPr>
            <a:fld id="{62BE8675-7E1E-4F0D-99E8-4CEF8F868FF2}" type="slidenum">
              <a:rPr lang="en-US" altLang="zh-CN" b="1" smtClean="0">
                <a:solidFill>
                  <a:srgbClr val="000000"/>
                </a:solidFill>
              </a:rPr>
              <a:pPr>
                <a:lnSpc>
                  <a:spcPct val="140000"/>
                </a:lnSpc>
                <a:spcBef>
                  <a:spcPct val="20000"/>
                </a:spcBef>
                <a:defRPr/>
              </a:pPr>
              <a:t>‹#›</a:t>
            </a:fld>
            <a:endParaRPr lang="en-US" altLang="zh-CN" b="1" dirty="0">
              <a:solidFill>
                <a:srgbClr val="000000"/>
              </a:solidFill>
            </a:endParaRPr>
          </a:p>
        </p:txBody>
      </p:sp>
    </p:spTree>
    <p:extLst>
      <p:ext uri="{BB962C8B-B14F-4D97-AF65-F5344CB8AC3E}">
        <p14:creationId xmlns:p14="http://schemas.microsoft.com/office/powerpoint/2010/main" val="1906284300"/>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lnSpc>
                <a:spcPct val="140000"/>
              </a:lnSpc>
              <a:spcBef>
                <a:spcPct val="20000"/>
              </a:spcBef>
              <a:defRPr/>
            </a:pPr>
            <a:fld id="{D867D3BC-E722-4E8E-8D82-B9550D6C128A}" type="datetime1">
              <a:rPr lang="zh-CN" altLang="en-US" b="1" smtClean="0">
                <a:solidFill>
                  <a:srgbClr val="000000"/>
                </a:solidFill>
                <a:ea typeface="楷体_GB2312" pitchFamily="49" charset="-122"/>
              </a:rPr>
              <a:pPr>
                <a:lnSpc>
                  <a:spcPct val="140000"/>
                </a:lnSpc>
                <a:spcBef>
                  <a:spcPct val="20000"/>
                </a:spcBef>
                <a:defRPr/>
              </a:pPr>
              <a:t>2018/11/6 Tuesday</a:t>
            </a:fld>
            <a:endParaRPr lang="en-US" altLang="zh-CN" b="1" dirty="0">
              <a:solidFill>
                <a:srgbClr val="000000"/>
              </a:solidFill>
              <a:ea typeface="楷体_GB2312" pitchFamily="49" charset="-122"/>
            </a:endParaRPr>
          </a:p>
        </p:txBody>
      </p:sp>
      <p:sp>
        <p:nvSpPr>
          <p:cNvPr id="4" name="页脚占位符 3"/>
          <p:cNvSpPr>
            <a:spLocks noGrp="1"/>
          </p:cNvSpPr>
          <p:nvPr>
            <p:ph type="ftr" sz="quarter" idx="11"/>
          </p:nvPr>
        </p:nvSpPr>
        <p:spPr/>
        <p:txBody>
          <a:bodyPr/>
          <a:lstStyle/>
          <a:p>
            <a:pPr>
              <a:lnSpc>
                <a:spcPct val="140000"/>
              </a:lnSpc>
              <a:spcBef>
                <a:spcPct val="20000"/>
              </a:spcBef>
              <a:defRPr/>
            </a:pPr>
            <a:endParaRPr lang="en-US" altLang="zh-CN" b="1" dirty="0">
              <a:solidFill>
                <a:srgbClr val="000000"/>
              </a:solidFill>
              <a:ea typeface="楷体_GB2312" pitchFamily="49" charset="-122"/>
            </a:endParaRPr>
          </a:p>
        </p:txBody>
      </p:sp>
      <p:sp>
        <p:nvSpPr>
          <p:cNvPr id="5" name="灯片编号占位符 4"/>
          <p:cNvSpPr>
            <a:spLocks noGrp="1"/>
          </p:cNvSpPr>
          <p:nvPr>
            <p:ph type="sldNum" sz="quarter" idx="12"/>
          </p:nvPr>
        </p:nvSpPr>
        <p:spPr/>
        <p:txBody>
          <a:bodyPr/>
          <a:lstStyle/>
          <a:p>
            <a:pPr>
              <a:lnSpc>
                <a:spcPct val="140000"/>
              </a:lnSpc>
              <a:spcBef>
                <a:spcPct val="20000"/>
              </a:spcBef>
              <a:defRPr/>
            </a:pPr>
            <a:fld id="{62BE8675-7E1E-4F0D-99E8-4CEF8F868FF2}" type="slidenum">
              <a:rPr lang="en-US" altLang="zh-CN" b="1" smtClean="0">
                <a:solidFill>
                  <a:srgbClr val="000000"/>
                </a:solidFill>
              </a:rPr>
              <a:pPr>
                <a:lnSpc>
                  <a:spcPct val="140000"/>
                </a:lnSpc>
                <a:spcBef>
                  <a:spcPct val="20000"/>
                </a:spcBef>
                <a:defRPr/>
              </a:pPr>
              <a:t>‹#›</a:t>
            </a:fld>
            <a:endParaRPr lang="en-US" altLang="zh-CN" b="1" dirty="0">
              <a:solidFill>
                <a:srgbClr val="000000"/>
              </a:solidFill>
            </a:endParaRPr>
          </a:p>
        </p:txBody>
      </p:sp>
    </p:spTree>
    <p:extLst>
      <p:ext uri="{BB962C8B-B14F-4D97-AF65-F5344CB8AC3E}">
        <p14:creationId xmlns:p14="http://schemas.microsoft.com/office/powerpoint/2010/main" val="4045265310"/>
      </p:ext>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r>
              <a:rPr lang="zh-CN" altLang="en-US" noProof="0" smtClean="0"/>
              <a:t>单击图标添加表格</a:t>
            </a:r>
          </a:p>
        </p:txBody>
      </p:sp>
      <p:sp>
        <p:nvSpPr>
          <p:cNvPr id="4" name="Rectangle 4"/>
          <p:cNvSpPr>
            <a:spLocks noGrp="1" noChangeArrowheads="1"/>
          </p:cNvSpPr>
          <p:nvPr>
            <p:ph type="dt" sz="half" idx="10"/>
          </p:nvPr>
        </p:nvSpPr>
        <p:spPr>
          <a:ln/>
        </p:spPr>
        <p:txBody>
          <a:bodyPr/>
          <a:lstStyle>
            <a:lvl1pPr>
              <a:defRPr/>
            </a:lvl1pPr>
          </a:lstStyle>
          <a:p>
            <a:pPr>
              <a:lnSpc>
                <a:spcPct val="140000"/>
              </a:lnSpc>
              <a:spcBef>
                <a:spcPct val="20000"/>
              </a:spcBef>
              <a:defRPr/>
            </a:pPr>
            <a:fld id="{D867D3BC-E722-4E8E-8D82-B9550D6C128A}" type="datetime1">
              <a:rPr lang="zh-CN" altLang="en-US" b="1" smtClean="0">
                <a:solidFill>
                  <a:srgbClr val="000000"/>
                </a:solidFill>
                <a:ea typeface="楷体_GB2312" pitchFamily="49" charset="-122"/>
              </a:rPr>
              <a:pPr>
                <a:lnSpc>
                  <a:spcPct val="140000"/>
                </a:lnSpc>
                <a:spcBef>
                  <a:spcPct val="20000"/>
                </a:spcBef>
                <a:defRPr/>
              </a:pPr>
              <a:t>2018/11/6 Tuesday</a:t>
            </a:fld>
            <a:endParaRPr lang="en-US" altLang="zh-CN" b="1" dirty="0">
              <a:solidFill>
                <a:srgbClr val="000000"/>
              </a:solidFill>
              <a:ea typeface="楷体_GB2312" pitchFamily="49" charset="-122"/>
            </a:endParaRPr>
          </a:p>
        </p:txBody>
      </p:sp>
      <p:sp>
        <p:nvSpPr>
          <p:cNvPr id="5" name="Rectangle 5"/>
          <p:cNvSpPr>
            <a:spLocks noGrp="1" noChangeArrowheads="1"/>
          </p:cNvSpPr>
          <p:nvPr>
            <p:ph type="ftr" sz="quarter" idx="11"/>
          </p:nvPr>
        </p:nvSpPr>
        <p:spPr>
          <a:ln/>
        </p:spPr>
        <p:txBody>
          <a:bodyPr/>
          <a:lstStyle>
            <a:lvl1pPr>
              <a:defRPr/>
            </a:lvl1pPr>
          </a:lstStyle>
          <a:p>
            <a:pPr>
              <a:lnSpc>
                <a:spcPct val="140000"/>
              </a:lnSpc>
              <a:spcBef>
                <a:spcPct val="20000"/>
              </a:spcBef>
              <a:defRPr/>
            </a:pPr>
            <a:endParaRPr lang="en-US" altLang="zh-CN" b="1" dirty="0">
              <a:solidFill>
                <a:srgbClr val="000000"/>
              </a:solidFill>
              <a:ea typeface="楷体_GB2312" pitchFamily="49" charset="-122"/>
            </a:endParaRPr>
          </a:p>
        </p:txBody>
      </p:sp>
      <p:sp>
        <p:nvSpPr>
          <p:cNvPr id="6" name="Rectangle 6"/>
          <p:cNvSpPr>
            <a:spLocks noGrp="1" noChangeArrowheads="1"/>
          </p:cNvSpPr>
          <p:nvPr>
            <p:ph type="sldNum" sz="quarter" idx="12"/>
          </p:nvPr>
        </p:nvSpPr>
        <p:spPr>
          <a:ln/>
        </p:spPr>
        <p:txBody>
          <a:bodyPr/>
          <a:lstStyle>
            <a:lvl1pPr>
              <a:defRPr/>
            </a:lvl1pPr>
          </a:lstStyle>
          <a:p>
            <a:pPr>
              <a:lnSpc>
                <a:spcPct val="140000"/>
              </a:lnSpc>
              <a:spcBef>
                <a:spcPct val="20000"/>
              </a:spcBef>
              <a:defRPr/>
            </a:pPr>
            <a:fld id="{62BE8675-7E1E-4F0D-99E8-4CEF8F868FF2}" type="slidenum">
              <a:rPr lang="en-US" altLang="zh-CN" b="1" smtClean="0">
                <a:solidFill>
                  <a:srgbClr val="000000"/>
                </a:solidFill>
              </a:rPr>
              <a:pPr>
                <a:lnSpc>
                  <a:spcPct val="140000"/>
                </a:lnSpc>
                <a:spcBef>
                  <a:spcPct val="20000"/>
                </a:spcBef>
                <a:defRPr/>
              </a:pPr>
              <a:t>‹#›</a:t>
            </a:fld>
            <a:endParaRPr lang="en-US" altLang="zh-CN" b="1" dirty="0">
              <a:solidFill>
                <a:srgbClr val="000000"/>
              </a:solidFill>
            </a:endParaRPr>
          </a:p>
        </p:txBody>
      </p:sp>
    </p:spTree>
    <p:extLst>
      <p:ext uri="{BB962C8B-B14F-4D97-AF65-F5344CB8AC3E}">
        <p14:creationId xmlns:p14="http://schemas.microsoft.com/office/powerpoint/2010/main" val="560737568"/>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lnSpc>
                <a:spcPct val="140000"/>
              </a:lnSpc>
              <a:spcBef>
                <a:spcPct val="20000"/>
              </a:spcBef>
              <a:defRPr/>
            </a:pPr>
            <a:fld id="{D867D3BC-E722-4E8E-8D82-B9550D6C128A}" type="datetime1">
              <a:rPr lang="zh-CN" altLang="en-US" b="1" smtClean="0">
                <a:solidFill>
                  <a:srgbClr val="000000"/>
                </a:solidFill>
                <a:ea typeface="楷体_GB2312" pitchFamily="49" charset="-122"/>
              </a:rPr>
              <a:pPr>
                <a:lnSpc>
                  <a:spcPct val="140000"/>
                </a:lnSpc>
                <a:spcBef>
                  <a:spcPct val="20000"/>
                </a:spcBef>
                <a:defRPr/>
              </a:pPr>
              <a:t>2018/11/6 Tuesday</a:t>
            </a:fld>
            <a:endParaRPr lang="en-US" altLang="zh-CN" b="1" dirty="0">
              <a:solidFill>
                <a:srgbClr val="000000"/>
              </a:solidFill>
              <a:ea typeface="楷体_GB2312" pitchFamily="49" charset="-122"/>
            </a:endParaRPr>
          </a:p>
        </p:txBody>
      </p:sp>
      <p:sp>
        <p:nvSpPr>
          <p:cNvPr id="4" name="页脚占位符 3"/>
          <p:cNvSpPr>
            <a:spLocks noGrp="1"/>
          </p:cNvSpPr>
          <p:nvPr>
            <p:ph type="ftr" sz="quarter" idx="11"/>
          </p:nvPr>
        </p:nvSpPr>
        <p:spPr/>
        <p:txBody>
          <a:bodyPr/>
          <a:lstStyle/>
          <a:p>
            <a:pPr>
              <a:lnSpc>
                <a:spcPct val="140000"/>
              </a:lnSpc>
              <a:spcBef>
                <a:spcPct val="20000"/>
              </a:spcBef>
              <a:defRPr/>
            </a:pPr>
            <a:endParaRPr lang="en-US" altLang="zh-CN" b="1" dirty="0">
              <a:solidFill>
                <a:srgbClr val="000000"/>
              </a:solidFill>
              <a:ea typeface="楷体_GB2312" pitchFamily="49" charset="-122"/>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lnSpc>
                <a:spcPct val="140000"/>
              </a:lnSpc>
              <a:spcBef>
                <a:spcPct val="20000"/>
              </a:spcBef>
              <a:defRPr/>
            </a:pPr>
            <a:fld id="{62BE8675-7E1E-4F0D-99E8-4CEF8F868FF2}" type="slidenum">
              <a:rPr lang="en-US" altLang="zh-CN" b="1" smtClean="0">
                <a:solidFill>
                  <a:srgbClr val="000000"/>
                </a:solidFill>
              </a:rPr>
              <a:pPr>
                <a:lnSpc>
                  <a:spcPct val="140000"/>
                </a:lnSpc>
                <a:spcBef>
                  <a:spcPct val="20000"/>
                </a:spcBef>
                <a:defRPr/>
              </a:pPr>
              <a:t>‹#›</a:t>
            </a:fld>
            <a:endParaRPr lang="en-US" altLang="zh-CN" b="1" dirty="0">
              <a:solidFill>
                <a:srgbClr val="000000"/>
              </a:solidFill>
            </a:endParaRPr>
          </a:p>
        </p:txBody>
      </p:sp>
    </p:spTree>
    <p:extLst>
      <p:ext uri="{BB962C8B-B14F-4D97-AF65-F5344CB8AC3E}">
        <p14:creationId xmlns:p14="http://schemas.microsoft.com/office/powerpoint/2010/main" val="2600763582"/>
      </p:ext>
    </p:extLst>
  </p:cSld>
  <p:clrMapOvr>
    <a:masterClrMapping/>
  </p:clrMapOvr>
  <p:timing>
    <p:tnLst>
      <p:par>
        <p:cTn id="1" dur="indefinite" restart="never" nodeType="tmRoot"/>
      </p:par>
    </p:tnLst>
  </p:timing>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fld id="{13783A4D-8CC0-4218-BC96-A24A66EA9BD2}" type="datetime1">
              <a:rPr lang="zh-CN" altLang="en-US" smtClean="0">
                <a:solidFill>
                  <a:srgbClr val="000000"/>
                </a:solidFill>
              </a:rPr>
              <a:pPr>
                <a:defRPr/>
              </a:pPr>
              <a:t>2018/11/6 Tuesday</a:t>
            </a:fld>
            <a:endParaRPr lang="en-US" altLang="zh-CN" dirty="0">
              <a:solidFill>
                <a:srgbClr val="000000"/>
              </a:solidFill>
            </a:endParaRPr>
          </a:p>
        </p:txBody>
      </p:sp>
      <p:sp>
        <p:nvSpPr>
          <p:cNvPr id="4" name="页脚占位符 3"/>
          <p:cNvSpPr>
            <a:spLocks noGrp="1"/>
          </p:cNvSpPr>
          <p:nvPr>
            <p:ph type="ftr" sz="quarter" idx="11"/>
          </p:nvPr>
        </p:nvSpPr>
        <p:spPr/>
        <p:txBody>
          <a:bodyPr/>
          <a:lstStyle/>
          <a:p>
            <a:pPr>
              <a:defRPr/>
            </a:pPr>
            <a:endParaRPr lang="en-US" altLang="zh-CN" dirty="0">
              <a:solidFill>
                <a:srgbClr val="000000"/>
              </a:solidFill>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a:solidFill>
                  <a:srgbClr val="000000"/>
                </a:solidFill>
              </a:rPr>
              <a:pPr>
                <a:buFontTx/>
                <a:buNone/>
              </a:pPr>
              <a:t>‹#›</a:t>
            </a:fld>
            <a:endParaRPr lang="zh-CN" altLang="en-US" dirty="0">
              <a:solidFill>
                <a:srgbClr val="000000"/>
              </a:solidFill>
            </a:endParaRPr>
          </a:p>
        </p:txBody>
      </p:sp>
    </p:spTree>
    <p:extLst>
      <p:ext uri="{BB962C8B-B14F-4D97-AF65-F5344CB8AC3E}">
        <p14:creationId xmlns:p14="http://schemas.microsoft.com/office/powerpoint/2010/main" val="1100473270"/>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724525" y="212726"/>
            <a:ext cx="3455988" cy="584775"/>
          </a:xfrm>
          <a:prstGeom prst="rect">
            <a:avLst/>
          </a:prstGeom>
          <a:noFill/>
          <a:ln>
            <a:noFill/>
          </a:ln>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defRPr/>
            </a:pPr>
            <a:r>
              <a:rPr lang="zh-CN" altLang="en-US" sz="1600" smtClean="0">
                <a:solidFill>
                  <a:srgbClr val="FFFFFF"/>
                </a:solidFill>
                <a:ea typeface="黑体" panose="02010609060101010101" pitchFamily="49" charset="-122"/>
              </a:rPr>
              <a:t>统计学院“十年腾飞”学科规划汇报</a:t>
            </a:r>
            <a:endParaRPr lang="en-US" altLang="zh-CN" sz="1600" smtClean="0">
              <a:solidFill>
                <a:srgbClr val="FFFFFF"/>
              </a:solidFill>
              <a:ea typeface="黑体" panose="02010609060101010101" pitchFamily="49" charset="-122"/>
            </a:endParaRPr>
          </a:p>
        </p:txBody>
      </p:sp>
    </p:spTree>
    <p:extLst>
      <p:ext uri="{BB962C8B-B14F-4D97-AF65-F5344CB8AC3E}">
        <p14:creationId xmlns:p14="http://schemas.microsoft.com/office/powerpoint/2010/main" val="4008399955"/>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79796980"/>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Tree>
    <p:extLst>
      <p:ext uri="{BB962C8B-B14F-4D97-AF65-F5344CB8AC3E}">
        <p14:creationId xmlns:p14="http://schemas.microsoft.com/office/powerpoint/2010/main" val="78560286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3213" y="1700213"/>
            <a:ext cx="403860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494213" y="1700213"/>
            <a:ext cx="403860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77909228"/>
      </p:ext>
    </p:extLst>
  </p:cSld>
  <p:clrMapOvr>
    <a:masterClrMapping/>
  </p:clrMapOvr>
  <p:transition>
    <p:fade/>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1263324"/>
      </p:ext>
    </p:extLst>
  </p:cSld>
  <p:clrMapOvr>
    <a:masterClrMapping/>
  </p:clrMapOvr>
  <p:transition>
    <p:fade/>
  </p:transition>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7706406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60866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Tree>
    <p:extLst>
      <p:ext uri="{BB962C8B-B14F-4D97-AF65-F5344CB8AC3E}">
        <p14:creationId xmlns:p14="http://schemas.microsoft.com/office/powerpoint/2010/main" val="138601700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Tree>
    <p:extLst>
      <p:ext uri="{BB962C8B-B14F-4D97-AF65-F5344CB8AC3E}">
        <p14:creationId xmlns:p14="http://schemas.microsoft.com/office/powerpoint/2010/main" val="334182752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94723216"/>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62714" y="404813"/>
            <a:ext cx="2070100" cy="56880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50826" y="404813"/>
            <a:ext cx="6059488" cy="568801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25106071"/>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826" y="404815"/>
            <a:ext cx="6626225" cy="75247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3213" y="1700213"/>
            <a:ext cx="8229600" cy="4392612"/>
          </a:xfrm>
        </p:spPr>
        <p:txBody>
          <a:bodyPr/>
          <a:lstStyle/>
          <a:p>
            <a:pPr lvl="0"/>
            <a:r>
              <a:rPr lang="zh-CN" altLang="en-US" noProof="0" smtClean="0"/>
              <a:t>单击图标添加表格</a:t>
            </a:r>
          </a:p>
        </p:txBody>
      </p:sp>
    </p:spTree>
    <p:extLst>
      <p:ext uri="{BB962C8B-B14F-4D97-AF65-F5344CB8AC3E}">
        <p14:creationId xmlns:p14="http://schemas.microsoft.com/office/powerpoint/2010/main" val="412661336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a:prstGeom prst="rect">
            <a:avLst/>
          </a:prstGeom>
        </p:spPr>
        <p:txBody>
          <a:bodyPr/>
          <a:lstStyle>
            <a:lvl1pPr>
              <a:defRPr sz="4000">
                <a:latin typeface="黑体" panose="02010609060101010101" pitchFamily="49" charset="-122"/>
                <a:ea typeface="黑体" panose="02010609060101010101" pitchFamily="49" charset="-122"/>
              </a:defRPr>
            </a:lvl1pPr>
          </a:lstStyle>
          <a:p>
            <a:r>
              <a:rPr lang="zh-CN" altLang="en-US"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p:spPr>
        <p:txBody>
          <a:bodyPr/>
          <a:lstStyle>
            <a:lvl1pPr marL="0" indent="0" algn="ctr">
              <a:buNone/>
              <a:defRPr sz="2400">
                <a:latin typeface="黑体" panose="02010609060101010101" pitchFamily="49" charset="-122"/>
                <a:ea typeface="黑体" panose="02010609060101010101" pitchFamily="49"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单击以编辑母版副标题样式</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buNone/>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B619FA60-9CB7-4AFC-9A40-DF8B979F86FB}" type="slidenum">
              <a:rPr lang="zh-CN" altLang="en-US" smtClean="0"/>
              <a:pPr>
                <a:defRPr/>
              </a:pPr>
              <a:t>‹#›</a:t>
            </a:fld>
            <a:endParaRPr lang="en-US" altLang="zh-CN"/>
          </a:p>
        </p:txBody>
      </p:sp>
    </p:spTree>
    <p:extLst>
      <p:ext uri="{BB962C8B-B14F-4D97-AF65-F5344CB8AC3E}">
        <p14:creationId xmlns:p14="http://schemas.microsoft.com/office/powerpoint/2010/main" val="2418454005"/>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11797"/>
            <a:ext cx="8229600" cy="789140"/>
          </a:xfrm>
          <a:prstGeom prst="rect">
            <a:avLst/>
          </a:prstGeom>
        </p:spPr>
        <p:txBody>
          <a:bodyPr/>
          <a:lstStyle>
            <a:lvl1pPr>
              <a:defRPr sz="3600" b="1">
                <a:latin typeface="黑体" pitchFamily="49" charset="-122"/>
                <a:ea typeface="黑体" pitchFamily="49"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684255"/>
            <a:ext cx="8229600" cy="4382717"/>
          </a:xfrm>
        </p:spPr>
        <p:txBody>
          <a:bodyPr/>
          <a:lstStyle>
            <a:lvl1pPr>
              <a:lnSpc>
                <a:spcPct val="150000"/>
              </a:lnSpc>
              <a:spcBef>
                <a:spcPts val="0"/>
              </a:spcBef>
              <a:defRPr sz="2800" b="1">
                <a:latin typeface="黑体" panose="02010609060101010101" pitchFamily="49" charset="-122"/>
                <a:ea typeface="黑体" panose="02010609060101010101" pitchFamily="49" charset="-122"/>
              </a:defRPr>
            </a:lvl1pPr>
            <a:lvl2pPr>
              <a:lnSpc>
                <a:spcPct val="150000"/>
              </a:lnSpc>
              <a:spcBef>
                <a:spcPts val="0"/>
              </a:spcBef>
              <a:defRPr sz="2400">
                <a:latin typeface="黑体" panose="02010609060101010101" pitchFamily="49" charset="-122"/>
                <a:ea typeface="黑体" panose="02010609060101010101" pitchFamily="49" charset="-122"/>
              </a:defRPr>
            </a:lvl2pPr>
            <a:lvl3pPr>
              <a:lnSpc>
                <a:spcPct val="150000"/>
              </a:lnSpc>
              <a:spcBef>
                <a:spcPts val="0"/>
              </a:spcBef>
              <a:defRPr>
                <a:latin typeface="黑体" panose="02010609060101010101" pitchFamily="49" charset="-122"/>
                <a:ea typeface="黑体" panose="02010609060101010101" pitchFamily="49" charset="-122"/>
              </a:defRPr>
            </a:lvl3pPr>
            <a:lvl4pPr>
              <a:lnSpc>
                <a:spcPct val="150000"/>
              </a:lnSpc>
              <a:spcBef>
                <a:spcPts val="0"/>
              </a:spcBef>
              <a:defRPr>
                <a:latin typeface="楷体" pitchFamily="49" charset="-122"/>
                <a:ea typeface="楷体" pitchFamily="49" charset="-122"/>
              </a:defRPr>
            </a:lvl4pPr>
            <a:lvl5pPr>
              <a:lnSpc>
                <a:spcPct val="150000"/>
              </a:lnSpc>
              <a:spcBef>
                <a:spcPts val="0"/>
              </a:spcBef>
              <a:defRPr>
                <a:latin typeface="楷体" pitchFamily="49" charset="-122"/>
                <a:ea typeface="楷体" pitchFamily="49" charset="-122"/>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buNone/>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87F939C6-56B5-4C59-A8F1-006D8D67E42F}" type="slidenum">
              <a:rPr lang="zh-CN" altLang="en-US" smtClean="0"/>
              <a:pPr>
                <a:defRPr/>
              </a:pPr>
              <a:t>‹#›</a:t>
            </a:fld>
            <a:endParaRPr lang="en-US" altLang="zh-CN"/>
          </a:p>
        </p:txBody>
      </p:sp>
    </p:spTree>
    <p:extLst>
      <p:ext uri="{BB962C8B-B14F-4D97-AF65-F5344CB8AC3E}">
        <p14:creationId xmlns:p14="http://schemas.microsoft.com/office/powerpoint/2010/main" val="1808258479"/>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buNone/>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2222EC68-029F-46FA-B535-7D82201B3169}" type="slidenum">
              <a:rPr lang="zh-CN" altLang="en-US" smtClean="0"/>
              <a:pPr>
                <a:defRPr/>
              </a:pPr>
              <a:t>‹#›</a:t>
            </a:fld>
            <a:endParaRPr lang="en-US" altLang="zh-CN"/>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43564" y="7628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909715411"/>
      </p:ext>
    </p:extLst>
  </p:cSld>
  <p:clrMapOvr>
    <a:masterClrMapping/>
  </p:clrMapOvr>
  <p:transition>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2800">
                <a:latin typeface="黑体" panose="02010609060101010101" pitchFamily="49" charset="-122"/>
                <a:ea typeface="黑体" panose="02010609060101010101" pitchFamily="49" charset="-122"/>
              </a:defRPr>
            </a:lvl1pPr>
            <a:lvl2pPr>
              <a:defRPr sz="2400">
                <a:latin typeface="黑体" panose="02010609060101010101" pitchFamily="49" charset="-122"/>
                <a:ea typeface="黑体" panose="02010609060101010101" pitchFamily="49" charset="-122"/>
              </a:defRPr>
            </a:lvl2pPr>
            <a:lvl3pPr>
              <a:defRPr sz="2000">
                <a:latin typeface="黑体" panose="02010609060101010101" pitchFamily="49" charset="-122"/>
                <a:ea typeface="黑体" panose="02010609060101010101" pitchFamily="49" charset="-122"/>
              </a:defRPr>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内容占位符 3"/>
          <p:cNvSpPr>
            <a:spLocks noGrp="1"/>
          </p:cNvSpPr>
          <p:nvPr>
            <p:ph sz="half" idx="2"/>
          </p:nvPr>
        </p:nvSpPr>
        <p:spPr>
          <a:xfrm>
            <a:off x="4648200" y="1600202"/>
            <a:ext cx="4038600" cy="4525963"/>
          </a:xfrm>
        </p:spPr>
        <p:txBody>
          <a:bodyPr/>
          <a:lstStyle>
            <a:lvl1pPr>
              <a:defRPr sz="2800">
                <a:latin typeface="黑体" panose="02010609060101010101" pitchFamily="49" charset="-122"/>
                <a:ea typeface="黑体" panose="02010609060101010101" pitchFamily="49" charset="-122"/>
              </a:defRPr>
            </a:lvl1pPr>
            <a:lvl2pPr>
              <a:defRPr sz="2400">
                <a:latin typeface="黑体" panose="02010609060101010101" pitchFamily="49" charset="-122"/>
                <a:ea typeface="黑体" panose="02010609060101010101" pitchFamily="49" charset="-122"/>
              </a:defRPr>
            </a:lvl2pPr>
            <a:lvl3pPr>
              <a:defRPr sz="2000">
                <a:latin typeface="黑体" panose="02010609060101010101" pitchFamily="49" charset="-122"/>
                <a:ea typeface="黑体" panose="02010609060101010101" pitchFamily="49" charset="-122"/>
              </a:defRPr>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zh-CN" altLang="en-US" smtClean="0"/>
            </a:lvl1pPr>
          </a:lstStyle>
          <a:p>
            <a:pPr>
              <a:defRPr/>
            </a:pPr>
            <a:fld id="{AE712280-C1E5-4034-8096-72A65B4CAA4E}" type="slidenum">
              <a:rPr lang="zh-CN" altLang="en-US" smtClean="0"/>
              <a:pPr>
                <a:defRPr/>
              </a:pPr>
              <a:t>‹#›</a:t>
            </a:fld>
            <a:endParaRPr lang="en-US" altLang="zh-CN"/>
          </a:p>
        </p:txBody>
      </p:sp>
      <p:sp>
        <p:nvSpPr>
          <p:cNvPr id="10" name="矩形 9"/>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943564" y="-12561"/>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876412375"/>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62A15140-449D-4733-AC44-497379A3FA3C}" type="slidenum">
              <a:rPr lang="zh-CN" altLang="en-US" smtClean="0"/>
              <a:pPr>
                <a:defRPr/>
              </a:pPr>
              <a:t>‹#›</a:t>
            </a:fld>
            <a:endParaRPr lang="en-US" altLang="zh-CN"/>
          </a:p>
        </p:txBody>
      </p:sp>
      <p:sp>
        <p:nvSpPr>
          <p:cNvPr id="10" name="矩形 9"/>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999081" y="-17417"/>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4033365282"/>
      </p:ext>
    </p:extLst>
  </p:cSld>
  <p:clrMapOvr>
    <a:masterClrMapping/>
  </p:clrMapOvr>
  <p:transition>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fld id="{13783A4D-8CC0-4218-BC96-A24A66EA9BD2}" type="datetime1">
              <a:rPr lang="zh-CN" altLang="en-US" smtClean="0">
                <a:solidFill>
                  <a:srgbClr val="000000"/>
                </a:solidFill>
              </a:rPr>
              <a:pPr>
                <a:defRPr/>
              </a:pPr>
              <a:t>2018/11/6 Tuesday</a:t>
            </a:fld>
            <a:endParaRPr lang="en-US" altLang="zh-CN" dirty="0">
              <a:solidFill>
                <a:srgbClr val="000000"/>
              </a:solidFill>
            </a:endParaRPr>
          </a:p>
        </p:txBody>
      </p:sp>
      <p:sp>
        <p:nvSpPr>
          <p:cNvPr id="4" name="页脚占位符 3"/>
          <p:cNvSpPr>
            <a:spLocks noGrp="1"/>
          </p:cNvSpPr>
          <p:nvPr>
            <p:ph type="ftr" sz="quarter" idx="11"/>
          </p:nvPr>
        </p:nvSpPr>
        <p:spPr/>
        <p:txBody>
          <a:bodyPr/>
          <a:lstStyle/>
          <a:p>
            <a:pPr>
              <a:defRPr/>
            </a:pPr>
            <a:endParaRPr lang="en-US" altLang="zh-CN" dirty="0">
              <a:solidFill>
                <a:srgbClr val="000000"/>
              </a:solidFill>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lang="en-US" altLang="zh-CN" smtClean="0">
                <a:solidFill>
                  <a:srgbClr val="000000"/>
                </a:solidFill>
              </a:rPr>
              <a:pPr>
                <a:buFontTx/>
                <a:buNone/>
              </a:pPr>
              <a:t>‹#›</a:t>
            </a:fld>
            <a:endParaRPr lang="zh-CN" altLang="en-US" dirty="0">
              <a:solidFill>
                <a:srgbClr val="000000"/>
              </a:solidFill>
            </a:endParaRPr>
          </a:p>
        </p:txBody>
      </p:sp>
      <p:sp>
        <p:nvSpPr>
          <p:cNvPr id="6" name="矩形 5"/>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989261"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336063261"/>
      </p:ext>
    </p:extLst>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53B605FB-8C78-456B-BFC1-2A5FBAB1FF6B}" type="slidenum">
              <a:rPr lang="zh-CN" altLang="en-US" smtClean="0"/>
              <a:pPr>
                <a:defRPr/>
              </a:pPr>
              <a:t>‹#›</a:t>
            </a:fld>
            <a:endParaRPr lang="en-US" altLang="zh-CN"/>
          </a:p>
        </p:txBody>
      </p:sp>
      <p:sp>
        <p:nvSpPr>
          <p:cNvPr id="6" name="矩形 5"/>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867366" y="-8293"/>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461039400"/>
      </p:ext>
    </p:extLst>
  </p:cSld>
  <p:clrMapOvr>
    <a:masterClrMapping/>
  </p:clrMapOvr>
  <p:transition>
    <p:fade/>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zh-CN" altLang="en-US" smtClean="0"/>
            </a:lvl1pPr>
          </a:lstStyle>
          <a:p>
            <a:pPr>
              <a:defRPr/>
            </a:pPr>
            <a:fld id="{0FA0BB78-806E-449E-80D7-5FA53C6FBAA8}" type="slidenum">
              <a:rPr lang="zh-CN" altLang="en-US" smtClean="0"/>
              <a:pPr>
                <a:defRPr/>
              </a:pPr>
              <a:t>‹#›</a:t>
            </a:fld>
            <a:endParaRPr lang="en-US" altLang="zh-CN"/>
          </a:p>
        </p:txBody>
      </p:sp>
      <p:sp>
        <p:nvSpPr>
          <p:cNvPr id="5" name="矩形 4"/>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943564"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43134146"/>
      </p:ext>
    </p:extLst>
  </p:cSld>
  <p:clrMapOvr>
    <a:masterClrMapping/>
  </p:clrMapOvr>
  <p:transition>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D85710AB-85EE-4018-9B02-13B6A173605D}" type="slidenum">
              <a:rPr lang="zh-CN" altLang="en-US" smtClean="0"/>
              <a:pPr>
                <a:defRPr/>
              </a:pPr>
              <a:t>‹#›</a:t>
            </a:fld>
            <a:endParaRPr lang="en-US" altLang="zh-CN"/>
          </a:p>
        </p:txBody>
      </p:sp>
      <p:sp>
        <p:nvSpPr>
          <p:cNvPr id="8" name="矩形 7"/>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986737" y="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343585557"/>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6038257A-26AF-47F3-9D37-2EA0C17C4AB0}" type="slidenum">
              <a:rPr lang="zh-CN" altLang="en-US" smtClean="0"/>
              <a:pPr>
                <a:defRPr/>
              </a:pPr>
              <a:t>‹#›</a:t>
            </a:fld>
            <a:endParaRPr lang="en-US" altLang="zh-CN"/>
          </a:p>
        </p:txBody>
      </p:sp>
      <p:sp>
        <p:nvSpPr>
          <p:cNvPr id="8" name="矩形 7"/>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994982" y="10401"/>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2451890787"/>
      </p:ext>
    </p:extLst>
  </p:cSld>
  <p:clrMapOvr>
    <a:masterClrMapping/>
  </p:clrMapOvr>
  <p:transition>
    <p:fade/>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3C8AC6C4-6230-4F64-8202-73DFBE1CD229}" type="slidenum">
              <a:rPr lang="zh-CN" altLang="en-US" smtClean="0"/>
              <a:pPr>
                <a:defRPr/>
              </a:pPr>
              <a:t>‹#›</a:t>
            </a:fld>
            <a:endParaRPr lang="en-US" altLang="zh-CN"/>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019800" y="-873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223610693"/>
      </p:ext>
    </p:extLst>
  </p:cSld>
  <p:clrMapOvr>
    <a:masterClrMapping/>
  </p:clrMapOvr>
  <p:transition>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19800" cy="5851525"/>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defRPr/>
            </a:pPr>
            <a:fld id="{5545ED8E-5D20-4BE6-8A57-CF6C9E03E808}" type="slidenum">
              <a:rPr lang="zh-CN" altLang="en-US" smtClean="0"/>
              <a:pPr>
                <a:defRPr/>
              </a:pPr>
              <a:t>‹#›</a:t>
            </a:fld>
            <a:endParaRPr lang="en-US" altLang="zh-CN"/>
          </a:p>
        </p:txBody>
      </p:sp>
      <p:sp>
        <p:nvSpPr>
          <p:cNvPr id="7" name="矩形 6"/>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019800" y="46970"/>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1659045651"/>
      </p:ext>
    </p:extLst>
  </p:cSld>
  <p:clrMapOvr>
    <a:masterClrMapping/>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9D1E395E-9852-4F5C-B10C-290EDA4F6186}" type="slidenum">
              <a:rPr lang="zh-CN" altLang="en-US"/>
              <a:pPr>
                <a:defRPr/>
              </a:pPr>
              <a:t>‹#›</a:t>
            </a:fld>
            <a:endParaRPr lang="en-US" altLang="zh-CN"/>
          </a:p>
        </p:txBody>
      </p:sp>
    </p:spTree>
    <p:extLst>
      <p:ext uri="{BB962C8B-B14F-4D97-AF65-F5344CB8AC3E}">
        <p14:creationId xmlns:p14="http://schemas.microsoft.com/office/powerpoint/2010/main" val="3051804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DFAC66A-7389-4AA5-AF53-07E643891D87}" type="slidenum">
              <a:rPr lang="zh-CN" altLang="en-US"/>
              <a:pPr>
                <a:defRPr/>
              </a:pPr>
              <a:t>‹#›</a:t>
            </a:fld>
            <a:endParaRPr lang="en-US" altLang="zh-CN"/>
          </a:p>
        </p:txBody>
      </p:sp>
    </p:spTree>
    <p:extLst>
      <p:ext uri="{BB962C8B-B14F-4D97-AF65-F5344CB8AC3E}">
        <p14:creationId xmlns:p14="http://schemas.microsoft.com/office/powerpoint/2010/main" val="175196501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5FCED2C8-EDCE-40D4-8027-0CDF16989326}" type="slidenum">
              <a:rPr lang="zh-CN" altLang="en-US"/>
              <a:pPr>
                <a:defRPr/>
              </a:pPr>
              <a:t>‹#›</a:t>
            </a:fld>
            <a:endParaRPr lang="en-US" altLang="zh-CN"/>
          </a:p>
        </p:txBody>
      </p:sp>
    </p:spTree>
    <p:extLst>
      <p:ext uri="{BB962C8B-B14F-4D97-AF65-F5344CB8AC3E}">
        <p14:creationId xmlns:p14="http://schemas.microsoft.com/office/powerpoint/2010/main" val="127087038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E6DF532-C828-4265-8EA1-9D6F90637A88}" type="slidenum">
              <a:rPr lang="zh-CN" altLang="en-US"/>
              <a:pPr>
                <a:defRPr/>
              </a:pPr>
              <a:t>‹#›</a:t>
            </a:fld>
            <a:endParaRPr lang="en-US" altLang="zh-CN"/>
          </a:p>
        </p:txBody>
      </p:sp>
    </p:spTree>
    <p:extLst>
      <p:ext uri="{BB962C8B-B14F-4D97-AF65-F5344CB8AC3E}">
        <p14:creationId xmlns:p14="http://schemas.microsoft.com/office/powerpoint/2010/main" val="180260788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48B53EB7-ED33-42CA-8027-3CFA0554400C}" type="slidenum">
              <a:rPr lang="zh-CN" altLang="en-US" smtClean="0"/>
              <a:pPr>
                <a:defRPr/>
              </a:pPr>
              <a:t>‹#›</a:t>
            </a:fld>
            <a:endParaRPr lang="en-US" altLang="zh-CN"/>
          </a:p>
        </p:txBody>
      </p:sp>
    </p:spTree>
    <p:extLst>
      <p:ext uri="{BB962C8B-B14F-4D97-AF65-F5344CB8AC3E}">
        <p14:creationId xmlns:p14="http://schemas.microsoft.com/office/powerpoint/2010/main" val="1180887732"/>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r>
              <a:rPr lang="zh-CN" altLang="en-US" noProof="0" smtClean="0"/>
              <a:t>单击图标添加表格</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6178A34-AFB8-45FC-ADCB-4D963920A742}" type="slidenum">
              <a:rPr lang="zh-CN" altLang="en-US"/>
              <a:pPr>
                <a:defRPr/>
              </a:pPr>
              <a:t>‹#›</a:t>
            </a:fld>
            <a:endParaRPr lang="en-US" altLang="zh-CN"/>
          </a:p>
        </p:txBody>
      </p:sp>
    </p:spTree>
    <p:extLst>
      <p:ext uri="{BB962C8B-B14F-4D97-AF65-F5344CB8AC3E}">
        <p14:creationId xmlns:p14="http://schemas.microsoft.com/office/powerpoint/2010/main" val="4199218643"/>
      </p:ext>
    </p:extLst>
  </p:cSld>
  <p:clrMapOvr>
    <a:masterClrMapping/>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fld id="{13783A4D-8CC0-4218-BC96-A24A66EA9BD2}" type="datetime1">
              <a:rPr lang="zh-CN" altLang="en-US" smtClean="0">
                <a:solidFill>
                  <a:srgbClr val="000000"/>
                </a:solidFill>
              </a:rPr>
              <a:pPr>
                <a:defRPr/>
              </a:pPr>
              <a:t>2018/11/6 Tuesday</a:t>
            </a:fld>
            <a:endParaRPr lang="en-US" altLang="zh-CN" dirty="0">
              <a:solidFill>
                <a:srgbClr val="000000"/>
              </a:solidFill>
            </a:endParaRPr>
          </a:p>
        </p:txBody>
      </p:sp>
      <p:sp>
        <p:nvSpPr>
          <p:cNvPr id="4" name="页脚占位符 3"/>
          <p:cNvSpPr>
            <a:spLocks noGrp="1"/>
          </p:cNvSpPr>
          <p:nvPr>
            <p:ph type="ftr" sz="quarter" idx="11"/>
          </p:nvPr>
        </p:nvSpPr>
        <p:spPr/>
        <p:txBody>
          <a:bodyPr/>
          <a:lstStyle/>
          <a:p>
            <a:pPr>
              <a:defRPr/>
            </a:pPr>
            <a:endParaRPr lang="en-US" altLang="zh-CN" dirty="0">
              <a:solidFill>
                <a:srgbClr val="000000"/>
              </a:solidFill>
            </a:endParaRPr>
          </a:p>
        </p:txBody>
      </p:sp>
      <p:sp>
        <p:nvSpPr>
          <p:cNvPr id="5" name="灯片编号占位符 4"/>
          <p:cNvSpPr>
            <a:spLocks noGrp="1"/>
          </p:cNvSpPr>
          <p:nvPr>
            <p:ph type="sldNum" sz="quarter" idx="12"/>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lang="en-US" altLang="zh-CN" smtClean="0"/>
            </a:lvl1pPr>
          </a:lstStyle>
          <a:p>
            <a:pPr>
              <a:buFontTx/>
              <a:buNone/>
            </a:pPr>
            <a:fld id="{62BE8675-7E1E-4F0D-99E8-4CEF8F868FF2}" type="slidenum">
              <a:rPr>
                <a:solidFill>
                  <a:srgbClr val="000000"/>
                </a:solidFill>
              </a:rPr>
              <a:pPr>
                <a:buFontTx/>
                <a:buNone/>
              </a:pPr>
              <a:t>‹#›</a:t>
            </a:fld>
            <a:endParaRPr lang="zh-CN" altLang="en-US" dirty="0">
              <a:solidFill>
                <a:srgbClr val="000000"/>
              </a:solidFill>
            </a:endParaRPr>
          </a:p>
        </p:txBody>
      </p:sp>
    </p:spTree>
    <p:extLst>
      <p:ext uri="{BB962C8B-B14F-4D97-AF65-F5344CB8AC3E}">
        <p14:creationId xmlns:p14="http://schemas.microsoft.com/office/powerpoint/2010/main" val="1258351701"/>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724525" y="212726"/>
            <a:ext cx="3455988" cy="584775"/>
          </a:xfrm>
          <a:prstGeom prst="rect">
            <a:avLst/>
          </a:prstGeom>
          <a:noFill/>
          <a:ln>
            <a:noFill/>
          </a:ln>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defRPr/>
            </a:pPr>
            <a:r>
              <a:rPr lang="zh-CN" altLang="en-US" sz="1600" smtClean="0">
                <a:solidFill>
                  <a:srgbClr val="FFFFFF"/>
                </a:solidFill>
                <a:ea typeface="黑体" panose="02010609060101010101" pitchFamily="49" charset="-122"/>
              </a:rPr>
              <a:t>统计学院“十年腾飞”学科规划汇报</a:t>
            </a:r>
            <a:endParaRPr lang="en-US" altLang="zh-CN" sz="1600" smtClean="0">
              <a:solidFill>
                <a:srgbClr val="FFFFFF"/>
              </a:solidFill>
              <a:ea typeface="黑体" panose="02010609060101010101" pitchFamily="49" charset="-122"/>
            </a:endParaRPr>
          </a:p>
        </p:txBody>
      </p:sp>
    </p:spTree>
    <p:extLst>
      <p:ext uri="{BB962C8B-B14F-4D97-AF65-F5344CB8AC3E}">
        <p14:creationId xmlns:p14="http://schemas.microsoft.com/office/powerpoint/2010/main" val="1133624262"/>
      </p:ext>
    </p:extLst>
  </p:cSld>
  <p:clrMapOvr>
    <a:masterClrMapping/>
  </p:clrMapOvr>
  <p:transition>
    <p:fade/>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99359057"/>
      </p:ext>
    </p:extLst>
  </p:cSld>
  <p:clrMapOvr>
    <a:masterClrMapping/>
  </p:clrMapOvr>
  <p:transition>
    <p:fade/>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Tree>
    <p:extLst>
      <p:ext uri="{BB962C8B-B14F-4D97-AF65-F5344CB8AC3E}">
        <p14:creationId xmlns:p14="http://schemas.microsoft.com/office/powerpoint/2010/main" val="702822715"/>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3213" y="1700213"/>
            <a:ext cx="403860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494213" y="1700213"/>
            <a:ext cx="403860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92099043"/>
      </p:ext>
    </p:extLst>
  </p:cSld>
  <p:clrMapOvr>
    <a:masterClrMapping/>
  </p:clrMapOvr>
  <p:transition>
    <p:fade/>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97187439"/>
      </p:ext>
    </p:extLst>
  </p:cSld>
  <p:clrMapOvr>
    <a:masterClrMapping/>
  </p:clrMapOvr>
  <p:transition>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390448170"/>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837787"/>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Tree>
    <p:extLst>
      <p:ext uri="{BB962C8B-B14F-4D97-AF65-F5344CB8AC3E}">
        <p14:creationId xmlns:p14="http://schemas.microsoft.com/office/powerpoint/2010/main" val="695199886"/>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Tree>
    <p:extLst>
      <p:ext uri="{BB962C8B-B14F-4D97-AF65-F5344CB8AC3E}">
        <p14:creationId xmlns:p14="http://schemas.microsoft.com/office/powerpoint/2010/main" val="88115740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87408418"/>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62714" y="404813"/>
            <a:ext cx="2070100" cy="56880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50826" y="404813"/>
            <a:ext cx="6059488" cy="568801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39568672"/>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826" y="404815"/>
            <a:ext cx="6626225" cy="75247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3213" y="1700213"/>
            <a:ext cx="8229600" cy="4392612"/>
          </a:xfrm>
        </p:spPr>
        <p:txBody>
          <a:bodyPr/>
          <a:lstStyle/>
          <a:p>
            <a:pPr lvl="0"/>
            <a:r>
              <a:rPr lang="zh-CN" altLang="en-US" noProof="0" smtClean="0"/>
              <a:t>单击图标添加表格</a:t>
            </a:r>
          </a:p>
        </p:txBody>
      </p:sp>
    </p:spTree>
    <p:extLst>
      <p:ext uri="{BB962C8B-B14F-4D97-AF65-F5344CB8AC3E}">
        <p14:creationId xmlns:p14="http://schemas.microsoft.com/office/powerpoint/2010/main" val="406452627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3" name="Rectangle 3"/>
          <p:cNvSpPr>
            <a:spLocks noGrp="1" noChangeArrowheads="1"/>
          </p:cNvSpPr>
          <p:nvPr>
            <p:ph type="ctrTitle"/>
          </p:nvPr>
        </p:nvSpPr>
        <p:spPr>
          <a:xfrm>
            <a:off x="315913" y="466725"/>
            <a:ext cx="6781800" cy="2133600"/>
          </a:xfrm>
        </p:spPr>
        <p:txBody>
          <a:bodyPr/>
          <a:lstStyle>
            <a:lvl1pPr algn="r">
              <a:defRPr sz="3700"/>
            </a:lvl1pPr>
          </a:lstStyle>
          <a:p>
            <a:pPr lvl="0"/>
            <a:r>
              <a:rPr lang="en-US" altLang="zh-CN" noProof="0" smtClean="0"/>
              <a:t>单击此处编辑母版标题样式</a:t>
            </a:r>
          </a:p>
        </p:txBody>
      </p:sp>
      <p:sp>
        <p:nvSpPr>
          <p:cNvPr id="10244"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2600"/>
            </a:lvl1pPr>
          </a:lstStyle>
          <a:p>
            <a:pPr lvl="0"/>
            <a:r>
              <a:rPr lang="en-US" altLang="zh-CN" noProof="0" smtClean="0"/>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40FD4941-6B55-4E07-86B3-A8D034407B0E}" type="slidenum">
              <a:rPr lang="en-US" altLang="zh-CN"/>
              <a:pPr>
                <a:defRPr/>
              </a:pPr>
              <a:t>‹#›</a:t>
            </a:fld>
            <a:endParaRPr lang="en-US" altLang="zh-CN"/>
          </a:p>
        </p:txBody>
      </p:sp>
    </p:spTree>
    <p:extLst>
      <p:ext uri="{BB962C8B-B14F-4D97-AF65-F5344CB8AC3E}">
        <p14:creationId xmlns:p14="http://schemas.microsoft.com/office/powerpoint/2010/main" val="91477364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D275ECEE-AD4F-4FE8-991A-035186C8835F}" type="slidenum">
              <a:rPr lang="en-US" altLang="zh-CN"/>
              <a:pPr>
                <a:defRPr/>
              </a:pPr>
              <a:t>‹#›</a:t>
            </a:fld>
            <a:endParaRPr lang="en-US" altLang="zh-CN"/>
          </a:p>
        </p:txBody>
      </p:sp>
    </p:spTree>
    <p:extLst>
      <p:ext uri="{BB962C8B-B14F-4D97-AF65-F5344CB8AC3E}">
        <p14:creationId xmlns:p14="http://schemas.microsoft.com/office/powerpoint/2010/main" val="326096599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C38344A8-2612-4CB3-99CD-C1508EBF9F53}" type="slidenum">
              <a:rPr lang="en-US" altLang="zh-CN"/>
              <a:pPr>
                <a:defRPr/>
              </a:pPr>
              <a:t>‹#›</a:t>
            </a:fld>
            <a:endParaRPr lang="en-US" altLang="zh-CN"/>
          </a:p>
        </p:txBody>
      </p:sp>
    </p:spTree>
    <p:extLst>
      <p:ext uri="{BB962C8B-B14F-4D97-AF65-F5344CB8AC3E}">
        <p14:creationId xmlns:p14="http://schemas.microsoft.com/office/powerpoint/2010/main" val="420574641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71788B0A-7A4F-4A9F-9160-62747F0599D3}" type="slidenum">
              <a:rPr lang="en-US" altLang="zh-CN"/>
              <a:pPr>
                <a:defRPr/>
              </a:pPr>
              <a:t>‹#›</a:t>
            </a:fld>
            <a:endParaRPr lang="en-US" altLang="zh-CN"/>
          </a:p>
        </p:txBody>
      </p:sp>
    </p:spTree>
    <p:extLst>
      <p:ext uri="{BB962C8B-B14F-4D97-AF65-F5344CB8AC3E}">
        <p14:creationId xmlns:p14="http://schemas.microsoft.com/office/powerpoint/2010/main" val="295683779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DEDBDF69-DA28-47A3-9D7A-12330943200A}" type="slidenum">
              <a:rPr lang="en-US" altLang="zh-CN"/>
              <a:pPr>
                <a:defRPr/>
              </a:pPr>
              <a:t>‹#›</a:t>
            </a:fld>
            <a:endParaRPr lang="en-US" altLang="zh-CN"/>
          </a:p>
        </p:txBody>
      </p:sp>
    </p:spTree>
    <p:extLst>
      <p:ext uri="{BB962C8B-B14F-4D97-AF65-F5344CB8AC3E}">
        <p14:creationId xmlns:p14="http://schemas.microsoft.com/office/powerpoint/2010/main" val="2270863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492E2E8A-275E-4F1F-AD8A-B44D9B956729}" type="slidenum">
              <a:rPr lang="en-US" altLang="zh-CN"/>
              <a:pPr>
                <a:defRPr/>
              </a:pPr>
              <a:t>‹#›</a:t>
            </a:fld>
            <a:endParaRPr lang="en-US" altLang="zh-CN"/>
          </a:p>
        </p:txBody>
      </p:sp>
    </p:spTree>
    <p:extLst>
      <p:ext uri="{BB962C8B-B14F-4D97-AF65-F5344CB8AC3E}">
        <p14:creationId xmlns:p14="http://schemas.microsoft.com/office/powerpoint/2010/main" val="77107367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10E793A3-14C9-4704-84CC-23B7039A7BBE}" type="slidenum">
              <a:rPr lang="en-US" altLang="zh-CN"/>
              <a:pPr>
                <a:defRPr/>
              </a:pPr>
              <a:t>‹#›</a:t>
            </a:fld>
            <a:endParaRPr lang="en-US" altLang="zh-CN"/>
          </a:p>
        </p:txBody>
      </p:sp>
    </p:spTree>
    <p:extLst>
      <p:ext uri="{BB962C8B-B14F-4D97-AF65-F5344CB8AC3E}">
        <p14:creationId xmlns:p14="http://schemas.microsoft.com/office/powerpoint/2010/main" val="86434581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C2FC5A7D-19F9-488C-B7FB-2F1277E4EFF8}" type="slidenum">
              <a:rPr lang="en-US" altLang="zh-CN"/>
              <a:pPr>
                <a:defRPr/>
              </a:pPr>
              <a:t>‹#›</a:t>
            </a:fld>
            <a:endParaRPr lang="en-US" altLang="zh-CN"/>
          </a:p>
        </p:txBody>
      </p:sp>
    </p:spTree>
    <p:extLst>
      <p:ext uri="{BB962C8B-B14F-4D97-AF65-F5344CB8AC3E}">
        <p14:creationId xmlns:p14="http://schemas.microsoft.com/office/powerpoint/2010/main" val="37319550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27A63024-C88A-43F9-9C9E-06C0E026A0B9}" type="slidenum">
              <a:rPr lang="en-US" altLang="zh-CN"/>
              <a:pPr>
                <a:defRPr/>
              </a:pPr>
              <a:t>‹#›</a:t>
            </a:fld>
            <a:endParaRPr lang="en-US" altLang="zh-CN"/>
          </a:p>
        </p:txBody>
      </p:sp>
    </p:spTree>
    <p:extLst>
      <p:ext uri="{BB962C8B-B14F-4D97-AF65-F5344CB8AC3E}">
        <p14:creationId xmlns:p14="http://schemas.microsoft.com/office/powerpoint/2010/main" val="427878711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0D07ADDF-04D8-4A5D-9414-DDEE1382F6D2}" type="slidenum">
              <a:rPr lang="en-US" altLang="zh-CN"/>
              <a:pPr>
                <a:defRPr/>
              </a:pPr>
              <a:t>‹#›</a:t>
            </a:fld>
            <a:endParaRPr lang="en-US" altLang="zh-CN"/>
          </a:p>
        </p:txBody>
      </p:sp>
    </p:spTree>
    <p:extLst>
      <p:ext uri="{BB962C8B-B14F-4D97-AF65-F5344CB8AC3E}">
        <p14:creationId xmlns:p14="http://schemas.microsoft.com/office/powerpoint/2010/main" val="262397537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22CB6702-FB2D-4692-8E77-6BC4FF7141D0}" type="slidenum">
              <a:rPr lang="en-US" altLang="zh-CN"/>
              <a:pPr>
                <a:defRPr/>
              </a:pPr>
              <a:t>‹#›</a:t>
            </a:fld>
            <a:endParaRPr lang="en-US" altLang="zh-CN"/>
          </a:p>
        </p:txBody>
      </p:sp>
    </p:spTree>
    <p:extLst>
      <p:ext uri="{BB962C8B-B14F-4D97-AF65-F5344CB8AC3E}">
        <p14:creationId xmlns:p14="http://schemas.microsoft.com/office/powerpoint/2010/main" val="23545383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719263"/>
            <a:ext cx="4038600" cy="212883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00500"/>
            <a:ext cx="4038600" cy="213042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7"/>
          <p:cNvSpPr>
            <a:spLocks noGrp="1" noChangeArrowheads="1"/>
          </p:cNvSpPr>
          <p:nvPr>
            <p:ph type="sldNum" sz="quarter" idx="12"/>
          </p:nvPr>
        </p:nvSpPr>
        <p:spPr>
          <a:ln/>
        </p:spPr>
        <p:txBody>
          <a:bodyPr/>
          <a:lstStyle>
            <a:lvl1pPr>
              <a:defRPr/>
            </a:lvl1pPr>
          </a:lstStyle>
          <a:p>
            <a:pPr>
              <a:defRPr/>
            </a:pPr>
            <a:fld id="{844DAFBF-80A9-4B21-A6CB-CB28BB55C9E6}" type="slidenum">
              <a:rPr lang="en-US" altLang="zh-CN"/>
              <a:pPr>
                <a:defRPr/>
              </a:pPr>
              <a:t>‹#›</a:t>
            </a:fld>
            <a:endParaRPr lang="en-US" altLang="zh-CN"/>
          </a:p>
        </p:txBody>
      </p:sp>
    </p:spTree>
    <p:extLst>
      <p:ext uri="{BB962C8B-B14F-4D97-AF65-F5344CB8AC3E}">
        <p14:creationId xmlns:p14="http://schemas.microsoft.com/office/powerpoint/2010/main" val="304487655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719263"/>
            <a:ext cx="8229600" cy="4411662"/>
          </a:xfrm>
        </p:spPr>
        <p:txBody>
          <a:bodyPr/>
          <a:lstStyle/>
          <a:p>
            <a:pPr lvl="0"/>
            <a:endParaRPr lang="zh-CN" altLang="en-US" noProof="0" smtClean="0"/>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80BF92EA-C4CF-462A-8C08-DE3413ECFBA2}" type="slidenum">
              <a:rPr lang="en-US" altLang="zh-CN"/>
              <a:pPr>
                <a:defRPr/>
              </a:pPr>
              <a:t>‹#›</a:t>
            </a:fld>
            <a:endParaRPr lang="en-US" altLang="zh-CN"/>
          </a:p>
        </p:txBody>
      </p:sp>
    </p:spTree>
    <p:extLst>
      <p:ext uri="{BB962C8B-B14F-4D97-AF65-F5344CB8AC3E}">
        <p14:creationId xmlns:p14="http://schemas.microsoft.com/office/powerpoint/2010/main" val="131694657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F0629A10-5322-4CCC-8D03-FBAC327E81A4}" type="slidenum">
              <a:rPr lang="en-US" altLang="zh-CN"/>
              <a:pPr>
                <a:defRPr/>
              </a:pPr>
              <a:t>‹#›</a:t>
            </a:fld>
            <a:endParaRPr lang="en-US" altLang="zh-CN"/>
          </a:p>
        </p:txBody>
      </p:sp>
    </p:spTree>
    <p:extLst>
      <p:ext uri="{BB962C8B-B14F-4D97-AF65-F5344CB8AC3E}">
        <p14:creationId xmlns:p14="http://schemas.microsoft.com/office/powerpoint/2010/main" val="375469757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AA5F5AB8-AF07-4AD2-8027-F7456CA0FB99}" type="slidenum">
              <a:rPr lang="en-US" altLang="zh-CN"/>
              <a:pPr>
                <a:defRPr/>
              </a:pPr>
              <a:t>‹#›</a:t>
            </a:fld>
            <a:endParaRPr lang="en-US" altLang="zh-CN"/>
          </a:p>
        </p:txBody>
      </p:sp>
    </p:spTree>
    <p:extLst>
      <p:ext uri="{BB962C8B-B14F-4D97-AF65-F5344CB8AC3E}">
        <p14:creationId xmlns:p14="http://schemas.microsoft.com/office/powerpoint/2010/main" val="382385485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3" name="Rectangle 3"/>
          <p:cNvSpPr>
            <a:spLocks noGrp="1" noChangeArrowheads="1"/>
          </p:cNvSpPr>
          <p:nvPr>
            <p:ph type="ctrTitle"/>
          </p:nvPr>
        </p:nvSpPr>
        <p:spPr>
          <a:xfrm>
            <a:off x="315913" y="466725"/>
            <a:ext cx="6781800" cy="2133600"/>
          </a:xfrm>
        </p:spPr>
        <p:txBody>
          <a:bodyPr/>
          <a:lstStyle>
            <a:lvl1pPr algn="r">
              <a:defRPr sz="3700"/>
            </a:lvl1pPr>
          </a:lstStyle>
          <a:p>
            <a:pPr lvl="0"/>
            <a:r>
              <a:rPr lang="en-US" altLang="zh-CN" noProof="0" smtClean="0"/>
              <a:t>单击此处编辑母版标题样式</a:t>
            </a:r>
          </a:p>
        </p:txBody>
      </p:sp>
      <p:sp>
        <p:nvSpPr>
          <p:cNvPr id="10244"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2600"/>
            </a:lvl1pPr>
          </a:lstStyle>
          <a:p>
            <a:pPr lvl="0"/>
            <a:r>
              <a:rPr lang="en-US" altLang="zh-CN" noProof="0" smtClean="0"/>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39639018-6314-4569-B374-0D4B6609EFD6}" type="slidenum">
              <a:rPr lang="en-US" altLang="zh-CN"/>
              <a:pPr>
                <a:defRPr/>
              </a:pPr>
              <a:t>‹#›</a:t>
            </a:fld>
            <a:endParaRPr lang="en-US" altLang="zh-CN"/>
          </a:p>
        </p:txBody>
      </p:sp>
    </p:spTree>
    <p:extLst>
      <p:ext uri="{BB962C8B-B14F-4D97-AF65-F5344CB8AC3E}">
        <p14:creationId xmlns:p14="http://schemas.microsoft.com/office/powerpoint/2010/main" val="33841706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B81DF0D0-F522-471B-9977-17AD28F0E70D}" type="slidenum">
              <a:rPr lang="en-US" altLang="zh-CN"/>
              <a:pPr>
                <a:defRPr/>
              </a:pPr>
              <a:t>‹#›</a:t>
            </a:fld>
            <a:endParaRPr lang="en-US" altLang="zh-CN"/>
          </a:p>
        </p:txBody>
      </p:sp>
    </p:spTree>
    <p:extLst>
      <p:ext uri="{BB962C8B-B14F-4D97-AF65-F5344CB8AC3E}">
        <p14:creationId xmlns:p14="http://schemas.microsoft.com/office/powerpoint/2010/main" val="421909531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D4228CFE-1A87-4A0F-A68D-C3E94E1CCCBF}" type="slidenum">
              <a:rPr lang="en-US" altLang="zh-CN"/>
              <a:pPr>
                <a:defRPr/>
              </a:pPr>
              <a:t>‹#›</a:t>
            </a:fld>
            <a:endParaRPr lang="en-US" altLang="zh-CN"/>
          </a:p>
        </p:txBody>
      </p:sp>
    </p:spTree>
    <p:extLst>
      <p:ext uri="{BB962C8B-B14F-4D97-AF65-F5344CB8AC3E}">
        <p14:creationId xmlns:p14="http://schemas.microsoft.com/office/powerpoint/2010/main" val="73816934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1D40FD2E-0AC4-45A3-AF9E-E13A8D60A263}" type="slidenum">
              <a:rPr lang="en-US" altLang="zh-CN"/>
              <a:pPr>
                <a:defRPr/>
              </a:pPr>
              <a:t>‹#›</a:t>
            </a:fld>
            <a:endParaRPr lang="en-US" altLang="zh-CN"/>
          </a:p>
        </p:txBody>
      </p:sp>
    </p:spTree>
    <p:extLst>
      <p:ext uri="{BB962C8B-B14F-4D97-AF65-F5344CB8AC3E}">
        <p14:creationId xmlns:p14="http://schemas.microsoft.com/office/powerpoint/2010/main" val="200782303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857691A9-C994-492C-BC7D-0CEB528A55BF}" type="slidenum">
              <a:rPr lang="en-US" altLang="zh-CN"/>
              <a:pPr>
                <a:defRPr/>
              </a:pPr>
              <a:t>‹#›</a:t>
            </a:fld>
            <a:endParaRPr lang="en-US" altLang="zh-CN"/>
          </a:p>
        </p:txBody>
      </p:sp>
    </p:spTree>
    <p:extLst>
      <p:ext uri="{BB962C8B-B14F-4D97-AF65-F5344CB8AC3E}">
        <p14:creationId xmlns:p14="http://schemas.microsoft.com/office/powerpoint/2010/main" val="361327482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55600A5A-5941-4756-9161-FD0EA7D372A8}" type="slidenum">
              <a:rPr lang="en-US" altLang="zh-CN"/>
              <a:pPr>
                <a:defRPr/>
              </a:pPr>
              <a:t>‹#›</a:t>
            </a:fld>
            <a:endParaRPr lang="en-US" altLang="zh-CN"/>
          </a:p>
        </p:txBody>
      </p:sp>
    </p:spTree>
    <p:extLst>
      <p:ext uri="{BB962C8B-B14F-4D97-AF65-F5344CB8AC3E}">
        <p14:creationId xmlns:p14="http://schemas.microsoft.com/office/powerpoint/2010/main" val="83159369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E96D6DAD-602A-49DB-80D8-8C356EDF715A}" type="slidenum">
              <a:rPr lang="en-US" altLang="zh-CN"/>
              <a:pPr>
                <a:defRPr/>
              </a:pPr>
              <a:t>‹#›</a:t>
            </a:fld>
            <a:endParaRPr lang="en-US" altLang="zh-CN"/>
          </a:p>
        </p:txBody>
      </p:sp>
    </p:spTree>
    <p:extLst>
      <p:ext uri="{BB962C8B-B14F-4D97-AF65-F5344CB8AC3E}">
        <p14:creationId xmlns:p14="http://schemas.microsoft.com/office/powerpoint/2010/main" val="25229148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6D762850-C0F9-4B75-BAC0-3143EC7DB2C4}" type="slidenum">
              <a:rPr lang="en-US" altLang="zh-CN"/>
              <a:pPr>
                <a:defRPr/>
              </a:pPr>
              <a:t>‹#›</a:t>
            </a:fld>
            <a:endParaRPr lang="en-US" altLang="zh-CN"/>
          </a:p>
        </p:txBody>
      </p:sp>
    </p:spTree>
    <p:extLst>
      <p:ext uri="{BB962C8B-B14F-4D97-AF65-F5344CB8AC3E}">
        <p14:creationId xmlns:p14="http://schemas.microsoft.com/office/powerpoint/2010/main" val="398441274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33686D29-DB1A-4FA1-A77A-D873AD424AD8}" type="slidenum">
              <a:rPr lang="en-US" altLang="zh-CN"/>
              <a:pPr>
                <a:defRPr/>
              </a:pPr>
              <a:t>‹#›</a:t>
            </a:fld>
            <a:endParaRPr lang="en-US" altLang="zh-CN"/>
          </a:p>
        </p:txBody>
      </p:sp>
    </p:spTree>
    <p:extLst>
      <p:ext uri="{BB962C8B-B14F-4D97-AF65-F5344CB8AC3E}">
        <p14:creationId xmlns:p14="http://schemas.microsoft.com/office/powerpoint/2010/main" val="38263598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6D6EDDA0-18C0-4487-815F-F49CD75FD563}" type="slidenum">
              <a:rPr lang="en-US" altLang="zh-CN"/>
              <a:pPr>
                <a:defRPr/>
              </a:pPr>
              <a:t>‹#›</a:t>
            </a:fld>
            <a:endParaRPr lang="en-US" altLang="zh-CN"/>
          </a:p>
        </p:txBody>
      </p:sp>
    </p:spTree>
    <p:extLst>
      <p:ext uri="{BB962C8B-B14F-4D97-AF65-F5344CB8AC3E}">
        <p14:creationId xmlns:p14="http://schemas.microsoft.com/office/powerpoint/2010/main" val="67777518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662A12B5-D620-4F25-86CC-883621BD3B65}" type="slidenum">
              <a:rPr lang="en-US" altLang="zh-CN"/>
              <a:pPr>
                <a:defRPr/>
              </a:pPr>
              <a:t>‹#›</a:t>
            </a:fld>
            <a:endParaRPr lang="en-US" altLang="zh-CN"/>
          </a:p>
        </p:txBody>
      </p:sp>
    </p:spTree>
    <p:extLst>
      <p:ext uri="{BB962C8B-B14F-4D97-AF65-F5344CB8AC3E}">
        <p14:creationId xmlns:p14="http://schemas.microsoft.com/office/powerpoint/2010/main" val="305762965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719263"/>
            <a:ext cx="4038600" cy="212883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00500"/>
            <a:ext cx="4038600" cy="213042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7"/>
          <p:cNvSpPr>
            <a:spLocks noGrp="1" noChangeArrowheads="1"/>
          </p:cNvSpPr>
          <p:nvPr>
            <p:ph type="sldNum" sz="quarter" idx="12"/>
          </p:nvPr>
        </p:nvSpPr>
        <p:spPr>
          <a:ln/>
        </p:spPr>
        <p:txBody>
          <a:bodyPr/>
          <a:lstStyle>
            <a:lvl1pPr>
              <a:defRPr/>
            </a:lvl1pPr>
          </a:lstStyle>
          <a:p>
            <a:pPr>
              <a:defRPr/>
            </a:pPr>
            <a:fld id="{47654866-41CD-4239-B73A-1447C84A8275}" type="slidenum">
              <a:rPr lang="en-US" altLang="zh-CN"/>
              <a:pPr>
                <a:defRPr/>
              </a:pPr>
              <a:t>‹#›</a:t>
            </a:fld>
            <a:endParaRPr lang="en-US" altLang="zh-CN"/>
          </a:p>
        </p:txBody>
      </p:sp>
    </p:spTree>
    <p:extLst>
      <p:ext uri="{BB962C8B-B14F-4D97-AF65-F5344CB8AC3E}">
        <p14:creationId xmlns:p14="http://schemas.microsoft.com/office/powerpoint/2010/main" val="256840695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719263"/>
            <a:ext cx="8229600" cy="4411662"/>
          </a:xfrm>
        </p:spPr>
        <p:txBody>
          <a:bodyPr/>
          <a:lstStyle/>
          <a:p>
            <a:pPr lvl="0"/>
            <a:endParaRPr lang="zh-CN" altLang="en-US" noProof="0" smtClean="0"/>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46BCB3AB-3B2B-4B15-90C5-F4E012D616DB}" type="slidenum">
              <a:rPr lang="en-US" altLang="zh-CN"/>
              <a:pPr>
                <a:defRPr/>
              </a:pPr>
              <a:t>‹#›</a:t>
            </a:fld>
            <a:endParaRPr lang="en-US" altLang="zh-CN"/>
          </a:p>
        </p:txBody>
      </p:sp>
    </p:spTree>
    <p:extLst>
      <p:ext uri="{BB962C8B-B14F-4D97-AF65-F5344CB8AC3E}">
        <p14:creationId xmlns:p14="http://schemas.microsoft.com/office/powerpoint/2010/main" val="399646645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64FB1DC2-4E3E-4BE8-9255-D6D0B8492527}" type="slidenum">
              <a:rPr lang="en-US" altLang="zh-CN"/>
              <a:pPr>
                <a:defRPr/>
              </a:pPr>
              <a:t>‹#›</a:t>
            </a:fld>
            <a:endParaRPr lang="en-US" altLang="zh-CN"/>
          </a:p>
        </p:txBody>
      </p:sp>
    </p:spTree>
    <p:extLst>
      <p:ext uri="{BB962C8B-B14F-4D97-AF65-F5344CB8AC3E}">
        <p14:creationId xmlns:p14="http://schemas.microsoft.com/office/powerpoint/2010/main" val="244698050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22238"/>
            <a:ext cx="8229600" cy="600868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A8B8EF02-2634-4229-8B57-5DF0BF27714C}" type="slidenum">
              <a:rPr lang="en-US" altLang="zh-CN"/>
              <a:pPr>
                <a:defRPr/>
              </a:pPr>
              <a:t>‹#›</a:t>
            </a:fld>
            <a:endParaRPr lang="en-US" altLang="zh-CN"/>
          </a:p>
        </p:txBody>
      </p:sp>
    </p:spTree>
    <p:extLst>
      <p:ext uri="{BB962C8B-B14F-4D97-AF65-F5344CB8AC3E}">
        <p14:creationId xmlns:p14="http://schemas.microsoft.com/office/powerpoint/2010/main" val="1651973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3.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3" Type="http://schemas.openxmlformats.org/officeDocument/2006/relationships/slideLayout" Target="../slideLayouts/slideLayout28.xml"/><Relationship Id="rId21" Type="http://schemas.openxmlformats.org/officeDocument/2006/relationships/theme" Target="../theme/theme3.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image" Target="../media/image4.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4.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21" Type="http://schemas.openxmlformats.org/officeDocument/2006/relationships/image" Target="../media/image4.jpeg"/><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5.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theme" Target="../theme/theme6.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slideLayout" Target="../slideLayouts/slideLayout101.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2" Type="http://schemas.openxmlformats.org/officeDocument/2006/relationships/slideLayout" Target="../slideLayouts/slideLayout90.xml"/><Relationship Id="rId16" Type="http://schemas.openxmlformats.org/officeDocument/2006/relationships/theme" Target="../theme/theme7.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slideLayout" Target="../slideLayouts/slideLayout116.xml"/><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slideLayout" Target="../slideLayouts/slideLayout115.xml"/><Relationship Id="rId2" Type="http://schemas.openxmlformats.org/officeDocument/2006/relationships/slideLayout" Target="../slideLayouts/slideLayout105.xml"/><Relationship Id="rId16" Type="http://schemas.openxmlformats.org/officeDocument/2006/relationships/theme" Target="../theme/theme8.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10" Type="http://schemas.openxmlformats.org/officeDocument/2006/relationships/slideLayout" Target="../slideLayouts/slideLayout113.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0965"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smtClean="0">
                <a:latin typeface="+mn-lt"/>
              </a:defRPr>
            </a:lvl1pPr>
          </a:lstStyle>
          <a:p>
            <a:pPr>
              <a:defRPr/>
            </a:pPr>
            <a:endParaRPr lang="en-US" altLang="zh-CN"/>
          </a:p>
        </p:txBody>
      </p:sp>
      <p:sp>
        <p:nvSpPr>
          <p:cNvPr id="40966"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smtClean="0">
                <a:latin typeface="+mn-lt"/>
              </a:defRPr>
            </a:lvl1pPr>
          </a:lstStyle>
          <a:p>
            <a:pPr>
              <a:defRPr/>
            </a:pPr>
            <a:endParaRPr lang="en-US" altLang="zh-CN"/>
          </a:p>
        </p:txBody>
      </p:sp>
      <p:sp>
        <p:nvSpPr>
          <p:cNvPr id="40967"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smtClean="0">
                <a:solidFill>
                  <a:schemeClr val="accent2"/>
                </a:solidFill>
                <a:latin typeface="+mn-lt"/>
              </a:defRPr>
            </a:lvl1pPr>
          </a:lstStyle>
          <a:p>
            <a:pPr>
              <a:defRPr/>
            </a:pPr>
            <a:r>
              <a:rPr lang="en-US" altLang="zh-CN"/>
              <a:t>( </a:t>
            </a:r>
            <a:fld id="{1503035B-F77F-4476-BDF9-967E2A8B1505}" type="slidenum">
              <a:rPr lang="en-US" altLang="zh-CN"/>
              <a:pPr>
                <a:defRPr/>
              </a:pPr>
              <a:t>‹#›</a:t>
            </a:fld>
            <a:r>
              <a:rPr lang="en-US" altLang="zh-CN"/>
              <a:t> )</a:t>
            </a:r>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785"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ea typeface="宋体" pitchFamily="2" charset="-122"/>
        </a:defRPr>
      </a:lvl2pPr>
      <a:lvl3pPr algn="l" rtl="0" eaLnBrk="0" fontAlgn="base" hangingPunct="0">
        <a:spcBef>
          <a:spcPct val="0"/>
        </a:spcBef>
        <a:spcAft>
          <a:spcPct val="0"/>
        </a:spcAft>
        <a:defRPr sz="3900" b="1">
          <a:solidFill>
            <a:schemeClr val="tx2"/>
          </a:solidFill>
          <a:latin typeface="Arial" charset="0"/>
          <a:ea typeface="宋体" pitchFamily="2" charset="-122"/>
        </a:defRPr>
      </a:lvl3pPr>
      <a:lvl4pPr algn="l" rtl="0" eaLnBrk="0" fontAlgn="base" hangingPunct="0">
        <a:spcBef>
          <a:spcPct val="0"/>
        </a:spcBef>
        <a:spcAft>
          <a:spcPct val="0"/>
        </a:spcAft>
        <a:defRPr sz="3900" b="1">
          <a:solidFill>
            <a:schemeClr val="tx2"/>
          </a:solidFill>
          <a:latin typeface="Arial" charset="0"/>
          <a:ea typeface="宋体" pitchFamily="2" charset="-122"/>
        </a:defRPr>
      </a:lvl4pPr>
      <a:lvl5pPr algn="l" rtl="0" eaLnBrk="0" fontAlgn="base" hangingPunct="0">
        <a:spcBef>
          <a:spcPct val="0"/>
        </a:spcBef>
        <a:spcAft>
          <a:spcPct val="0"/>
        </a:spcAft>
        <a:defRPr sz="3900" b="1">
          <a:solidFill>
            <a:schemeClr val="tx2"/>
          </a:solidFill>
          <a:latin typeface="Arial" charset="0"/>
          <a:ea typeface="宋体" pitchFamily="2" charset="-122"/>
        </a:defRPr>
      </a:lvl5pPr>
      <a:lvl6pPr marL="457200" algn="l" rtl="0" fontAlgn="base">
        <a:spcBef>
          <a:spcPct val="0"/>
        </a:spcBef>
        <a:spcAft>
          <a:spcPct val="0"/>
        </a:spcAft>
        <a:defRPr sz="3900" b="1">
          <a:solidFill>
            <a:schemeClr val="tx2"/>
          </a:solidFill>
          <a:latin typeface="Arial" charset="0"/>
          <a:ea typeface="宋体" pitchFamily="2" charset="-122"/>
        </a:defRPr>
      </a:lvl6pPr>
      <a:lvl7pPr marL="914400" algn="l" rtl="0" fontAlgn="base">
        <a:spcBef>
          <a:spcPct val="0"/>
        </a:spcBef>
        <a:spcAft>
          <a:spcPct val="0"/>
        </a:spcAft>
        <a:defRPr sz="3900" b="1">
          <a:solidFill>
            <a:schemeClr val="tx2"/>
          </a:solidFill>
          <a:latin typeface="Arial" charset="0"/>
          <a:ea typeface="宋体" pitchFamily="2" charset="-122"/>
        </a:defRPr>
      </a:lvl7pPr>
      <a:lvl8pPr marL="1371600" algn="l" rtl="0" fontAlgn="base">
        <a:spcBef>
          <a:spcPct val="0"/>
        </a:spcBef>
        <a:spcAft>
          <a:spcPct val="0"/>
        </a:spcAft>
        <a:defRPr sz="3900" b="1">
          <a:solidFill>
            <a:schemeClr val="tx2"/>
          </a:solidFill>
          <a:latin typeface="Arial" charset="0"/>
          <a:ea typeface="宋体" pitchFamily="2" charset="-122"/>
        </a:defRPr>
      </a:lvl8pPr>
      <a:lvl9pPr marL="1828800" algn="l" rtl="0" fontAlgn="base">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800" b="1">
              <a:solidFill>
                <a:srgbClr val="000000"/>
              </a:solidFill>
              <a:latin typeface="Arial" charset="0"/>
            </a:endParaRPr>
          </a:p>
        </p:txBody>
      </p:sp>
      <p:sp>
        <p:nvSpPr>
          <p:cNvPr id="2051"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2"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34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b="0"/>
            </a:lvl1pPr>
          </a:lstStyle>
          <a:p>
            <a:pPr>
              <a:defRPr/>
            </a:pPr>
            <a:endParaRPr lang="en-US" altLang="zh-CN">
              <a:solidFill>
                <a:srgbClr val="000000"/>
              </a:solidFill>
              <a:latin typeface="Arial" charset="0"/>
            </a:endParaRPr>
          </a:p>
        </p:txBody>
      </p:sp>
      <p:sp>
        <p:nvSpPr>
          <p:cNvPr id="14342"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0"/>
            </a:lvl1pPr>
          </a:lstStyle>
          <a:p>
            <a:pPr>
              <a:defRPr/>
            </a:pPr>
            <a:endParaRPr lang="en-US" altLang="zh-CN">
              <a:solidFill>
                <a:srgbClr val="000000"/>
              </a:solidFill>
              <a:latin typeface="Arial" charset="0"/>
            </a:endParaRPr>
          </a:p>
        </p:txBody>
      </p:sp>
      <p:sp>
        <p:nvSpPr>
          <p:cNvPr id="1434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0"/>
            </a:lvl1pPr>
          </a:lstStyle>
          <a:p>
            <a:pPr>
              <a:defRPr/>
            </a:pPr>
            <a:fld id="{DC12E775-1B26-43D1-BBA9-E32787639441}" type="slidenum">
              <a:rPr lang="en-US" altLang="zh-CN">
                <a:solidFill>
                  <a:srgbClr val="000000"/>
                </a:solidFill>
                <a:latin typeface="Arial" charset="0"/>
              </a:rPr>
              <a:pPr>
                <a:defRPr/>
              </a:pPr>
              <a:t>‹#›</a:t>
            </a:fld>
            <a:endParaRPr lang="en-US" altLang="zh-CN">
              <a:solidFill>
                <a:srgbClr val="000000"/>
              </a:solidFill>
              <a:latin typeface="Arial" charset="0"/>
            </a:endParaRPr>
          </a:p>
        </p:txBody>
      </p:sp>
      <p:grpSp>
        <p:nvGrpSpPr>
          <p:cNvPr id="2056" name="Group 8"/>
          <p:cNvGrpSpPr>
            <a:grpSpLocks/>
          </p:cNvGrpSpPr>
          <p:nvPr/>
        </p:nvGrpSpPr>
        <p:grpSpPr bwMode="auto">
          <a:xfrm>
            <a:off x="8153400" y="152400"/>
            <a:ext cx="792163" cy="1295400"/>
            <a:chOff x="5136" y="960"/>
            <a:chExt cx="528" cy="864"/>
          </a:xfrm>
        </p:grpSpPr>
        <p:sp>
          <p:nvSpPr>
            <p:cNvPr id="2057"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58"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59"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0"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1"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2"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3"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4"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5"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6"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7"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8"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69"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0"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1"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2"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3"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4"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5"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6"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7"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8"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79"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0"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1"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2"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3"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4"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5"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6"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sp>
          <p:nvSpPr>
            <p:cNvPr id="2087"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en-US" sz="1800" smtClean="0">
                <a:solidFill>
                  <a:srgbClr val="000000"/>
                </a:solidFill>
              </a:endParaRPr>
            </a:p>
          </p:txBody>
        </p:sp>
      </p:grpSp>
    </p:spTree>
    <p:extLst>
      <p:ext uri="{BB962C8B-B14F-4D97-AF65-F5344CB8AC3E}">
        <p14:creationId xmlns:p14="http://schemas.microsoft.com/office/powerpoint/2010/main" val="2810305151"/>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Arial" charset="0"/>
          <a:ea typeface="宋体" pitchFamily="2" charset="-122"/>
        </a:defRPr>
      </a:lvl2pPr>
      <a:lvl3pPr algn="l" rtl="0" eaLnBrk="0" fontAlgn="base" hangingPunct="0">
        <a:spcBef>
          <a:spcPct val="0"/>
        </a:spcBef>
        <a:spcAft>
          <a:spcPct val="0"/>
        </a:spcAft>
        <a:defRPr sz="2800" b="1">
          <a:solidFill>
            <a:schemeClr val="tx2"/>
          </a:solidFill>
          <a:latin typeface="Arial" charset="0"/>
          <a:ea typeface="宋体" pitchFamily="2" charset="-122"/>
        </a:defRPr>
      </a:lvl3pPr>
      <a:lvl4pPr algn="l" rtl="0" eaLnBrk="0" fontAlgn="base" hangingPunct="0">
        <a:spcBef>
          <a:spcPct val="0"/>
        </a:spcBef>
        <a:spcAft>
          <a:spcPct val="0"/>
        </a:spcAft>
        <a:defRPr sz="2800" b="1">
          <a:solidFill>
            <a:schemeClr val="tx2"/>
          </a:solidFill>
          <a:latin typeface="Arial" charset="0"/>
          <a:ea typeface="宋体" pitchFamily="2" charset="-122"/>
        </a:defRPr>
      </a:lvl4pPr>
      <a:lvl5pPr algn="l" rtl="0" eaLnBrk="0" fontAlgn="base" hangingPunct="0">
        <a:spcBef>
          <a:spcPct val="0"/>
        </a:spcBef>
        <a:spcAft>
          <a:spcPct val="0"/>
        </a:spcAft>
        <a:defRPr sz="2800" b="1">
          <a:solidFill>
            <a:schemeClr val="tx2"/>
          </a:solidFill>
          <a:latin typeface="Arial" charset="0"/>
          <a:ea typeface="宋体" pitchFamily="2" charset="-122"/>
        </a:defRPr>
      </a:lvl5pPr>
      <a:lvl6pPr marL="457200" algn="l" rtl="0" fontAlgn="base">
        <a:spcBef>
          <a:spcPct val="0"/>
        </a:spcBef>
        <a:spcAft>
          <a:spcPct val="0"/>
        </a:spcAft>
        <a:defRPr sz="2800" b="1">
          <a:solidFill>
            <a:schemeClr val="tx2"/>
          </a:solidFill>
          <a:latin typeface="Arial" charset="0"/>
          <a:ea typeface="宋体" pitchFamily="2" charset="-122"/>
        </a:defRPr>
      </a:lvl6pPr>
      <a:lvl7pPr marL="914400" algn="l" rtl="0" fontAlgn="base">
        <a:spcBef>
          <a:spcPct val="0"/>
        </a:spcBef>
        <a:spcAft>
          <a:spcPct val="0"/>
        </a:spcAft>
        <a:defRPr sz="2800" b="1">
          <a:solidFill>
            <a:schemeClr val="tx2"/>
          </a:solidFill>
          <a:latin typeface="Arial" charset="0"/>
          <a:ea typeface="宋体" pitchFamily="2" charset="-122"/>
        </a:defRPr>
      </a:lvl7pPr>
      <a:lvl8pPr marL="1371600" algn="l" rtl="0" fontAlgn="base">
        <a:spcBef>
          <a:spcPct val="0"/>
        </a:spcBef>
        <a:spcAft>
          <a:spcPct val="0"/>
        </a:spcAft>
        <a:defRPr sz="2800" b="1">
          <a:solidFill>
            <a:schemeClr val="tx2"/>
          </a:solidFill>
          <a:latin typeface="Arial" charset="0"/>
          <a:ea typeface="宋体" pitchFamily="2" charset="-122"/>
        </a:defRPr>
      </a:lvl8pPr>
      <a:lvl9pPr marL="1828800" algn="l" rtl="0" fontAlgn="base">
        <a:spcBef>
          <a:spcPct val="0"/>
        </a:spcBef>
        <a:spcAft>
          <a:spcPct val="0"/>
        </a:spcAft>
        <a:defRPr sz="2800" b="1">
          <a:solidFill>
            <a:schemeClr val="tx2"/>
          </a:solidFill>
          <a:latin typeface="Arial" charset="0"/>
          <a:ea typeface="宋体" pitchFamily="2" charset="-122"/>
        </a:defRPr>
      </a:lvl9pPr>
    </p:titleStyle>
    <p:bodyStyle>
      <a:lvl1pPr marL="342900" indent="-342900" algn="l" rtl="0" eaLnBrk="0" fontAlgn="base" hangingPunct="0">
        <a:spcBef>
          <a:spcPct val="50000"/>
        </a:spcBef>
        <a:spcAft>
          <a:spcPct val="0"/>
        </a:spcAft>
        <a:buClr>
          <a:schemeClr val="tx2"/>
        </a:buClr>
        <a:buSzPct val="70000"/>
        <a:buFont typeface="Wingdings" pitchFamily="2" charset="2"/>
        <a:buBlip>
          <a:blip r:embed="rId13"/>
        </a:buBlip>
        <a:defRPr sz="2400">
          <a:solidFill>
            <a:schemeClr val="tx1"/>
          </a:solidFill>
          <a:latin typeface="+mn-lt"/>
          <a:ea typeface="+mn-ea"/>
          <a:cs typeface="+mn-cs"/>
        </a:defRPr>
      </a:lvl1pPr>
      <a:lvl2pPr marL="692150" indent="-347663" algn="l" rtl="0" eaLnBrk="0" fontAlgn="base" hangingPunct="0">
        <a:spcBef>
          <a:spcPct val="50000"/>
        </a:spcBef>
        <a:spcAft>
          <a:spcPct val="0"/>
        </a:spcAft>
        <a:buClr>
          <a:schemeClr val="accent2"/>
        </a:buClr>
        <a:buSzPct val="50000"/>
        <a:buFont typeface="Wingdings" pitchFamily="2" charset="2"/>
        <a:buBlip>
          <a:blip r:embed="rId14"/>
        </a:buBlip>
        <a:defRPr sz="2400">
          <a:solidFill>
            <a:schemeClr val="tx1"/>
          </a:solidFill>
          <a:latin typeface="+mn-lt"/>
          <a:ea typeface="+mn-ea"/>
        </a:defRPr>
      </a:lvl2pPr>
      <a:lvl3pPr marL="987425" indent="-293688" algn="l" rtl="0" eaLnBrk="0" fontAlgn="base" hangingPunct="0">
        <a:spcBef>
          <a:spcPct val="50000"/>
        </a:spcBef>
        <a:spcAft>
          <a:spcPct val="0"/>
        </a:spcAft>
        <a:buClr>
          <a:schemeClr val="accent1"/>
        </a:buClr>
        <a:buSzPct val="40000"/>
        <a:buFont typeface="Wingdings" pitchFamily="2" charset="2"/>
        <a:buBlip>
          <a:blip r:embed="rId15"/>
        </a:buBlip>
        <a:defRPr sz="2400">
          <a:solidFill>
            <a:schemeClr val="tx1"/>
          </a:solidFill>
          <a:latin typeface="+mn-lt"/>
          <a:ea typeface="+mn-ea"/>
        </a:defRPr>
      </a:lvl3pPr>
      <a:lvl4pPr marL="1281113" indent="-292100" algn="l" rtl="0" eaLnBrk="0" fontAlgn="base" hangingPunct="0">
        <a:spcBef>
          <a:spcPct val="50000"/>
        </a:spcBef>
        <a:spcAft>
          <a:spcPct val="0"/>
        </a:spcAft>
        <a:buClr>
          <a:schemeClr val="tx2"/>
        </a:buClr>
        <a:buSzPct val="75000"/>
        <a:buFont typeface="Wingdings" pitchFamily="2" charset="2"/>
        <a:buChar char="§"/>
        <a:defRPr sz="2400">
          <a:solidFill>
            <a:schemeClr val="tx1"/>
          </a:solidFill>
          <a:latin typeface="+mn-lt"/>
          <a:ea typeface="+mn-ea"/>
        </a:defRPr>
      </a:lvl4pPr>
      <a:lvl5pPr marL="1598613" indent="-315913" algn="l" rtl="0" eaLnBrk="0" fontAlgn="base" hangingPunct="0">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5pPr>
      <a:lvl6pPr marL="2055813" indent="-315913" algn="l" rtl="0" fontAlgn="base">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6pPr>
      <a:lvl7pPr marL="2513013" indent="-315913" algn="l" rtl="0" fontAlgn="base">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7pPr>
      <a:lvl8pPr marL="2970213" indent="-315913" algn="l" rtl="0" fontAlgn="base">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8pPr>
      <a:lvl9pPr marL="3427413" indent="-315913" algn="l" rtl="0" fontAlgn="base">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600202"/>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buNone/>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ea"/>
                <a:ea typeface="+mn-ea"/>
              </a:defRPr>
            </a:lvl1pPr>
          </a:lstStyle>
          <a:p>
            <a:pPr>
              <a:defRPr/>
            </a:pPr>
            <a:r>
              <a:rPr lang="en-US" altLang="zh-CN" smtClean="0"/>
              <a:t>( </a:t>
            </a:r>
            <a:fld id="{1503035B-F77F-4476-BDF9-967E2A8B1505}" type="slidenum">
              <a:rPr lang="en-US" altLang="zh-CN" smtClean="0"/>
              <a:pPr>
                <a:defRPr/>
              </a:pPr>
              <a:t>‹#›</a:t>
            </a:fld>
            <a:r>
              <a:rPr lang="en-US" altLang="zh-CN" smtClean="0"/>
              <a:t> )</a:t>
            </a:r>
            <a:endParaRPr lang="en-US" altLang="zh-CN"/>
          </a:p>
        </p:txBody>
      </p:sp>
      <p:pic>
        <p:nvPicPr>
          <p:cNvPr id="7" name="Picture 5" descr="082"/>
          <p:cNvPicPr>
            <a:picLocks noChangeAspect="1" noChangeArrowheads="1"/>
          </p:cNvPicPr>
          <p:nvPr/>
        </p:nvPicPr>
        <p:blipFill>
          <a:blip r:embed="rId22">
            <a:extLst>
              <a:ext uri="{28A0092B-C50C-407E-A947-70E740481C1C}">
                <a14:useLocalDpi xmlns:a14="http://schemas.microsoft.com/office/drawing/2010/main" val="0"/>
              </a:ext>
            </a:extLst>
          </a:blip>
          <a:srcRect l="17889" t="33676" r="7799" b="55194"/>
          <a:stretch>
            <a:fillRect/>
          </a:stretch>
        </p:blipFill>
        <p:spPr bwMode="auto">
          <a:xfrm>
            <a:off x="6446839" y="-26988"/>
            <a:ext cx="27336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082"/>
          <p:cNvPicPr>
            <a:picLocks noChangeAspect="1" noChangeArrowheads="1"/>
          </p:cNvPicPr>
          <p:nvPr/>
        </p:nvPicPr>
        <p:blipFill>
          <a:blip r:embed="rId22">
            <a:extLst>
              <a:ext uri="{28A0092B-C50C-407E-A947-70E740481C1C}">
                <a14:useLocalDpi xmlns:a14="http://schemas.microsoft.com/office/drawing/2010/main" val="0"/>
              </a:ext>
            </a:extLst>
          </a:blip>
          <a:srcRect l="79816" t="33676" r="9175" b="55194"/>
          <a:stretch>
            <a:fillRect/>
          </a:stretch>
        </p:blipFill>
        <p:spPr bwMode="auto">
          <a:xfrm>
            <a:off x="0" y="-26988"/>
            <a:ext cx="64658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967725" y="1719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pic>
        <p:nvPicPr>
          <p:cNvPr id="11" name="Picture 5" descr="082"/>
          <p:cNvPicPr>
            <a:picLocks noChangeAspect="1" noChangeArrowheads="1"/>
          </p:cNvPicPr>
          <p:nvPr userDrawn="1"/>
        </p:nvPicPr>
        <p:blipFill>
          <a:blip r:embed="rId22">
            <a:extLst>
              <a:ext uri="{28A0092B-C50C-407E-A947-70E740481C1C}">
                <a14:useLocalDpi xmlns:a14="http://schemas.microsoft.com/office/drawing/2010/main" val="0"/>
              </a:ext>
            </a:extLst>
          </a:blip>
          <a:srcRect l="17889" t="33676" r="7799" b="55194"/>
          <a:stretch>
            <a:fillRect/>
          </a:stretch>
        </p:blipFill>
        <p:spPr bwMode="auto">
          <a:xfrm>
            <a:off x="6446839" y="-26988"/>
            <a:ext cx="27336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descr="082"/>
          <p:cNvPicPr>
            <a:picLocks noChangeAspect="1" noChangeArrowheads="1"/>
          </p:cNvPicPr>
          <p:nvPr userDrawn="1"/>
        </p:nvPicPr>
        <p:blipFill>
          <a:blip r:embed="rId22">
            <a:extLst>
              <a:ext uri="{28A0092B-C50C-407E-A947-70E740481C1C}">
                <a14:useLocalDpi xmlns:a14="http://schemas.microsoft.com/office/drawing/2010/main" val="0"/>
              </a:ext>
            </a:extLst>
          </a:blip>
          <a:srcRect l="79816" t="33676" r="9175" b="55194"/>
          <a:stretch>
            <a:fillRect/>
          </a:stretch>
        </p:blipFill>
        <p:spPr bwMode="auto">
          <a:xfrm>
            <a:off x="0" y="-26988"/>
            <a:ext cx="64658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9787743"/>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 id="2147483840" r:id="rId18"/>
    <p:sldLayoutId id="2147483841" r:id="rId19"/>
    <p:sldLayoutId id="2147483815" r:id="rId20"/>
  </p:sldLayoutIdLst>
  <p:timing>
    <p:tnLst>
      <p:par>
        <p:cTn id="1" dur="indefinite" restart="never" nodeType="tmRoot"/>
      </p:par>
    </p:tnLst>
  </p:timing>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cs typeface="+mn-cs"/>
        </a:defRPr>
      </a:lvl1pPr>
      <a:lvl2pPr marL="742950" indent="-28575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defRPr>
      </a:lvl2pPr>
      <a:lvl3pPr marL="1143000" indent="-228600" algn="l" rtl="0" eaLnBrk="1" fontAlgn="base" hangingPunct="1">
        <a:spcBef>
          <a:spcPct val="20000"/>
        </a:spcBef>
        <a:spcAft>
          <a:spcPct val="0"/>
        </a:spcAft>
        <a:buChar char="•"/>
        <a:defRPr sz="2400">
          <a:solidFill>
            <a:schemeClr val="tx1"/>
          </a:solidFill>
          <a:latin typeface="楷体" pitchFamily="49" charset="-122"/>
          <a:ea typeface="楷体" pitchFamily="49" charset="-122"/>
        </a:defRPr>
      </a:lvl3pPr>
      <a:lvl4pPr marL="16002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4pPr>
      <a:lvl5pPr marL="20574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0826" y="404815"/>
            <a:ext cx="66262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303213" y="1700213"/>
            <a:ext cx="82296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6"/>
          <p:cNvSpPr txBox="1">
            <a:spLocks noChangeArrowheads="1"/>
          </p:cNvSpPr>
          <p:nvPr/>
        </p:nvSpPr>
        <p:spPr bwMode="auto">
          <a:xfrm>
            <a:off x="5580063" y="6332538"/>
            <a:ext cx="3600450" cy="336550"/>
          </a:xfrm>
          <a:prstGeom prst="rect">
            <a:avLst/>
          </a:prstGeom>
          <a:noFill/>
          <a:ln>
            <a:noFill/>
          </a:ln>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defRPr/>
            </a:pPr>
            <a:r>
              <a:rPr lang="zh-CN" altLang="en-US" sz="1600" smtClean="0">
                <a:solidFill>
                  <a:srgbClr val="000000"/>
                </a:solidFill>
                <a:ea typeface="黑体" panose="02010609060101010101" pitchFamily="49" charset="-122"/>
              </a:rPr>
              <a:t>统计学院“十年腾飞”学科规划汇报</a:t>
            </a:r>
            <a:endParaRPr lang="en-US" altLang="zh-CN" sz="1600" smtClean="0">
              <a:solidFill>
                <a:srgbClr val="000000"/>
              </a:solidFill>
              <a:ea typeface="黑体" panose="02010609060101010101" pitchFamily="49" charset="-122"/>
            </a:endParaRPr>
          </a:p>
        </p:txBody>
      </p:sp>
    </p:spTree>
    <p:extLst>
      <p:ext uri="{BB962C8B-B14F-4D97-AF65-F5344CB8AC3E}">
        <p14:creationId xmlns:p14="http://schemas.microsoft.com/office/powerpoint/2010/main" val="503643440"/>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ransition>
    <p:fade/>
  </p:transition>
  <p:timing>
    <p:tnLst>
      <p:par>
        <p:cTn id="1" dur="indefinite" restart="never" nodeType="tmRoot"/>
      </p:par>
    </p:tnLst>
  </p:timing>
  <p:txStyles>
    <p:titleStyle>
      <a:lvl1pPr algn="l" rtl="0" eaLnBrk="1" fontAlgn="base" hangingPunct="1">
        <a:spcBef>
          <a:spcPct val="0"/>
        </a:spcBef>
        <a:spcAft>
          <a:spcPct val="0"/>
        </a:spcAft>
        <a:defRPr sz="2800" b="1">
          <a:solidFill>
            <a:srgbClr val="FFFFFF"/>
          </a:solidFill>
          <a:latin typeface="+mj-lt"/>
          <a:ea typeface="+mj-ea"/>
          <a:cs typeface="+mj-cs"/>
        </a:defRPr>
      </a:lvl1pPr>
      <a:lvl2pPr algn="l" rtl="0" eaLnBrk="1" fontAlgn="base" hangingPunct="1">
        <a:spcBef>
          <a:spcPct val="0"/>
        </a:spcBef>
        <a:spcAft>
          <a:spcPct val="0"/>
        </a:spcAft>
        <a:defRPr sz="2800" b="1">
          <a:solidFill>
            <a:srgbClr val="FFFFFF"/>
          </a:solidFill>
          <a:latin typeface="Arial" pitchFamily="34" charset="0"/>
          <a:ea typeface="黑体" pitchFamily="49" charset="-122"/>
        </a:defRPr>
      </a:lvl2pPr>
      <a:lvl3pPr algn="l" rtl="0" eaLnBrk="1" fontAlgn="base" hangingPunct="1">
        <a:spcBef>
          <a:spcPct val="0"/>
        </a:spcBef>
        <a:spcAft>
          <a:spcPct val="0"/>
        </a:spcAft>
        <a:defRPr sz="2800" b="1">
          <a:solidFill>
            <a:srgbClr val="FFFFFF"/>
          </a:solidFill>
          <a:latin typeface="Arial" pitchFamily="34" charset="0"/>
          <a:ea typeface="黑体" pitchFamily="49" charset="-122"/>
        </a:defRPr>
      </a:lvl3pPr>
      <a:lvl4pPr algn="l" rtl="0" eaLnBrk="1" fontAlgn="base" hangingPunct="1">
        <a:spcBef>
          <a:spcPct val="0"/>
        </a:spcBef>
        <a:spcAft>
          <a:spcPct val="0"/>
        </a:spcAft>
        <a:defRPr sz="2800" b="1">
          <a:solidFill>
            <a:srgbClr val="FFFFFF"/>
          </a:solidFill>
          <a:latin typeface="Arial" pitchFamily="34" charset="0"/>
          <a:ea typeface="黑体" pitchFamily="49" charset="-122"/>
        </a:defRPr>
      </a:lvl4pPr>
      <a:lvl5pPr algn="l" rtl="0" eaLnBrk="1" fontAlgn="base" hangingPunct="1">
        <a:spcBef>
          <a:spcPct val="0"/>
        </a:spcBef>
        <a:spcAft>
          <a:spcPct val="0"/>
        </a:spcAft>
        <a:defRPr sz="2800" b="1">
          <a:solidFill>
            <a:srgbClr val="FFFFFF"/>
          </a:solidFill>
          <a:latin typeface="Arial" pitchFamily="34" charset="0"/>
          <a:ea typeface="黑体" pitchFamily="49" charset="-122"/>
        </a:defRPr>
      </a:lvl5pPr>
      <a:lvl6pPr marL="457200" algn="l" rtl="0" eaLnBrk="1" fontAlgn="base" hangingPunct="1">
        <a:spcBef>
          <a:spcPct val="0"/>
        </a:spcBef>
        <a:spcAft>
          <a:spcPct val="0"/>
        </a:spcAft>
        <a:defRPr sz="2800" b="1">
          <a:solidFill>
            <a:srgbClr val="FFFFFF"/>
          </a:solidFill>
          <a:latin typeface="Arial" pitchFamily="34" charset="0"/>
          <a:ea typeface="黑体" pitchFamily="49" charset="-122"/>
        </a:defRPr>
      </a:lvl6pPr>
      <a:lvl7pPr marL="914400" algn="l" rtl="0" eaLnBrk="1" fontAlgn="base" hangingPunct="1">
        <a:spcBef>
          <a:spcPct val="0"/>
        </a:spcBef>
        <a:spcAft>
          <a:spcPct val="0"/>
        </a:spcAft>
        <a:defRPr sz="2800" b="1">
          <a:solidFill>
            <a:srgbClr val="FFFFFF"/>
          </a:solidFill>
          <a:latin typeface="Arial" pitchFamily="34" charset="0"/>
          <a:ea typeface="黑体" pitchFamily="49" charset="-122"/>
        </a:defRPr>
      </a:lvl7pPr>
      <a:lvl8pPr marL="1371600" algn="l" rtl="0" eaLnBrk="1" fontAlgn="base" hangingPunct="1">
        <a:spcBef>
          <a:spcPct val="0"/>
        </a:spcBef>
        <a:spcAft>
          <a:spcPct val="0"/>
        </a:spcAft>
        <a:defRPr sz="2800" b="1">
          <a:solidFill>
            <a:srgbClr val="FFFFFF"/>
          </a:solidFill>
          <a:latin typeface="Arial" pitchFamily="34" charset="0"/>
          <a:ea typeface="黑体" pitchFamily="49" charset="-122"/>
        </a:defRPr>
      </a:lvl8pPr>
      <a:lvl9pPr marL="1828800" algn="l" rtl="0" eaLnBrk="1" fontAlgn="base" hangingPunct="1">
        <a:spcBef>
          <a:spcPct val="0"/>
        </a:spcBef>
        <a:spcAft>
          <a:spcPct val="0"/>
        </a:spcAft>
        <a:defRPr sz="2800" b="1">
          <a:solidFill>
            <a:srgbClr val="FFFFFF"/>
          </a:solidFill>
          <a:latin typeface="Arial" pitchFamily="34" charset="0"/>
          <a:ea typeface="黑体" pitchFamily="49" charset="-122"/>
        </a:defRPr>
      </a:lvl9pPr>
    </p:titleStyle>
    <p:bodyStyle>
      <a:lvl1pPr marL="469900" indent="-469900" algn="l" rtl="0" eaLnBrk="1" fontAlgn="base" hangingPunct="1">
        <a:spcBef>
          <a:spcPct val="20000"/>
        </a:spcBef>
        <a:spcAft>
          <a:spcPct val="0"/>
        </a:spcAft>
        <a:buClr>
          <a:srgbClr val="0066FF"/>
        </a:buClr>
        <a:buFont typeface="Wingdings" pitchFamily="2" charset="2"/>
        <a:buChar char="o"/>
        <a:defRPr sz="3000" b="1">
          <a:solidFill>
            <a:srgbClr val="000000"/>
          </a:solidFill>
          <a:latin typeface="+mn-lt"/>
          <a:ea typeface="+mn-ea"/>
          <a:cs typeface="+mn-cs"/>
        </a:defRPr>
      </a:lvl1pPr>
      <a:lvl2pPr marL="908050" indent="-436563" algn="l" rtl="0" eaLnBrk="1" fontAlgn="base" hangingPunct="1">
        <a:spcBef>
          <a:spcPct val="20000"/>
        </a:spcBef>
        <a:spcAft>
          <a:spcPct val="0"/>
        </a:spcAft>
        <a:buClr>
          <a:srgbClr val="0066FF"/>
        </a:buClr>
        <a:buFont typeface="Wingdings" pitchFamily="2" charset="2"/>
        <a:buChar char="n"/>
        <a:defRPr sz="2600" b="1">
          <a:solidFill>
            <a:srgbClr val="000000"/>
          </a:solidFill>
          <a:latin typeface="+mn-lt"/>
          <a:ea typeface="+mn-ea"/>
        </a:defRPr>
      </a:lvl2pPr>
      <a:lvl3pPr marL="1304925" indent="-395288" algn="l" rtl="0" eaLnBrk="1" fontAlgn="base" hangingPunct="1">
        <a:spcBef>
          <a:spcPct val="20000"/>
        </a:spcBef>
        <a:spcAft>
          <a:spcPct val="0"/>
        </a:spcAft>
        <a:buClr>
          <a:srgbClr val="0066FF"/>
        </a:buClr>
        <a:buFont typeface="Wingdings" pitchFamily="2" charset="2"/>
        <a:buChar char="o"/>
        <a:defRPr sz="2300" b="1">
          <a:solidFill>
            <a:srgbClr val="000000"/>
          </a:solidFill>
          <a:latin typeface="+mn-lt"/>
          <a:ea typeface="+mn-ea"/>
        </a:defRPr>
      </a:lvl3pPr>
      <a:lvl4pPr marL="1693863" indent="-387350" algn="l" rtl="0" eaLnBrk="1" fontAlgn="base" hangingPunct="1">
        <a:spcBef>
          <a:spcPct val="20000"/>
        </a:spcBef>
        <a:spcAft>
          <a:spcPct val="0"/>
        </a:spcAft>
        <a:buClr>
          <a:srgbClr val="0066FF"/>
        </a:buClr>
        <a:buFont typeface="Wingdings" pitchFamily="2" charset="2"/>
        <a:buChar char="n"/>
        <a:defRPr sz="2000" b="1">
          <a:solidFill>
            <a:srgbClr val="000000"/>
          </a:solidFill>
          <a:latin typeface="+mn-lt"/>
          <a:ea typeface="+mn-ea"/>
        </a:defRPr>
      </a:lvl4pPr>
      <a:lvl5pPr marL="20939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5pPr>
      <a:lvl6pPr marL="25511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6pPr>
      <a:lvl7pPr marL="30083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7pPr>
      <a:lvl8pPr marL="34655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8pPr>
      <a:lvl9pPr marL="39227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600202"/>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buNone/>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ea"/>
                <a:ea typeface="+mn-ea"/>
              </a:defRPr>
            </a:lvl1pPr>
          </a:lstStyle>
          <a:p>
            <a:pPr>
              <a:defRPr/>
            </a:pPr>
            <a:r>
              <a:rPr lang="en-US" altLang="zh-CN" smtClean="0"/>
              <a:t>( </a:t>
            </a:r>
            <a:fld id="{1503035B-F77F-4476-BDF9-967E2A8B1505}" type="slidenum">
              <a:rPr lang="en-US" altLang="zh-CN" smtClean="0"/>
              <a:pPr>
                <a:defRPr/>
              </a:pPr>
              <a:t>‹#›</a:t>
            </a:fld>
            <a:r>
              <a:rPr lang="en-US" altLang="zh-CN" smtClean="0"/>
              <a:t> )</a:t>
            </a:r>
            <a:endParaRPr lang="en-US" altLang="zh-CN"/>
          </a:p>
        </p:txBody>
      </p:sp>
      <p:pic>
        <p:nvPicPr>
          <p:cNvPr id="7" name="Picture 5" descr="082"/>
          <p:cNvPicPr>
            <a:picLocks noChangeAspect="1" noChangeArrowheads="1"/>
          </p:cNvPicPr>
          <p:nvPr/>
        </p:nvPicPr>
        <p:blipFill>
          <a:blip r:embed="rId21">
            <a:extLst>
              <a:ext uri="{28A0092B-C50C-407E-A947-70E740481C1C}">
                <a14:useLocalDpi xmlns:a14="http://schemas.microsoft.com/office/drawing/2010/main" val="0"/>
              </a:ext>
            </a:extLst>
          </a:blip>
          <a:srcRect l="17889" t="33676" r="7799" b="55194"/>
          <a:stretch>
            <a:fillRect/>
          </a:stretch>
        </p:blipFill>
        <p:spPr bwMode="auto">
          <a:xfrm>
            <a:off x="6446839" y="-26988"/>
            <a:ext cx="27336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082"/>
          <p:cNvPicPr>
            <a:picLocks noChangeAspect="1" noChangeArrowheads="1"/>
          </p:cNvPicPr>
          <p:nvPr/>
        </p:nvPicPr>
        <p:blipFill>
          <a:blip r:embed="rId21">
            <a:extLst>
              <a:ext uri="{28A0092B-C50C-407E-A947-70E740481C1C}">
                <a14:useLocalDpi xmlns:a14="http://schemas.microsoft.com/office/drawing/2010/main" val="0"/>
              </a:ext>
            </a:extLst>
          </a:blip>
          <a:srcRect l="79816" t="33676" r="9175" b="55194"/>
          <a:stretch>
            <a:fillRect/>
          </a:stretch>
        </p:blipFill>
        <p:spPr bwMode="auto">
          <a:xfrm>
            <a:off x="0" y="-26988"/>
            <a:ext cx="64658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6019800" y="-17417"/>
            <a:ext cx="2978331" cy="511187"/>
          </a:xfrm>
          <a:prstGeom prst="rect">
            <a:avLst/>
          </a:prstGeom>
          <a:solidFill>
            <a:srgbClr val="A83240"/>
          </a:solidFill>
          <a:ln>
            <a:solidFill>
              <a:srgbClr val="A832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967725" y="17198"/>
            <a:ext cx="3727269" cy="565861"/>
          </a:xfrm>
          <a:prstGeom prst="rect">
            <a:avLst/>
          </a:prstGeom>
          <a:noFill/>
        </p:spPr>
        <p:txBody>
          <a:bodyPr wrap="square" rtlCol="0">
            <a:spAutoFit/>
          </a:bodyPr>
          <a:lstStyle/>
          <a:p>
            <a:pPr>
              <a:buNone/>
            </a:pPr>
            <a:r>
              <a:rPr lang="zh-CN" altLang="en-US" sz="2400" dirty="0" smtClean="0">
                <a:solidFill>
                  <a:schemeClr val="bg1"/>
                </a:solidFill>
                <a:latin typeface="华文楷体" panose="02010600040101010101" pitchFamily="2" charset="-122"/>
                <a:ea typeface="华文楷体" panose="02010600040101010101" pitchFamily="2" charset="-122"/>
                <a:cs typeface="ZWAdobeF" pitchFamily="2" charset="0"/>
              </a:rPr>
              <a:t>对外经济贸易大学</a:t>
            </a:r>
            <a:endParaRPr lang="zh-CN" altLang="en-US" sz="2400" dirty="0">
              <a:solidFill>
                <a:schemeClr val="bg1"/>
              </a:solidFill>
              <a:latin typeface="华文楷体" panose="02010600040101010101" pitchFamily="2" charset="-122"/>
              <a:ea typeface="华文楷体" panose="02010600040101010101" pitchFamily="2" charset="-122"/>
              <a:cs typeface="ZWAdobeF" pitchFamily="2" charset="0"/>
            </a:endParaRPr>
          </a:p>
        </p:txBody>
      </p:sp>
    </p:spTree>
    <p:extLst>
      <p:ext uri="{BB962C8B-B14F-4D97-AF65-F5344CB8AC3E}">
        <p14:creationId xmlns:p14="http://schemas.microsoft.com/office/powerpoint/2010/main" val="360793148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 id="2147483872" r:id="rId17"/>
    <p:sldLayoutId id="2147483873" r:id="rId18"/>
    <p:sldLayoutId id="2147483874" r:id="rId19"/>
  </p:sldLayoutIdLst>
  <p:transition>
    <p:fade/>
  </p:transition>
  <p:timing>
    <p:tnLst>
      <p:par>
        <p:cTn id="1" dur="indefinite" restart="never" nodeType="tmRoot"/>
      </p:par>
    </p:tnLst>
  </p:timing>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宋体" charset="-122"/>
        </a:defRPr>
      </a:lvl2pPr>
      <a:lvl3pPr algn="ctr" rtl="0" eaLnBrk="1" fontAlgn="base" hangingPunct="1">
        <a:spcBef>
          <a:spcPct val="0"/>
        </a:spcBef>
        <a:spcAft>
          <a:spcPct val="0"/>
        </a:spcAft>
        <a:defRPr sz="4400">
          <a:solidFill>
            <a:schemeClr val="tx2"/>
          </a:solidFill>
          <a:latin typeface="Arial" charset="0"/>
          <a:ea typeface="宋体" charset="-122"/>
        </a:defRPr>
      </a:lvl3pPr>
      <a:lvl4pPr algn="ctr" rtl="0" eaLnBrk="1" fontAlgn="base" hangingPunct="1">
        <a:spcBef>
          <a:spcPct val="0"/>
        </a:spcBef>
        <a:spcAft>
          <a:spcPct val="0"/>
        </a:spcAft>
        <a:defRPr sz="4400">
          <a:solidFill>
            <a:schemeClr val="tx2"/>
          </a:solidFill>
          <a:latin typeface="Arial" charset="0"/>
          <a:ea typeface="宋体" charset="-122"/>
        </a:defRPr>
      </a:lvl4pPr>
      <a:lvl5pPr algn="ctr" rtl="0" eaLnBrk="1" fontAlgn="base" hangingPunct="1">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cs typeface="+mn-cs"/>
        </a:defRPr>
      </a:lvl1pPr>
      <a:lvl2pPr marL="742950" indent="-285750" algn="l" rtl="0" eaLnBrk="1" fontAlgn="base" hangingPunct="1">
        <a:spcBef>
          <a:spcPct val="20000"/>
        </a:spcBef>
        <a:spcAft>
          <a:spcPct val="0"/>
        </a:spcAft>
        <a:buChar char="–"/>
        <a:defRPr sz="2400">
          <a:solidFill>
            <a:schemeClr val="tx1"/>
          </a:solidFill>
          <a:latin typeface="黑体" panose="02010609060101010101" pitchFamily="49" charset="-122"/>
          <a:ea typeface="黑体" panose="02010609060101010101" pitchFamily="49" charset="-122"/>
        </a:defRPr>
      </a:lvl2pPr>
      <a:lvl3pPr marL="1143000" indent="-228600" algn="l" rtl="0" eaLnBrk="1" fontAlgn="base" hangingPunct="1">
        <a:spcBef>
          <a:spcPct val="20000"/>
        </a:spcBef>
        <a:spcAft>
          <a:spcPct val="0"/>
        </a:spcAft>
        <a:buChar char="•"/>
        <a:defRPr sz="2400">
          <a:solidFill>
            <a:schemeClr val="tx1"/>
          </a:solidFill>
          <a:latin typeface="楷体" pitchFamily="49" charset="-122"/>
          <a:ea typeface="楷体" pitchFamily="49" charset="-122"/>
        </a:defRPr>
      </a:lvl3pPr>
      <a:lvl4pPr marL="16002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4pPr>
      <a:lvl5pPr marL="2057400" indent="-228600" algn="l" rtl="0" eaLnBrk="1" fontAlgn="base" hangingPunct="1">
        <a:spcBef>
          <a:spcPct val="20000"/>
        </a:spcBef>
        <a:spcAft>
          <a:spcPct val="0"/>
        </a:spcAft>
        <a:buChar char="»"/>
        <a:defRPr sz="2000">
          <a:solidFill>
            <a:schemeClr val="tx1"/>
          </a:solidFill>
          <a:latin typeface="楷体" pitchFamily="49" charset="-122"/>
          <a:ea typeface="楷体" pitchFamily="49" charset="-122"/>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0826" y="404815"/>
            <a:ext cx="66262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303213" y="1700213"/>
            <a:ext cx="82296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6"/>
          <p:cNvSpPr txBox="1">
            <a:spLocks noChangeArrowheads="1"/>
          </p:cNvSpPr>
          <p:nvPr/>
        </p:nvSpPr>
        <p:spPr bwMode="auto">
          <a:xfrm>
            <a:off x="5580063" y="6332538"/>
            <a:ext cx="3600450" cy="336550"/>
          </a:xfrm>
          <a:prstGeom prst="rect">
            <a:avLst/>
          </a:prstGeom>
          <a:noFill/>
          <a:ln>
            <a:noFill/>
          </a:ln>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defRPr/>
            </a:pPr>
            <a:r>
              <a:rPr lang="zh-CN" altLang="en-US" sz="1600" smtClean="0">
                <a:solidFill>
                  <a:srgbClr val="000000"/>
                </a:solidFill>
                <a:ea typeface="黑体" panose="02010609060101010101" pitchFamily="49" charset="-122"/>
              </a:rPr>
              <a:t>统计学院“十年腾飞”学科规划汇报</a:t>
            </a:r>
            <a:endParaRPr lang="en-US" altLang="zh-CN" sz="1600" smtClean="0">
              <a:solidFill>
                <a:srgbClr val="000000"/>
              </a:solidFill>
              <a:ea typeface="黑体" panose="02010609060101010101" pitchFamily="49" charset="-122"/>
            </a:endParaRPr>
          </a:p>
        </p:txBody>
      </p:sp>
    </p:spTree>
    <p:extLst>
      <p:ext uri="{BB962C8B-B14F-4D97-AF65-F5344CB8AC3E}">
        <p14:creationId xmlns:p14="http://schemas.microsoft.com/office/powerpoint/2010/main" val="1149901062"/>
      </p:ext>
    </p:extLst>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Lst>
  <p:transition>
    <p:fade/>
  </p:transition>
  <p:timing>
    <p:tnLst>
      <p:par>
        <p:cTn id="1" dur="indefinite" restart="never" nodeType="tmRoot"/>
      </p:par>
    </p:tnLst>
  </p:timing>
  <p:txStyles>
    <p:titleStyle>
      <a:lvl1pPr algn="l" rtl="0" eaLnBrk="1" fontAlgn="base" hangingPunct="1">
        <a:spcBef>
          <a:spcPct val="0"/>
        </a:spcBef>
        <a:spcAft>
          <a:spcPct val="0"/>
        </a:spcAft>
        <a:defRPr sz="2800" b="1">
          <a:solidFill>
            <a:srgbClr val="FFFFFF"/>
          </a:solidFill>
          <a:latin typeface="+mj-lt"/>
          <a:ea typeface="+mj-ea"/>
          <a:cs typeface="+mj-cs"/>
        </a:defRPr>
      </a:lvl1pPr>
      <a:lvl2pPr algn="l" rtl="0" eaLnBrk="1" fontAlgn="base" hangingPunct="1">
        <a:spcBef>
          <a:spcPct val="0"/>
        </a:spcBef>
        <a:spcAft>
          <a:spcPct val="0"/>
        </a:spcAft>
        <a:defRPr sz="2800" b="1">
          <a:solidFill>
            <a:srgbClr val="FFFFFF"/>
          </a:solidFill>
          <a:latin typeface="Arial" pitchFamily="34" charset="0"/>
          <a:ea typeface="黑体" pitchFamily="49" charset="-122"/>
        </a:defRPr>
      </a:lvl2pPr>
      <a:lvl3pPr algn="l" rtl="0" eaLnBrk="1" fontAlgn="base" hangingPunct="1">
        <a:spcBef>
          <a:spcPct val="0"/>
        </a:spcBef>
        <a:spcAft>
          <a:spcPct val="0"/>
        </a:spcAft>
        <a:defRPr sz="2800" b="1">
          <a:solidFill>
            <a:srgbClr val="FFFFFF"/>
          </a:solidFill>
          <a:latin typeface="Arial" pitchFamily="34" charset="0"/>
          <a:ea typeface="黑体" pitchFamily="49" charset="-122"/>
        </a:defRPr>
      </a:lvl3pPr>
      <a:lvl4pPr algn="l" rtl="0" eaLnBrk="1" fontAlgn="base" hangingPunct="1">
        <a:spcBef>
          <a:spcPct val="0"/>
        </a:spcBef>
        <a:spcAft>
          <a:spcPct val="0"/>
        </a:spcAft>
        <a:defRPr sz="2800" b="1">
          <a:solidFill>
            <a:srgbClr val="FFFFFF"/>
          </a:solidFill>
          <a:latin typeface="Arial" pitchFamily="34" charset="0"/>
          <a:ea typeface="黑体" pitchFamily="49" charset="-122"/>
        </a:defRPr>
      </a:lvl4pPr>
      <a:lvl5pPr algn="l" rtl="0" eaLnBrk="1" fontAlgn="base" hangingPunct="1">
        <a:spcBef>
          <a:spcPct val="0"/>
        </a:spcBef>
        <a:spcAft>
          <a:spcPct val="0"/>
        </a:spcAft>
        <a:defRPr sz="2800" b="1">
          <a:solidFill>
            <a:srgbClr val="FFFFFF"/>
          </a:solidFill>
          <a:latin typeface="Arial" pitchFamily="34" charset="0"/>
          <a:ea typeface="黑体" pitchFamily="49" charset="-122"/>
        </a:defRPr>
      </a:lvl5pPr>
      <a:lvl6pPr marL="457200" algn="l" rtl="0" eaLnBrk="1" fontAlgn="base" hangingPunct="1">
        <a:spcBef>
          <a:spcPct val="0"/>
        </a:spcBef>
        <a:spcAft>
          <a:spcPct val="0"/>
        </a:spcAft>
        <a:defRPr sz="2800" b="1">
          <a:solidFill>
            <a:srgbClr val="FFFFFF"/>
          </a:solidFill>
          <a:latin typeface="Arial" pitchFamily="34" charset="0"/>
          <a:ea typeface="黑体" pitchFamily="49" charset="-122"/>
        </a:defRPr>
      </a:lvl6pPr>
      <a:lvl7pPr marL="914400" algn="l" rtl="0" eaLnBrk="1" fontAlgn="base" hangingPunct="1">
        <a:spcBef>
          <a:spcPct val="0"/>
        </a:spcBef>
        <a:spcAft>
          <a:spcPct val="0"/>
        </a:spcAft>
        <a:defRPr sz="2800" b="1">
          <a:solidFill>
            <a:srgbClr val="FFFFFF"/>
          </a:solidFill>
          <a:latin typeface="Arial" pitchFamily="34" charset="0"/>
          <a:ea typeface="黑体" pitchFamily="49" charset="-122"/>
        </a:defRPr>
      </a:lvl7pPr>
      <a:lvl8pPr marL="1371600" algn="l" rtl="0" eaLnBrk="1" fontAlgn="base" hangingPunct="1">
        <a:spcBef>
          <a:spcPct val="0"/>
        </a:spcBef>
        <a:spcAft>
          <a:spcPct val="0"/>
        </a:spcAft>
        <a:defRPr sz="2800" b="1">
          <a:solidFill>
            <a:srgbClr val="FFFFFF"/>
          </a:solidFill>
          <a:latin typeface="Arial" pitchFamily="34" charset="0"/>
          <a:ea typeface="黑体" pitchFamily="49" charset="-122"/>
        </a:defRPr>
      </a:lvl8pPr>
      <a:lvl9pPr marL="1828800" algn="l" rtl="0" eaLnBrk="1" fontAlgn="base" hangingPunct="1">
        <a:spcBef>
          <a:spcPct val="0"/>
        </a:spcBef>
        <a:spcAft>
          <a:spcPct val="0"/>
        </a:spcAft>
        <a:defRPr sz="2800" b="1">
          <a:solidFill>
            <a:srgbClr val="FFFFFF"/>
          </a:solidFill>
          <a:latin typeface="Arial" pitchFamily="34" charset="0"/>
          <a:ea typeface="黑体" pitchFamily="49" charset="-122"/>
        </a:defRPr>
      </a:lvl9pPr>
    </p:titleStyle>
    <p:bodyStyle>
      <a:lvl1pPr marL="469900" indent="-469900" algn="l" rtl="0" eaLnBrk="1" fontAlgn="base" hangingPunct="1">
        <a:spcBef>
          <a:spcPct val="20000"/>
        </a:spcBef>
        <a:spcAft>
          <a:spcPct val="0"/>
        </a:spcAft>
        <a:buClr>
          <a:srgbClr val="0066FF"/>
        </a:buClr>
        <a:buFont typeface="Wingdings" pitchFamily="2" charset="2"/>
        <a:buChar char="o"/>
        <a:defRPr sz="3000" b="1">
          <a:solidFill>
            <a:srgbClr val="000000"/>
          </a:solidFill>
          <a:latin typeface="+mn-lt"/>
          <a:ea typeface="+mn-ea"/>
          <a:cs typeface="+mn-cs"/>
        </a:defRPr>
      </a:lvl1pPr>
      <a:lvl2pPr marL="908050" indent="-436563" algn="l" rtl="0" eaLnBrk="1" fontAlgn="base" hangingPunct="1">
        <a:spcBef>
          <a:spcPct val="20000"/>
        </a:spcBef>
        <a:spcAft>
          <a:spcPct val="0"/>
        </a:spcAft>
        <a:buClr>
          <a:srgbClr val="0066FF"/>
        </a:buClr>
        <a:buFont typeface="Wingdings" pitchFamily="2" charset="2"/>
        <a:buChar char="n"/>
        <a:defRPr sz="2600" b="1">
          <a:solidFill>
            <a:srgbClr val="000000"/>
          </a:solidFill>
          <a:latin typeface="+mn-lt"/>
          <a:ea typeface="+mn-ea"/>
        </a:defRPr>
      </a:lvl2pPr>
      <a:lvl3pPr marL="1304925" indent="-395288" algn="l" rtl="0" eaLnBrk="1" fontAlgn="base" hangingPunct="1">
        <a:spcBef>
          <a:spcPct val="20000"/>
        </a:spcBef>
        <a:spcAft>
          <a:spcPct val="0"/>
        </a:spcAft>
        <a:buClr>
          <a:srgbClr val="0066FF"/>
        </a:buClr>
        <a:buFont typeface="Wingdings" pitchFamily="2" charset="2"/>
        <a:buChar char="o"/>
        <a:defRPr sz="2300" b="1">
          <a:solidFill>
            <a:srgbClr val="000000"/>
          </a:solidFill>
          <a:latin typeface="+mn-lt"/>
          <a:ea typeface="+mn-ea"/>
        </a:defRPr>
      </a:lvl3pPr>
      <a:lvl4pPr marL="1693863" indent="-387350" algn="l" rtl="0" eaLnBrk="1" fontAlgn="base" hangingPunct="1">
        <a:spcBef>
          <a:spcPct val="20000"/>
        </a:spcBef>
        <a:spcAft>
          <a:spcPct val="0"/>
        </a:spcAft>
        <a:buClr>
          <a:srgbClr val="0066FF"/>
        </a:buClr>
        <a:buFont typeface="Wingdings" pitchFamily="2" charset="2"/>
        <a:buChar char="n"/>
        <a:defRPr sz="2000" b="1">
          <a:solidFill>
            <a:srgbClr val="000000"/>
          </a:solidFill>
          <a:latin typeface="+mn-lt"/>
          <a:ea typeface="+mn-ea"/>
        </a:defRPr>
      </a:lvl4pPr>
      <a:lvl5pPr marL="20939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5pPr>
      <a:lvl6pPr marL="25511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6pPr>
      <a:lvl7pPr marL="30083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7pPr>
      <a:lvl8pPr marL="34655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8pPr>
      <a:lvl9pPr marL="3922713" indent="-398463" algn="l" rtl="0" eaLnBrk="1" fontAlgn="base" hangingPunct="1">
        <a:spcBef>
          <a:spcPct val="25000"/>
        </a:spcBef>
        <a:spcAft>
          <a:spcPct val="0"/>
        </a:spcAft>
        <a:buClr>
          <a:srgbClr val="0066FF"/>
        </a:buClr>
        <a:buFont typeface="Wingdings" pitchFamily="2" charset="2"/>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1"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smtClean="0"/>
              <a:t>单击此处编辑母版标题样式</a:t>
            </a:r>
          </a:p>
        </p:txBody>
      </p:sp>
      <p:sp>
        <p:nvSpPr>
          <p:cNvPr id="2052"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9221"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b="0"/>
            </a:lvl1pPr>
          </a:lstStyle>
          <a:p>
            <a:pPr>
              <a:defRPr/>
            </a:pPr>
            <a:endParaRPr lang="en-US" altLang="zh-CN"/>
          </a:p>
        </p:txBody>
      </p:sp>
      <p:sp>
        <p:nvSpPr>
          <p:cNvPr id="9222"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0"/>
            </a:lvl1pPr>
          </a:lstStyle>
          <a:p>
            <a:pPr>
              <a:defRPr/>
            </a:pPr>
            <a:endParaRPr lang="en-US" altLang="zh-CN"/>
          </a:p>
        </p:txBody>
      </p:sp>
      <p:sp>
        <p:nvSpPr>
          <p:cNvPr id="9223"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0"/>
            </a:lvl1pPr>
          </a:lstStyle>
          <a:p>
            <a:pPr>
              <a:defRPr/>
            </a:pPr>
            <a:fld id="{A32BAB2A-B81C-4B6C-84D4-8377280A1CB0}" type="slidenum">
              <a:rPr lang="en-US" altLang="zh-CN"/>
              <a:pPr>
                <a:defRPr/>
              </a:pPr>
              <a:t>‹#›</a:t>
            </a:fld>
            <a:endParaRPr lang="en-US" altLang="zh-CN"/>
          </a:p>
        </p:txBody>
      </p:sp>
      <p:grpSp>
        <p:nvGrpSpPr>
          <p:cNvPr id="2056" name="Group 8"/>
          <p:cNvGrpSpPr>
            <a:grpSpLocks/>
          </p:cNvGrpSpPr>
          <p:nvPr/>
        </p:nvGrpSpPr>
        <p:grpSpPr bwMode="auto">
          <a:xfrm>
            <a:off x="8153400" y="152400"/>
            <a:ext cx="792163" cy="1295400"/>
            <a:chOff x="5136" y="960"/>
            <a:chExt cx="528" cy="864"/>
          </a:xfrm>
        </p:grpSpPr>
        <p:sp>
          <p:nvSpPr>
            <p:cNvPr id="2057"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58" name="Oval 10"/>
            <p:cNvSpPr>
              <a:spLocks noChangeArrowheads="1"/>
            </p:cNvSpPr>
            <p:nvPr/>
          </p:nvSpPr>
          <p:spPr bwMode="auto">
            <a:xfrm>
              <a:off x="5248"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59" name="Oval 11"/>
            <p:cNvSpPr>
              <a:spLocks noChangeArrowheads="1"/>
            </p:cNvSpPr>
            <p:nvPr/>
          </p:nvSpPr>
          <p:spPr bwMode="auto">
            <a:xfrm>
              <a:off x="5360" y="960"/>
              <a:ext cx="76"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0" name="Oval 12"/>
            <p:cNvSpPr>
              <a:spLocks noChangeArrowheads="1"/>
            </p:cNvSpPr>
            <p:nvPr/>
          </p:nvSpPr>
          <p:spPr bwMode="auto">
            <a:xfrm>
              <a:off x="5136" y="1072"/>
              <a:ext cx="80" cy="7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1" name="Oval 13"/>
            <p:cNvSpPr>
              <a:spLocks noChangeArrowheads="1"/>
            </p:cNvSpPr>
            <p:nvPr/>
          </p:nvSpPr>
          <p:spPr bwMode="auto">
            <a:xfrm>
              <a:off x="5248" y="1072"/>
              <a:ext cx="79" cy="7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2" name="Oval 14"/>
            <p:cNvSpPr>
              <a:spLocks noChangeArrowheads="1"/>
            </p:cNvSpPr>
            <p:nvPr/>
          </p:nvSpPr>
          <p:spPr bwMode="auto">
            <a:xfrm>
              <a:off x="5360" y="1072"/>
              <a:ext cx="76" cy="7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3" name="Oval 15"/>
            <p:cNvSpPr>
              <a:spLocks noChangeArrowheads="1"/>
            </p:cNvSpPr>
            <p:nvPr/>
          </p:nvSpPr>
          <p:spPr bwMode="auto">
            <a:xfrm>
              <a:off x="5472" y="1072"/>
              <a:ext cx="73" cy="7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4" name="Oval 16"/>
            <p:cNvSpPr>
              <a:spLocks noChangeArrowheads="1"/>
            </p:cNvSpPr>
            <p:nvPr/>
          </p:nvSpPr>
          <p:spPr bwMode="auto">
            <a:xfrm>
              <a:off x="5136" y="1184"/>
              <a:ext cx="80" cy="73"/>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5" name="Oval 17"/>
            <p:cNvSpPr>
              <a:spLocks noChangeArrowheads="1"/>
            </p:cNvSpPr>
            <p:nvPr/>
          </p:nvSpPr>
          <p:spPr bwMode="auto">
            <a:xfrm>
              <a:off x="5248" y="1184"/>
              <a:ext cx="79" cy="73"/>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6" name="Oval 18"/>
            <p:cNvSpPr>
              <a:spLocks noChangeArrowheads="1"/>
            </p:cNvSpPr>
            <p:nvPr/>
          </p:nvSpPr>
          <p:spPr bwMode="auto">
            <a:xfrm>
              <a:off x="5360" y="1184"/>
              <a:ext cx="76" cy="73"/>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7" name="Oval 19"/>
            <p:cNvSpPr>
              <a:spLocks noChangeArrowheads="1"/>
            </p:cNvSpPr>
            <p:nvPr/>
          </p:nvSpPr>
          <p:spPr bwMode="auto">
            <a:xfrm>
              <a:off x="5472" y="1184"/>
              <a:ext cx="73" cy="73"/>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8" name="Oval 20"/>
            <p:cNvSpPr>
              <a:spLocks noChangeArrowheads="1"/>
            </p:cNvSpPr>
            <p:nvPr/>
          </p:nvSpPr>
          <p:spPr bwMode="auto">
            <a:xfrm>
              <a:off x="5584" y="1184"/>
              <a:ext cx="80" cy="73"/>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9"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0" name="Oval 22"/>
            <p:cNvSpPr>
              <a:spLocks noChangeArrowheads="1"/>
            </p:cNvSpPr>
            <p:nvPr/>
          </p:nvSpPr>
          <p:spPr bwMode="auto">
            <a:xfrm>
              <a:off x="5248"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1" name="Oval 23"/>
            <p:cNvSpPr>
              <a:spLocks noChangeArrowheads="1"/>
            </p:cNvSpPr>
            <p:nvPr/>
          </p:nvSpPr>
          <p:spPr bwMode="auto">
            <a:xfrm>
              <a:off x="5360" y="1296"/>
              <a:ext cx="76"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2" name="Oval 24"/>
            <p:cNvSpPr>
              <a:spLocks noChangeArrowheads="1"/>
            </p:cNvSpPr>
            <p:nvPr/>
          </p:nvSpPr>
          <p:spPr bwMode="auto">
            <a:xfrm>
              <a:off x="5472" y="1296"/>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3"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4" name="Oval 26"/>
            <p:cNvSpPr>
              <a:spLocks noChangeArrowheads="1"/>
            </p:cNvSpPr>
            <p:nvPr/>
          </p:nvSpPr>
          <p:spPr bwMode="auto">
            <a:xfrm>
              <a:off x="5248" y="1408"/>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5" name="Oval 27"/>
            <p:cNvSpPr>
              <a:spLocks noChangeArrowheads="1"/>
            </p:cNvSpPr>
            <p:nvPr/>
          </p:nvSpPr>
          <p:spPr bwMode="auto">
            <a:xfrm>
              <a:off x="5360" y="1408"/>
              <a:ext cx="76"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6" name="Oval 28"/>
            <p:cNvSpPr>
              <a:spLocks noChangeArrowheads="1"/>
            </p:cNvSpPr>
            <p:nvPr/>
          </p:nvSpPr>
          <p:spPr bwMode="auto">
            <a:xfrm>
              <a:off x="5472" y="1408"/>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7"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8" name="Oval 30"/>
            <p:cNvSpPr>
              <a:spLocks noChangeArrowheads="1"/>
            </p:cNvSpPr>
            <p:nvPr/>
          </p:nvSpPr>
          <p:spPr bwMode="auto">
            <a:xfrm>
              <a:off x="5136" y="1520"/>
              <a:ext cx="80"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9" name="Oval 31"/>
            <p:cNvSpPr>
              <a:spLocks noChangeArrowheads="1"/>
            </p:cNvSpPr>
            <p:nvPr/>
          </p:nvSpPr>
          <p:spPr bwMode="auto">
            <a:xfrm>
              <a:off x="5248"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0" name="Oval 32"/>
            <p:cNvSpPr>
              <a:spLocks noChangeArrowheads="1"/>
            </p:cNvSpPr>
            <p:nvPr/>
          </p:nvSpPr>
          <p:spPr bwMode="auto">
            <a:xfrm>
              <a:off x="5360" y="1520"/>
              <a:ext cx="76"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1" name="Oval 33"/>
            <p:cNvSpPr>
              <a:spLocks noChangeArrowheads="1"/>
            </p:cNvSpPr>
            <p:nvPr/>
          </p:nvSpPr>
          <p:spPr bwMode="auto">
            <a:xfrm>
              <a:off x="5472" y="1520"/>
              <a:ext cx="73"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2" name="Oval 34"/>
            <p:cNvSpPr>
              <a:spLocks noChangeArrowheads="1"/>
            </p:cNvSpPr>
            <p:nvPr/>
          </p:nvSpPr>
          <p:spPr bwMode="auto">
            <a:xfrm>
              <a:off x="5136" y="1632"/>
              <a:ext cx="80"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3" name="Oval 35"/>
            <p:cNvSpPr>
              <a:spLocks noChangeArrowheads="1"/>
            </p:cNvSpPr>
            <p:nvPr/>
          </p:nvSpPr>
          <p:spPr bwMode="auto">
            <a:xfrm>
              <a:off x="5248" y="1632"/>
              <a:ext cx="79"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4" name="Oval 36"/>
            <p:cNvSpPr>
              <a:spLocks noChangeArrowheads="1"/>
            </p:cNvSpPr>
            <p:nvPr/>
          </p:nvSpPr>
          <p:spPr bwMode="auto">
            <a:xfrm>
              <a:off x="5360" y="1632"/>
              <a:ext cx="76"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5" name="Oval 37"/>
            <p:cNvSpPr>
              <a:spLocks noChangeArrowheads="1"/>
            </p:cNvSpPr>
            <p:nvPr/>
          </p:nvSpPr>
          <p:spPr bwMode="auto">
            <a:xfrm>
              <a:off x="5472" y="1632"/>
              <a:ext cx="73"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6" name="Oval 38"/>
            <p:cNvSpPr>
              <a:spLocks noChangeArrowheads="1"/>
            </p:cNvSpPr>
            <p:nvPr/>
          </p:nvSpPr>
          <p:spPr bwMode="auto">
            <a:xfrm>
              <a:off x="5248"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7" name="Oval 39"/>
            <p:cNvSpPr>
              <a:spLocks noChangeArrowheads="1"/>
            </p:cNvSpPr>
            <p:nvPr/>
          </p:nvSpPr>
          <p:spPr bwMode="auto">
            <a:xfrm>
              <a:off x="5472" y="1744"/>
              <a:ext cx="73"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grpSp>
    </p:spTree>
    <p:extLst>
      <p:ext uri="{BB962C8B-B14F-4D97-AF65-F5344CB8AC3E}">
        <p14:creationId xmlns:p14="http://schemas.microsoft.com/office/powerpoint/2010/main" val="1951072526"/>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Lst>
  <p:timing>
    <p:tnLst>
      <p:par>
        <p:cTn id="1" dur="indefinite" restart="never" nodeType="tmRoot"/>
      </p:par>
    </p:tnLst>
  </p:timing>
  <p:hf hdr="0" ftr="0" dt="0"/>
  <p:txStyles>
    <p:titleStyle>
      <a:lvl1pPr algn="l" rtl="0" eaLnBrk="0" fontAlgn="base" hangingPunct="0">
        <a:spcBef>
          <a:spcPct val="0"/>
        </a:spcBef>
        <a:spcAft>
          <a:spcPct val="0"/>
        </a:spcAft>
        <a:defRPr sz="2800" b="1" kern="1200">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20000"/>
        </a:lnSpc>
        <a:spcBef>
          <a:spcPct val="30000"/>
        </a:spcBef>
        <a:spcAft>
          <a:spcPct val="0"/>
        </a:spcAft>
        <a:buClr>
          <a:schemeClr val="tx2"/>
        </a:buClr>
        <a:buSzPct val="70000"/>
        <a:buFont typeface="Wingdings" panose="05000000000000000000" pitchFamily="2" charset="2"/>
        <a:buChar char="l"/>
        <a:defRPr sz="2400" kern="1200">
          <a:solidFill>
            <a:schemeClr val="tx1"/>
          </a:solidFill>
          <a:latin typeface="+mn-lt"/>
          <a:ea typeface="+mn-ea"/>
          <a:cs typeface="+mn-cs"/>
        </a:defRPr>
      </a:lvl1pPr>
      <a:lvl2pPr marL="692150" indent="-347663" algn="l" rtl="0" eaLnBrk="0" fontAlgn="base" hangingPunct="0">
        <a:lnSpc>
          <a:spcPct val="120000"/>
        </a:lnSpc>
        <a:spcBef>
          <a:spcPct val="30000"/>
        </a:spcBef>
        <a:spcAft>
          <a:spcPct val="0"/>
        </a:spcAft>
        <a:buClr>
          <a:schemeClr val="accent2"/>
        </a:buClr>
        <a:buSzPct val="70000"/>
        <a:buFont typeface="Wingdings" panose="05000000000000000000" pitchFamily="2" charset="2"/>
        <a:buChar char="l"/>
        <a:defRPr sz="2400" kern="1200">
          <a:solidFill>
            <a:schemeClr val="tx1"/>
          </a:solidFill>
          <a:latin typeface="+mn-lt"/>
          <a:ea typeface="+mn-ea"/>
          <a:cs typeface="+mn-cs"/>
        </a:defRPr>
      </a:lvl2pPr>
      <a:lvl3pPr marL="987425" indent="-293688" algn="l" rtl="0" eaLnBrk="0" fontAlgn="base" hangingPunct="0">
        <a:lnSpc>
          <a:spcPct val="120000"/>
        </a:lnSpc>
        <a:spcBef>
          <a:spcPct val="30000"/>
        </a:spcBef>
        <a:spcAft>
          <a:spcPct val="0"/>
        </a:spcAft>
        <a:buClr>
          <a:schemeClr val="accent1"/>
        </a:buClr>
        <a:buSzPct val="70000"/>
        <a:buFont typeface="Wingdings" panose="05000000000000000000" pitchFamily="2" charset="2"/>
        <a:buChar char="l"/>
        <a:defRPr sz="2400" kern="1200">
          <a:solidFill>
            <a:schemeClr val="tx1"/>
          </a:solidFill>
          <a:latin typeface="+mn-lt"/>
          <a:ea typeface="+mn-ea"/>
          <a:cs typeface="+mn-cs"/>
        </a:defRPr>
      </a:lvl3pPr>
      <a:lvl4pPr marL="1281113" indent="-292100" algn="l" rtl="0" eaLnBrk="0" fontAlgn="base" hangingPunct="0">
        <a:lnSpc>
          <a:spcPct val="120000"/>
        </a:lnSpc>
        <a:spcBef>
          <a:spcPct val="30000"/>
        </a:spcBef>
        <a:spcAft>
          <a:spcPct val="0"/>
        </a:spcAft>
        <a:buClr>
          <a:schemeClr val="tx2"/>
        </a:buClr>
        <a:buSzPct val="75000"/>
        <a:buFont typeface="Wingdings" panose="05000000000000000000" pitchFamily="2" charset="2"/>
        <a:buChar char="§"/>
        <a:defRPr sz="2400" kern="1200">
          <a:solidFill>
            <a:schemeClr val="tx1"/>
          </a:solidFill>
          <a:latin typeface="+mn-lt"/>
          <a:ea typeface="+mn-ea"/>
          <a:cs typeface="+mn-cs"/>
        </a:defRPr>
      </a:lvl4pPr>
      <a:lvl5pPr marL="1598613" indent="-315913" algn="l" rtl="0" eaLnBrk="0" fontAlgn="base" hangingPunct="0">
        <a:lnSpc>
          <a:spcPct val="120000"/>
        </a:lnSpc>
        <a:spcBef>
          <a:spcPct val="30000"/>
        </a:spcBef>
        <a:spcAft>
          <a:spcPct val="0"/>
        </a:spcAft>
        <a:buClr>
          <a:schemeClr val="folHlink"/>
        </a:buClr>
        <a:buSzPct val="80000"/>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1"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smtClean="0"/>
              <a:t>单击此处编辑母版标题样式</a:t>
            </a:r>
          </a:p>
        </p:txBody>
      </p:sp>
      <p:sp>
        <p:nvSpPr>
          <p:cNvPr id="2052"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9221"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b="0"/>
            </a:lvl1pPr>
          </a:lstStyle>
          <a:p>
            <a:pPr>
              <a:defRPr/>
            </a:pPr>
            <a:endParaRPr lang="en-US" altLang="zh-CN"/>
          </a:p>
        </p:txBody>
      </p:sp>
      <p:sp>
        <p:nvSpPr>
          <p:cNvPr id="9222"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0"/>
            </a:lvl1pPr>
          </a:lstStyle>
          <a:p>
            <a:pPr>
              <a:defRPr/>
            </a:pPr>
            <a:endParaRPr lang="en-US" altLang="zh-CN"/>
          </a:p>
        </p:txBody>
      </p:sp>
      <p:sp>
        <p:nvSpPr>
          <p:cNvPr id="9223"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0"/>
            </a:lvl1pPr>
          </a:lstStyle>
          <a:p>
            <a:pPr>
              <a:defRPr/>
            </a:pPr>
            <a:fld id="{8DF107F5-A805-484A-8575-49765070FC38}" type="slidenum">
              <a:rPr lang="en-US" altLang="zh-CN"/>
              <a:pPr>
                <a:defRPr/>
              </a:pPr>
              <a:t>‹#›</a:t>
            </a:fld>
            <a:endParaRPr lang="en-US" altLang="zh-CN"/>
          </a:p>
        </p:txBody>
      </p:sp>
      <p:grpSp>
        <p:nvGrpSpPr>
          <p:cNvPr id="2056" name="Group 8"/>
          <p:cNvGrpSpPr>
            <a:grpSpLocks/>
          </p:cNvGrpSpPr>
          <p:nvPr/>
        </p:nvGrpSpPr>
        <p:grpSpPr bwMode="auto">
          <a:xfrm>
            <a:off x="8153400" y="152400"/>
            <a:ext cx="792163" cy="1295400"/>
            <a:chOff x="5136" y="960"/>
            <a:chExt cx="528" cy="864"/>
          </a:xfrm>
        </p:grpSpPr>
        <p:sp>
          <p:nvSpPr>
            <p:cNvPr id="2057"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58" name="Oval 10"/>
            <p:cNvSpPr>
              <a:spLocks noChangeArrowheads="1"/>
            </p:cNvSpPr>
            <p:nvPr/>
          </p:nvSpPr>
          <p:spPr bwMode="auto">
            <a:xfrm>
              <a:off x="5248"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59" name="Oval 11"/>
            <p:cNvSpPr>
              <a:spLocks noChangeArrowheads="1"/>
            </p:cNvSpPr>
            <p:nvPr/>
          </p:nvSpPr>
          <p:spPr bwMode="auto">
            <a:xfrm>
              <a:off x="5360" y="960"/>
              <a:ext cx="76"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0" name="Oval 12"/>
            <p:cNvSpPr>
              <a:spLocks noChangeArrowheads="1"/>
            </p:cNvSpPr>
            <p:nvPr/>
          </p:nvSpPr>
          <p:spPr bwMode="auto">
            <a:xfrm>
              <a:off x="5136" y="1072"/>
              <a:ext cx="80" cy="7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1" name="Oval 13"/>
            <p:cNvSpPr>
              <a:spLocks noChangeArrowheads="1"/>
            </p:cNvSpPr>
            <p:nvPr/>
          </p:nvSpPr>
          <p:spPr bwMode="auto">
            <a:xfrm>
              <a:off x="5248" y="1072"/>
              <a:ext cx="79" cy="7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2" name="Oval 14"/>
            <p:cNvSpPr>
              <a:spLocks noChangeArrowheads="1"/>
            </p:cNvSpPr>
            <p:nvPr/>
          </p:nvSpPr>
          <p:spPr bwMode="auto">
            <a:xfrm>
              <a:off x="5360" y="1072"/>
              <a:ext cx="76" cy="7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3" name="Oval 15"/>
            <p:cNvSpPr>
              <a:spLocks noChangeArrowheads="1"/>
            </p:cNvSpPr>
            <p:nvPr/>
          </p:nvSpPr>
          <p:spPr bwMode="auto">
            <a:xfrm>
              <a:off x="5472" y="1072"/>
              <a:ext cx="73" cy="7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4" name="Oval 16"/>
            <p:cNvSpPr>
              <a:spLocks noChangeArrowheads="1"/>
            </p:cNvSpPr>
            <p:nvPr/>
          </p:nvSpPr>
          <p:spPr bwMode="auto">
            <a:xfrm>
              <a:off x="5136" y="1184"/>
              <a:ext cx="80" cy="73"/>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5" name="Oval 17"/>
            <p:cNvSpPr>
              <a:spLocks noChangeArrowheads="1"/>
            </p:cNvSpPr>
            <p:nvPr/>
          </p:nvSpPr>
          <p:spPr bwMode="auto">
            <a:xfrm>
              <a:off x="5248" y="1184"/>
              <a:ext cx="79" cy="73"/>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6" name="Oval 18"/>
            <p:cNvSpPr>
              <a:spLocks noChangeArrowheads="1"/>
            </p:cNvSpPr>
            <p:nvPr/>
          </p:nvSpPr>
          <p:spPr bwMode="auto">
            <a:xfrm>
              <a:off x="5360" y="1184"/>
              <a:ext cx="76" cy="73"/>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7" name="Oval 19"/>
            <p:cNvSpPr>
              <a:spLocks noChangeArrowheads="1"/>
            </p:cNvSpPr>
            <p:nvPr/>
          </p:nvSpPr>
          <p:spPr bwMode="auto">
            <a:xfrm>
              <a:off x="5472" y="1184"/>
              <a:ext cx="73" cy="73"/>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8" name="Oval 20"/>
            <p:cNvSpPr>
              <a:spLocks noChangeArrowheads="1"/>
            </p:cNvSpPr>
            <p:nvPr/>
          </p:nvSpPr>
          <p:spPr bwMode="auto">
            <a:xfrm>
              <a:off x="5584" y="1184"/>
              <a:ext cx="80" cy="73"/>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69"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0" name="Oval 22"/>
            <p:cNvSpPr>
              <a:spLocks noChangeArrowheads="1"/>
            </p:cNvSpPr>
            <p:nvPr/>
          </p:nvSpPr>
          <p:spPr bwMode="auto">
            <a:xfrm>
              <a:off x="5248"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1" name="Oval 23"/>
            <p:cNvSpPr>
              <a:spLocks noChangeArrowheads="1"/>
            </p:cNvSpPr>
            <p:nvPr/>
          </p:nvSpPr>
          <p:spPr bwMode="auto">
            <a:xfrm>
              <a:off x="5360" y="1296"/>
              <a:ext cx="76"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2" name="Oval 24"/>
            <p:cNvSpPr>
              <a:spLocks noChangeArrowheads="1"/>
            </p:cNvSpPr>
            <p:nvPr/>
          </p:nvSpPr>
          <p:spPr bwMode="auto">
            <a:xfrm>
              <a:off x="5472" y="1296"/>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3"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4" name="Oval 26"/>
            <p:cNvSpPr>
              <a:spLocks noChangeArrowheads="1"/>
            </p:cNvSpPr>
            <p:nvPr/>
          </p:nvSpPr>
          <p:spPr bwMode="auto">
            <a:xfrm>
              <a:off x="5248" y="1408"/>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5" name="Oval 27"/>
            <p:cNvSpPr>
              <a:spLocks noChangeArrowheads="1"/>
            </p:cNvSpPr>
            <p:nvPr/>
          </p:nvSpPr>
          <p:spPr bwMode="auto">
            <a:xfrm>
              <a:off x="5360" y="1408"/>
              <a:ext cx="76"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6" name="Oval 28"/>
            <p:cNvSpPr>
              <a:spLocks noChangeArrowheads="1"/>
            </p:cNvSpPr>
            <p:nvPr/>
          </p:nvSpPr>
          <p:spPr bwMode="auto">
            <a:xfrm>
              <a:off x="5472" y="1408"/>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7"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8" name="Oval 30"/>
            <p:cNvSpPr>
              <a:spLocks noChangeArrowheads="1"/>
            </p:cNvSpPr>
            <p:nvPr/>
          </p:nvSpPr>
          <p:spPr bwMode="auto">
            <a:xfrm>
              <a:off x="5136" y="1520"/>
              <a:ext cx="80"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79" name="Oval 31"/>
            <p:cNvSpPr>
              <a:spLocks noChangeArrowheads="1"/>
            </p:cNvSpPr>
            <p:nvPr/>
          </p:nvSpPr>
          <p:spPr bwMode="auto">
            <a:xfrm>
              <a:off x="5248"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0" name="Oval 32"/>
            <p:cNvSpPr>
              <a:spLocks noChangeArrowheads="1"/>
            </p:cNvSpPr>
            <p:nvPr/>
          </p:nvSpPr>
          <p:spPr bwMode="auto">
            <a:xfrm>
              <a:off x="5360" y="1520"/>
              <a:ext cx="76"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1" name="Oval 33"/>
            <p:cNvSpPr>
              <a:spLocks noChangeArrowheads="1"/>
            </p:cNvSpPr>
            <p:nvPr/>
          </p:nvSpPr>
          <p:spPr bwMode="auto">
            <a:xfrm>
              <a:off x="5472" y="1520"/>
              <a:ext cx="73"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2" name="Oval 34"/>
            <p:cNvSpPr>
              <a:spLocks noChangeArrowheads="1"/>
            </p:cNvSpPr>
            <p:nvPr/>
          </p:nvSpPr>
          <p:spPr bwMode="auto">
            <a:xfrm>
              <a:off x="5136" y="1632"/>
              <a:ext cx="80"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3" name="Oval 35"/>
            <p:cNvSpPr>
              <a:spLocks noChangeArrowheads="1"/>
            </p:cNvSpPr>
            <p:nvPr/>
          </p:nvSpPr>
          <p:spPr bwMode="auto">
            <a:xfrm>
              <a:off x="5248" y="1632"/>
              <a:ext cx="79"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4" name="Oval 36"/>
            <p:cNvSpPr>
              <a:spLocks noChangeArrowheads="1"/>
            </p:cNvSpPr>
            <p:nvPr/>
          </p:nvSpPr>
          <p:spPr bwMode="auto">
            <a:xfrm>
              <a:off x="5360" y="1632"/>
              <a:ext cx="76"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5" name="Oval 37"/>
            <p:cNvSpPr>
              <a:spLocks noChangeArrowheads="1"/>
            </p:cNvSpPr>
            <p:nvPr/>
          </p:nvSpPr>
          <p:spPr bwMode="auto">
            <a:xfrm>
              <a:off x="5472" y="1632"/>
              <a:ext cx="73"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6" name="Oval 38"/>
            <p:cNvSpPr>
              <a:spLocks noChangeArrowheads="1"/>
            </p:cNvSpPr>
            <p:nvPr/>
          </p:nvSpPr>
          <p:spPr bwMode="auto">
            <a:xfrm>
              <a:off x="5248"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2087" name="Oval 39"/>
            <p:cNvSpPr>
              <a:spLocks noChangeArrowheads="1"/>
            </p:cNvSpPr>
            <p:nvPr/>
          </p:nvSpPr>
          <p:spPr bwMode="auto">
            <a:xfrm>
              <a:off x="5472" y="1744"/>
              <a:ext cx="73"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grpSp>
    </p:spTree>
    <p:extLst>
      <p:ext uri="{BB962C8B-B14F-4D97-AF65-F5344CB8AC3E}">
        <p14:creationId xmlns:p14="http://schemas.microsoft.com/office/powerpoint/2010/main" val="3961061236"/>
      </p:ext>
    </p:extLst>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7" r:id="rId13"/>
    <p:sldLayoutId id="2147483918" r:id="rId14"/>
    <p:sldLayoutId id="2147483919" r:id="rId15"/>
  </p:sldLayoutIdLst>
  <p:timing>
    <p:tnLst>
      <p:par>
        <p:cTn id="1" dur="indefinite" restart="never" nodeType="tmRoot"/>
      </p:par>
    </p:tnLst>
  </p:timing>
  <p:hf hdr="0" ftr="0" dt="0"/>
  <p:txStyles>
    <p:titleStyle>
      <a:lvl1pPr algn="l" rtl="0" eaLnBrk="0" fontAlgn="base" hangingPunct="0">
        <a:spcBef>
          <a:spcPct val="0"/>
        </a:spcBef>
        <a:spcAft>
          <a:spcPct val="0"/>
        </a:spcAft>
        <a:defRPr sz="2800" b="1" kern="1200">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lnSpc>
          <a:spcPct val="120000"/>
        </a:lnSpc>
        <a:spcBef>
          <a:spcPct val="30000"/>
        </a:spcBef>
        <a:spcAft>
          <a:spcPct val="0"/>
        </a:spcAft>
        <a:buClr>
          <a:schemeClr val="tx2"/>
        </a:buClr>
        <a:buSzPct val="70000"/>
        <a:buFont typeface="Wingdings" panose="05000000000000000000" pitchFamily="2" charset="2"/>
        <a:buChar char="l"/>
        <a:defRPr sz="2400" kern="1200">
          <a:solidFill>
            <a:schemeClr val="tx1"/>
          </a:solidFill>
          <a:latin typeface="+mn-lt"/>
          <a:ea typeface="+mn-ea"/>
          <a:cs typeface="+mn-cs"/>
        </a:defRPr>
      </a:lvl1pPr>
      <a:lvl2pPr marL="692150" indent="-347663" algn="l" rtl="0" eaLnBrk="0" fontAlgn="base" hangingPunct="0">
        <a:lnSpc>
          <a:spcPct val="120000"/>
        </a:lnSpc>
        <a:spcBef>
          <a:spcPct val="30000"/>
        </a:spcBef>
        <a:spcAft>
          <a:spcPct val="0"/>
        </a:spcAft>
        <a:buClr>
          <a:schemeClr val="accent2"/>
        </a:buClr>
        <a:buSzPct val="70000"/>
        <a:buFont typeface="Wingdings" panose="05000000000000000000" pitchFamily="2" charset="2"/>
        <a:buChar char="l"/>
        <a:defRPr sz="2400" kern="1200">
          <a:solidFill>
            <a:schemeClr val="tx1"/>
          </a:solidFill>
          <a:latin typeface="+mn-lt"/>
          <a:ea typeface="+mn-ea"/>
          <a:cs typeface="+mn-cs"/>
        </a:defRPr>
      </a:lvl2pPr>
      <a:lvl3pPr marL="987425" indent="-293688" algn="l" rtl="0" eaLnBrk="0" fontAlgn="base" hangingPunct="0">
        <a:lnSpc>
          <a:spcPct val="120000"/>
        </a:lnSpc>
        <a:spcBef>
          <a:spcPct val="30000"/>
        </a:spcBef>
        <a:spcAft>
          <a:spcPct val="0"/>
        </a:spcAft>
        <a:buClr>
          <a:schemeClr val="accent1"/>
        </a:buClr>
        <a:buSzPct val="70000"/>
        <a:buFont typeface="Wingdings" panose="05000000000000000000" pitchFamily="2" charset="2"/>
        <a:buChar char="l"/>
        <a:defRPr sz="2400" kern="1200">
          <a:solidFill>
            <a:schemeClr val="tx1"/>
          </a:solidFill>
          <a:latin typeface="+mn-lt"/>
          <a:ea typeface="+mn-ea"/>
          <a:cs typeface="+mn-cs"/>
        </a:defRPr>
      </a:lvl3pPr>
      <a:lvl4pPr marL="1281113" indent="-292100" algn="l" rtl="0" eaLnBrk="0" fontAlgn="base" hangingPunct="0">
        <a:lnSpc>
          <a:spcPct val="120000"/>
        </a:lnSpc>
        <a:spcBef>
          <a:spcPct val="30000"/>
        </a:spcBef>
        <a:spcAft>
          <a:spcPct val="0"/>
        </a:spcAft>
        <a:buClr>
          <a:schemeClr val="tx2"/>
        </a:buClr>
        <a:buSzPct val="75000"/>
        <a:buFont typeface="Wingdings" panose="05000000000000000000" pitchFamily="2" charset="2"/>
        <a:buChar char="§"/>
        <a:defRPr sz="2400" kern="1200">
          <a:solidFill>
            <a:schemeClr val="tx1"/>
          </a:solidFill>
          <a:latin typeface="+mn-lt"/>
          <a:ea typeface="+mn-ea"/>
          <a:cs typeface="+mn-cs"/>
        </a:defRPr>
      </a:lvl4pPr>
      <a:lvl5pPr marL="1598613" indent="-315913" algn="l" rtl="0" eaLnBrk="0" fontAlgn="base" hangingPunct="0">
        <a:lnSpc>
          <a:spcPct val="120000"/>
        </a:lnSpc>
        <a:spcBef>
          <a:spcPct val="30000"/>
        </a:spcBef>
        <a:spcAft>
          <a:spcPct val="0"/>
        </a:spcAft>
        <a:buClr>
          <a:schemeClr val="folHlink"/>
        </a:buClr>
        <a:buSzPct val="80000"/>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7.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6.bin"/><Relationship Id="rId18" Type="http://schemas.openxmlformats.org/officeDocument/2006/relationships/image" Target="../media/image14.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11.wmf"/><Relationship Id="rId17" Type="http://schemas.openxmlformats.org/officeDocument/2006/relationships/oleObject" Target="../embeddings/oleObject8.bin"/><Relationship Id="rId2" Type="http://schemas.openxmlformats.org/officeDocument/2006/relationships/slideLayout" Target="../slideLayouts/slideLayout90.xml"/><Relationship Id="rId16" Type="http://schemas.openxmlformats.org/officeDocument/2006/relationships/image" Target="../media/image13.wmf"/><Relationship Id="rId20" Type="http://schemas.openxmlformats.org/officeDocument/2006/relationships/image" Target="../media/image15.wmf"/><Relationship Id="rId1" Type="http://schemas.openxmlformats.org/officeDocument/2006/relationships/vmlDrawing" Target="../drawings/vmlDrawing1.vml"/><Relationship Id="rId6" Type="http://schemas.openxmlformats.org/officeDocument/2006/relationships/image" Target="../media/image8.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0.wmf"/><Relationship Id="rId19" Type="http://schemas.openxmlformats.org/officeDocument/2006/relationships/oleObject" Target="../embeddings/oleObject9.bin"/><Relationship Id="rId4" Type="http://schemas.openxmlformats.org/officeDocument/2006/relationships/image" Target="../media/image7.wmf"/><Relationship Id="rId9" Type="http://schemas.openxmlformats.org/officeDocument/2006/relationships/oleObject" Target="../embeddings/oleObject4.bin"/><Relationship Id="rId14" Type="http://schemas.openxmlformats.org/officeDocument/2006/relationships/image" Target="../media/image12.wmf"/><Relationship Id="rId22" Type="http://schemas.openxmlformats.org/officeDocument/2006/relationships/image" Target="../media/image1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90.xml"/><Relationship Id="rId1" Type="http://schemas.openxmlformats.org/officeDocument/2006/relationships/vmlDrawing" Target="../drawings/vmlDrawing2.v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image" Target="../media/image17.wmf"/></Relationships>
</file>

<file path=ppt/slides/_rels/slide19.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90.xml"/><Relationship Id="rId1" Type="http://schemas.openxmlformats.org/officeDocument/2006/relationships/vmlDrawing" Target="../drawings/vmlDrawing3.vml"/><Relationship Id="rId6" Type="http://schemas.openxmlformats.org/officeDocument/2006/relationships/image" Target="../media/image21.wmf"/><Relationship Id="rId5" Type="http://schemas.openxmlformats.org/officeDocument/2006/relationships/oleObject" Target="../embeddings/oleObject13.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26.png"/><Relationship Id="rId2" Type="http://schemas.openxmlformats.org/officeDocument/2006/relationships/slideLayout" Target="../slideLayouts/slideLayout95.xml"/><Relationship Id="rId1" Type="http://schemas.openxmlformats.org/officeDocument/2006/relationships/vmlDrawing" Target="../drawings/vmlDrawing4.vml"/><Relationship Id="rId6" Type="http://schemas.openxmlformats.org/officeDocument/2006/relationships/image" Target="../media/image25.wmf"/><Relationship Id="rId5" Type="http://schemas.openxmlformats.org/officeDocument/2006/relationships/oleObject" Target="../embeddings/oleObject17.bin"/><Relationship Id="rId4" Type="http://schemas.openxmlformats.org/officeDocument/2006/relationships/image" Target="../media/image24.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8.wmf"/><Relationship Id="rId2" Type="http://schemas.openxmlformats.org/officeDocument/2006/relationships/slideLayout" Target="../slideLayouts/slideLayout92.xml"/><Relationship Id="rId1" Type="http://schemas.openxmlformats.org/officeDocument/2006/relationships/vmlDrawing" Target="../drawings/vmlDrawing5.vml"/><Relationship Id="rId6" Type="http://schemas.openxmlformats.org/officeDocument/2006/relationships/oleObject" Target="../embeddings/oleObject19.bin"/><Relationship Id="rId5" Type="http://schemas.openxmlformats.org/officeDocument/2006/relationships/image" Target="../media/image27.wmf"/><Relationship Id="rId4" Type="http://schemas.openxmlformats.org/officeDocument/2006/relationships/oleObject" Target="../embeddings/oleObject18.bin"/></Relationships>
</file>

<file path=ppt/slides/_rels/slide25.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3.wmf"/><Relationship Id="rId2" Type="http://schemas.openxmlformats.org/officeDocument/2006/relationships/slideLayout" Target="../slideLayouts/slideLayout95.xml"/><Relationship Id="rId1" Type="http://schemas.openxmlformats.org/officeDocument/2006/relationships/vmlDrawing" Target="../drawings/vmlDrawing6.vml"/><Relationship Id="rId6" Type="http://schemas.openxmlformats.org/officeDocument/2006/relationships/image" Target="../media/image30.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23.bin"/><Relationship Id="rId14" Type="http://schemas.openxmlformats.org/officeDocument/2006/relationships/image" Target="../media/image34.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36.wmf"/><Relationship Id="rId2" Type="http://schemas.openxmlformats.org/officeDocument/2006/relationships/slideLayout" Target="../slideLayouts/slideLayout92.xml"/><Relationship Id="rId1" Type="http://schemas.openxmlformats.org/officeDocument/2006/relationships/vmlDrawing" Target="../drawings/vmlDrawing7.vml"/><Relationship Id="rId6" Type="http://schemas.openxmlformats.org/officeDocument/2006/relationships/oleObject" Target="../embeddings/oleObject27.bin"/><Relationship Id="rId5" Type="http://schemas.openxmlformats.org/officeDocument/2006/relationships/image" Target="../media/image35.wmf"/><Relationship Id="rId4" Type="http://schemas.openxmlformats.org/officeDocument/2006/relationships/oleObject" Target="../embeddings/oleObject26.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92.xml"/><Relationship Id="rId1" Type="http://schemas.openxmlformats.org/officeDocument/2006/relationships/vmlDrawing" Target="../drawings/vmlDrawing8.vml"/><Relationship Id="rId4" Type="http://schemas.openxmlformats.org/officeDocument/2006/relationships/image" Target="../media/image37.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92.xml"/><Relationship Id="rId1" Type="http://schemas.openxmlformats.org/officeDocument/2006/relationships/vmlDrawing" Target="../drawings/vmlDrawing9.vml"/><Relationship Id="rId4" Type="http://schemas.openxmlformats.org/officeDocument/2006/relationships/image" Target="../media/image38.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9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92.xml"/><Relationship Id="rId1" Type="http://schemas.openxmlformats.org/officeDocument/2006/relationships/vmlDrawing" Target="../drawings/vmlDrawing10.vml"/><Relationship Id="rId6" Type="http://schemas.openxmlformats.org/officeDocument/2006/relationships/image" Target="../media/image41.wmf"/><Relationship Id="rId5" Type="http://schemas.openxmlformats.org/officeDocument/2006/relationships/oleObject" Target="../embeddings/oleObject31.bin"/><Relationship Id="rId4" Type="http://schemas.openxmlformats.org/officeDocument/2006/relationships/image" Target="../media/image40.wmf"/></Relationships>
</file>

<file path=ppt/slides/_rels/slide32.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102.xml"/><Relationship Id="rId1" Type="http://schemas.openxmlformats.org/officeDocument/2006/relationships/vmlDrawing" Target="../drawings/vmlDrawing11.vml"/><Relationship Id="rId6" Type="http://schemas.openxmlformats.org/officeDocument/2006/relationships/image" Target="../media/image43.wmf"/><Relationship Id="rId5" Type="http://schemas.openxmlformats.org/officeDocument/2006/relationships/oleObject" Target="../embeddings/oleObject33.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5.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95.xml"/><Relationship Id="rId1" Type="http://schemas.openxmlformats.org/officeDocument/2006/relationships/vmlDrawing" Target="../drawings/vmlDrawing12.vml"/><Relationship Id="rId6" Type="http://schemas.openxmlformats.org/officeDocument/2006/relationships/image" Target="../media/image47.wmf"/><Relationship Id="rId5" Type="http://schemas.openxmlformats.org/officeDocument/2006/relationships/oleObject" Target="../embeddings/oleObject37.bin"/><Relationship Id="rId4" Type="http://schemas.openxmlformats.org/officeDocument/2006/relationships/image" Target="../media/image46.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95.xml"/><Relationship Id="rId1" Type="http://schemas.openxmlformats.org/officeDocument/2006/relationships/vmlDrawing" Target="../drawings/vmlDrawing13.vml"/><Relationship Id="rId6" Type="http://schemas.openxmlformats.org/officeDocument/2006/relationships/image" Target="../media/image49.wmf"/><Relationship Id="rId5" Type="http://schemas.openxmlformats.org/officeDocument/2006/relationships/oleObject" Target="../embeddings/oleObject39.bin"/><Relationship Id="rId4" Type="http://schemas.openxmlformats.org/officeDocument/2006/relationships/image" Target="../media/image48.wmf"/></Relationships>
</file>

<file path=ppt/slides/_rels/slide35.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54.wmf"/><Relationship Id="rId2" Type="http://schemas.openxmlformats.org/officeDocument/2006/relationships/slideLayout" Target="../slideLayouts/slideLayout95.xml"/><Relationship Id="rId1" Type="http://schemas.openxmlformats.org/officeDocument/2006/relationships/vmlDrawing" Target="../drawings/vmlDrawing14.vml"/><Relationship Id="rId6" Type="http://schemas.openxmlformats.org/officeDocument/2006/relationships/image" Target="../media/image51.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43.bin"/></Relationships>
</file>

<file path=ppt/slides/_rels/slide36.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50.bin"/><Relationship Id="rId18" Type="http://schemas.openxmlformats.org/officeDocument/2006/relationships/image" Target="../media/image62.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59.wmf"/><Relationship Id="rId17" Type="http://schemas.openxmlformats.org/officeDocument/2006/relationships/oleObject" Target="../embeddings/oleObject52.bin"/><Relationship Id="rId2" Type="http://schemas.openxmlformats.org/officeDocument/2006/relationships/slideLayout" Target="../slideLayouts/slideLayout95.xml"/><Relationship Id="rId16" Type="http://schemas.openxmlformats.org/officeDocument/2006/relationships/image" Target="../media/image61.wmf"/><Relationship Id="rId1" Type="http://schemas.openxmlformats.org/officeDocument/2006/relationships/vmlDrawing" Target="../drawings/vmlDrawing15.vml"/><Relationship Id="rId6" Type="http://schemas.openxmlformats.org/officeDocument/2006/relationships/image" Target="../media/image56.wmf"/><Relationship Id="rId11" Type="http://schemas.openxmlformats.org/officeDocument/2006/relationships/oleObject" Target="../embeddings/oleObject49.bin"/><Relationship Id="rId5" Type="http://schemas.openxmlformats.org/officeDocument/2006/relationships/oleObject" Target="../embeddings/oleObject46.bin"/><Relationship Id="rId15" Type="http://schemas.openxmlformats.org/officeDocument/2006/relationships/oleObject" Target="../embeddings/oleObject51.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48.bin"/><Relationship Id="rId14" Type="http://schemas.openxmlformats.org/officeDocument/2006/relationships/image" Target="../media/image60.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95.xml"/><Relationship Id="rId1" Type="http://schemas.openxmlformats.org/officeDocument/2006/relationships/vmlDrawing" Target="../drawings/vmlDrawing16.vml"/><Relationship Id="rId6" Type="http://schemas.openxmlformats.org/officeDocument/2006/relationships/image" Target="../media/image64.wmf"/><Relationship Id="rId5" Type="http://schemas.openxmlformats.org/officeDocument/2006/relationships/oleObject" Target="../embeddings/oleObject54.bin"/><Relationship Id="rId4" Type="http://schemas.openxmlformats.org/officeDocument/2006/relationships/image" Target="../media/image63.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105.xml"/><Relationship Id="rId1" Type="http://schemas.openxmlformats.org/officeDocument/2006/relationships/vmlDrawing" Target="../drawings/vmlDrawing17.vml"/><Relationship Id="rId6" Type="http://schemas.openxmlformats.org/officeDocument/2006/relationships/image" Target="../media/image66.wmf"/><Relationship Id="rId5" Type="http://schemas.openxmlformats.org/officeDocument/2006/relationships/oleObject" Target="../embeddings/oleObject56.bin"/><Relationship Id="rId4" Type="http://schemas.openxmlformats.org/officeDocument/2006/relationships/image" Target="../media/image65.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105.xml"/><Relationship Id="rId1" Type="http://schemas.openxmlformats.org/officeDocument/2006/relationships/vmlDrawing" Target="../drawings/vmlDrawing18.vml"/><Relationship Id="rId6" Type="http://schemas.openxmlformats.org/officeDocument/2006/relationships/image" Target="../media/image68.wmf"/><Relationship Id="rId5" Type="http://schemas.openxmlformats.org/officeDocument/2006/relationships/oleObject" Target="../embeddings/oleObject58.bin"/><Relationship Id="rId4" Type="http://schemas.openxmlformats.org/officeDocument/2006/relationships/image" Target="../media/image67.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5.xml"/><Relationship Id="rId1" Type="http://schemas.openxmlformats.org/officeDocument/2006/relationships/vmlDrawing" Target="../drawings/vmlDrawing19.vml"/><Relationship Id="rId5" Type="http://schemas.openxmlformats.org/officeDocument/2006/relationships/image" Target="../media/image69.wmf"/><Relationship Id="rId4" Type="http://schemas.openxmlformats.org/officeDocument/2006/relationships/oleObject" Target="../embeddings/oleObject59.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17.xml"/><Relationship Id="rId1" Type="http://schemas.openxmlformats.org/officeDocument/2006/relationships/vmlDrawing" Target="../drawings/vmlDrawing20.vml"/><Relationship Id="rId6" Type="http://schemas.openxmlformats.org/officeDocument/2006/relationships/image" Target="../media/image66.wmf"/><Relationship Id="rId5" Type="http://schemas.openxmlformats.org/officeDocument/2006/relationships/oleObject" Target="../embeddings/oleObject61.bin"/><Relationship Id="rId4" Type="http://schemas.openxmlformats.org/officeDocument/2006/relationships/image" Target="../media/image70.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110.xml"/><Relationship Id="rId1" Type="http://schemas.openxmlformats.org/officeDocument/2006/relationships/vmlDrawing" Target="../drawings/vmlDrawing21.vml"/><Relationship Id="rId4" Type="http://schemas.openxmlformats.org/officeDocument/2006/relationships/image" Target="../media/image71.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110.xml"/><Relationship Id="rId1" Type="http://schemas.openxmlformats.org/officeDocument/2006/relationships/vmlDrawing" Target="../drawings/vmlDrawing22.vml"/><Relationship Id="rId4" Type="http://schemas.openxmlformats.org/officeDocument/2006/relationships/image" Target="../media/image72.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53.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slideLayout" Target="../slideLayouts/slideLayout117.xml"/><Relationship Id="rId1" Type="http://schemas.openxmlformats.org/officeDocument/2006/relationships/vmlDrawing" Target="../drawings/vmlDrawing23.vml"/><Relationship Id="rId6" Type="http://schemas.openxmlformats.org/officeDocument/2006/relationships/image" Target="../media/image74.wmf"/><Relationship Id="rId5" Type="http://schemas.openxmlformats.org/officeDocument/2006/relationships/oleObject" Target="../embeddings/oleObject65.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67.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68.bin"/><Relationship Id="rId7" Type="http://schemas.openxmlformats.org/officeDocument/2006/relationships/oleObject" Target="../embeddings/oleObject70.bin"/><Relationship Id="rId12" Type="http://schemas.openxmlformats.org/officeDocument/2006/relationships/image" Target="../media/image81.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78.wmf"/><Relationship Id="rId11" Type="http://schemas.openxmlformats.org/officeDocument/2006/relationships/oleObject" Target="../embeddings/oleObject72.bin"/><Relationship Id="rId5" Type="http://schemas.openxmlformats.org/officeDocument/2006/relationships/oleObject" Target="../embeddings/oleObject69.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71.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82.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notesSlide" Target="../notesSlides/notesSlide6.xml"/><Relationship Id="rId7" Type="http://schemas.openxmlformats.org/officeDocument/2006/relationships/image" Target="../media/image84.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75.bin"/><Relationship Id="rId5" Type="http://schemas.openxmlformats.org/officeDocument/2006/relationships/image" Target="../media/image83.wmf"/><Relationship Id="rId4" Type="http://schemas.openxmlformats.org/officeDocument/2006/relationships/oleObject" Target="../embeddings/oleObject74.bin"/><Relationship Id="rId9" Type="http://schemas.openxmlformats.org/officeDocument/2006/relationships/image" Target="../media/image85.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86.wmf"/></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87.wmf"/><Relationship Id="rId4" Type="http://schemas.openxmlformats.org/officeDocument/2006/relationships/oleObject" Target="../embeddings/oleObject78.bin"/></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image" Target="../media/image88.wmf"/><Relationship Id="rId4" Type="http://schemas.openxmlformats.org/officeDocument/2006/relationships/oleObject" Target="../embeddings/oleObject79.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90.wmf"/><Relationship Id="rId5" Type="http://schemas.openxmlformats.org/officeDocument/2006/relationships/oleObject" Target="../embeddings/oleObject81.bin"/><Relationship Id="rId4" Type="http://schemas.openxmlformats.org/officeDocument/2006/relationships/image" Target="../media/image89.wmf"/></Relationships>
</file>

<file path=ppt/slides/_rels/slide65.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93.wmf"/><Relationship Id="rId5" Type="http://schemas.openxmlformats.org/officeDocument/2006/relationships/oleObject" Target="../embeddings/oleObject84.bin"/><Relationship Id="rId4" Type="http://schemas.openxmlformats.org/officeDocument/2006/relationships/image" Target="../media/image92.w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image" Target="../media/image28.png"/><Relationship Id="rId7" Type="http://schemas.openxmlformats.org/officeDocument/2006/relationships/image" Target="../media/image96.w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87.bin"/><Relationship Id="rId5" Type="http://schemas.openxmlformats.org/officeDocument/2006/relationships/image" Target="../media/image95.wmf"/><Relationship Id="rId4" Type="http://schemas.openxmlformats.org/officeDocument/2006/relationships/oleObject" Target="../embeddings/oleObject86.bin"/><Relationship Id="rId9" Type="http://schemas.openxmlformats.org/officeDocument/2006/relationships/image" Target="../media/image97.wmf"/></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99.w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90.bin"/><Relationship Id="rId5" Type="http://schemas.openxmlformats.org/officeDocument/2006/relationships/image" Target="../media/image98.wmf"/><Relationship Id="rId4" Type="http://schemas.openxmlformats.org/officeDocument/2006/relationships/oleObject" Target="../embeddings/oleObject89.bin"/></Relationships>
</file>

<file path=ppt/slides/_rels/slide68.xml.rels><?xml version="1.0" encoding="UTF-8" standalone="yes"?>
<Relationships xmlns="http://schemas.openxmlformats.org/package/2006/relationships"><Relationship Id="rId8" Type="http://schemas.openxmlformats.org/officeDocument/2006/relationships/image" Target="../media/image102.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01.wmf"/><Relationship Id="rId5" Type="http://schemas.openxmlformats.org/officeDocument/2006/relationships/oleObject" Target="../embeddings/oleObject92.bin"/><Relationship Id="rId4" Type="http://schemas.openxmlformats.org/officeDocument/2006/relationships/image" Target="../media/image100.wmf"/></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03.wmf"/><Relationship Id="rId5" Type="http://schemas.openxmlformats.org/officeDocument/2006/relationships/oleObject" Target="../embeddings/oleObject94.bin"/><Relationship Id="rId4" Type="http://schemas.openxmlformats.org/officeDocument/2006/relationships/image" Target="../media/image36.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36.vml"/><Relationship Id="rId5" Type="http://schemas.openxmlformats.org/officeDocument/2006/relationships/image" Target="../media/image104.wmf"/><Relationship Id="rId4" Type="http://schemas.openxmlformats.org/officeDocument/2006/relationships/oleObject" Target="../embeddings/oleObject95.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37.vml"/><Relationship Id="rId5" Type="http://schemas.openxmlformats.org/officeDocument/2006/relationships/image" Target="../media/image105.wmf"/><Relationship Id="rId4" Type="http://schemas.openxmlformats.org/officeDocument/2006/relationships/oleObject" Target="../embeddings/oleObject96.bin"/></Relationships>
</file>

<file path=ppt/slides/_rels/slide72.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notesSlide" Target="../notesSlides/notesSlide10.xml"/><Relationship Id="rId7" Type="http://schemas.openxmlformats.org/officeDocument/2006/relationships/oleObject" Target="../embeddings/oleObject98.bin"/><Relationship Id="rId12" Type="http://schemas.openxmlformats.org/officeDocument/2006/relationships/image" Target="../media/image109.wmf"/><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06.wmf"/><Relationship Id="rId11" Type="http://schemas.openxmlformats.org/officeDocument/2006/relationships/oleObject" Target="../embeddings/oleObject100.bin"/><Relationship Id="rId5" Type="http://schemas.openxmlformats.org/officeDocument/2006/relationships/oleObject" Target="../embeddings/oleObject97.bin"/><Relationship Id="rId10" Type="http://schemas.openxmlformats.org/officeDocument/2006/relationships/image" Target="../media/image108.wmf"/><Relationship Id="rId4" Type="http://schemas.openxmlformats.org/officeDocument/2006/relationships/image" Target="../media/image43.png"/><Relationship Id="rId9" Type="http://schemas.openxmlformats.org/officeDocument/2006/relationships/oleObject" Target="../embeddings/oleObject99.bin"/></Relationships>
</file>

<file path=ppt/slides/_rels/slide73.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notesSlide" Target="../notesSlides/notesSlide11.xml"/><Relationship Id="rId7" Type="http://schemas.openxmlformats.org/officeDocument/2006/relationships/oleObject" Target="../embeddings/oleObject102.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07.wmf"/><Relationship Id="rId5" Type="http://schemas.openxmlformats.org/officeDocument/2006/relationships/oleObject" Target="../embeddings/oleObject101.bin"/><Relationship Id="rId4" Type="http://schemas.openxmlformats.org/officeDocument/2006/relationships/image" Target="../media/image40.png"/></Relationships>
</file>

<file path=ppt/slides/_rels/slide74.x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notesSlide" Target="../notesSlides/notesSlide12.xml"/><Relationship Id="rId7"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07.wmf"/><Relationship Id="rId11" Type="http://schemas.openxmlformats.org/officeDocument/2006/relationships/image" Target="../media/image112.wmf"/><Relationship Id="rId5" Type="http://schemas.openxmlformats.org/officeDocument/2006/relationships/oleObject" Target="../embeddings/oleObject103.bin"/><Relationship Id="rId10" Type="http://schemas.openxmlformats.org/officeDocument/2006/relationships/oleObject" Target="../embeddings/oleObject106.bin"/><Relationship Id="rId4" Type="http://schemas.openxmlformats.org/officeDocument/2006/relationships/image" Target="../media/image47.png"/><Relationship Id="rId9" Type="http://schemas.openxmlformats.org/officeDocument/2006/relationships/oleObject" Target="../embeddings/oleObject105.bin"/></Relationships>
</file>

<file path=ppt/slides/_rels/slide75.x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notesSlide" Target="../notesSlides/notesSlide13.xml"/><Relationship Id="rId7" Type="http://schemas.openxmlformats.org/officeDocument/2006/relationships/oleObject" Target="../embeddings/oleObject109.bin"/><Relationship Id="rId12" Type="http://schemas.openxmlformats.org/officeDocument/2006/relationships/image" Target="../media/image115.wmf"/><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oleObject" Target="../embeddings/oleObject108.bin"/><Relationship Id="rId11" Type="http://schemas.openxmlformats.org/officeDocument/2006/relationships/oleObject" Target="../embeddings/oleObject111.bin"/><Relationship Id="rId5" Type="http://schemas.openxmlformats.org/officeDocument/2006/relationships/image" Target="../media/image107.wmf"/><Relationship Id="rId10" Type="http://schemas.openxmlformats.org/officeDocument/2006/relationships/image" Target="../media/image114.wmf"/><Relationship Id="rId4" Type="http://schemas.openxmlformats.org/officeDocument/2006/relationships/oleObject" Target="../embeddings/oleObject107.bin"/><Relationship Id="rId9" Type="http://schemas.openxmlformats.org/officeDocument/2006/relationships/oleObject" Target="../embeddings/oleObject110.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114.bin"/><Relationship Id="rId3" Type="http://schemas.openxmlformats.org/officeDocument/2006/relationships/notesSlide" Target="../notesSlides/notesSlide14.xml"/><Relationship Id="rId7" Type="http://schemas.openxmlformats.org/officeDocument/2006/relationships/image" Target="../media/image116.wmf"/><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oleObject" Target="../embeddings/oleObject113.bin"/><Relationship Id="rId5" Type="http://schemas.openxmlformats.org/officeDocument/2006/relationships/image" Target="../media/image107.wmf"/><Relationship Id="rId4" Type="http://schemas.openxmlformats.org/officeDocument/2006/relationships/oleObject" Target="../embeddings/oleObject112.bin"/><Relationship Id="rId9" Type="http://schemas.openxmlformats.org/officeDocument/2006/relationships/image" Target="../media/image117.wmf"/></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53.png"/><Relationship Id="rId5" Type="http://schemas.openxmlformats.org/officeDocument/2006/relationships/image" Target="../media/image107.wmf"/><Relationship Id="rId4" Type="http://schemas.openxmlformats.org/officeDocument/2006/relationships/oleObject" Target="../embeddings/oleObject115.bin"/></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18.wmf"/><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oleObject" Target="../embeddings/oleObject117.bin"/><Relationship Id="rId5" Type="http://schemas.openxmlformats.org/officeDocument/2006/relationships/image" Target="../media/image107.wmf"/><Relationship Id="rId4" Type="http://schemas.openxmlformats.org/officeDocument/2006/relationships/oleObject" Target="../embeddings/oleObject116.bin"/></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19.wmf"/><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oleObject" Target="../embeddings/oleObject119.bin"/><Relationship Id="rId5" Type="http://schemas.openxmlformats.org/officeDocument/2006/relationships/image" Target="../media/image107.wmf"/><Relationship Id="rId4" Type="http://schemas.openxmlformats.org/officeDocument/2006/relationships/oleObject" Target="../embeddings/oleObject118.bin"/></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46.vml"/><Relationship Id="rId5" Type="http://schemas.openxmlformats.org/officeDocument/2006/relationships/image" Target="../media/image120.wmf"/><Relationship Id="rId4" Type="http://schemas.openxmlformats.org/officeDocument/2006/relationships/oleObject" Target="../embeddings/oleObject120.bin"/></Relationships>
</file>

<file path=ppt/slides/_rels/slide81.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notesSlide" Target="../notesSlides/notesSlide19.xml"/><Relationship Id="rId7" Type="http://schemas.openxmlformats.org/officeDocument/2006/relationships/oleObject" Target="../embeddings/oleObject122.bin"/><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image" Target="../media/image107.wmf"/><Relationship Id="rId5" Type="http://schemas.openxmlformats.org/officeDocument/2006/relationships/oleObject" Target="../embeddings/oleObject121.bin"/><Relationship Id="rId4" Type="http://schemas.openxmlformats.org/officeDocument/2006/relationships/image" Target="../media/image58.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22.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oleObject" Target="../embeddings/oleObject124.bin"/><Relationship Id="rId5" Type="http://schemas.openxmlformats.org/officeDocument/2006/relationships/image" Target="../media/image107.wmf"/><Relationship Id="rId4" Type="http://schemas.openxmlformats.org/officeDocument/2006/relationships/oleObject" Target="../embeddings/oleObject123.bin"/></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image" Target="../media/image107.wmf"/><Relationship Id="rId5" Type="http://schemas.openxmlformats.org/officeDocument/2006/relationships/oleObject" Target="../embeddings/oleObject125.bin"/><Relationship Id="rId4" Type="http://schemas.openxmlformats.org/officeDocument/2006/relationships/image" Target="../media/image60.png"/></Relationships>
</file>

<file path=ppt/slides/_rels/slide84.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notesSlide" Target="../notesSlides/notesSlide22.xml"/><Relationship Id="rId7" Type="http://schemas.openxmlformats.org/officeDocument/2006/relationships/oleObject" Target="../embeddings/oleObject127.bin"/><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image" Target="../media/image107.wmf"/><Relationship Id="rId5" Type="http://schemas.openxmlformats.org/officeDocument/2006/relationships/oleObject" Target="../embeddings/oleObject126.bin"/><Relationship Id="rId4" Type="http://schemas.openxmlformats.org/officeDocument/2006/relationships/image" Target="../media/image62.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107.wmf"/><Relationship Id="rId5" Type="http://schemas.openxmlformats.org/officeDocument/2006/relationships/oleObject" Target="../embeddings/oleObject128.bin"/><Relationship Id="rId4" Type="http://schemas.openxmlformats.org/officeDocument/2006/relationships/image" Target="../media/image54.png"/></Relationships>
</file>

<file path=ppt/slides/_rels/slide86.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notesSlide" Target="../notesSlides/notesSlide24.xml"/><Relationship Id="rId7" Type="http://schemas.openxmlformats.org/officeDocument/2006/relationships/oleObject" Target="../embeddings/oleObject130.bin"/><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107.wmf"/><Relationship Id="rId5" Type="http://schemas.openxmlformats.org/officeDocument/2006/relationships/oleObject" Target="../embeddings/oleObject129.bin"/><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vmlDrawing" Target="../drawings/vmlDrawing53.vml"/><Relationship Id="rId5" Type="http://schemas.openxmlformats.org/officeDocument/2006/relationships/image" Target="../media/image125.wmf"/><Relationship Id="rId4" Type="http://schemas.openxmlformats.org/officeDocument/2006/relationships/oleObject" Target="../embeddings/oleObject131.bin"/></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26.wmf"/><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oleObject" Target="../embeddings/oleObject133.bin"/><Relationship Id="rId5" Type="http://schemas.openxmlformats.org/officeDocument/2006/relationships/image" Target="../media/image107.wmf"/><Relationship Id="rId4" Type="http://schemas.openxmlformats.org/officeDocument/2006/relationships/oleObject" Target="../embeddings/oleObject132.bin"/></Relationships>
</file>

<file path=ppt/slides/_rels/slide9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134.bin"/><Relationship Id="rId7" Type="http://schemas.openxmlformats.org/officeDocument/2006/relationships/oleObject" Target="../embeddings/oleObject136.bin"/><Relationship Id="rId2" Type="http://schemas.openxmlformats.org/officeDocument/2006/relationships/slideLayout" Target="../slideLayouts/slideLayout13.xml"/><Relationship Id="rId1" Type="http://schemas.openxmlformats.org/officeDocument/2006/relationships/vmlDrawing" Target="../drawings/vmlDrawing55.vml"/><Relationship Id="rId6" Type="http://schemas.openxmlformats.org/officeDocument/2006/relationships/image" Target="../media/image128.wmf"/><Relationship Id="rId5" Type="http://schemas.openxmlformats.org/officeDocument/2006/relationships/oleObject" Target="../embeddings/oleObject135.bin"/><Relationship Id="rId10" Type="http://schemas.openxmlformats.org/officeDocument/2006/relationships/image" Target="../media/image130.wmf"/><Relationship Id="rId4" Type="http://schemas.openxmlformats.org/officeDocument/2006/relationships/image" Target="../media/image127.emf"/><Relationship Id="rId9" Type="http://schemas.openxmlformats.org/officeDocument/2006/relationships/oleObject" Target="../embeddings/oleObject137.bin"/></Relationships>
</file>

<file path=ppt/slides/_rels/slide93.xml.rels><?xml version="1.0" encoding="UTF-8" standalone="yes"?>
<Relationships xmlns="http://schemas.openxmlformats.org/package/2006/relationships"><Relationship Id="rId8" Type="http://schemas.openxmlformats.org/officeDocument/2006/relationships/image" Target="../media/image133.wmf"/><Relationship Id="rId3" Type="http://schemas.openxmlformats.org/officeDocument/2006/relationships/oleObject" Target="../embeddings/oleObject138.bin"/><Relationship Id="rId7" Type="http://schemas.openxmlformats.org/officeDocument/2006/relationships/oleObject" Target="../embeddings/oleObject140.bin"/><Relationship Id="rId2" Type="http://schemas.openxmlformats.org/officeDocument/2006/relationships/slideLayout" Target="../slideLayouts/slideLayout13.xml"/><Relationship Id="rId1" Type="http://schemas.openxmlformats.org/officeDocument/2006/relationships/vmlDrawing" Target="../drawings/vmlDrawing56.vml"/><Relationship Id="rId6" Type="http://schemas.openxmlformats.org/officeDocument/2006/relationships/image" Target="../media/image132.wmf"/><Relationship Id="rId5" Type="http://schemas.openxmlformats.org/officeDocument/2006/relationships/oleObject" Target="../embeddings/oleObject139.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141.bin"/></Relationships>
</file>

<file path=ppt/slides/_rels/slide94.x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136.wmf"/><Relationship Id="rId5" Type="http://schemas.openxmlformats.org/officeDocument/2006/relationships/oleObject" Target="../embeddings/oleObject143.bin"/><Relationship Id="rId4" Type="http://schemas.openxmlformats.org/officeDocument/2006/relationships/image" Target="../media/image135.w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45.bin"/><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image" Target="../media/image139.wmf"/><Relationship Id="rId5" Type="http://schemas.openxmlformats.org/officeDocument/2006/relationships/oleObject" Target="../embeddings/oleObject146.bin"/><Relationship Id="rId4" Type="http://schemas.openxmlformats.org/officeDocument/2006/relationships/image" Target="../media/image138.wmf"/></Relationships>
</file>

<file path=ppt/slides/_rels/slide96.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52.bin"/><Relationship Id="rId3" Type="http://schemas.openxmlformats.org/officeDocument/2006/relationships/oleObject" Target="../embeddings/oleObject147.bin"/><Relationship Id="rId7" Type="http://schemas.openxmlformats.org/officeDocument/2006/relationships/oleObject" Target="../embeddings/oleObject149.bin"/><Relationship Id="rId12" Type="http://schemas.openxmlformats.org/officeDocument/2006/relationships/image" Target="../media/image144.wmf"/><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image" Target="../media/image141.wmf"/><Relationship Id="rId11" Type="http://schemas.openxmlformats.org/officeDocument/2006/relationships/oleObject" Target="../embeddings/oleObject151.bin"/><Relationship Id="rId5" Type="http://schemas.openxmlformats.org/officeDocument/2006/relationships/oleObject" Target="../embeddings/oleObject148.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150.bin"/><Relationship Id="rId14" Type="http://schemas.openxmlformats.org/officeDocument/2006/relationships/image" Target="../media/image145.wmf"/></Relationships>
</file>

<file path=ppt/slides/_rels/slide97.xml.rels><?xml version="1.0" encoding="UTF-8" standalone="yes"?>
<Relationships xmlns="http://schemas.openxmlformats.org/package/2006/relationships"><Relationship Id="rId8" Type="http://schemas.openxmlformats.org/officeDocument/2006/relationships/image" Target="../media/image148.wmf"/><Relationship Id="rId3" Type="http://schemas.openxmlformats.org/officeDocument/2006/relationships/oleObject" Target="../embeddings/oleObject153.bin"/><Relationship Id="rId7" Type="http://schemas.openxmlformats.org/officeDocument/2006/relationships/oleObject" Target="../embeddings/oleObject155.bin"/><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image" Target="../media/image147.wmf"/><Relationship Id="rId5" Type="http://schemas.openxmlformats.org/officeDocument/2006/relationships/oleObject" Target="../embeddings/oleObject154.bin"/><Relationship Id="rId10" Type="http://schemas.openxmlformats.org/officeDocument/2006/relationships/image" Target="../media/image149.wmf"/><Relationship Id="rId4" Type="http://schemas.openxmlformats.org/officeDocument/2006/relationships/image" Target="../media/image146.wmf"/><Relationship Id="rId9" Type="http://schemas.openxmlformats.org/officeDocument/2006/relationships/oleObject" Target="../embeddings/oleObject156.bin"/></Relationships>
</file>

<file path=ppt/slides/_rels/slide98.xml.rels><?xml version="1.0" encoding="UTF-8" standalone="yes"?>
<Relationships xmlns="http://schemas.openxmlformats.org/package/2006/relationships"><Relationship Id="rId8" Type="http://schemas.openxmlformats.org/officeDocument/2006/relationships/image" Target="../media/image152.wmf"/><Relationship Id="rId3" Type="http://schemas.openxmlformats.org/officeDocument/2006/relationships/oleObject" Target="../embeddings/oleObject157.bin"/><Relationship Id="rId7" Type="http://schemas.openxmlformats.org/officeDocument/2006/relationships/oleObject" Target="../embeddings/oleObject159.bin"/><Relationship Id="rId2" Type="http://schemas.openxmlformats.org/officeDocument/2006/relationships/slideLayout" Target="../slideLayouts/slideLayout2.xml"/><Relationship Id="rId1" Type="http://schemas.openxmlformats.org/officeDocument/2006/relationships/vmlDrawing" Target="../drawings/vmlDrawing61.vml"/><Relationship Id="rId6" Type="http://schemas.openxmlformats.org/officeDocument/2006/relationships/image" Target="../media/image151.wmf"/><Relationship Id="rId5" Type="http://schemas.openxmlformats.org/officeDocument/2006/relationships/oleObject" Target="../embeddings/oleObject158.bin"/><Relationship Id="rId10" Type="http://schemas.openxmlformats.org/officeDocument/2006/relationships/image" Target="../media/image153.wmf"/><Relationship Id="rId4" Type="http://schemas.openxmlformats.org/officeDocument/2006/relationships/image" Target="../media/image150.wmf"/><Relationship Id="rId9" Type="http://schemas.openxmlformats.org/officeDocument/2006/relationships/oleObject" Target="../embeddings/oleObject160.bin"/></Relationships>
</file>

<file path=ppt/slides/_rels/slide99.x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oleObject" Target="../embeddings/oleObject161.bin"/><Relationship Id="rId7" Type="http://schemas.openxmlformats.org/officeDocument/2006/relationships/oleObject" Target="../embeddings/oleObject163.bin"/><Relationship Id="rId12" Type="http://schemas.openxmlformats.org/officeDocument/2006/relationships/image" Target="../media/image158.wmf"/><Relationship Id="rId2" Type="http://schemas.openxmlformats.org/officeDocument/2006/relationships/slideLayout" Target="../slideLayouts/slideLayout2.xml"/><Relationship Id="rId1" Type="http://schemas.openxmlformats.org/officeDocument/2006/relationships/vmlDrawing" Target="../drawings/vmlDrawing62.vml"/><Relationship Id="rId6" Type="http://schemas.openxmlformats.org/officeDocument/2006/relationships/image" Target="../media/image155.wmf"/><Relationship Id="rId11" Type="http://schemas.openxmlformats.org/officeDocument/2006/relationships/oleObject" Target="../embeddings/oleObject165.bin"/><Relationship Id="rId5" Type="http://schemas.openxmlformats.org/officeDocument/2006/relationships/oleObject" Target="../embeddings/oleObject162.bin"/><Relationship Id="rId10" Type="http://schemas.openxmlformats.org/officeDocument/2006/relationships/image" Target="../media/image157.wmf"/><Relationship Id="rId4" Type="http://schemas.openxmlformats.org/officeDocument/2006/relationships/image" Target="../media/image154.wmf"/><Relationship Id="rId9" Type="http://schemas.openxmlformats.org/officeDocument/2006/relationships/oleObject" Target="../embeddings/oleObject164.bin"/></Relationships>
</file>

<file path=ppt/slides/_rels/slide100.xml.rels><?xml version="1.0" encoding="UTF-8" standalone="yes"?>
<Relationships xmlns="http://schemas.openxmlformats.org/package/2006/relationships"><Relationship Id="rId8" Type="http://schemas.openxmlformats.org/officeDocument/2006/relationships/image" Target="../media/image161.wmf"/><Relationship Id="rId13" Type="http://schemas.openxmlformats.org/officeDocument/2006/relationships/oleObject" Target="../embeddings/oleObject171.bin"/><Relationship Id="rId18" Type="http://schemas.openxmlformats.org/officeDocument/2006/relationships/image" Target="../media/image166.wmf"/><Relationship Id="rId3" Type="http://schemas.openxmlformats.org/officeDocument/2006/relationships/oleObject" Target="../embeddings/oleObject166.bin"/><Relationship Id="rId7" Type="http://schemas.openxmlformats.org/officeDocument/2006/relationships/oleObject" Target="../embeddings/oleObject168.bin"/><Relationship Id="rId12" Type="http://schemas.openxmlformats.org/officeDocument/2006/relationships/image" Target="../media/image163.wmf"/><Relationship Id="rId17" Type="http://schemas.openxmlformats.org/officeDocument/2006/relationships/oleObject" Target="../embeddings/oleObject173.bin"/><Relationship Id="rId2" Type="http://schemas.openxmlformats.org/officeDocument/2006/relationships/slideLayout" Target="../slideLayouts/slideLayout2.xml"/><Relationship Id="rId16" Type="http://schemas.openxmlformats.org/officeDocument/2006/relationships/image" Target="../media/image165.wmf"/><Relationship Id="rId1" Type="http://schemas.openxmlformats.org/officeDocument/2006/relationships/vmlDrawing" Target="../drawings/vmlDrawing63.vml"/><Relationship Id="rId6" Type="http://schemas.openxmlformats.org/officeDocument/2006/relationships/image" Target="../media/image160.wmf"/><Relationship Id="rId11" Type="http://schemas.openxmlformats.org/officeDocument/2006/relationships/oleObject" Target="../embeddings/oleObject170.bin"/><Relationship Id="rId5" Type="http://schemas.openxmlformats.org/officeDocument/2006/relationships/oleObject" Target="../embeddings/oleObject167.bin"/><Relationship Id="rId15" Type="http://schemas.openxmlformats.org/officeDocument/2006/relationships/oleObject" Target="../embeddings/oleObject172.bin"/><Relationship Id="rId10" Type="http://schemas.openxmlformats.org/officeDocument/2006/relationships/image" Target="../media/image162.wmf"/><Relationship Id="rId4" Type="http://schemas.openxmlformats.org/officeDocument/2006/relationships/image" Target="../media/image159.wmf"/><Relationship Id="rId9" Type="http://schemas.openxmlformats.org/officeDocument/2006/relationships/oleObject" Target="../embeddings/oleObject169.bin"/><Relationship Id="rId14" Type="http://schemas.openxmlformats.org/officeDocument/2006/relationships/image" Target="../media/image164.wmf"/></Relationships>
</file>

<file path=ppt/slides/_rels/slide101.xml.rels><?xml version="1.0" encoding="UTF-8" standalone="yes"?>
<Relationships xmlns="http://schemas.openxmlformats.org/package/2006/relationships"><Relationship Id="rId8" Type="http://schemas.openxmlformats.org/officeDocument/2006/relationships/image" Target="../media/image169.wmf"/><Relationship Id="rId3" Type="http://schemas.openxmlformats.org/officeDocument/2006/relationships/oleObject" Target="../embeddings/oleObject174.bin"/><Relationship Id="rId7" Type="http://schemas.openxmlformats.org/officeDocument/2006/relationships/oleObject" Target="../embeddings/oleObject176.bin"/><Relationship Id="rId2" Type="http://schemas.openxmlformats.org/officeDocument/2006/relationships/slideLayout" Target="../slideLayouts/slideLayout2.xml"/><Relationship Id="rId1" Type="http://schemas.openxmlformats.org/officeDocument/2006/relationships/vmlDrawing" Target="../drawings/vmlDrawing64.vml"/><Relationship Id="rId6" Type="http://schemas.openxmlformats.org/officeDocument/2006/relationships/image" Target="../media/image168.wmf"/><Relationship Id="rId5" Type="http://schemas.openxmlformats.org/officeDocument/2006/relationships/oleObject" Target="../embeddings/oleObject175.bin"/><Relationship Id="rId10" Type="http://schemas.openxmlformats.org/officeDocument/2006/relationships/image" Target="../media/image170.wmf"/><Relationship Id="rId4" Type="http://schemas.openxmlformats.org/officeDocument/2006/relationships/image" Target="../media/image167.wmf"/><Relationship Id="rId9" Type="http://schemas.openxmlformats.org/officeDocument/2006/relationships/oleObject" Target="../embeddings/oleObject177.bin"/></Relationships>
</file>

<file path=ppt/slides/_rels/slide102.xml.rels><?xml version="1.0" encoding="UTF-8" standalone="yes"?>
<Relationships xmlns="http://schemas.openxmlformats.org/package/2006/relationships"><Relationship Id="rId8" Type="http://schemas.openxmlformats.org/officeDocument/2006/relationships/image" Target="../media/image173.wmf"/><Relationship Id="rId3" Type="http://schemas.openxmlformats.org/officeDocument/2006/relationships/oleObject" Target="../embeddings/oleObject178.bin"/><Relationship Id="rId7" Type="http://schemas.openxmlformats.org/officeDocument/2006/relationships/oleObject" Target="../embeddings/oleObject180.bin"/><Relationship Id="rId2" Type="http://schemas.openxmlformats.org/officeDocument/2006/relationships/slideLayout" Target="../slideLayouts/slideLayout2.xml"/><Relationship Id="rId1" Type="http://schemas.openxmlformats.org/officeDocument/2006/relationships/vmlDrawing" Target="../drawings/vmlDrawing65.vml"/><Relationship Id="rId6" Type="http://schemas.openxmlformats.org/officeDocument/2006/relationships/image" Target="../media/image172.wmf"/><Relationship Id="rId5" Type="http://schemas.openxmlformats.org/officeDocument/2006/relationships/oleObject" Target="../embeddings/oleObject179.bin"/><Relationship Id="rId4" Type="http://schemas.openxmlformats.org/officeDocument/2006/relationships/image" Target="../media/image171.wmf"/></Relationships>
</file>

<file path=ppt/slides/_rels/slide103.xml.rels><?xml version="1.0" encoding="UTF-8" standalone="yes"?>
<Relationships xmlns="http://schemas.openxmlformats.org/package/2006/relationships"><Relationship Id="rId8" Type="http://schemas.openxmlformats.org/officeDocument/2006/relationships/image" Target="../media/image175.wmf"/><Relationship Id="rId3" Type="http://schemas.openxmlformats.org/officeDocument/2006/relationships/image" Target="../media/image176.png"/><Relationship Id="rId7" Type="http://schemas.openxmlformats.org/officeDocument/2006/relationships/oleObject" Target="../embeddings/oleObject182.bin"/><Relationship Id="rId2" Type="http://schemas.openxmlformats.org/officeDocument/2006/relationships/slideLayout" Target="../slideLayouts/slideLayout2.xml"/><Relationship Id="rId1" Type="http://schemas.openxmlformats.org/officeDocument/2006/relationships/vmlDrawing" Target="../drawings/vmlDrawing66.vml"/><Relationship Id="rId6" Type="http://schemas.openxmlformats.org/officeDocument/2006/relationships/image" Target="../media/image174.wmf"/><Relationship Id="rId5" Type="http://schemas.openxmlformats.org/officeDocument/2006/relationships/oleObject" Target="../embeddings/oleObject181.bin"/><Relationship Id="rId4" Type="http://schemas.openxmlformats.org/officeDocument/2006/relationships/image" Target="../media/image177.png"/></Relationships>
</file>

<file path=ppt/slides/_rels/slide104.xml.rels><?xml version="1.0" encoding="UTF-8" standalone="yes"?>
<Relationships xmlns="http://schemas.openxmlformats.org/package/2006/relationships"><Relationship Id="rId8" Type="http://schemas.openxmlformats.org/officeDocument/2006/relationships/image" Target="../media/image179.wmf"/><Relationship Id="rId13" Type="http://schemas.openxmlformats.org/officeDocument/2006/relationships/oleObject" Target="../embeddings/oleObject188.bin"/><Relationship Id="rId3" Type="http://schemas.openxmlformats.org/officeDocument/2006/relationships/oleObject" Target="../embeddings/oleObject183.bin"/><Relationship Id="rId7" Type="http://schemas.openxmlformats.org/officeDocument/2006/relationships/oleObject" Target="../embeddings/oleObject185.bin"/><Relationship Id="rId12" Type="http://schemas.openxmlformats.org/officeDocument/2006/relationships/image" Target="../media/image181.wmf"/><Relationship Id="rId2" Type="http://schemas.openxmlformats.org/officeDocument/2006/relationships/slideLayout" Target="../slideLayouts/slideLayout2.xml"/><Relationship Id="rId16" Type="http://schemas.openxmlformats.org/officeDocument/2006/relationships/image" Target="../media/image183.wmf"/><Relationship Id="rId1" Type="http://schemas.openxmlformats.org/officeDocument/2006/relationships/vmlDrawing" Target="../drawings/vmlDrawing67.vml"/><Relationship Id="rId6" Type="http://schemas.openxmlformats.org/officeDocument/2006/relationships/image" Target="../media/image178.wmf"/><Relationship Id="rId11" Type="http://schemas.openxmlformats.org/officeDocument/2006/relationships/oleObject" Target="../embeddings/oleObject187.bin"/><Relationship Id="rId5" Type="http://schemas.openxmlformats.org/officeDocument/2006/relationships/oleObject" Target="../embeddings/oleObject184.bin"/><Relationship Id="rId15" Type="http://schemas.openxmlformats.org/officeDocument/2006/relationships/oleObject" Target="../embeddings/oleObject189.bin"/><Relationship Id="rId10" Type="http://schemas.openxmlformats.org/officeDocument/2006/relationships/image" Target="../media/image180.wmf"/><Relationship Id="rId4" Type="http://schemas.openxmlformats.org/officeDocument/2006/relationships/image" Target="../media/image169.wmf"/><Relationship Id="rId9" Type="http://schemas.openxmlformats.org/officeDocument/2006/relationships/oleObject" Target="../embeddings/oleObject186.bin"/><Relationship Id="rId14" Type="http://schemas.openxmlformats.org/officeDocument/2006/relationships/image" Target="../media/image182.wmf"/></Relationships>
</file>

<file path=ppt/slides/_rels/slide105.x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oleObject" Target="../embeddings/oleObject190.bin"/><Relationship Id="rId7" Type="http://schemas.openxmlformats.org/officeDocument/2006/relationships/oleObject" Target="../embeddings/oleObject192.bin"/><Relationship Id="rId2" Type="http://schemas.openxmlformats.org/officeDocument/2006/relationships/slideLayout" Target="../slideLayouts/slideLayout2.xml"/><Relationship Id="rId1" Type="http://schemas.openxmlformats.org/officeDocument/2006/relationships/vmlDrawing" Target="../drawings/vmlDrawing68.vml"/><Relationship Id="rId6" Type="http://schemas.openxmlformats.org/officeDocument/2006/relationships/image" Target="../media/image185.wmf"/><Relationship Id="rId5" Type="http://schemas.openxmlformats.org/officeDocument/2006/relationships/oleObject" Target="../embeddings/oleObject191.bin"/><Relationship Id="rId4" Type="http://schemas.openxmlformats.org/officeDocument/2006/relationships/image" Target="../media/image184.wmf"/></Relationships>
</file>

<file path=ppt/slides/_rels/slide106.xml.rels><?xml version="1.0" encoding="UTF-8" standalone="yes"?>
<Relationships xmlns="http://schemas.openxmlformats.org/package/2006/relationships"><Relationship Id="rId8" Type="http://schemas.openxmlformats.org/officeDocument/2006/relationships/image" Target="../media/image189.wmf"/><Relationship Id="rId3" Type="http://schemas.openxmlformats.org/officeDocument/2006/relationships/oleObject" Target="../embeddings/oleObject193.bin"/><Relationship Id="rId7" Type="http://schemas.openxmlformats.org/officeDocument/2006/relationships/oleObject" Target="../embeddings/oleObject195.bin"/><Relationship Id="rId2" Type="http://schemas.openxmlformats.org/officeDocument/2006/relationships/slideLayout" Target="../slideLayouts/slideLayout2.xml"/><Relationship Id="rId1" Type="http://schemas.openxmlformats.org/officeDocument/2006/relationships/vmlDrawing" Target="../drawings/vmlDrawing69.vml"/><Relationship Id="rId6" Type="http://schemas.openxmlformats.org/officeDocument/2006/relationships/image" Target="../media/image188.wmf"/><Relationship Id="rId5" Type="http://schemas.openxmlformats.org/officeDocument/2006/relationships/oleObject" Target="../embeddings/oleObject194.bin"/><Relationship Id="rId4" Type="http://schemas.openxmlformats.org/officeDocument/2006/relationships/image" Target="../media/image187.w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96.bin"/><Relationship Id="rId2" Type="http://schemas.openxmlformats.org/officeDocument/2006/relationships/slideLayout" Target="../slideLayouts/slideLayout2.xml"/><Relationship Id="rId1" Type="http://schemas.openxmlformats.org/officeDocument/2006/relationships/vmlDrawing" Target="../drawings/vmlDrawing70.vml"/><Relationship Id="rId6" Type="http://schemas.openxmlformats.org/officeDocument/2006/relationships/image" Target="../media/image191.wmf"/><Relationship Id="rId5" Type="http://schemas.openxmlformats.org/officeDocument/2006/relationships/oleObject" Target="../embeddings/oleObject197.bin"/><Relationship Id="rId4" Type="http://schemas.openxmlformats.org/officeDocument/2006/relationships/image" Target="../media/image190.w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98.bin"/><Relationship Id="rId2" Type="http://schemas.openxmlformats.org/officeDocument/2006/relationships/slideLayout" Target="../slideLayouts/slideLayout2.xml"/><Relationship Id="rId1" Type="http://schemas.openxmlformats.org/officeDocument/2006/relationships/vmlDrawing" Target="../drawings/vmlDrawing71.vml"/><Relationship Id="rId6" Type="http://schemas.openxmlformats.org/officeDocument/2006/relationships/image" Target="../media/image193.wmf"/><Relationship Id="rId5" Type="http://schemas.openxmlformats.org/officeDocument/2006/relationships/oleObject" Target="../embeddings/oleObject199.bin"/><Relationship Id="rId4" Type="http://schemas.openxmlformats.org/officeDocument/2006/relationships/image" Target="../media/image192.wmf"/></Relationships>
</file>

<file path=ppt/slides/_rels/slide109.xml.rels><?xml version="1.0" encoding="UTF-8" standalone="yes"?>
<Relationships xmlns="http://schemas.openxmlformats.org/package/2006/relationships"><Relationship Id="rId8" Type="http://schemas.openxmlformats.org/officeDocument/2006/relationships/image" Target="../media/image196.wmf"/><Relationship Id="rId3" Type="http://schemas.openxmlformats.org/officeDocument/2006/relationships/oleObject" Target="../embeddings/oleObject200.bin"/><Relationship Id="rId7" Type="http://schemas.openxmlformats.org/officeDocument/2006/relationships/oleObject" Target="../embeddings/oleObject202.bin"/><Relationship Id="rId2" Type="http://schemas.openxmlformats.org/officeDocument/2006/relationships/slideLayout" Target="../slideLayouts/slideLayout2.xml"/><Relationship Id="rId1" Type="http://schemas.openxmlformats.org/officeDocument/2006/relationships/vmlDrawing" Target="../drawings/vmlDrawing72.vml"/><Relationship Id="rId6" Type="http://schemas.openxmlformats.org/officeDocument/2006/relationships/image" Target="../media/image195.wmf"/><Relationship Id="rId5" Type="http://schemas.openxmlformats.org/officeDocument/2006/relationships/oleObject" Target="../embeddings/oleObject201.bin"/><Relationship Id="rId10" Type="http://schemas.openxmlformats.org/officeDocument/2006/relationships/image" Target="../media/image197.wmf"/><Relationship Id="rId4" Type="http://schemas.openxmlformats.org/officeDocument/2006/relationships/image" Target="../media/image194.wmf"/><Relationship Id="rId9" Type="http://schemas.openxmlformats.org/officeDocument/2006/relationships/oleObject" Target="../embeddings/oleObject203.bin"/></Relationships>
</file>

<file path=ppt/slides/_rels/slide110.xml.rels><?xml version="1.0" encoding="UTF-8" standalone="yes"?>
<Relationships xmlns="http://schemas.openxmlformats.org/package/2006/relationships"><Relationship Id="rId8" Type="http://schemas.openxmlformats.org/officeDocument/2006/relationships/image" Target="../media/image199.wmf"/><Relationship Id="rId3" Type="http://schemas.openxmlformats.org/officeDocument/2006/relationships/oleObject" Target="../embeddings/oleObject204.bin"/><Relationship Id="rId7" Type="http://schemas.openxmlformats.org/officeDocument/2006/relationships/oleObject" Target="../embeddings/oleObject206.bin"/><Relationship Id="rId2" Type="http://schemas.openxmlformats.org/officeDocument/2006/relationships/slideLayout" Target="../slideLayouts/slideLayout2.xml"/><Relationship Id="rId1" Type="http://schemas.openxmlformats.org/officeDocument/2006/relationships/vmlDrawing" Target="../drawings/vmlDrawing73.vml"/><Relationship Id="rId6" Type="http://schemas.openxmlformats.org/officeDocument/2006/relationships/image" Target="../media/image198.wmf"/><Relationship Id="rId5" Type="http://schemas.openxmlformats.org/officeDocument/2006/relationships/oleObject" Target="../embeddings/oleObject205.bin"/><Relationship Id="rId4" Type="http://schemas.openxmlformats.org/officeDocument/2006/relationships/image" Target="../media/image197.wmf"/></Relationships>
</file>

<file path=ppt/slides/_rels/slide111.xml.rels><?xml version="1.0" encoding="UTF-8" standalone="yes"?>
<Relationships xmlns="http://schemas.openxmlformats.org/package/2006/relationships"><Relationship Id="rId8" Type="http://schemas.openxmlformats.org/officeDocument/2006/relationships/image" Target="../media/image202.wmf"/><Relationship Id="rId3" Type="http://schemas.openxmlformats.org/officeDocument/2006/relationships/oleObject" Target="../embeddings/oleObject207.bin"/><Relationship Id="rId7" Type="http://schemas.openxmlformats.org/officeDocument/2006/relationships/oleObject" Target="../embeddings/oleObject209.bin"/><Relationship Id="rId12" Type="http://schemas.openxmlformats.org/officeDocument/2006/relationships/image" Target="../media/image204.wmf"/><Relationship Id="rId2" Type="http://schemas.openxmlformats.org/officeDocument/2006/relationships/slideLayout" Target="../slideLayouts/slideLayout2.xml"/><Relationship Id="rId1" Type="http://schemas.openxmlformats.org/officeDocument/2006/relationships/vmlDrawing" Target="../drawings/vmlDrawing74.vml"/><Relationship Id="rId6" Type="http://schemas.openxmlformats.org/officeDocument/2006/relationships/image" Target="../media/image201.wmf"/><Relationship Id="rId11" Type="http://schemas.openxmlformats.org/officeDocument/2006/relationships/oleObject" Target="../embeddings/oleObject211.bin"/><Relationship Id="rId5" Type="http://schemas.openxmlformats.org/officeDocument/2006/relationships/oleObject" Target="../embeddings/oleObject208.bin"/><Relationship Id="rId10" Type="http://schemas.openxmlformats.org/officeDocument/2006/relationships/image" Target="../media/image203.wmf"/><Relationship Id="rId4" Type="http://schemas.openxmlformats.org/officeDocument/2006/relationships/image" Target="../media/image200.wmf"/><Relationship Id="rId9" Type="http://schemas.openxmlformats.org/officeDocument/2006/relationships/oleObject" Target="../embeddings/oleObject210.bin"/></Relationships>
</file>

<file path=ppt/slides/_rels/slide112.x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oleObject" Target="../embeddings/oleObject212.bin"/><Relationship Id="rId7" Type="http://schemas.openxmlformats.org/officeDocument/2006/relationships/oleObject" Target="../embeddings/oleObject214.bin"/><Relationship Id="rId2" Type="http://schemas.openxmlformats.org/officeDocument/2006/relationships/slideLayout" Target="../slideLayouts/slideLayout2.xml"/><Relationship Id="rId1" Type="http://schemas.openxmlformats.org/officeDocument/2006/relationships/vmlDrawing" Target="../drawings/vmlDrawing75.vml"/><Relationship Id="rId6" Type="http://schemas.openxmlformats.org/officeDocument/2006/relationships/image" Target="../media/image206.wmf"/><Relationship Id="rId5" Type="http://schemas.openxmlformats.org/officeDocument/2006/relationships/oleObject" Target="../embeddings/oleObject213.bin"/><Relationship Id="rId10" Type="http://schemas.openxmlformats.org/officeDocument/2006/relationships/image" Target="../media/image207.wmf"/><Relationship Id="rId4" Type="http://schemas.openxmlformats.org/officeDocument/2006/relationships/image" Target="../media/image205.wmf"/><Relationship Id="rId9" Type="http://schemas.openxmlformats.org/officeDocument/2006/relationships/oleObject" Target="../embeddings/oleObject215.bin"/></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216.bin"/><Relationship Id="rId2" Type="http://schemas.openxmlformats.org/officeDocument/2006/relationships/slideLayout" Target="../slideLayouts/slideLayout2.xml"/><Relationship Id="rId1" Type="http://schemas.openxmlformats.org/officeDocument/2006/relationships/vmlDrawing" Target="../drawings/vmlDrawing76.vml"/><Relationship Id="rId4" Type="http://schemas.openxmlformats.org/officeDocument/2006/relationships/image" Target="../media/image208.wmf"/></Relationships>
</file>

<file path=ppt/slides/_rels/slide114.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8" Type="http://schemas.openxmlformats.org/officeDocument/2006/relationships/image" Target="../media/image212.wmf"/><Relationship Id="rId3" Type="http://schemas.openxmlformats.org/officeDocument/2006/relationships/oleObject" Target="../embeddings/oleObject217.bin"/><Relationship Id="rId7" Type="http://schemas.openxmlformats.org/officeDocument/2006/relationships/oleObject" Target="../embeddings/oleObject219.bin"/><Relationship Id="rId2" Type="http://schemas.openxmlformats.org/officeDocument/2006/relationships/slideLayout" Target="../slideLayouts/slideLayout2.xml"/><Relationship Id="rId1" Type="http://schemas.openxmlformats.org/officeDocument/2006/relationships/vmlDrawing" Target="../drawings/vmlDrawing77.vml"/><Relationship Id="rId6" Type="http://schemas.openxmlformats.org/officeDocument/2006/relationships/image" Target="../media/image211.wmf"/><Relationship Id="rId5" Type="http://schemas.openxmlformats.org/officeDocument/2006/relationships/oleObject" Target="../embeddings/oleObject218.bin"/><Relationship Id="rId10" Type="http://schemas.openxmlformats.org/officeDocument/2006/relationships/image" Target="../media/image213.wmf"/><Relationship Id="rId4" Type="http://schemas.openxmlformats.org/officeDocument/2006/relationships/image" Target="../media/image210.wmf"/><Relationship Id="rId9" Type="http://schemas.openxmlformats.org/officeDocument/2006/relationships/oleObject" Target="../embeddings/oleObject220.bin"/></Relationships>
</file>

<file path=ppt/slides/_rels/slide117.xml.rels><?xml version="1.0" encoding="UTF-8" standalone="yes"?>
<Relationships xmlns="http://schemas.openxmlformats.org/package/2006/relationships"><Relationship Id="rId8" Type="http://schemas.openxmlformats.org/officeDocument/2006/relationships/image" Target="../media/image216.wmf"/><Relationship Id="rId13" Type="http://schemas.openxmlformats.org/officeDocument/2006/relationships/oleObject" Target="../embeddings/oleObject226.bin"/><Relationship Id="rId3" Type="http://schemas.openxmlformats.org/officeDocument/2006/relationships/oleObject" Target="../embeddings/oleObject221.bin"/><Relationship Id="rId7" Type="http://schemas.openxmlformats.org/officeDocument/2006/relationships/oleObject" Target="../embeddings/oleObject223.bin"/><Relationship Id="rId12" Type="http://schemas.openxmlformats.org/officeDocument/2006/relationships/image" Target="../media/image218.wmf"/><Relationship Id="rId2" Type="http://schemas.openxmlformats.org/officeDocument/2006/relationships/slideLayout" Target="../slideLayouts/slideLayout2.xml"/><Relationship Id="rId16" Type="http://schemas.openxmlformats.org/officeDocument/2006/relationships/image" Target="../media/image220.wmf"/><Relationship Id="rId1" Type="http://schemas.openxmlformats.org/officeDocument/2006/relationships/vmlDrawing" Target="../drawings/vmlDrawing78.vml"/><Relationship Id="rId6" Type="http://schemas.openxmlformats.org/officeDocument/2006/relationships/image" Target="../media/image215.wmf"/><Relationship Id="rId11" Type="http://schemas.openxmlformats.org/officeDocument/2006/relationships/oleObject" Target="../embeddings/oleObject225.bin"/><Relationship Id="rId5" Type="http://schemas.openxmlformats.org/officeDocument/2006/relationships/oleObject" Target="../embeddings/oleObject222.bin"/><Relationship Id="rId15" Type="http://schemas.openxmlformats.org/officeDocument/2006/relationships/oleObject" Target="../embeddings/oleObject227.bin"/><Relationship Id="rId10" Type="http://schemas.openxmlformats.org/officeDocument/2006/relationships/image" Target="../media/image217.wmf"/><Relationship Id="rId4" Type="http://schemas.openxmlformats.org/officeDocument/2006/relationships/image" Target="../media/image214.wmf"/><Relationship Id="rId9" Type="http://schemas.openxmlformats.org/officeDocument/2006/relationships/oleObject" Target="../embeddings/oleObject224.bin"/><Relationship Id="rId14" Type="http://schemas.openxmlformats.org/officeDocument/2006/relationships/image" Target="../media/image219.wm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8" Type="http://schemas.openxmlformats.org/officeDocument/2006/relationships/image" Target="../media/image223.wmf"/><Relationship Id="rId3" Type="http://schemas.openxmlformats.org/officeDocument/2006/relationships/oleObject" Target="../embeddings/oleObject228.bin"/><Relationship Id="rId7" Type="http://schemas.openxmlformats.org/officeDocument/2006/relationships/oleObject" Target="../embeddings/oleObject230.bin"/><Relationship Id="rId2" Type="http://schemas.openxmlformats.org/officeDocument/2006/relationships/slideLayout" Target="../slideLayouts/slideLayout2.xml"/><Relationship Id="rId1" Type="http://schemas.openxmlformats.org/officeDocument/2006/relationships/vmlDrawing" Target="../drawings/vmlDrawing79.vml"/><Relationship Id="rId6" Type="http://schemas.openxmlformats.org/officeDocument/2006/relationships/image" Target="../media/image222.wmf"/><Relationship Id="rId5" Type="http://schemas.openxmlformats.org/officeDocument/2006/relationships/oleObject" Target="../embeddings/oleObject229.bin"/><Relationship Id="rId10" Type="http://schemas.openxmlformats.org/officeDocument/2006/relationships/image" Target="../media/image224.wmf"/><Relationship Id="rId4" Type="http://schemas.openxmlformats.org/officeDocument/2006/relationships/image" Target="../media/image221.wmf"/><Relationship Id="rId9" Type="http://schemas.openxmlformats.org/officeDocument/2006/relationships/oleObject" Target="../embeddings/oleObject231.bin"/></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232.bin"/><Relationship Id="rId2" Type="http://schemas.openxmlformats.org/officeDocument/2006/relationships/slideLayout" Target="../slideLayouts/slideLayout16.xml"/><Relationship Id="rId1" Type="http://schemas.openxmlformats.org/officeDocument/2006/relationships/vmlDrawing" Target="../drawings/vmlDrawing80.vml"/><Relationship Id="rId4" Type="http://schemas.openxmlformats.org/officeDocument/2006/relationships/image" Target="../media/image225.wmf"/></Relationships>
</file>

<file path=ppt/slides/_rels/slide121.xml.rels><?xml version="1.0" encoding="UTF-8" standalone="yes"?>
<Relationships xmlns="http://schemas.openxmlformats.org/package/2006/relationships"><Relationship Id="rId8" Type="http://schemas.openxmlformats.org/officeDocument/2006/relationships/image" Target="../media/image228.wmf"/><Relationship Id="rId3" Type="http://schemas.openxmlformats.org/officeDocument/2006/relationships/oleObject" Target="../embeddings/oleObject233.bin"/><Relationship Id="rId7" Type="http://schemas.openxmlformats.org/officeDocument/2006/relationships/oleObject" Target="../embeddings/oleObject235.bin"/><Relationship Id="rId2" Type="http://schemas.openxmlformats.org/officeDocument/2006/relationships/slideLayout" Target="../slideLayouts/slideLayout16.xml"/><Relationship Id="rId1" Type="http://schemas.openxmlformats.org/officeDocument/2006/relationships/vmlDrawing" Target="../drawings/vmlDrawing81.vml"/><Relationship Id="rId6" Type="http://schemas.openxmlformats.org/officeDocument/2006/relationships/image" Target="../media/image227.wmf"/><Relationship Id="rId5" Type="http://schemas.openxmlformats.org/officeDocument/2006/relationships/oleObject" Target="../embeddings/oleObject234.bin"/><Relationship Id="rId4" Type="http://schemas.openxmlformats.org/officeDocument/2006/relationships/image" Target="../media/image226.wmf"/></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236.bin"/><Relationship Id="rId2" Type="http://schemas.openxmlformats.org/officeDocument/2006/relationships/slideLayout" Target="../slideLayouts/slideLayout16.xml"/><Relationship Id="rId1" Type="http://schemas.openxmlformats.org/officeDocument/2006/relationships/vmlDrawing" Target="../drawings/vmlDrawing82.vml"/><Relationship Id="rId6" Type="http://schemas.openxmlformats.org/officeDocument/2006/relationships/image" Target="../media/image230.wmf"/><Relationship Id="rId5" Type="http://schemas.openxmlformats.org/officeDocument/2006/relationships/oleObject" Target="../embeddings/oleObject237.bin"/><Relationship Id="rId4" Type="http://schemas.openxmlformats.org/officeDocument/2006/relationships/image" Target="../media/image229.wmf"/></Relationships>
</file>

<file path=ppt/slides/_rels/slide123.xml.rels><?xml version="1.0" encoding="UTF-8" standalone="yes"?>
<Relationships xmlns="http://schemas.openxmlformats.org/package/2006/relationships"><Relationship Id="rId8" Type="http://schemas.openxmlformats.org/officeDocument/2006/relationships/image" Target="../media/image233.wmf"/><Relationship Id="rId3" Type="http://schemas.openxmlformats.org/officeDocument/2006/relationships/oleObject" Target="../embeddings/oleObject238.bin"/><Relationship Id="rId7" Type="http://schemas.openxmlformats.org/officeDocument/2006/relationships/oleObject" Target="../embeddings/oleObject240.bin"/><Relationship Id="rId2" Type="http://schemas.openxmlformats.org/officeDocument/2006/relationships/slideLayout" Target="../slideLayouts/slideLayout16.xml"/><Relationship Id="rId1" Type="http://schemas.openxmlformats.org/officeDocument/2006/relationships/vmlDrawing" Target="../drawings/vmlDrawing83.vml"/><Relationship Id="rId6" Type="http://schemas.openxmlformats.org/officeDocument/2006/relationships/image" Target="../media/image232.wmf"/><Relationship Id="rId5" Type="http://schemas.openxmlformats.org/officeDocument/2006/relationships/oleObject" Target="../embeddings/oleObject239.bin"/><Relationship Id="rId4" Type="http://schemas.openxmlformats.org/officeDocument/2006/relationships/image" Target="../media/image231.wmf"/></Relationships>
</file>

<file path=ppt/slides/_rels/slide124.xml.rels><?xml version="1.0" encoding="UTF-8" standalone="yes"?>
<Relationships xmlns="http://schemas.openxmlformats.org/package/2006/relationships"><Relationship Id="rId8" Type="http://schemas.openxmlformats.org/officeDocument/2006/relationships/image" Target="../media/image236.wmf"/><Relationship Id="rId3" Type="http://schemas.openxmlformats.org/officeDocument/2006/relationships/oleObject" Target="../embeddings/oleObject241.bin"/><Relationship Id="rId7" Type="http://schemas.openxmlformats.org/officeDocument/2006/relationships/oleObject" Target="../embeddings/oleObject243.bin"/><Relationship Id="rId2" Type="http://schemas.openxmlformats.org/officeDocument/2006/relationships/slideLayout" Target="../slideLayouts/slideLayout16.xml"/><Relationship Id="rId1" Type="http://schemas.openxmlformats.org/officeDocument/2006/relationships/vmlDrawing" Target="../drawings/vmlDrawing84.vml"/><Relationship Id="rId6" Type="http://schemas.openxmlformats.org/officeDocument/2006/relationships/image" Target="../media/image235.wmf"/><Relationship Id="rId5" Type="http://schemas.openxmlformats.org/officeDocument/2006/relationships/oleObject" Target="../embeddings/oleObject242.bin"/><Relationship Id="rId10" Type="http://schemas.openxmlformats.org/officeDocument/2006/relationships/image" Target="../media/image237.wmf"/><Relationship Id="rId4" Type="http://schemas.openxmlformats.org/officeDocument/2006/relationships/image" Target="../media/image234.wmf"/><Relationship Id="rId9" Type="http://schemas.openxmlformats.org/officeDocument/2006/relationships/oleObject" Target="../embeddings/oleObject244.bin"/></Relationships>
</file>

<file path=ppt/slides/_rels/slide125.xml.rels><?xml version="1.0" encoding="UTF-8" standalone="yes"?>
<Relationships xmlns="http://schemas.openxmlformats.org/package/2006/relationships"><Relationship Id="rId8" Type="http://schemas.openxmlformats.org/officeDocument/2006/relationships/image" Target="../media/image240.wmf"/><Relationship Id="rId3" Type="http://schemas.openxmlformats.org/officeDocument/2006/relationships/oleObject" Target="../embeddings/oleObject245.bin"/><Relationship Id="rId7" Type="http://schemas.openxmlformats.org/officeDocument/2006/relationships/oleObject" Target="../embeddings/oleObject247.bin"/><Relationship Id="rId2" Type="http://schemas.openxmlformats.org/officeDocument/2006/relationships/slideLayout" Target="../slideLayouts/slideLayout16.xml"/><Relationship Id="rId1" Type="http://schemas.openxmlformats.org/officeDocument/2006/relationships/vmlDrawing" Target="../drawings/vmlDrawing85.vml"/><Relationship Id="rId6" Type="http://schemas.openxmlformats.org/officeDocument/2006/relationships/image" Target="../media/image239.wmf"/><Relationship Id="rId5" Type="http://schemas.openxmlformats.org/officeDocument/2006/relationships/oleObject" Target="../embeddings/oleObject246.bin"/><Relationship Id="rId10" Type="http://schemas.openxmlformats.org/officeDocument/2006/relationships/image" Target="../media/image241.wmf"/><Relationship Id="rId4" Type="http://schemas.openxmlformats.org/officeDocument/2006/relationships/image" Target="../media/image238.wmf"/><Relationship Id="rId9" Type="http://schemas.openxmlformats.org/officeDocument/2006/relationships/oleObject" Target="../embeddings/oleObject248.bin"/></Relationships>
</file>

<file path=ppt/slides/_rels/slide126.xml.rels><?xml version="1.0" encoding="UTF-8" standalone="yes"?>
<Relationships xmlns="http://schemas.openxmlformats.org/package/2006/relationships"><Relationship Id="rId2" Type="http://schemas.openxmlformats.org/officeDocument/2006/relationships/image" Target="../media/image242.png"/><Relationship Id="rId1" Type="http://schemas.openxmlformats.org/officeDocument/2006/relationships/slideLayout" Target="../slideLayouts/slideLayout16.xml"/></Relationships>
</file>

<file path=ppt/slides/_rels/slide127.xml.rels><?xml version="1.0" encoding="UTF-8" standalone="yes"?>
<Relationships xmlns="http://schemas.openxmlformats.org/package/2006/relationships"><Relationship Id="rId8" Type="http://schemas.openxmlformats.org/officeDocument/2006/relationships/image" Target="../media/image225.wmf"/><Relationship Id="rId3" Type="http://schemas.openxmlformats.org/officeDocument/2006/relationships/oleObject" Target="../embeddings/oleObject249.bin"/><Relationship Id="rId7" Type="http://schemas.openxmlformats.org/officeDocument/2006/relationships/oleObject" Target="../embeddings/oleObject251.bin"/><Relationship Id="rId2" Type="http://schemas.openxmlformats.org/officeDocument/2006/relationships/slideLayout" Target="../slideLayouts/slideLayout16.xml"/><Relationship Id="rId1" Type="http://schemas.openxmlformats.org/officeDocument/2006/relationships/vmlDrawing" Target="../drawings/vmlDrawing86.vml"/><Relationship Id="rId6" Type="http://schemas.openxmlformats.org/officeDocument/2006/relationships/image" Target="../media/image244.wmf"/><Relationship Id="rId5" Type="http://schemas.openxmlformats.org/officeDocument/2006/relationships/oleObject" Target="../embeddings/oleObject250.bin"/><Relationship Id="rId4" Type="http://schemas.openxmlformats.org/officeDocument/2006/relationships/image" Target="../media/image243.wmf"/></Relationships>
</file>

<file path=ppt/slides/_rels/slide128.xml.rels><?xml version="1.0" encoding="UTF-8" standalone="yes"?>
<Relationships xmlns="http://schemas.openxmlformats.org/package/2006/relationships"><Relationship Id="rId8" Type="http://schemas.openxmlformats.org/officeDocument/2006/relationships/image" Target="../media/image247.wmf"/><Relationship Id="rId3" Type="http://schemas.openxmlformats.org/officeDocument/2006/relationships/oleObject" Target="../embeddings/oleObject252.bin"/><Relationship Id="rId7" Type="http://schemas.openxmlformats.org/officeDocument/2006/relationships/oleObject" Target="../embeddings/oleObject254.bin"/><Relationship Id="rId2" Type="http://schemas.openxmlformats.org/officeDocument/2006/relationships/slideLayout" Target="../slideLayouts/slideLayout16.xml"/><Relationship Id="rId1" Type="http://schemas.openxmlformats.org/officeDocument/2006/relationships/vmlDrawing" Target="../drawings/vmlDrawing87.vml"/><Relationship Id="rId6" Type="http://schemas.openxmlformats.org/officeDocument/2006/relationships/image" Target="../media/image246.wmf"/><Relationship Id="rId5" Type="http://schemas.openxmlformats.org/officeDocument/2006/relationships/oleObject" Target="../embeddings/oleObject253.bin"/><Relationship Id="rId10" Type="http://schemas.openxmlformats.org/officeDocument/2006/relationships/image" Target="../media/image248.wmf"/><Relationship Id="rId4" Type="http://schemas.openxmlformats.org/officeDocument/2006/relationships/image" Target="../media/image245.wmf"/><Relationship Id="rId9" Type="http://schemas.openxmlformats.org/officeDocument/2006/relationships/oleObject" Target="../embeddings/oleObject255.bin"/></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256.bin"/><Relationship Id="rId2" Type="http://schemas.openxmlformats.org/officeDocument/2006/relationships/slideLayout" Target="../slideLayouts/slideLayout16.xml"/><Relationship Id="rId1" Type="http://schemas.openxmlformats.org/officeDocument/2006/relationships/vmlDrawing" Target="../drawings/vmlDrawing88.vml"/><Relationship Id="rId6" Type="http://schemas.openxmlformats.org/officeDocument/2006/relationships/image" Target="../media/image250.wmf"/><Relationship Id="rId5" Type="http://schemas.openxmlformats.org/officeDocument/2006/relationships/oleObject" Target="../embeddings/oleObject257.bin"/><Relationship Id="rId4" Type="http://schemas.openxmlformats.org/officeDocument/2006/relationships/image" Target="../media/image249.wmf"/></Relationships>
</file>

<file path=ppt/slides/_rels/slide130.xml.rels><?xml version="1.0" encoding="UTF-8" standalone="yes"?>
<Relationships xmlns="http://schemas.openxmlformats.org/package/2006/relationships"><Relationship Id="rId3" Type="http://schemas.openxmlformats.org/officeDocument/2006/relationships/oleObject" Target="../embeddings/oleObject258.bin"/><Relationship Id="rId2" Type="http://schemas.openxmlformats.org/officeDocument/2006/relationships/slideLayout" Target="../slideLayouts/slideLayout16.xml"/><Relationship Id="rId1" Type="http://schemas.openxmlformats.org/officeDocument/2006/relationships/vmlDrawing" Target="../drawings/vmlDrawing89.vml"/><Relationship Id="rId6" Type="http://schemas.openxmlformats.org/officeDocument/2006/relationships/image" Target="../media/image252.wmf"/><Relationship Id="rId5" Type="http://schemas.openxmlformats.org/officeDocument/2006/relationships/oleObject" Target="../embeddings/oleObject259.bin"/><Relationship Id="rId4" Type="http://schemas.openxmlformats.org/officeDocument/2006/relationships/image" Target="../media/image251.wmf"/></Relationships>
</file>

<file path=ppt/slides/_rels/slide131.xml.rels><?xml version="1.0" encoding="UTF-8" standalone="yes"?>
<Relationships xmlns="http://schemas.openxmlformats.org/package/2006/relationships"><Relationship Id="rId3" Type="http://schemas.openxmlformats.org/officeDocument/2006/relationships/oleObject" Target="../embeddings/oleObject260.bin"/><Relationship Id="rId2" Type="http://schemas.openxmlformats.org/officeDocument/2006/relationships/slideLayout" Target="../slideLayouts/slideLayout16.xml"/><Relationship Id="rId1" Type="http://schemas.openxmlformats.org/officeDocument/2006/relationships/vmlDrawing" Target="../drawings/vmlDrawing90.vml"/><Relationship Id="rId6" Type="http://schemas.openxmlformats.org/officeDocument/2006/relationships/image" Target="../media/image254.wmf"/><Relationship Id="rId5" Type="http://schemas.openxmlformats.org/officeDocument/2006/relationships/oleObject" Target="../embeddings/oleObject261.bin"/><Relationship Id="rId4" Type="http://schemas.openxmlformats.org/officeDocument/2006/relationships/image" Target="../media/image253.wmf"/></Relationships>
</file>

<file path=ppt/slides/_rels/slide132.xml.rels><?xml version="1.0" encoding="UTF-8" standalone="yes"?>
<Relationships xmlns="http://schemas.openxmlformats.org/package/2006/relationships"><Relationship Id="rId8" Type="http://schemas.openxmlformats.org/officeDocument/2006/relationships/image" Target="../media/image257.wmf"/><Relationship Id="rId3" Type="http://schemas.openxmlformats.org/officeDocument/2006/relationships/oleObject" Target="../embeddings/oleObject262.bin"/><Relationship Id="rId7" Type="http://schemas.openxmlformats.org/officeDocument/2006/relationships/oleObject" Target="../embeddings/oleObject264.bin"/><Relationship Id="rId2" Type="http://schemas.openxmlformats.org/officeDocument/2006/relationships/slideLayout" Target="../slideLayouts/slideLayout16.xml"/><Relationship Id="rId1" Type="http://schemas.openxmlformats.org/officeDocument/2006/relationships/vmlDrawing" Target="../drawings/vmlDrawing91.vml"/><Relationship Id="rId6" Type="http://schemas.openxmlformats.org/officeDocument/2006/relationships/image" Target="../media/image256.wmf"/><Relationship Id="rId5" Type="http://schemas.openxmlformats.org/officeDocument/2006/relationships/oleObject" Target="../embeddings/oleObject263.bin"/><Relationship Id="rId10" Type="http://schemas.openxmlformats.org/officeDocument/2006/relationships/image" Target="../media/image258.wmf"/><Relationship Id="rId4" Type="http://schemas.openxmlformats.org/officeDocument/2006/relationships/image" Target="../media/image255.wmf"/><Relationship Id="rId9" Type="http://schemas.openxmlformats.org/officeDocument/2006/relationships/oleObject" Target="../embeddings/oleObject265.bin"/></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266.bin"/><Relationship Id="rId2" Type="http://schemas.openxmlformats.org/officeDocument/2006/relationships/slideLayout" Target="../slideLayouts/slideLayout16.xml"/><Relationship Id="rId1" Type="http://schemas.openxmlformats.org/officeDocument/2006/relationships/vmlDrawing" Target="../drawings/vmlDrawing92.vml"/><Relationship Id="rId6" Type="http://schemas.openxmlformats.org/officeDocument/2006/relationships/image" Target="../media/image260.wmf"/><Relationship Id="rId5" Type="http://schemas.openxmlformats.org/officeDocument/2006/relationships/oleObject" Target="../embeddings/oleObject267.bin"/><Relationship Id="rId4" Type="http://schemas.openxmlformats.org/officeDocument/2006/relationships/image" Target="../media/image259.wmf"/></Relationships>
</file>

<file path=ppt/slides/_rels/slide136.xml.rels><?xml version="1.0" encoding="UTF-8" standalone="yes"?>
<Relationships xmlns="http://schemas.openxmlformats.org/package/2006/relationships"><Relationship Id="rId8" Type="http://schemas.openxmlformats.org/officeDocument/2006/relationships/image" Target="../media/image263.wmf"/><Relationship Id="rId3" Type="http://schemas.openxmlformats.org/officeDocument/2006/relationships/oleObject" Target="../embeddings/oleObject268.bin"/><Relationship Id="rId7" Type="http://schemas.openxmlformats.org/officeDocument/2006/relationships/oleObject" Target="../embeddings/oleObject270.bin"/><Relationship Id="rId2" Type="http://schemas.openxmlformats.org/officeDocument/2006/relationships/slideLayout" Target="../slideLayouts/slideLayout16.xml"/><Relationship Id="rId1" Type="http://schemas.openxmlformats.org/officeDocument/2006/relationships/vmlDrawing" Target="../drawings/vmlDrawing93.vml"/><Relationship Id="rId6" Type="http://schemas.openxmlformats.org/officeDocument/2006/relationships/image" Target="../media/image262.wmf"/><Relationship Id="rId5" Type="http://schemas.openxmlformats.org/officeDocument/2006/relationships/oleObject" Target="../embeddings/oleObject269.bin"/><Relationship Id="rId10" Type="http://schemas.openxmlformats.org/officeDocument/2006/relationships/image" Target="../media/image264.wmf"/><Relationship Id="rId4" Type="http://schemas.openxmlformats.org/officeDocument/2006/relationships/image" Target="../media/image261.wmf"/><Relationship Id="rId9" Type="http://schemas.openxmlformats.org/officeDocument/2006/relationships/oleObject" Target="../embeddings/oleObject271.bin"/></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272.bin"/><Relationship Id="rId2" Type="http://schemas.openxmlformats.org/officeDocument/2006/relationships/slideLayout" Target="../slideLayouts/slideLayout16.xml"/><Relationship Id="rId1" Type="http://schemas.openxmlformats.org/officeDocument/2006/relationships/vmlDrawing" Target="../drawings/vmlDrawing94.vml"/><Relationship Id="rId4" Type="http://schemas.openxmlformats.org/officeDocument/2006/relationships/image" Target="../media/image265.wmf"/></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273.bin"/><Relationship Id="rId2" Type="http://schemas.openxmlformats.org/officeDocument/2006/relationships/slideLayout" Target="../slideLayouts/slideLayout16.xml"/><Relationship Id="rId1" Type="http://schemas.openxmlformats.org/officeDocument/2006/relationships/vmlDrawing" Target="../drawings/vmlDrawing95.vml"/><Relationship Id="rId4" Type="http://schemas.openxmlformats.org/officeDocument/2006/relationships/image" Target="../media/image266.wmf"/></Relationships>
</file>

<file path=ppt/slides/_rels/slide139.xml.rels><?xml version="1.0" encoding="UTF-8" standalone="yes"?>
<Relationships xmlns="http://schemas.openxmlformats.org/package/2006/relationships"><Relationship Id="rId8" Type="http://schemas.openxmlformats.org/officeDocument/2006/relationships/image" Target="../media/image269.wmf"/><Relationship Id="rId3" Type="http://schemas.openxmlformats.org/officeDocument/2006/relationships/oleObject" Target="../embeddings/oleObject274.bin"/><Relationship Id="rId7" Type="http://schemas.openxmlformats.org/officeDocument/2006/relationships/oleObject" Target="../embeddings/oleObject276.bin"/><Relationship Id="rId2" Type="http://schemas.openxmlformats.org/officeDocument/2006/relationships/slideLayout" Target="../slideLayouts/slideLayout16.xml"/><Relationship Id="rId1" Type="http://schemas.openxmlformats.org/officeDocument/2006/relationships/vmlDrawing" Target="../drawings/vmlDrawing96.vml"/><Relationship Id="rId6" Type="http://schemas.openxmlformats.org/officeDocument/2006/relationships/image" Target="../media/image268.wmf"/><Relationship Id="rId5" Type="http://schemas.openxmlformats.org/officeDocument/2006/relationships/oleObject" Target="../embeddings/oleObject275.bin"/><Relationship Id="rId10" Type="http://schemas.openxmlformats.org/officeDocument/2006/relationships/image" Target="../media/image270.wmf"/><Relationship Id="rId4" Type="http://schemas.openxmlformats.org/officeDocument/2006/relationships/image" Target="../media/image267.wmf"/><Relationship Id="rId9" Type="http://schemas.openxmlformats.org/officeDocument/2006/relationships/oleObject" Target="../embeddings/oleObject277.bin"/></Relationships>
</file>

<file path=ppt/slides/_rels/slide140.xml.rels><?xml version="1.0" encoding="UTF-8" standalone="yes"?>
<Relationships xmlns="http://schemas.openxmlformats.org/package/2006/relationships"><Relationship Id="rId8" Type="http://schemas.openxmlformats.org/officeDocument/2006/relationships/image" Target="../media/image273.wmf"/><Relationship Id="rId3" Type="http://schemas.openxmlformats.org/officeDocument/2006/relationships/oleObject" Target="../embeddings/oleObject278.bin"/><Relationship Id="rId7" Type="http://schemas.openxmlformats.org/officeDocument/2006/relationships/oleObject" Target="../embeddings/oleObject280.bin"/><Relationship Id="rId2" Type="http://schemas.openxmlformats.org/officeDocument/2006/relationships/slideLayout" Target="../slideLayouts/slideLayout16.xml"/><Relationship Id="rId1" Type="http://schemas.openxmlformats.org/officeDocument/2006/relationships/vmlDrawing" Target="../drawings/vmlDrawing97.vml"/><Relationship Id="rId6" Type="http://schemas.openxmlformats.org/officeDocument/2006/relationships/image" Target="../media/image272.wmf"/><Relationship Id="rId11" Type="http://schemas.openxmlformats.org/officeDocument/2006/relationships/oleObject" Target="../embeddings/oleObject282.bin"/><Relationship Id="rId5" Type="http://schemas.openxmlformats.org/officeDocument/2006/relationships/oleObject" Target="../embeddings/oleObject279.bin"/><Relationship Id="rId10" Type="http://schemas.openxmlformats.org/officeDocument/2006/relationships/image" Target="../media/image274.wmf"/><Relationship Id="rId4" Type="http://schemas.openxmlformats.org/officeDocument/2006/relationships/image" Target="../media/image271.wmf"/><Relationship Id="rId9" Type="http://schemas.openxmlformats.org/officeDocument/2006/relationships/oleObject" Target="../embeddings/oleObject281.bin"/></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2.xml.rels><?xml version="1.0" encoding="UTF-8" standalone="yes"?>
<Relationships xmlns="http://schemas.openxmlformats.org/package/2006/relationships"><Relationship Id="rId8" Type="http://schemas.openxmlformats.org/officeDocument/2006/relationships/image" Target="../media/image277.wmf"/><Relationship Id="rId3" Type="http://schemas.openxmlformats.org/officeDocument/2006/relationships/oleObject" Target="../embeddings/oleObject283.bin"/><Relationship Id="rId7" Type="http://schemas.openxmlformats.org/officeDocument/2006/relationships/oleObject" Target="../embeddings/oleObject285.bin"/><Relationship Id="rId2" Type="http://schemas.openxmlformats.org/officeDocument/2006/relationships/slideLayout" Target="../slideLayouts/slideLayout16.xml"/><Relationship Id="rId1" Type="http://schemas.openxmlformats.org/officeDocument/2006/relationships/vmlDrawing" Target="../drawings/vmlDrawing98.vml"/><Relationship Id="rId6" Type="http://schemas.openxmlformats.org/officeDocument/2006/relationships/image" Target="../media/image276.wmf"/><Relationship Id="rId5" Type="http://schemas.openxmlformats.org/officeDocument/2006/relationships/oleObject" Target="../embeddings/oleObject284.bin"/><Relationship Id="rId4" Type="http://schemas.openxmlformats.org/officeDocument/2006/relationships/image" Target="../media/image275.wmf"/></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15696" y="2129314"/>
            <a:ext cx="7772400" cy="1362456"/>
          </a:xfrm>
        </p:spPr>
        <p:txBody>
          <a:bodyPr/>
          <a:lstStyle/>
          <a:p>
            <a:pPr algn="ctr"/>
            <a:r>
              <a:rPr lang="zh-CN" altLang="en-US" sz="6000" dirty="0" smtClean="0">
                <a:solidFill>
                  <a:srgbClr val="911720"/>
                </a:solidFill>
                <a:latin typeface="华文新魏" panose="02010800040101010101" pitchFamily="2" charset="-122"/>
                <a:ea typeface="华文新魏" panose="02010800040101010101" pitchFamily="2" charset="-122"/>
              </a:rPr>
              <a:t>分类费率厘定与广义线性模型</a:t>
            </a:r>
            <a:endParaRPr lang="zh-CN" altLang="en-US" sz="6000" dirty="0">
              <a:solidFill>
                <a:srgbClr val="911720"/>
              </a:solidFill>
              <a:latin typeface="华文新魏" panose="02010800040101010101" pitchFamily="2" charset="-122"/>
              <a:ea typeface="华文新魏" panose="02010800040101010101" pitchFamily="2" charset="-122"/>
            </a:endParaRPr>
          </a:p>
        </p:txBody>
      </p:sp>
      <p:sp>
        <p:nvSpPr>
          <p:cNvPr id="9" name="Rectangle 3"/>
          <p:cNvSpPr txBox="1">
            <a:spLocks noChangeArrowheads="1"/>
          </p:cNvSpPr>
          <p:nvPr/>
        </p:nvSpPr>
        <p:spPr>
          <a:xfrm>
            <a:off x="533400" y="4010258"/>
            <a:ext cx="7854696" cy="1752600"/>
          </a:xfrm>
          <a:prstGeom prst="rect">
            <a:avLst/>
          </a:prstGeom>
        </p:spPr>
        <p:txBody>
          <a:bodyPr vert="horz" lIns="45720" rIns="45720" anchor="t">
            <a:normAutofit/>
          </a:bodyPr>
          <a:lstStyle>
            <a:lvl1pPr marL="0" indent="0" algn="l" rtl="0" eaLnBrk="1" latinLnBrk="0" hangingPunct="1">
              <a:spcBef>
                <a:spcPct val="20000"/>
              </a:spcBef>
              <a:buClr>
                <a:schemeClr val="accent3"/>
              </a:buClr>
              <a:buSzPct val="95000"/>
              <a:buFont typeface="Wingdings 2"/>
              <a:buNone/>
              <a:defRPr kumimoji="0" sz="22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None/>
              <a:defRPr kumimoji="0" sz="1800" kern="1200">
                <a:solidFill>
                  <a:schemeClr val="tx1">
                    <a:tint val="75000"/>
                  </a:schemeClr>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None/>
              <a:defRPr kumimoji="0" sz="1600" kern="1200">
                <a:solidFill>
                  <a:schemeClr val="tx1">
                    <a:tint val="75000"/>
                  </a:schemeClr>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None/>
              <a:defRPr kumimoji="0" sz="1400" kern="1200">
                <a:solidFill>
                  <a:schemeClr val="tx1">
                    <a:tint val="75000"/>
                  </a:schemeClr>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None/>
              <a:defRPr kumimoji="0" sz="1400" kern="1200">
                <a:solidFill>
                  <a:schemeClr val="tx1">
                    <a:tint val="75000"/>
                  </a:schemeClr>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gn="ctr" fontAlgn="auto">
              <a:lnSpc>
                <a:spcPct val="140000"/>
              </a:lnSpc>
              <a:spcAft>
                <a:spcPts val="0"/>
              </a:spcAft>
              <a:buClr>
                <a:srgbClr val="FFFFFF"/>
              </a:buClr>
            </a:pPr>
            <a:r>
              <a:rPr lang="zh-CN" altLang="en-US" sz="3200" dirty="0" smtClean="0">
                <a:solidFill>
                  <a:srgbClr val="911720"/>
                </a:solidFill>
                <a:latin typeface="华文新魏" pitchFamily="2" charset="-122"/>
                <a:ea typeface="华文新魏" pitchFamily="2" charset="-122"/>
              </a:rPr>
              <a:t>李政宵</a:t>
            </a:r>
          </a:p>
          <a:p>
            <a:pPr algn="ctr" fontAlgn="auto">
              <a:lnSpc>
                <a:spcPct val="140000"/>
              </a:lnSpc>
              <a:spcAft>
                <a:spcPts val="0"/>
              </a:spcAft>
              <a:buClr>
                <a:srgbClr val="FFFFFF"/>
              </a:buClr>
            </a:pPr>
            <a:r>
              <a:rPr lang="zh-CN" altLang="en-US" sz="3200" dirty="0" smtClean="0">
                <a:solidFill>
                  <a:srgbClr val="911720"/>
                </a:solidFill>
                <a:latin typeface="华文新魏" pitchFamily="2" charset="-122"/>
                <a:ea typeface="华文新魏" pitchFamily="2" charset="-122"/>
              </a:rPr>
              <a:t>    对外经济贸易大学保险学院</a:t>
            </a:r>
          </a:p>
        </p:txBody>
      </p:sp>
    </p:spTree>
    <p:extLst>
      <p:ext uri="{BB962C8B-B14F-4D97-AF65-F5344CB8AC3E}">
        <p14:creationId xmlns:p14="http://schemas.microsoft.com/office/powerpoint/2010/main" val="2207517496"/>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r>
              <a:rPr lang="en-US" altLang="zh-CN" dirty="0"/>
              <a:t>( </a:t>
            </a:r>
            <a:fld id="{FB5D8D59-65B3-4384-896F-EE249C929C52}" type="slidenum">
              <a:rPr lang="en-US" altLang="zh-CN"/>
              <a:pPr>
                <a:defRPr/>
              </a:pPr>
              <a:t>2</a:t>
            </a:fld>
            <a:r>
              <a:rPr lang="en-US" altLang="zh-CN" dirty="0"/>
              <a:t> )</a:t>
            </a:r>
          </a:p>
        </p:txBody>
      </p:sp>
      <p:sp>
        <p:nvSpPr>
          <p:cNvPr id="16387" name="Rectangle 2"/>
          <p:cNvSpPr>
            <a:spLocks noGrp="1" noChangeArrowheads="1"/>
          </p:cNvSpPr>
          <p:nvPr>
            <p:ph type="title"/>
          </p:nvPr>
        </p:nvSpPr>
        <p:spPr>
          <a:xfrm>
            <a:off x="533400" y="609600"/>
            <a:ext cx="7543800" cy="685800"/>
          </a:xfrm>
        </p:spPr>
        <p:txBody>
          <a:bodyPr/>
          <a:lstStyle/>
          <a:p>
            <a:pPr eaLnBrk="1" hangingPunct="1"/>
            <a:r>
              <a:rPr lang="zh-CN" altLang="en-US" sz="2800" dirty="0" smtClean="0">
                <a:latin typeface="Times New Roman" pitchFamily="18" charset="0"/>
              </a:rPr>
              <a:t>主要内容</a:t>
            </a:r>
            <a:endParaRPr lang="en-US" altLang="zh-CN" sz="2800" dirty="0" smtClean="0">
              <a:latin typeface="Times New Roman" pitchFamily="18" charset="0"/>
            </a:endParaRPr>
          </a:p>
        </p:txBody>
      </p:sp>
      <p:sp>
        <p:nvSpPr>
          <p:cNvPr id="44035" name="Rectangle 3"/>
          <p:cNvSpPr>
            <a:spLocks noGrp="1" noChangeArrowheads="1"/>
          </p:cNvSpPr>
          <p:nvPr>
            <p:ph type="body" idx="1"/>
          </p:nvPr>
        </p:nvSpPr>
        <p:spPr>
          <a:xfrm>
            <a:off x="381000" y="1981200"/>
            <a:ext cx="8229600" cy="4343400"/>
          </a:xfrm>
        </p:spPr>
        <p:txBody>
          <a:bodyPr/>
          <a:lstStyle/>
          <a:p>
            <a:pPr eaLnBrk="1" hangingPunct="1">
              <a:lnSpc>
                <a:spcPct val="140000"/>
              </a:lnSpc>
            </a:pPr>
            <a:r>
              <a:rPr lang="zh-CN" altLang="en-US" sz="2400" dirty="0" smtClean="0">
                <a:latin typeface="Times New Roman" pitchFamily="18" charset="0"/>
              </a:rPr>
              <a:t>风险分类 </a:t>
            </a:r>
            <a:r>
              <a:rPr lang="en-US" altLang="zh-CN" sz="2400" dirty="0" smtClean="0">
                <a:latin typeface="Times New Roman" pitchFamily="18" charset="0"/>
              </a:rPr>
              <a:t>(Classification Rating) </a:t>
            </a:r>
          </a:p>
          <a:p>
            <a:pPr eaLnBrk="1" hangingPunct="1">
              <a:lnSpc>
                <a:spcPct val="140000"/>
              </a:lnSpc>
            </a:pPr>
            <a:r>
              <a:rPr lang="zh-CN" altLang="en-US" sz="2400" dirty="0" smtClean="0">
                <a:latin typeface="Times New Roman" pitchFamily="18" charset="0"/>
              </a:rPr>
              <a:t>线性回归模型 </a:t>
            </a:r>
            <a:r>
              <a:rPr lang="en-US" altLang="zh-CN" sz="2400" dirty="0" smtClean="0">
                <a:latin typeface="Times New Roman" pitchFamily="18" charset="0"/>
              </a:rPr>
              <a:t>(</a:t>
            </a:r>
            <a:r>
              <a:rPr lang="en-US" altLang="zh-CN" sz="2400" dirty="0">
                <a:latin typeface="Times New Roman" pitchFamily="18" charset="0"/>
              </a:rPr>
              <a:t>Linear </a:t>
            </a:r>
            <a:r>
              <a:rPr lang="en-US" altLang="zh-CN" sz="2400" dirty="0" smtClean="0">
                <a:latin typeface="Times New Roman" pitchFamily="18" charset="0"/>
              </a:rPr>
              <a:t>Models)</a:t>
            </a:r>
            <a:endParaRPr lang="en-US" altLang="zh-CN" sz="2400" dirty="0">
              <a:latin typeface="Times New Roman" pitchFamily="18" charset="0"/>
            </a:endParaRPr>
          </a:p>
          <a:p>
            <a:pPr eaLnBrk="1" hangingPunct="1">
              <a:lnSpc>
                <a:spcPct val="140000"/>
              </a:lnSpc>
            </a:pPr>
            <a:r>
              <a:rPr lang="zh-CN" altLang="en-US" sz="2400" dirty="0" smtClean="0">
                <a:latin typeface="Times New Roman" pitchFamily="18" charset="0"/>
              </a:rPr>
              <a:t>广义线性模型 </a:t>
            </a:r>
            <a:r>
              <a:rPr lang="en-US" altLang="zh-CN" sz="2400" dirty="0" smtClean="0">
                <a:latin typeface="Times New Roman" pitchFamily="18" charset="0"/>
              </a:rPr>
              <a:t>(Generalized </a:t>
            </a:r>
            <a:r>
              <a:rPr lang="en-US" altLang="zh-CN" sz="2400" dirty="0">
                <a:latin typeface="Times New Roman" pitchFamily="18" charset="0"/>
              </a:rPr>
              <a:t>Linear </a:t>
            </a:r>
            <a:r>
              <a:rPr lang="en-US" altLang="zh-CN" sz="2400" dirty="0" smtClean="0">
                <a:latin typeface="Times New Roman" pitchFamily="18" charset="0"/>
              </a:rPr>
              <a:t>Models)</a:t>
            </a:r>
          </a:p>
          <a:p>
            <a:pPr lvl="1" eaLnBrk="1" hangingPunct="1">
              <a:lnSpc>
                <a:spcPct val="140000"/>
              </a:lnSpc>
            </a:pPr>
            <a:r>
              <a:rPr lang="zh-CN" altLang="en-US" sz="2000" dirty="0" smtClean="0">
                <a:latin typeface="Times New Roman" pitchFamily="18" charset="0"/>
              </a:rPr>
              <a:t>模型结构 </a:t>
            </a:r>
            <a:endParaRPr lang="en-US" altLang="zh-CN" sz="2000" dirty="0" smtClean="0">
              <a:latin typeface="Times New Roman" pitchFamily="18" charset="0"/>
            </a:endParaRPr>
          </a:p>
          <a:p>
            <a:pPr lvl="1" eaLnBrk="1" hangingPunct="1">
              <a:lnSpc>
                <a:spcPct val="140000"/>
              </a:lnSpc>
            </a:pPr>
            <a:r>
              <a:rPr lang="zh-CN" altLang="en-US" sz="2000" dirty="0" smtClean="0">
                <a:latin typeface="Times New Roman" pitchFamily="18" charset="0"/>
              </a:rPr>
              <a:t>参数估计 </a:t>
            </a:r>
            <a:endParaRPr lang="en-US" altLang="zh-CN" sz="2000" dirty="0" smtClean="0">
              <a:latin typeface="Times New Roman" pitchFamily="18" charset="0"/>
            </a:endParaRPr>
          </a:p>
          <a:p>
            <a:pPr lvl="1" eaLnBrk="1" hangingPunct="1">
              <a:lnSpc>
                <a:spcPct val="140000"/>
              </a:lnSpc>
            </a:pPr>
            <a:r>
              <a:rPr lang="zh-CN" altLang="en-US" sz="2000" dirty="0" smtClean="0">
                <a:latin typeface="Times New Roman" pitchFamily="18" charset="0"/>
              </a:rPr>
              <a:t>模型比较与诊断 </a:t>
            </a:r>
            <a:endParaRPr lang="en-US" altLang="zh-CN" sz="2000" dirty="0" smtClean="0">
              <a:latin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1336D12-75CB-4264-97DA-751A107FE16D}" type="slidenum">
              <a:rPr lang="en-US" altLang="zh-CN" b="0" smtClean="0"/>
              <a:pPr/>
              <a:t>3</a:t>
            </a:fld>
            <a:endParaRPr lang="en-US" altLang="zh-CN" b="0" smtClean="0"/>
          </a:p>
        </p:txBody>
      </p:sp>
      <p:sp>
        <p:nvSpPr>
          <p:cNvPr id="8195" name="Rectangle 2"/>
          <p:cNvSpPr>
            <a:spLocks noGrp="1" noChangeArrowheads="1"/>
          </p:cNvSpPr>
          <p:nvPr>
            <p:ph type="title"/>
          </p:nvPr>
        </p:nvSpPr>
        <p:spPr>
          <a:xfrm>
            <a:off x="250825" y="2565400"/>
            <a:ext cx="7543800" cy="574675"/>
          </a:xfrm>
        </p:spPr>
        <p:txBody>
          <a:bodyPr/>
          <a:lstStyle/>
          <a:p>
            <a:pPr algn="ctr" eaLnBrk="1" hangingPunct="1"/>
            <a:r>
              <a:rPr lang="zh-CN" altLang="en-US" sz="4400" smtClean="0"/>
              <a:t>一、风险分类</a:t>
            </a:r>
          </a:p>
        </p:txBody>
      </p:sp>
    </p:spTree>
    <p:extLst>
      <p:ext uri="{BB962C8B-B14F-4D97-AF65-F5344CB8AC3E}">
        <p14:creationId xmlns:p14="http://schemas.microsoft.com/office/powerpoint/2010/main" val="22914131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E73940A-0F85-4672-A604-A68968C253F2}"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19" name="Rectangle 2"/>
          <p:cNvSpPr>
            <a:spLocks noGrp="1" noChangeArrowheads="1"/>
          </p:cNvSpPr>
          <p:nvPr>
            <p:ph type="title"/>
          </p:nvPr>
        </p:nvSpPr>
        <p:spPr/>
        <p:txBody>
          <a:bodyPr/>
          <a:lstStyle/>
          <a:p>
            <a:pPr eaLnBrk="1" hangingPunct="1"/>
            <a:r>
              <a:rPr lang="zh-CN" altLang="en-US" smtClean="0"/>
              <a:t>风险分类的作用</a:t>
            </a:r>
          </a:p>
        </p:txBody>
      </p:sp>
      <p:sp>
        <p:nvSpPr>
          <p:cNvPr id="8195" name="Rectangle 3"/>
          <p:cNvSpPr>
            <a:spLocks noGrp="1" noChangeArrowheads="1"/>
          </p:cNvSpPr>
          <p:nvPr>
            <p:ph type="body" idx="1"/>
          </p:nvPr>
        </p:nvSpPr>
        <p:spPr>
          <a:xfrm>
            <a:off x="457200" y="2060575"/>
            <a:ext cx="8229600" cy="4070350"/>
          </a:xfrm>
        </p:spPr>
        <p:txBody>
          <a:bodyPr/>
          <a:lstStyle/>
          <a:p>
            <a:pPr eaLnBrk="1" hangingPunct="1"/>
            <a:r>
              <a:rPr lang="zh-CN" altLang="en-US" dirty="0" smtClean="0"/>
              <a:t>非寿险业务，被保险人人数较多</a:t>
            </a:r>
            <a:endParaRPr lang="en-US" altLang="zh-CN" dirty="0" smtClean="0"/>
          </a:p>
          <a:p>
            <a:pPr eaLnBrk="1" hangingPunct="1"/>
            <a:r>
              <a:rPr lang="zh-CN" altLang="en-US" dirty="0" smtClean="0"/>
              <a:t>根据个体风险的特征进行分类，在分类的基础上立定各个风险类别的费率</a:t>
            </a:r>
            <a:endParaRPr lang="en-US" altLang="zh-CN" dirty="0" smtClean="0"/>
          </a:p>
          <a:p>
            <a:pPr eaLnBrk="1" hangingPunct="1"/>
            <a:r>
              <a:rPr lang="zh-CN" altLang="en-US" dirty="0" smtClean="0"/>
              <a:t>风险分类原因：</a:t>
            </a:r>
            <a:endParaRPr lang="en-US" altLang="zh-CN" dirty="0" smtClean="0"/>
          </a:p>
          <a:p>
            <a:pPr lvl="1" eaLnBrk="1" hangingPunct="1"/>
            <a:r>
              <a:rPr lang="zh-CN" altLang="en-US" dirty="0" smtClean="0"/>
              <a:t>个体风险自身损失经验有限，数据可信度不高</a:t>
            </a:r>
            <a:endParaRPr lang="en-US" altLang="zh-CN" dirty="0" smtClean="0"/>
          </a:p>
          <a:p>
            <a:pPr lvl="1" eaLnBrk="1" hangingPunct="1"/>
            <a:r>
              <a:rPr lang="zh-CN" altLang="en-US" dirty="0" smtClean="0"/>
              <a:t>类似风险合并之后，提高经验数据的可靠性</a:t>
            </a:r>
            <a:endParaRPr lang="en-US" altLang="zh-CN" dirty="0" smtClean="0"/>
          </a:p>
        </p:txBody>
      </p:sp>
    </p:spTree>
    <p:extLst>
      <p:ext uri="{BB962C8B-B14F-4D97-AF65-F5344CB8AC3E}">
        <p14:creationId xmlns:p14="http://schemas.microsoft.com/office/powerpoint/2010/main" val="1831590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195">
                                            <p:txEl>
                                              <p:pRg st="3" end="3"/>
                                            </p:txEl>
                                          </p:spTgt>
                                        </p:tgtEl>
                                        <p:attrNameLst>
                                          <p:attrName>style.visibility</p:attrName>
                                        </p:attrNameLst>
                                      </p:cBhvr>
                                      <p:to>
                                        <p:strVal val="visible"/>
                                      </p:to>
                                    </p:set>
                                    <p:anim calcmode="lin" valueType="num">
                                      <p:cBhvr additive="base">
                                        <p:cTn id="23"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19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 calcmode="lin" valueType="num">
                                      <p:cBhvr additive="base">
                                        <p:cTn id="27"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F69E8B3-2F6B-4447-8C4A-BFF898340770}"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243" name="Rectangle 2"/>
          <p:cNvSpPr>
            <a:spLocks noGrp="1" noChangeArrowheads="1"/>
          </p:cNvSpPr>
          <p:nvPr>
            <p:ph type="title"/>
          </p:nvPr>
        </p:nvSpPr>
        <p:spPr/>
        <p:txBody>
          <a:bodyPr/>
          <a:lstStyle/>
          <a:p>
            <a:pPr eaLnBrk="1" hangingPunct="1"/>
            <a:r>
              <a:rPr lang="zh-CN" altLang="en-US" smtClean="0"/>
              <a:t>风险分类的原理</a:t>
            </a:r>
          </a:p>
        </p:txBody>
      </p:sp>
      <p:sp>
        <p:nvSpPr>
          <p:cNvPr id="8195" name="Rectangle 3"/>
          <p:cNvSpPr>
            <a:spLocks noGrp="1" noChangeArrowheads="1"/>
          </p:cNvSpPr>
          <p:nvPr>
            <p:ph type="body" idx="1"/>
          </p:nvPr>
        </p:nvSpPr>
        <p:spPr>
          <a:xfrm>
            <a:off x="457200" y="2060575"/>
            <a:ext cx="8229600" cy="4070350"/>
          </a:xfrm>
        </p:spPr>
        <p:txBody>
          <a:bodyPr/>
          <a:lstStyle/>
          <a:p>
            <a:pPr eaLnBrk="1" hangingPunct="1"/>
            <a:r>
              <a:rPr lang="zh-CN" altLang="en-US" dirty="0" smtClean="0"/>
              <a:t>将具有相同期望损失成本的保单归为一类，而后去厘定其费率。</a:t>
            </a:r>
          </a:p>
          <a:p>
            <a:pPr eaLnBrk="1" hangingPunct="1"/>
            <a:r>
              <a:rPr lang="zh-CN" altLang="en-US" dirty="0" smtClean="0"/>
              <a:t>风险完全相同的保单几乎是不存在的，即使存在，也不可能或难以将它们区分开来。</a:t>
            </a:r>
          </a:p>
          <a:p>
            <a:pPr eaLnBrk="1" hangingPunct="1"/>
            <a:r>
              <a:rPr lang="zh-CN" altLang="en-US" dirty="0" smtClean="0"/>
              <a:t>只是将风险近似相同的保单划分在同一个类别里。</a:t>
            </a:r>
          </a:p>
          <a:p>
            <a:pPr eaLnBrk="1" hangingPunct="1"/>
            <a:endParaRPr lang="zh-CN" altLang="en-US" dirty="0" smtClean="0"/>
          </a:p>
        </p:txBody>
      </p:sp>
    </p:spTree>
    <p:extLst>
      <p:ext uri="{BB962C8B-B14F-4D97-AF65-F5344CB8AC3E}">
        <p14:creationId xmlns:p14="http://schemas.microsoft.com/office/powerpoint/2010/main" val="1007699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7"/>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95CE8E1-5DAE-408F-8A63-8843D3154F48}"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267" name="Rectangle 2"/>
          <p:cNvSpPr>
            <a:spLocks noGrp="1" noChangeArrowheads="1"/>
          </p:cNvSpPr>
          <p:nvPr>
            <p:ph type="title"/>
          </p:nvPr>
        </p:nvSpPr>
        <p:spPr/>
        <p:txBody>
          <a:bodyPr/>
          <a:lstStyle/>
          <a:p>
            <a:pPr eaLnBrk="1" hangingPunct="1"/>
            <a:r>
              <a:rPr lang="zh-CN" altLang="en-US" smtClean="0"/>
              <a:t>分类费率（相对费率）</a:t>
            </a:r>
          </a:p>
        </p:txBody>
      </p:sp>
      <p:sp>
        <p:nvSpPr>
          <p:cNvPr id="120835" name="Rectangle 3"/>
          <p:cNvSpPr>
            <a:spLocks noGrp="1" noChangeArrowheads="1"/>
          </p:cNvSpPr>
          <p:nvPr>
            <p:ph type="body" sz="half" idx="1"/>
          </p:nvPr>
        </p:nvSpPr>
        <p:spPr>
          <a:xfrm>
            <a:off x="457200" y="1719263"/>
            <a:ext cx="8362950" cy="2070100"/>
          </a:xfrm>
        </p:spPr>
        <p:txBody>
          <a:bodyPr/>
          <a:lstStyle/>
          <a:p>
            <a:pPr eaLnBrk="1" hangingPunct="1"/>
            <a:r>
              <a:rPr lang="zh-CN" altLang="en-US" sz="2000" b="1" dirty="0" smtClean="0">
                <a:solidFill>
                  <a:srgbClr val="FF0000"/>
                </a:solidFill>
                <a:latin typeface="Times New Roman" panose="02020603050405020304" pitchFamily="18" charset="0"/>
              </a:rPr>
              <a:t>相对费率</a:t>
            </a:r>
            <a:r>
              <a:rPr lang="zh-CN" altLang="en-US" sz="2000" dirty="0" smtClean="0">
                <a:latin typeface="Times New Roman" panose="02020603050405020304" pitchFamily="18" charset="0"/>
              </a:rPr>
              <a:t>是根据各个风险类别的费率与基础费率的相对关系所确定的一种费率，其中基础费率是一个特定类别的费率（风险单位数最大，或经验纯保费最小）。</a:t>
            </a:r>
          </a:p>
          <a:p>
            <a:pPr eaLnBrk="1" hangingPunct="1"/>
            <a:r>
              <a:rPr lang="zh-CN" altLang="en-US" sz="2000" dirty="0" smtClean="0">
                <a:latin typeface="Times New Roman" panose="02020603050405020304" pitchFamily="18" charset="0"/>
              </a:rPr>
              <a:t>例：基础费率＝</a:t>
            </a:r>
            <a:r>
              <a:rPr lang="en-US" altLang="zh-CN" sz="2000" dirty="0" smtClean="0">
                <a:latin typeface="Times New Roman" panose="02020603050405020304" pitchFamily="18" charset="0"/>
              </a:rPr>
              <a:t>200</a:t>
            </a:r>
            <a:r>
              <a:rPr lang="zh-CN" altLang="en-US" sz="2000" dirty="0" smtClean="0">
                <a:latin typeface="Times New Roman" panose="02020603050405020304" pitchFamily="18" charset="0"/>
              </a:rPr>
              <a:t>，相对费率如下：          </a:t>
            </a:r>
          </a:p>
        </p:txBody>
      </p:sp>
      <p:graphicFrame>
        <p:nvGraphicFramePr>
          <p:cNvPr id="121036" name="Group 204"/>
          <p:cNvGraphicFramePr>
            <a:graphicFrameLocks noGrp="1"/>
          </p:cNvGraphicFramePr>
          <p:nvPr>
            <p:ph sz="quarter" idx="2"/>
          </p:nvPr>
        </p:nvGraphicFramePr>
        <p:xfrm>
          <a:off x="468313" y="3933825"/>
          <a:ext cx="8207375" cy="990600"/>
        </p:xfrm>
        <a:graphic>
          <a:graphicData uri="http://schemas.openxmlformats.org/drawingml/2006/table">
            <a:tbl>
              <a:tblPr/>
              <a:tblGrid>
                <a:gridCol w="2303462">
                  <a:extLst>
                    <a:ext uri="{9D8B030D-6E8A-4147-A177-3AD203B41FA5}">
                      <a16:colId xmlns:a16="http://schemas.microsoft.com/office/drawing/2014/main" val="3697640020"/>
                    </a:ext>
                  </a:extLst>
                </a:gridCol>
                <a:gridCol w="1638300">
                  <a:extLst>
                    <a:ext uri="{9D8B030D-6E8A-4147-A177-3AD203B41FA5}">
                      <a16:colId xmlns:a16="http://schemas.microsoft.com/office/drawing/2014/main" val="1647276509"/>
                    </a:ext>
                  </a:extLst>
                </a:gridCol>
                <a:gridCol w="1530350">
                  <a:extLst>
                    <a:ext uri="{9D8B030D-6E8A-4147-A177-3AD203B41FA5}">
                      <a16:colId xmlns:a16="http://schemas.microsoft.com/office/drawing/2014/main" val="3240545533"/>
                    </a:ext>
                  </a:extLst>
                </a:gridCol>
                <a:gridCol w="1466850">
                  <a:extLst>
                    <a:ext uri="{9D8B030D-6E8A-4147-A177-3AD203B41FA5}">
                      <a16:colId xmlns:a16="http://schemas.microsoft.com/office/drawing/2014/main" val="2370626719"/>
                    </a:ext>
                  </a:extLst>
                </a:gridCol>
                <a:gridCol w="1268413">
                  <a:extLst>
                    <a:ext uri="{9D8B030D-6E8A-4147-A177-3AD203B41FA5}">
                      <a16:colId xmlns:a16="http://schemas.microsoft.com/office/drawing/2014/main" val="2026039745"/>
                    </a:ext>
                  </a:extLst>
                </a:gridCol>
              </a:tblGrid>
              <a:tr h="503237">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rPr>
                        <a:t>车型</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B</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2608263488"/>
                  </a:ext>
                </a:extLst>
              </a:tr>
              <a:tr h="48736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相对费率</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1.05</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1.1</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1.2</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263153459"/>
                  </a:ext>
                </a:extLst>
              </a:tr>
            </a:tbl>
          </a:graphicData>
        </a:graphic>
      </p:graphicFrame>
      <p:graphicFrame>
        <p:nvGraphicFramePr>
          <p:cNvPr id="121038" name="Group 206"/>
          <p:cNvGraphicFramePr>
            <a:graphicFrameLocks noGrp="1"/>
          </p:cNvGraphicFramePr>
          <p:nvPr>
            <p:ph sz="quarter" idx="3"/>
          </p:nvPr>
        </p:nvGraphicFramePr>
        <p:xfrm>
          <a:off x="468313" y="5300663"/>
          <a:ext cx="8135937" cy="914400"/>
        </p:xfrm>
        <a:graphic>
          <a:graphicData uri="http://schemas.openxmlformats.org/drawingml/2006/table">
            <a:tbl>
              <a:tblPr/>
              <a:tblGrid>
                <a:gridCol w="2232025">
                  <a:extLst>
                    <a:ext uri="{9D8B030D-6E8A-4147-A177-3AD203B41FA5}">
                      <a16:colId xmlns:a16="http://schemas.microsoft.com/office/drawing/2014/main" val="1046830525"/>
                    </a:ext>
                  </a:extLst>
                </a:gridCol>
                <a:gridCol w="1576387">
                  <a:extLst>
                    <a:ext uri="{9D8B030D-6E8A-4147-A177-3AD203B41FA5}">
                      <a16:colId xmlns:a16="http://schemas.microsoft.com/office/drawing/2014/main" val="3529837952"/>
                    </a:ext>
                  </a:extLst>
                </a:gridCol>
                <a:gridCol w="1566863">
                  <a:extLst>
                    <a:ext uri="{9D8B030D-6E8A-4147-A177-3AD203B41FA5}">
                      <a16:colId xmlns:a16="http://schemas.microsoft.com/office/drawing/2014/main" val="2552359258"/>
                    </a:ext>
                  </a:extLst>
                </a:gridCol>
                <a:gridCol w="1492250">
                  <a:extLst>
                    <a:ext uri="{9D8B030D-6E8A-4147-A177-3AD203B41FA5}">
                      <a16:colId xmlns:a16="http://schemas.microsoft.com/office/drawing/2014/main" val="4143833602"/>
                    </a:ext>
                  </a:extLst>
                </a:gridCol>
                <a:gridCol w="1268412">
                  <a:extLst>
                    <a:ext uri="{9D8B030D-6E8A-4147-A177-3AD203B41FA5}">
                      <a16:colId xmlns:a16="http://schemas.microsoft.com/office/drawing/2014/main" val="4089731908"/>
                    </a:ext>
                  </a:extLst>
                </a:gridCol>
              </a:tblGrid>
              <a:tr h="433388">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地区</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甲</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已</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丙</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丁</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3277518532"/>
                  </a:ext>
                </a:extLst>
              </a:tr>
              <a:tr h="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相对费率</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0.9</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1.2</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r>
                        <a:rPr kumimoji="0"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1.4</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224914172"/>
                  </a:ext>
                </a:extLst>
              </a:tr>
            </a:tbl>
          </a:graphicData>
        </a:graphic>
      </p:graphicFrame>
    </p:spTree>
    <p:extLst>
      <p:ext uri="{BB962C8B-B14F-4D97-AF65-F5344CB8AC3E}">
        <p14:creationId xmlns:p14="http://schemas.microsoft.com/office/powerpoint/2010/main" val="25611380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 calcmode="lin" valueType="num">
                                      <p:cBhvr additive="base">
                                        <p:cTn id="7" dur="500" fill="hold"/>
                                        <p:tgtEl>
                                          <p:spTgt spid="1208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08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0835">
                                            <p:txEl>
                                              <p:pRg st="1" end="1"/>
                                            </p:txEl>
                                          </p:spTgt>
                                        </p:tgtEl>
                                        <p:attrNameLst>
                                          <p:attrName>style.visibility</p:attrName>
                                        </p:attrNameLst>
                                      </p:cBhvr>
                                      <p:to>
                                        <p:strVal val="visible"/>
                                      </p:to>
                                    </p:set>
                                    <p:anim calcmode="lin" valueType="num">
                                      <p:cBhvr additive="base">
                                        <p:cTn id="13" dur="500" fill="hold"/>
                                        <p:tgtEl>
                                          <p:spTgt spid="1208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083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1036"/>
                                        </p:tgtEl>
                                        <p:attrNameLst>
                                          <p:attrName>style.visibility</p:attrName>
                                        </p:attrNameLst>
                                      </p:cBhvr>
                                      <p:to>
                                        <p:strVal val="visible"/>
                                      </p:to>
                                    </p:set>
                                    <p:anim calcmode="lin" valueType="num">
                                      <p:cBhvr additive="base">
                                        <p:cTn id="17" dur="500" fill="hold"/>
                                        <p:tgtEl>
                                          <p:spTgt spid="121036"/>
                                        </p:tgtEl>
                                        <p:attrNameLst>
                                          <p:attrName>ppt_x</p:attrName>
                                        </p:attrNameLst>
                                      </p:cBhvr>
                                      <p:tavLst>
                                        <p:tav tm="0">
                                          <p:val>
                                            <p:strVal val="#ppt_x"/>
                                          </p:val>
                                        </p:tav>
                                        <p:tav tm="100000">
                                          <p:val>
                                            <p:strVal val="#ppt_x"/>
                                          </p:val>
                                        </p:tav>
                                      </p:tavLst>
                                    </p:anim>
                                    <p:anim calcmode="lin" valueType="num">
                                      <p:cBhvr additive="base">
                                        <p:cTn id="18" dur="500" fill="hold"/>
                                        <p:tgtEl>
                                          <p:spTgt spid="12103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1038"/>
                                        </p:tgtEl>
                                        <p:attrNameLst>
                                          <p:attrName>style.visibility</p:attrName>
                                        </p:attrNameLst>
                                      </p:cBhvr>
                                      <p:to>
                                        <p:strVal val="visible"/>
                                      </p:to>
                                    </p:set>
                                    <p:anim calcmode="lin" valueType="num">
                                      <p:cBhvr additive="base">
                                        <p:cTn id="21" dur="500" fill="hold"/>
                                        <p:tgtEl>
                                          <p:spTgt spid="121038"/>
                                        </p:tgtEl>
                                        <p:attrNameLst>
                                          <p:attrName>ppt_x</p:attrName>
                                        </p:attrNameLst>
                                      </p:cBhvr>
                                      <p:tavLst>
                                        <p:tav tm="0">
                                          <p:val>
                                            <p:strVal val="#ppt_x"/>
                                          </p:val>
                                        </p:tav>
                                        <p:tav tm="100000">
                                          <p:val>
                                            <p:strVal val="#ppt_x"/>
                                          </p:val>
                                        </p:tav>
                                      </p:tavLst>
                                    </p:anim>
                                    <p:anim calcmode="lin" valueType="num">
                                      <p:cBhvr additive="base">
                                        <p:cTn id="22" dur="500" fill="hold"/>
                                        <p:tgtEl>
                                          <p:spTgt spid="1210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C076A49-4BC2-41D8-B16C-F54B83318548}"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291" name="Rectangle 2"/>
          <p:cNvSpPr>
            <a:spLocks noGrp="1" noChangeArrowheads="1"/>
          </p:cNvSpPr>
          <p:nvPr>
            <p:ph type="title"/>
          </p:nvPr>
        </p:nvSpPr>
        <p:spPr>
          <a:xfrm>
            <a:off x="457200" y="122238"/>
            <a:ext cx="7543800" cy="930275"/>
          </a:xfrm>
        </p:spPr>
        <p:txBody>
          <a:bodyPr/>
          <a:lstStyle/>
          <a:p>
            <a:pPr eaLnBrk="1" hangingPunct="1"/>
            <a:r>
              <a:rPr lang="zh-CN" altLang="en-US" smtClean="0"/>
              <a:t>为何使用分类费率？</a:t>
            </a:r>
          </a:p>
        </p:txBody>
      </p:sp>
      <p:sp>
        <p:nvSpPr>
          <p:cNvPr id="93187" name="Rectangle 3"/>
          <p:cNvSpPr>
            <a:spLocks noGrp="1" noChangeArrowheads="1"/>
          </p:cNvSpPr>
          <p:nvPr>
            <p:ph type="body" idx="1"/>
          </p:nvPr>
        </p:nvSpPr>
        <p:spPr>
          <a:xfrm>
            <a:off x="395288" y="1196975"/>
            <a:ext cx="8291512" cy="5327650"/>
          </a:xfrm>
        </p:spPr>
        <p:txBody>
          <a:bodyPr/>
          <a:lstStyle/>
          <a:p>
            <a:pPr eaLnBrk="1" hangingPunct="1"/>
            <a:r>
              <a:rPr lang="zh-CN" altLang="en-US" dirty="0" smtClean="0">
                <a:latin typeface="Times New Roman" panose="02020603050405020304" pitchFamily="18" charset="0"/>
              </a:rPr>
              <a:t>（</a:t>
            </a:r>
            <a:r>
              <a:rPr lang="en-US" altLang="zh-CN" dirty="0" smtClean="0">
                <a:latin typeface="Times New Roman" panose="02020603050405020304" pitchFamily="18" charset="0"/>
              </a:rPr>
              <a:t>1</a:t>
            </a:r>
            <a:r>
              <a:rPr lang="zh-CN" altLang="en-US" dirty="0" smtClean="0">
                <a:latin typeface="Times New Roman" panose="02020603050405020304" pitchFamily="18" charset="0"/>
              </a:rPr>
              <a:t>）可以使费率的表现形式更加简洁。</a:t>
            </a:r>
          </a:p>
          <a:p>
            <a:pPr eaLnBrk="1" hangingPunct="1">
              <a:buFont typeface="Wingdings" panose="05000000000000000000" pitchFamily="2" charset="2"/>
              <a:buNone/>
            </a:pPr>
            <a:r>
              <a:rPr lang="zh-CN" altLang="en-US" dirty="0" smtClean="0">
                <a:latin typeface="Times New Roman" panose="02020603050405020304" pitchFamily="18" charset="0"/>
              </a:rPr>
              <a:t>    </a:t>
            </a:r>
            <a:r>
              <a:rPr lang="zh-CN" altLang="en-US" b="1" dirty="0" smtClean="0">
                <a:solidFill>
                  <a:srgbClr val="0000CC"/>
                </a:solidFill>
                <a:latin typeface="Times New Roman" panose="02020603050405020304" pitchFamily="18" charset="0"/>
              </a:rPr>
              <a:t>假设：</a:t>
            </a:r>
            <a:r>
              <a:rPr lang="zh-CN" altLang="en-US" dirty="0" smtClean="0">
                <a:latin typeface="Times New Roman" panose="02020603050405020304" pitchFamily="18" charset="0"/>
              </a:rPr>
              <a:t>被保险人根据地区（</a:t>
            </a:r>
            <a:r>
              <a:rPr lang="en-US" altLang="zh-CN" dirty="0" smtClean="0">
                <a:latin typeface="Times New Roman" panose="02020603050405020304" pitchFamily="18" charset="0"/>
              </a:rPr>
              <a:t>10</a:t>
            </a:r>
            <a:r>
              <a:rPr lang="zh-CN" altLang="en-US" dirty="0" smtClean="0">
                <a:latin typeface="Times New Roman" panose="02020603050405020304" pitchFamily="18" charset="0"/>
              </a:rPr>
              <a:t>个）和车型（</a:t>
            </a:r>
            <a:r>
              <a:rPr lang="en-US" altLang="zh-CN" dirty="0" smtClean="0">
                <a:latin typeface="Times New Roman" panose="02020603050405020304" pitchFamily="18" charset="0"/>
              </a:rPr>
              <a:t>10</a:t>
            </a:r>
            <a:r>
              <a:rPr lang="zh-CN" altLang="en-US" dirty="0" smtClean="0">
                <a:latin typeface="Times New Roman" panose="02020603050405020304" pitchFamily="18" charset="0"/>
              </a:rPr>
              <a:t>个）被分成</a:t>
            </a:r>
            <a:r>
              <a:rPr lang="en-US" altLang="zh-CN" dirty="0" smtClean="0">
                <a:latin typeface="Times New Roman" panose="02020603050405020304" pitchFamily="18" charset="0"/>
              </a:rPr>
              <a:t>100 </a:t>
            </a:r>
            <a:r>
              <a:rPr lang="zh-CN" altLang="en-US" dirty="0" smtClean="0">
                <a:latin typeface="Times New Roman" panose="02020603050405020304" pitchFamily="18" charset="0"/>
              </a:rPr>
              <a:t>个类别</a:t>
            </a:r>
          </a:p>
          <a:p>
            <a:pPr lvl="1" eaLnBrk="1" hangingPunct="1"/>
            <a:r>
              <a:rPr lang="zh-CN" altLang="en-US" sz="2600" dirty="0" smtClean="0">
                <a:latin typeface="Times New Roman" panose="02020603050405020304" pitchFamily="18" charset="0"/>
              </a:rPr>
              <a:t>如果给每个类别厘定纯保费，则需要制定 </a:t>
            </a:r>
            <a:r>
              <a:rPr lang="en-US" altLang="zh-CN" sz="2600" dirty="0" smtClean="0">
                <a:latin typeface="Times New Roman" panose="02020603050405020304" pitchFamily="18" charset="0"/>
              </a:rPr>
              <a:t>100</a:t>
            </a:r>
            <a:r>
              <a:rPr lang="zh-CN" altLang="en-US" sz="2600" dirty="0" smtClean="0">
                <a:latin typeface="Times New Roman" panose="02020603050405020304" pitchFamily="18" charset="0"/>
              </a:rPr>
              <a:t>个不同的费率</a:t>
            </a:r>
          </a:p>
          <a:p>
            <a:pPr lvl="1" eaLnBrk="1" hangingPunct="1"/>
            <a:r>
              <a:rPr lang="zh-CN" altLang="en-US" sz="2600" dirty="0" smtClean="0">
                <a:latin typeface="Times New Roman" panose="02020603050405020304" pitchFamily="18" charset="0"/>
              </a:rPr>
              <a:t>通过基础费率和相对费率的方式，只需确定一个基础费率和 </a:t>
            </a:r>
            <a:r>
              <a:rPr lang="en-US" altLang="zh-CN" sz="2600" dirty="0" smtClean="0">
                <a:latin typeface="Times New Roman" panose="02020603050405020304" pitchFamily="18" charset="0"/>
              </a:rPr>
              <a:t>20 </a:t>
            </a:r>
            <a:r>
              <a:rPr lang="zh-CN" altLang="en-US" sz="2600" dirty="0" smtClean="0">
                <a:latin typeface="Times New Roman" panose="02020603050405020304" pitchFamily="18" charset="0"/>
              </a:rPr>
              <a:t>个相对费率即可（</a:t>
            </a:r>
            <a:r>
              <a:rPr lang="en-US" altLang="zh-CN" sz="2600" dirty="0" smtClean="0">
                <a:latin typeface="Times New Roman" panose="02020603050405020304" pitchFamily="18" charset="0"/>
              </a:rPr>
              <a:t>2</a:t>
            </a:r>
            <a:r>
              <a:rPr lang="zh-CN" altLang="en-US" sz="2600" dirty="0" smtClean="0">
                <a:latin typeface="Times New Roman" panose="02020603050405020304" pitchFamily="18" charset="0"/>
              </a:rPr>
              <a:t> 个费率因子）</a:t>
            </a:r>
            <a:endParaRPr lang="en-US" altLang="zh-CN" sz="2600" dirty="0" smtClean="0">
              <a:latin typeface="Times New Roman" panose="02020603050405020304" pitchFamily="18" charset="0"/>
            </a:endParaRPr>
          </a:p>
          <a:p>
            <a:pPr lvl="1" eaLnBrk="1" hangingPunct="1"/>
            <a:r>
              <a:rPr lang="zh-CN" altLang="en-US" sz="2600" dirty="0" smtClean="0">
                <a:latin typeface="Times New Roman" panose="02020603050405020304" pitchFamily="18" charset="0"/>
              </a:rPr>
              <a:t>简化了费率的表现形式</a:t>
            </a:r>
          </a:p>
          <a:p>
            <a:pPr eaLnBrk="1" hangingPunct="1"/>
            <a:r>
              <a:rPr lang="zh-CN" altLang="en-US" dirty="0" smtClean="0">
                <a:latin typeface="Times New Roman" panose="02020603050405020304" pitchFamily="18" charset="0"/>
              </a:rPr>
              <a:t>（</a:t>
            </a:r>
            <a:r>
              <a:rPr lang="en-US" altLang="zh-CN" dirty="0" smtClean="0">
                <a:latin typeface="Times New Roman" panose="02020603050405020304" pitchFamily="18" charset="0"/>
              </a:rPr>
              <a:t>2</a:t>
            </a:r>
            <a:r>
              <a:rPr lang="zh-CN" altLang="en-US" dirty="0" smtClean="0">
                <a:latin typeface="Times New Roman" panose="02020603050405020304" pitchFamily="18" charset="0"/>
              </a:rPr>
              <a:t>）个体风险的经验数据的可信度达不到 </a:t>
            </a:r>
            <a:r>
              <a:rPr lang="en-US" altLang="zh-CN" dirty="0" smtClean="0">
                <a:latin typeface="Times New Roman" panose="02020603050405020304" pitchFamily="18" charset="0"/>
              </a:rPr>
              <a:t>100%</a:t>
            </a:r>
            <a:endParaRPr lang="zh-CN" altLang="en-US" dirty="0" smtClean="0">
              <a:latin typeface="Times New Roman" panose="02020603050405020304" pitchFamily="18" charset="0"/>
            </a:endParaRPr>
          </a:p>
        </p:txBody>
      </p:sp>
    </p:spTree>
    <p:extLst>
      <p:ext uri="{BB962C8B-B14F-4D97-AF65-F5344CB8AC3E}">
        <p14:creationId xmlns:p14="http://schemas.microsoft.com/office/powerpoint/2010/main" val="2356174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3187">
                                            <p:txEl>
                                              <p:pRg st="1" end="1"/>
                                            </p:txEl>
                                          </p:spTgt>
                                        </p:tgtEl>
                                        <p:attrNameLst>
                                          <p:attrName>style.visibility</p:attrName>
                                        </p:attrNameLst>
                                      </p:cBhvr>
                                      <p:to>
                                        <p:strVal val="visible"/>
                                      </p:to>
                                    </p:set>
                                    <p:anim calcmode="lin" valueType="num">
                                      <p:cBhvr additive="base">
                                        <p:cTn id="13" dur="500" fill="hold"/>
                                        <p:tgtEl>
                                          <p:spTgt spid="931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31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3187">
                                            <p:txEl>
                                              <p:pRg st="2" end="2"/>
                                            </p:txEl>
                                          </p:spTgt>
                                        </p:tgtEl>
                                        <p:attrNameLst>
                                          <p:attrName>style.visibility</p:attrName>
                                        </p:attrNameLst>
                                      </p:cBhvr>
                                      <p:to>
                                        <p:strVal val="visible"/>
                                      </p:to>
                                    </p:set>
                                    <p:anim calcmode="lin" valueType="num">
                                      <p:cBhvr additive="base">
                                        <p:cTn id="19"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31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3187">
                                            <p:txEl>
                                              <p:pRg st="3" end="3"/>
                                            </p:txEl>
                                          </p:spTgt>
                                        </p:tgtEl>
                                        <p:attrNameLst>
                                          <p:attrName>style.visibility</p:attrName>
                                        </p:attrNameLst>
                                      </p:cBhvr>
                                      <p:to>
                                        <p:strVal val="visible"/>
                                      </p:to>
                                    </p:set>
                                    <p:anim calcmode="lin" valueType="num">
                                      <p:cBhvr additive="base">
                                        <p:cTn id="25" dur="500" fill="hold"/>
                                        <p:tgtEl>
                                          <p:spTgt spid="931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3187">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3187">
                                            <p:txEl>
                                              <p:pRg st="4" end="4"/>
                                            </p:txEl>
                                          </p:spTgt>
                                        </p:tgtEl>
                                        <p:attrNameLst>
                                          <p:attrName>style.visibility</p:attrName>
                                        </p:attrNameLst>
                                      </p:cBhvr>
                                      <p:to>
                                        <p:strVal val="visible"/>
                                      </p:to>
                                    </p:set>
                                    <p:anim calcmode="lin" valueType="num">
                                      <p:cBhvr additive="base">
                                        <p:cTn id="29" dur="500" fill="hold"/>
                                        <p:tgtEl>
                                          <p:spTgt spid="9318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31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3187">
                                            <p:txEl>
                                              <p:pRg st="5" end="5"/>
                                            </p:txEl>
                                          </p:spTgt>
                                        </p:tgtEl>
                                        <p:attrNameLst>
                                          <p:attrName>style.visibility</p:attrName>
                                        </p:attrNameLst>
                                      </p:cBhvr>
                                      <p:to>
                                        <p:strVal val="visible"/>
                                      </p:to>
                                    </p:set>
                                    <p:anim calcmode="lin" valueType="num">
                                      <p:cBhvr additive="base">
                                        <p:cTn id="35" dur="500" fill="hold"/>
                                        <p:tgtEl>
                                          <p:spTgt spid="93187">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31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C9B2275-089C-40F2-B28E-F5707B7AC5E9}"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5" name="Rectangle 2"/>
          <p:cNvSpPr>
            <a:spLocks noGrp="1" noChangeArrowheads="1"/>
          </p:cNvSpPr>
          <p:nvPr>
            <p:ph type="title"/>
          </p:nvPr>
        </p:nvSpPr>
        <p:spPr/>
        <p:txBody>
          <a:bodyPr/>
          <a:lstStyle/>
          <a:p>
            <a:pPr eaLnBrk="1" hangingPunct="1"/>
            <a:r>
              <a:rPr lang="zh-CN" altLang="en-US" dirty="0" smtClean="0"/>
              <a:t>对风险分类的限制（需要注意的问题）</a:t>
            </a:r>
          </a:p>
        </p:txBody>
      </p:sp>
      <p:sp>
        <p:nvSpPr>
          <p:cNvPr id="11267" name="Rectangle 3"/>
          <p:cNvSpPr>
            <a:spLocks noGrp="1" noChangeArrowheads="1"/>
          </p:cNvSpPr>
          <p:nvPr>
            <p:ph type="body" idx="1"/>
          </p:nvPr>
        </p:nvSpPr>
        <p:spPr/>
        <p:txBody>
          <a:bodyPr/>
          <a:lstStyle/>
          <a:p>
            <a:pPr eaLnBrk="1" hangingPunct="1"/>
            <a:r>
              <a:rPr lang="zh-CN" altLang="en-US" dirty="0" smtClean="0">
                <a:latin typeface="Times New Roman" panose="02020603050405020304" pitchFamily="18" charset="0"/>
              </a:rPr>
              <a:t>分类结果应具有统计上的稳定性，且便于在现实的市场上进行操作。</a:t>
            </a:r>
          </a:p>
          <a:p>
            <a:pPr eaLnBrk="1" hangingPunct="1"/>
            <a:r>
              <a:rPr lang="zh-CN" altLang="en-US" dirty="0" smtClean="0">
                <a:latin typeface="Times New Roman" panose="02020603050405020304" pitchFamily="18" charset="0"/>
              </a:rPr>
              <a:t>譬如：将 </a:t>
            </a:r>
            <a:r>
              <a:rPr lang="en-US" altLang="zh-CN" dirty="0" smtClean="0">
                <a:latin typeface="Times New Roman" panose="02020603050405020304" pitchFamily="18" charset="0"/>
              </a:rPr>
              <a:t>5000 </a:t>
            </a:r>
            <a:r>
              <a:rPr lang="zh-CN" altLang="en-US" dirty="0" smtClean="0">
                <a:latin typeface="Times New Roman" panose="02020603050405020304" pitchFamily="18" charset="0"/>
              </a:rPr>
              <a:t>份保单划分为 </a:t>
            </a:r>
            <a:r>
              <a:rPr lang="en-US" altLang="zh-CN" dirty="0" smtClean="0">
                <a:latin typeface="Times New Roman" panose="02020603050405020304" pitchFamily="18" charset="0"/>
              </a:rPr>
              <a:t>700 </a:t>
            </a:r>
            <a:r>
              <a:rPr lang="zh-CN" altLang="en-US" dirty="0" smtClean="0">
                <a:latin typeface="Times New Roman" panose="02020603050405020304" pitchFamily="18" charset="0"/>
              </a:rPr>
              <a:t>个风险类别是没有意义的，因为许多风险类别将是空集或者只包含少数几份保单。 </a:t>
            </a:r>
          </a:p>
          <a:p>
            <a:pPr eaLnBrk="1" hangingPunct="1">
              <a:buFont typeface="Wingdings" panose="05000000000000000000" pitchFamily="2" charset="2"/>
              <a:buNone/>
            </a:pPr>
            <a:endParaRPr lang="zh-CN" altLang="en-US" dirty="0" smtClean="0">
              <a:latin typeface="Times New Roman" panose="02020603050405020304" pitchFamily="18" charset="0"/>
            </a:endParaRPr>
          </a:p>
        </p:txBody>
      </p:sp>
    </p:spTree>
    <p:extLst>
      <p:ext uri="{BB962C8B-B14F-4D97-AF65-F5344CB8AC3E}">
        <p14:creationId xmlns:p14="http://schemas.microsoft.com/office/powerpoint/2010/main" val="41102031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1F6CC36-0300-41E0-A5F4-0600F6018FBC}"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339" name="Rectangle 2"/>
          <p:cNvSpPr>
            <a:spLocks noGrp="1" noChangeArrowheads="1"/>
          </p:cNvSpPr>
          <p:nvPr>
            <p:ph type="title"/>
          </p:nvPr>
        </p:nvSpPr>
        <p:spPr>
          <a:xfrm>
            <a:off x="457200" y="838200"/>
            <a:ext cx="7543800" cy="579438"/>
          </a:xfrm>
        </p:spPr>
        <p:txBody>
          <a:bodyPr/>
          <a:lstStyle/>
          <a:p>
            <a:pPr eaLnBrk="1" hangingPunct="1"/>
            <a:r>
              <a:rPr lang="zh-CN" altLang="en-US" dirty="0" smtClean="0"/>
              <a:t>费率</a:t>
            </a:r>
            <a:r>
              <a:rPr lang="zh-CN" altLang="en-US" dirty="0" smtClean="0"/>
              <a:t>因子与风险因子</a:t>
            </a:r>
            <a:endParaRPr lang="zh-CN" altLang="en-US" dirty="0" smtClean="0"/>
          </a:p>
        </p:txBody>
      </p:sp>
      <p:sp>
        <p:nvSpPr>
          <p:cNvPr id="8195" name="Rectangle 3"/>
          <p:cNvSpPr>
            <a:spLocks noGrp="1" noChangeArrowheads="1"/>
          </p:cNvSpPr>
          <p:nvPr>
            <p:ph type="body" idx="1"/>
          </p:nvPr>
        </p:nvSpPr>
        <p:spPr>
          <a:xfrm>
            <a:off x="457200" y="2060575"/>
            <a:ext cx="8229600" cy="4070350"/>
          </a:xfrm>
        </p:spPr>
        <p:txBody>
          <a:bodyPr/>
          <a:lstStyle/>
          <a:p>
            <a:pPr eaLnBrk="1" hangingPunct="1"/>
            <a:r>
              <a:rPr lang="zh-CN" altLang="en-US" dirty="0" smtClean="0"/>
              <a:t>用于个体风险进行分类的特征：费率因子（分类变量）</a:t>
            </a:r>
            <a:endParaRPr lang="en-US" altLang="zh-CN" dirty="0" smtClean="0"/>
          </a:p>
          <a:p>
            <a:pPr eaLnBrk="1" hangingPunct="1"/>
            <a:r>
              <a:rPr lang="zh-CN" altLang="en-US" dirty="0" smtClean="0"/>
              <a:t>汽车保险</a:t>
            </a:r>
            <a:endParaRPr lang="en-US" altLang="zh-CN" dirty="0" smtClean="0"/>
          </a:p>
          <a:p>
            <a:pPr lvl="1" eaLnBrk="1" hangingPunct="1"/>
            <a:r>
              <a:rPr lang="zh-CN" altLang="en-US" dirty="0" smtClean="0"/>
              <a:t>被保险人性别、年龄、驾龄、车辆用途和索赔经验信息</a:t>
            </a:r>
            <a:endParaRPr lang="en-US" altLang="zh-CN" dirty="0" smtClean="0"/>
          </a:p>
          <a:p>
            <a:pPr lvl="1" eaLnBrk="1" hangingPunct="1"/>
            <a:r>
              <a:rPr lang="zh-CN" altLang="en-US" dirty="0" smtClean="0"/>
              <a:t>连续型变量 或 离散性变量</a:t>
            </a:r>
            <a:endParaRPr lang="en-US" altLang="zh-CN" dirty="0" smtClean="0"/>
          </a:p>
          <a:p>
            <a:pPr lvl="1" eaLnBrk="1" hangingPunct="1"/>
            <a:r>
              <a:rPr lang="zh-CN" altLang="en-US" dirty="0" smtClean="0"/>
              <a:t>风险因子（可能不易度量，如交通密度） 与 费率因子（代替为 保险持有人的地址或者汽车用途）</a:t>
            </a:r>
            <a:endParaRPr lang="en-US" altLang="zh-CN" dirty="0" smtClean="0"/>
          </a:p>
        </p:txBody>
      </p:sp>
    </p:spTree>
    <p:extLst>
      <p:ext uri="{BB962C8B-B14F-4D97-AF65-F5344CB8AC3E}">
        <p14:creationId xmlns:p14="http://schemas.microsoft.com/office/powerpoint/2010/main" val="670722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 calcmode="lin" valueType="num">
                                      <p:cBhvr additive="base">
                                        <p:cTn id="17"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19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195">
                                            <p:txEl>
                                              <p:pRg st="3" end="3"/>
                                            </p:txEl>
                                          </p:spTgt>
                                        </p:tgtEl>
                                        <p:attrNameLst>
                                          <p:attrName>style.visibility</p:attrName>
                                        </p:attrNameLst>
                                      </p:cBhvr>
                                      <p:to>
                                        <p:strVal val="visible"/>
                                      </p:to>
                                    </p:set>
                                    <p:anim calcmode="lin" valueType="num">
                                      <p:cBhvr additive="base">
                                        <p:cTn id="21"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19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195">
                                            <p:txEl>
                                              <p:pRg st="4" end="4"/>
                                            </p:txEl>
                                          </p:spTgt>
                                        </p:tgtEl>
                                        <p:attrNameLst>
                                          <p:attrName>style.visibility</p:attrName>
                                        </p:attrNameLst>
                                      </p:cBhvr>
                                      <p:to>
                                        <p:strVal val="visible"/>
                                      </p:to>
                                    </p:set>
                                    <p:anim calcmode="lin" valueType="num">
                                      <p:cBhvr additive="base">
                                        <p:cTn id="25"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1891B4C-44B6-4CF0-8FC8-9B4215FC49F9}"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63" name="Rectangle 2"/>
          <p:cNvSpPr>
            <a:spLocks noGrp="1" noChangeArrowheads="1"/>
          </p:cNvSpPr>
          <p:nvPr>
            <p:ph type="title"/>
          </p:nvPr>
        </p:nvSpPr>
        <p:spPr>
          <a:xfrm>
            <a:off x="457200" y="122238"/>
            <a:ext cx="7543800" cy="785812"/>
          </a:xfrm>
        </p:spPr>
        <p:txBody>
          <a:bodyPr/>
          <a:lstStyle/>
          <a:p>
            <a:pPr eaLnBrk="1" hangingPunct="1"/>
            <a:r>
              <a:rPr lang="zh-CN" altLang="en-US" dirty="0" smtClean="0"/>
              <a:t>分类</a:t>
            </a:r>
            <a:r>
              <a:rPr lang="zh-CN" altLang="en-US" dirty="0" smtClean="0"/>
              <a:t>变量（</a:t>
            </a:r>
            <a:r>
              <a:rPr lang="en-US" altLang="zh-CN" dirty="0" smtClean="0"/>
              <a:t>factor</a:t>
            </a:r>
            <a:r>
              <a:rPr lang="zh-CN" altLang="en-US" dirty="0" smtClean="0"/>
              <a:t>）</a:t>
            </a:r>
            <a:endParaRPr lang="zh-CN" altLang="en-US" dirty="0" smtClean="0"/>
          </a:p>
        </p:txBody>
      </p:sp>
      <p:sp>
        <p:nvSpPr>
          <p:cNvPr id="15364" name="Rectangle 3"/>
          <p:cNvSpPr>
            <a:spLocks noGrp="1" noChangeArrowheads="1"/>
          </p:cNvSpPr>
          <p:nvPr>
            <p:ph type="body" idx="1"/>
          </p:nvPr>
        </p:nvSpPr>
        <p:spPr>
          <a:xfrm>
            <a:off x="457200" y="1052513"/>
            <a:ext cx="8229600" cy="5400675"/>
          </a:xfrm>
        </p:spPr>
        <p:txBody>
          <a:bodyPr/>
          <a:lstStyle/>
          <a:p>
            <a:pPr eaLnBrk="1" hangingPunct="1"/>
            <a:r>
              <a:rPr lang="zh-CN" altLang="en-US" b="1" dirty="0" smtClean="0">
                <a:solidFill>
                  <a:srgbClr val="0000CC"/>
                </a:solidFill>
              </a:rPr>
              <a:t>分类变量：</a:t>
            </a:r>
            <a:r>
              <a:rPr lang="zh-CN" altLang="en-US" dirty="0" smtClean="0"/>
              <a:t>个体风险的一些基本风险特征，根据这些特征，可以将个体风险区分成若干个具有不同期望损失的风险类别。</a:t>
            </a:r>
          </a:p>
          <a:p>
            <a:pPr eaLnBrk="1" hangingPunct="1"/>
            <a:r>
              <a:rPr lang="zh-CN" altLang="en-US" dirty="0" smtClean="0"/>
              <a:t>分类变量的不同取值称作</a:t>
            </a:r>
            <a:r>
              <a:rPr lang="zh-CN" altLang="en-US" b="1" dirty="0" smtClean="0">
                <a:solidFill>
                  <a:srgbClr val="0000CC"/>
                </a:solidFill>
              </a:rPr>
              <a:t>水平（</a:t>
            </a:r>
            <a:r>
              <a:rPr lang="en-US" altLang="zh-CN" b="1" dirty="0" smtClean="0">
                <a:solidFill>
                  <a:srgbClr val="0000CC"/>
                </a:solidFill>
              </a:rPr>
              <a:t>level</a:t>
            </a:r>
            <a:r>
              <a:rPr lang="zh-CN" altLang="en-US" b="1" dirty="0" smtClean="0">
                <a:solidFill>
                  <a:srgbClr val="0000CC"/>
                </a:solidFill>
              </a:rPr>
              <a:t>）</a:t>
            </a:r>
            <a:r>
              <a:rPr lang="zh-CN" altLang="en-US" dirty="0" smtClean="0"/>
              <a:t>。</a:t>
            </a:r>
            <a:endParaRPr lang="zh-CN" altLang="en-US" dirty="0" smtClean="0"/>
          </a:p>
          <a:p>
            <a:pPr eaLnBrk="1" hangingPunct="1"/>
            <a:r>
              <a:rPr lang="zh-CN" altLang="en-US" dirty="0" smtClean="0"/>
              <a:t>某些连续型变量要进行</a:t>
            </a:r>
            <a:r>
              <a:rPr lang="zh-CN" altLang="en-US" b="1" dirty="0" smtClean="0">
                <a:solidFill>
                  <a:srgbClr val="0000CC"/>
                </a:solidFill>
              </a:rPr>
              <a:t>离散化</a:t>
            </a:r>
            <a:r>
              <a:rPr lang="zh-CN" altLang="en-US" dirty="0" smtClean="0"/>
              <a:t>处理（如年龄）。</a:t>
            </a:r>
          </a:p>
          <a:p>
            <a:pPr eaLnBrk="1" hangingPunct="1"/>
            <a:r>
              <a:rPr lang="zh-CN" altLang="en-US" dirty="0" smtClean="0"/>
              <a:t>分类变量的</a:t>
            </a:r>
            <a:r>
              <a:rPr lang="zh-CN" altLang="en-US" b="1" dirty="0" smtClean="0">
                <a:solidFill>
                  <a:srgbClr val="0000CC"/>
                </a:solidFill>
              </a:rPr>
              <a:t>选择标准</a:t>
            </a:r>
            <a:r>
              <a:rPr lang="zh-CN" altLang="en-US" dirty="0" smtClean="0"/>
              <a:t>：</a:t>
            </a:r>
          </a:p>
          <a:p>
            <a:pPr lvl="1" eaLnBrk="1" hangingPunct="1"/>
            <a:r>
              <a:rPr lang="zh-CN" altLang="en-US" dirty="0" smtClean="0"/>
              <a:t>精算</a:t>
            </a:r>
          </a:p>
          <a:p>
            <a:pPr lvl="1" eaLnBrk="1" hangingPunct="1"/>
            <a:r>
              <a:rPr lang="zh-CN" altLang="en-US" dirty="0" smtClean="0"/>
              <a:t>经营</a:t>
            </a:r>
          </a:p>
          <a:p>
            <a:pPr lvl="1" eaLnBrk="1" hangingPunct="1"/>
            <a:r>
              <a:rPr lang="zh-CN" altLang="en-US" dirty="0" smtClean="0"/>
              <a:t>社会</a:t>
            </a:r>
          </a:p>
          <a:p>
            <a:pPr lvl="1" eaLnBrk="1" hangingPunct="1"/>
            <a:r>
              <a:rPr lang="zh-CN" altLang="en-US" dirty="0" smtClean="0"/>
              <a:t>法律 </a:t>
            </a:r>
          </a:p>
        </p:txBody>
      </p:sp>
    </p:spTree>
    <p:extLst>
      <p:ext uri="{BB962C8B-B14F-4D97-AF65-F5344CB8AC3E}">
        <p14:creationId xmlns:p14="http://schemas.microsoft.com/office/powerpoint/2010/main" val="18484351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621733D-9AA9-4A40-BB6D-2D4C92850FD0}"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387" name="Rectangle 2"/>
          <p:cNvSpPr>
            <a:spLocks noGrp="1" noChangeArrowheads="1"/>
          </p:cNvSpPr>
          <p:nvPr>
            <p:ph type="title"/>
          </p:nvPr>
        </p:nvSpPr>
        <p:spPr/>
        <p:txBody>
          <a:bodyPr/>
          <a:lstStyle/>
          <a:p>
            <a:pPr eaLnBrk="1" hangingPunct="1"/>
            <a:r>
              <a:rPr lang="zh-CN" altLang="en-US" smtClean="0"/>
              <a:t>分类变量的选择：精算</a:t>
            </a:r>
          </a:p>
        </p:txBody>
      </p:sp>
      <p:sp>
        <p:nvSpPr>
          <p:cNvPr id="2" name="Rectangle 3"/>
          <p:cNvSpPr>
            <a:spLocks noGrp="1" noChangeArrowheads="1"/>
          </p:cNvSpPr>
          <p:nvPr>
            <p:ph type="body" idx="1"/>
          </p:nvPr>
        </p:nvSpPr>
        <p:spPr/>
        <p:txBody>
          <a:bodyPr/>
          <a:lstStyle/>
          <a:p>
            <a:pPr eaLnBrk="1" hangingPunct="1"/>
            <a:r>
              <a:rPr lang="zh-CN" altLang="en-US" b="1" dirty="0" smtClean="0">
                <a:solidFill>
                  <a:srgbClr val="0000CC"/>
                </a:solidFill>
              </a:rPr>
              <a:t>精确性</a:t>
            </a:r>
            <a:r>
              <a:rPr lang="en-US" altLang="zh-CN" b="1" dirty="0" smtClean="0">
                <a:solidFill>
                  <a:srgbClr val="0000CC"/>
                </a:solidFill>
              </a:rPr>
              <a:t>:</a:t>
            </a:r>
            <a:r>
              <a:rPr lang="en-US" altLang="zh-CN" dirty="0" smtClean="0"/>
              <a:t> </a:t>
            </a:r>
            <a:r>
              <a:rPr lang="zh-CN" altLang="en-US" dirty="0" smtClean="0"/>
              <a:t>费率因子要与保险成本</a:t>
            </a:r>
            <a:r>
              <a:rPr lang="zh-CN" altLang="en-US" dirty="0" smtClean="0"/>
              <a:t>相关 </a:t>
            </a:r>
            <a:endParaRPr lang="zh-CN" altLang="en-US" dirty="0" smtClean="0"/>
          </a:p>
          <a:p>
            <a:pPr lvl="1" eaLnBrk="1" hangingPunct="1"/>
            <a:r>
              <a:rPr lang="zh-CN" altLang="en-US" dirty="0" smtClean="0"/>
              <a:t>竞争的需要。例</a:t>
            </a:r>
            <a:r>
              <a:rPr lang="zh-CN" altLang="en-US" dirty="0" smtClean="0"/>
              <a:t>：保险人 </a:t>
            </a:r>
            <a:r>
              <a:rPr lang="en-US" altLang="zh-CN" dirty="0" smtClean="0"/>
              <a:t>A=(10,20</a:t>
            </a:r>
            <a:r>
              <a:rPr lang="en-US" altLang="zh-CN" dirty="0" smtClean="0"/>
              <a:t>),</a:t>
            </a:r>
            <a:r>
              <a:rPr lang="zh-CN" altLang="en-US" dirty="0" smtClean="0"/>
              <a:t>保险人 </a:t>
            </a:r>
            <a:r>
              <a:rPr lang="en-US" altLang="zh-CN" dirty="0" smtClean="0"/>
              <a:t>B=(</a:t>
            </a:r>
            <a:r>
              <a:rPr lang="en-US" altLang="zh-CN" dirty="0" smtClean="0"/>
              <a:t>15)</a:t>
            </a:r>
            <a:r>
              <a:rPr lang="zh-CN" altLang="en-US" dirty="0" smtClean="0"/>
              <a:t>，结果？逆选择问题？</a:t>
            </a:r>
          </a:p>
          <a:p>
            <a:pPr lvl="1" eaLnBrk="1" hangingPunct="1"/>
            <a:r>
              <a:rPr lang="zh-CN" altLang="en-US" dirty="0" smtClean="0"/>
              <a:t>公平的需要</a:t>
            </a:r>
          </a:p>
          <a:p>
            <a:pPr eaLnBrk="1" hangingPunct="1"/>
            <a:r>
              <a:rPr lang="zh-CN" altLang="en-US" b="1" dirty="0" smtClean="0">
                <a:solidFill>
                  <a:srgbClr val="0000CC"/>
                </a:solidFill>
              </a:rPr>
              <a:t>同质性</a:t>
            </a:r>
            <a:r>
              <a:rPr lang="en-US" altLang="zh-CN" b="1" dirty="0" smtClean="0">
                <a:solidFill>
                  <a:srgbClr val="0000CC"/>
                </a:solidFill>
              </a:rPr>
              <a:t>:</a:t>
            </a:r>
            <a:r>
              <a:rPr lang="en-US" altLang="zh-CN" dirty="0" smtClean="0"/>
              <a:t> </a:t>
            </a:r>
            <a:r>
              <a:rPr lang="zh-CN" altLang="en-US" dirty="0" smtClean="0"/>
              <a:t>每组被保险人具有相同的</a:t>
            </a:r>
            <a:r>
              <a:rPr lang="zh-CN" altLang="en-US" dirty="0" smtClean="0">
                <a:solidFill>
                  <a:srgbClr val="FF0000"/>
                </a:solidFill>
              </a:rPr>
              <a:t>期望损失</a:t>
            </a:r>
          </a:p>
          <a:p>
            <a:pPr eaLnBrk="1" hangingPunct="1"/>
            <a:r>
              <a:rPr lang="zh-CN" altLang="en-US" b="1" dirty="0" smtClean="0">
                <a:solidFill>
                  <a:srgbClr val="0000CC"/>
                </a:solidFill>
              </a:rPr>
              <a:t>可信性</a:t>
            </a:r>
            <a:r>
              <a:rPr lang="en-US" altLang="zh-CN" b="1" dirty="0" smtClean="0">
                <a:solidFill>
                  <a:srgbClr val="0000CC"/>
                </a:solidFill>
              </a:rPr>
              <a:t>: </a:t>
            </a:r>
            <a:r>
              <a:rPr lang="zh-CN" altLang="en-US" dirty="0" smtClean="0"/>
              <a:t>每组包含足够多的风险单位数</a:t>
            </a:r>
          </a:p>
          <a:p>
            <a:pPr eaLnBrk="1" hangingPunct="1"/>
            <a:r>
              <a:rPr lang="zh-CN" altLang="en-US" b="1" dirty="0" smtClean="0">
                <a:solidFill>
                  <a:srgbClr val="0000CC"/>
                </a:solidFill>
              </a:rPr>
              <a:t>可靠性</a:t>
            </a:r>
            <a:r>
              <a:rPr lang="en-US" altLang="zh-CN" b="1" dirty="0" smtClean="0">
                <a:solidFill>
                  <a:srgbClr val="0000CC"/>
                </a:solidFill>
              </a:rPr>
              <a:t>:</a:t>
            </a:r>
            <a:r>
              <a:rPr lang="en-US" altLang="zh-CN" dirty="0" smtClean="0"/>
              <a:t> </a:t>
            </a:r>
            <a:r>
              <a:rPr lang="zh-CN" altLang="en-US" dirty="0" smtClean="0"/>
              <a:t>各组被保险人的成本差异并非由于随机波动所致</a:t>
            </a:r>
            <a:r>
              <a:rPr lang="en-US" altLang="zh-CN" dirty="0" smtClean="0"/>
              <a:t>. </a:t>
            </a:r>
          </a:p>
        </p:txBody>
      </p:sp>
    </p:spTree>
    <p:extLst>
      <p:ext uri="{BB962C8B-B14F-4D97-AF65-F5344CB8AC3E}">
        <p14:creationId xmlns:p14="http://schemas.microsoft.com/office/powerpoint/2010/main" val="42308497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 calcmode="lin" valueType="num">
                                      <p:cBhvr additive="base">
                                        <p:cTn id="3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2BAFE8C-5C4F-4CDC-A9E3-7E5EB5A6A1DD}"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411" name="Rectangle 2"/>
          <p:cNvSpPr>
            <a:spLocks noGrp="1" noChangeArrowheads="1"/>
          </p:cNvSpPr>
          <p:nvPr>
            <p:ph type="title"/>
          </p:nvPr>
        </p:nvSpPr>
        <p:spPr/>
        <p:txBody>
          <a:bodyPr/>
          <a:lstStyle/>
          <a:p>
            <a:pPr eaLnBrk="1" hangingPunct="1"/>
            <a:r>
              <a:rPr lang="zh-CN" altLang="en-US" dirty="0" smtClean="0"/>
              <a:t>分类变量的选择：经营</a:t>
            </a:r>
          </a:p>
        </p:txBody>
      </p:sp>
      <p:sp>
        <p:nvSpPr>
          <p:cNvPr id="2" name="Rectangle 3"/>
          <p:cNvSpPr>
            <a:spLocks noGrp="1" noChangeArrowheads="1"/>
          </p:cNvSpPr>
          <p:nvPr>
            <p:ph type="body" idx="1"/>
          </p:nvPr>
        </p:nvSpPr>
        <p:spPr/>
        <p:txBody>
          <a:bodyPr/>
          <a:lstStyle/>
          <a:p>
            <a:pPr eaLnBrk="1" hangingPunct="1"/>
            <a:r>
              <a:rPr lang="zh-CN" altLang="en-US" smtClean="0"/>
              <a:t>可以客观定义。例：车型；反应敏捷、稳健</a:t>
            </a:r>
          </a:p>
          <a:p>
            <a:pPr eaLnBrk="1" hangingPunct="1"/>
            <a:r>
              <a:rPr lang="zh-CN" altLang="en-US" smtClean="0"/>
              <a:t>可验证。例：行驶里程数</a:t>
            </a:r>
          </a:p>
          <a:p>
            <a:pPr eaLnBrk="1" hangingPunct="1"/>
            <a:r>
              <a:rPr lang="zh-CN" altLang="en-US" smtClean="0"/>
              <a:t>直观上与成本相关。例：车辆的颜色</a:t>
            </a:r>
          </a:p>
          <a:p>
            <a:pPr eaLnBrk="1" hangingPunct="1"/>
            <a:r>
              <a:rPr lang="zh-CN" altLang="en-US" smtClean="0"/>
              <a:t>不会导致悬殊的费率差异。例：年龄</a:t>
            </a:r>
          </a:p>
          <a:p>
            <a:pPr eaLnBrk="1" hangingPunct="1"/>
            <a:r>
              <a:rPr lang="zh-CN" altLang="en-US" smtClean="0"/>
              <a:t>可接受的管理费用（见下页例）</a:t>
            </a:r>
          </a:p>
        </p:txBody>
      </p:sp>
    </p:spTree>
    <p:extLst>
      <p:ext uri="{BB962C8B-B14F-4D97-AF65-F5344CB8AC3E}">
        <p14:creationId xmlns:p14="http://schemas.microsoft.com/office/powerpoint/2010/main" val="34623953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1FDDEA-51A0-4722-9F75-1A1C100C8D26}"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435" name="Rectangle 2"/>
          <p:cNvSpPr>
            <a:spLocks noGrp="1" noChangeArrowheads="1"/>
          </p:cNvSpPr>
          <p:nvPr>
            <p:ph type="title"/>
          </p:nvPr>
        </p:nvSpPr>
        <p:spPr/>
        <p:txBody>
          <a:bodyPr/>
          <a:lstStyle/>
          <a:p>
            <a:pPr eaLnBrk="1" hangingPunct="1"/>
            <a:r>
              <a:rPr lang="zh-CN" altLang="en-US" smtClean="0"/>
              <a:t>分类变量的选择：例</a:t>
            </a:r>
          </a:p>
        </p:txBody>
      </p:sp>
      <p:sp>
        <p:nvSpPr>
          <p:cNvPr id="2" name="Rectangle 3"/>
          <p:cNvSpPr>
            <a:spLocks noGrp="1" noChangeArrowheads="1"/>
          </p:cNvSpPr>
          <p:nvPr>
            <p:ph type="body" idx="1"/>
          </p:nvPr>
        </p:nvSpPr>
        <p:spPr>
          <a:xfrm>
            <a:off x="323850" y="1719263"/>
            <a:ext cx="8280400" cy="4733925"/>
          </a:xfrm>
        </p:spPr>
        <p:txBody>
          <a:bodyPr/>
          <a:lstStyle/>
          <a:p>
            <a:pPr eaLnBrk="1" hangingPunct="1"/>
            <a:r>
              <a:rPr lang="zh-CN" altLang="en-US" smtClean="0">
                <a:latin typeface="Times New Roman" panose="02020603050405020304" pitchFamily="18" charset="0"/>
              </a:rPr>
              <a:t>假设将驾驶员根据某变量划分成三组，三个组的期望损失分别为 </a:t>
            </a:r>
            <a:r>
              <a:rPr lang="en-US" altLang="zh-CN" smtClean="0">
                <a:latin typeface="Times New Roman" panose="02020603050405020304" pitchFamily="18" charset="0"/>
              </a:rPr>
              <a:t>800 </a:t>
            </a:r>
            <a:r>
              <a:rPr lang="zh-CN" altLang="en-US" smtClean="0">
                <a:latin typeface="Times New Roman" panose="02020603050405020304" pitchFamily="18" charset="0"/>
              </a:rPr>
              <a:t>元，</a:t>
            </a:r>
            <a:r>
              <a:rPr lang="en-US" altLang="zh-CN" smtClean="0">
                <a:latin typeface="Times New Roman" panose="02020603050405020304" pitchFamily="18" charset="0"/>
              </a:rPr>
              <a:t>1000 </a:t>
            </a:r>
            <a:r>
              <a:rPr lang="zh-CN" altLang="en-US" smtClean="0">
                <a:latin typeface="Times New Roman" panose="02020603050405020304" pitchFamily="18" charset="0"/>
              </a:rPr>
              <a:t>元和 </a:t>
            </a:r>
            <a:r>
              <a:rPr lang="en-US" altLang="zh-CN" smtClean="0">
                <a:latin typeface="Times New Roman" panose="02020603050405020304" pitchFamily="18" charset="0"/>
              </a:rPr>
              <a:t>1200 </a:t>
            </a:r>
            <a:r>
              <a:rPr lang="zh-CN" altLang="en-US" smtClean="0">
                <a:latin typeface="Times New Roman" panose="02020603050405020304" pitchFamily="18" charset="0"/>
              </a:rPr>
              <a:t>元，而保险人获取该变量数据的费用是每个被保险人 </a:t>
            </a:r>
            <a:r>
              <a:rPr lang="en-US" altLang="zh-CN" smtClean="0">
                <a:latin typeface="Times New Roman" panose="02020603050405020304" pitchFamily="18" charset="0"/>
              </a:rPr>
              <a:t>200 </a:t>
            </a:r>
            <a:r>
              <a:rPr lang="zh-CN" altLang="en-US" smtClean="0">
                <a:latin typeface="Times New Roman" panose="02020603050405020304" pitchFamily="18" charset="0"/>
              </a:rPr>
              <a:t>元 </a:t>
            </a:r>
          </a:p>
          <a:p>
            <a:pPr eaLnBrk="1" hangingPunct="1"/>
            <a:r>
              <a:rPr lang="zh-CN" altLang="en-US" smtClean="0">
                <a:latin typeface="Times New Roman" panose="02020603050405020304" pitchFamily="18" charset="0"/>
              </a:rPr>
              <a:t>这三组的保费支出（期望损失</a:t>
            </a:r>
            <a:r>
              <a:rPr lang="en-US" altLang="zh-CN" smtClean="0">
                <a:latin typeface="Times New Roman" panose="02020603050405020304" pitchFamily="18" charset="0"/>
              </a:rPr>
              <a:t>+</a:t>
            </a:r>
            <a:r>
              <a:rPr lang="zh-CN" altLang="en-US" smtClean="0">
                <a:latin typeface="Times New Roman" panose="02020603050405020304" pitchFamily="18" charset="0"/>
              </a:rPr>
              <a:t>额外费用）分别为：</a:t>
            </a:r>
          </a:p>
          <a:p>
            <a:pPr lvl="1" eaLnBrk="1" hangingPunct="1"/>
            <a:r>
              <a:rPr lang="zh-CN" altLang="en-US" smtClean="0">
                <a:latin typeface="Times New Roman" panose="02020603050405020304" pitchFamily="18" charset="0"/>
              </a:rPr>
              <a:t>第一组：</a:t>
            </a:r>
            <a:r>
              <a:rPr lang="en-US" altLang="zh-CN" smtClean="0">
                <a:latin typeface="Times New Roman" panose="02020603050405020304" pitchFamily="18" charset="0"/>
              </a:rPr>
              <a:t>1000</a:t>
            </a:r>
            <a:r>
              <a:rPr lang="zh-CN" altLang="en-US" smtClean="0">
                <a:latin typeface="Times New Roman" panose="02020603050405020304" pitchFamily="18" charset="0"/>
              </a:rPr>
              <a:t>元</a:t>
            </a:r>
          </a:p>
          <a:p>
            <a:pPr lvl="1" eaLnBrk="1" hangingPunct="1"/>
            <a:r>
              <a:rPr lang="zh-CN" altLang="en-US" smtClean="0">
                <a:latin typeface="Times New Roman" panose="02020603050405020304" pitchFamily="18" charset="0"/>
              </a:rPr>
              <a:t>第二组：</a:t>
            </a:r>
            <a:r>
              <a:rPr lang="en-US" altLang="zh-CN" smtClean="0">
                <a:latin typeface="Times New Roman" panose="02020603050405020304" pitchFamily="18" charset="0"/>
              </a:rPr>
              <a:t>1200</a:t>
            </a:r>
            <a:r>
              <a:rPr lang="zh-CN" altLang="en-US" smtClean="0">
                <a:latin typeface="Times New Roman" panose="02020603050405020304" pitchFamily="18" charset="0"/>
              </a:rPr>
              <a:t>元</a:t>
            </a:r>
          </a:p>
          <a:p>
            <a:pPr lvl="1" eaLnBrk="1" hangingPunct="1"/>
            <a:r>
              <a:rPr lang="zh-CN" altLang="en-US" smtClean="0">
                <a:latin typeface="Times New Roman" panose="02020603050405020304" pitchFamily="18" charset="0"/>
              </a:rPr>
              <a:t>第三组：</a:t>
            </a:r>
            <a:r>
              <a:rPr lang="en-US" altLang="zh-CN" smtClean="0">
                <a:latin typeface="Times New Roman" panose="02020603050405020304" pitchFamily="18" charset="0"/>
              </a:rPr>
              <a:t>1400</a:t>
            </a:r>
            <a:r>
              <a:rPr lang="zh-CN" altLang="en-US" smtClean="0">
                <a:latin typeface="Times New Roman" panose="02020603050405020304" pitchFamily="18" charset="0"/>
              </a:rPr>
              <a:t>元</a:t>
            </a:r>
          </a:p>
          <a:p>
            <a:pPr eaLnBrk="1" hangingPunct="1"/>
            <a:r>
              <a:rPr lang="zh-CN" altLang="en-US" smtClean="0">
                <a:latin typeface="Times New Roman" panose="02020603050405020304" pitchFamily="18" charset="0"/>
              </a:rPr>
              <a:t>如果不使用该变量，他们的保费支出都是</a:t>
            </a:r>
            <a:r>
              <a:rPr lang="en-US" altLang="zh-CN" smtClean="0">
                <a:latin typeface="Times New Roman" panose="02020603050405020304" pitchFamily="18" charset="0"/>
              </a:rPr>
              <a:t>1000</a:t>
            </a:r>
            <a:r>
              <a:rPr lang="zh-CN" altLang="en-US" smtClean="0">
                <a:latin typeface="Times New Roman" panose="02020603050405020304" pitchFamily="18" charset="0"/>
              </a:rPr>
              <a:t>元。</a:t>
            </a:r>
          </a:p>
          <a:p>
            <a:pPr eaLnBrk="1" hangingPunct="1"/>
            <a:r>
              <a:rPr lang="zh-CN" altLang="en-US" smtClean="0">
                <a:solidFill>
                  <a:srgbClr val="FF0000"/>
                </a:solidFill>
                <a:latin typeface="Times New Roman" panose="02020603050405020304" pitchFamily="18" charset="0"/>
              </a:rPr>
              <a:t>无人从中受益！</a:t>
            </a:r>
          </a:p>
        </p:txBody>
      </p:sp>
    </p:spTree>
    <p:extLst>
      <p:ext uri="{BB962C8B-B14F-4D97-AF65-F5344CB8AC3E}">
        <p14:creationId xmlns:p14="http://schemas.microsoft.com/office/powerpoint/2010/main" val="2435540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blinds(horizontal)">
                                      <p:cBhvr>
                                        <p:cTn id="15" dur="500"/>
                                        <p:tgtEl>
                                          <p:spTgt spid="2">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blinds(horizontal)">
                                      <p:cBhvr>
                                        <p:cTn id="18" dur="500"/>
                                        <p:tgtEl>
                                          <p:spTgt spid="2">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blinds(horizontal)">
                                      <p:cBhvr>
                                        <p:cTn id="26" dur="500"/>
                                        <p:tgtEl>
                                          <p:spTgt spid="2">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blinds(horizontal)">
                                      <p:cBhvr>
                                        <p:cTn id="31"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0BE1D0F-D5B6-4F52-B88F-0A8C7B7F7CFE}"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459" name="Rectangle 2"/>
          <p:cNvSpPr>
            <a:spLocks noGrp="1" noChangeArrowheads="1"/>
          </p:cNvSpPr>
          <p:nvPr>
            <p:ph type="title"/>
          </p:nvPr>
        </p:nvSpPr>
        <p:spPr/>
        <p:txBody>
          <a:bodyPr/>
          <a:lstStyle/>
          <a:p>
            <a:pPr eaLnBrk="1" hangingPunct="1"/>
            <a:r>
              <a:rPr lang="zh-CN" altLang="en-US" smtClean="0"/>
              <a:t>分类变量的选择：社会</a:t>
            </a:r>
          </a:p>
        </p:txBody>
      </p:sp>
      <p:sp>
        <p:nvSpPr>
          <p:cNvPr id="16387" name="Rectangle 3"/>
          <p:cNvSpPr>
            <a:spLocks noGrp="1" noChangeArrowheads="1"/>
          </p:cNvSpPr>
          <p:nvPr>
            <p:ph type="body" idx="1"/>
          </p:nvPr>
        </p:nvSpPr>
        <p:spPr/>
        <p:txBody>
          <a:bodyPr/>
          <a:lstStyle/>
          <a:p>
            <a:pPr eaLnBrk="1" hangingPunct="1"/>
            <a:endParaRPr lang="zh-CN" altLang="en-US" dirty="0" smtClean="0"/>
          </a:p>
          <a:p>
            <a:pPr eaLnBrk="1" hangingPunct="1"/>
            <a:r>
              <a:rPr lang="zh-CN" altLang="en-US" dirty="0" smtClean="0"/>
              <a:t>要保护个人隐私。例：收入、饮酒习惯</a:t>
            </a:r>
          </a:p>
          <a:p>
            <a:pPr eaLnBrk="1" hangingPunct="1"/>
            <a:r>
              <a:rPr lang="zh-CN" altLang="en-US" dirty="0" smtClean="0"/>
              <a:t>要与保险成本具有因果关系。例：性别、信用高低</a:t>
            </a:r>
          </a:p>
          <a:p>
            <a:pPr eaLnBrk="1" hangingPunct="1"/>
            <a:r>
              <a:rPr lang="zh-CN" altLang="en-US" dirty="0" smtClean="0"/>
              <a:t>被保险人可以控制。例：驾驶员限制、是否安装防盗</a:t>
            </a:r>
          </a:p>
          <a:p>
            <a:pPr eaLnBrk="1" hangingPunct="1"/>
            <a:r>
              <a:rPr lang="zh-CN" altLang="en-US" dirty="0" smtClean="0"/>
              <a:t>承受能力。过多的车主不购买第三者责任保险，就会带来社会问题。根据某个变量厘定的保费使一部分被保险人无法支付</a:t>
            </a:r>
          </a:p>
          <a:p>
            <a:pPr eaLnBrk="1" hangingPunct="1"/>
            <a:endParaRPr lang="zh-CN" altLang="en-US" dirty="0" smtClean="0"/>
          </a:p>
          <a:p>
            <a:pPr eaLnBrk="1" hangingPunct="1"/>
            <a:endParaRPr lang="zh-CN" altLang="en-US" dirty="0" smtClean="0"/>
          </a:p>
        </p:txBody>
      </p:sp>
    </p:spTree>
    <p:extLst>
      <p:ext uri="{BB962C8B-B14F-4D97-AF65-F5344CB8AC3E}">
        <p14:creationId xmlns:p14="http://schemas.microsoft.com/office/powerpoint/2010/main" val="1592351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 calcmode="lin" valueType="num">
                                      <p:cBhvr additive="base">
                                        <p:cTn id="7"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2" end="2"/>
                                            </p:txEl>
                                          </p:spTgt>
                                        </p:tgtEl>
                                        <p:attrNameLst>
                                          <p:attrName>style.visibility</p:attrName>
                                        </p:attrNameLst>
                                      </p:cBhvr>
                                      <p:to>
                                        <p:strVal val="visible"/>
                                      </p:to>
                                    </p:set>
                                    <p:anim calcmode="lin" valueType="num">
                                      <p:cBhvr additive="base">
                                        <p:cTn id="13"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anim calcmode="lin" valueType="num">
                                      <p:cBhvr additive="base">
                                        <p:cTn id="19"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387">
                                            <p:txEl>
                                              <p:pRg st="4" end="4"/>
                                            </p:txEl>
                                          </p:spTgt>
                                        </p:tgtEl>
                                        <p:attrNameLst>
                                          <p:attrName>style.visibility</p:attrName>
                                        </p:attrNameLst>
                                      </p:cBhvr>
                                      <p:to>
                                        <p:strVal val="visible"/>
                                      </p:to>
                                    </p:set>
                                    <p:anim calcmode="lin" valueType="num">
                                      <p:cBhvr additive="base">
                                        <p:cTn id="25"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CFCB88A-2660-4520-BA8E-DAF3256E11A8}"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483" name="Rectangle 2"/>
          <p:cNvSpPr>
            <a:spLocks noGrp="1" noChangeArrowheads="1"/>
          </p:cNvSpPr>
          <p:nvPr>
            <p:ph type="title"/>
          </p:nvPr>
        </p:nvSpPr>
        <p:spPr/>
        <p:txBody>
          <a:bodyPr/>
          <a:lstStyle/>
          <a:p>
            <a:pPr eaLnBrk="1" hangingPunct="1"/>
            <a:r>
              <a:rPr lang="zh-CN" altLang="en-US" smtClean="0"/>
              <a:t>分类变量的选择：法律</a:t>
            </a:r>
          </a:p>
        </p:txBody>
      </p:sp>
      <p:sp>
        <p:nvSpPr>
          <p:cNvPr id="17411" name="Rectangle 3"/>
          <p:cNvSpPr>
            <a:spLocks noGrp="1" noChangeArrowheads="1"/>
          </p:cNvSpPr>
          <p:nvPr>
            <p:ph type="body" idx="1"/>
          </p:nvPr>
        </p:nvSpPr>
        <p:spPr/>
        <p:txBody>
          <a:bodyPr/>
          <a:lstStyle/>
          <a:p>
            <a:pPr eaLnBrk="1" hangingPunct="1"/>
            <a:r>
              <a:rPr lang="zh-CN" altLang="en-US" dirty="0" smtClean="0"/>
              <a:t>在汽车保险中，某些费率因子是被法律所禁止使用的。</a:t>
            </a:r>
          </a:p>
          <a:p>
            <a:pPr lvl="1" eaLnBrk="1" hangingPunct="1"/>
            <a:r>
              <a:rPr lang="zh-CN" altLang="en-US" dirty="0" smtClean="0"/>
              <a:t>例：种族。</a:t>
            </a:r>
            <a:endParaRPr lang="en-US" altLang="zh-CN" dirty="0" smtClean="0"/>
          </a:p>
          <a:p>
            <a:pPr lvl="1" eaLnBrk="1" hangingPunct="1"/>
            <a:r>
              <a:rPr lang="zh-CN" altLang="en-US" dirty="0" smtClean="0"/>
              <a:t>宗教信仰</a:t>
            </a:r>
            <a:endParaRPr lang="en-US" altLang="zh-CN" dirty="0" smtClean="0"/>
          </a:p>
          <a:p>
            <a:pPr lvl="1" eaLnBrk="1" hangingPunct="1"/>
            <a:r>
              <a:rPr lang="zh-CN" altLang="en-US" dirty="0" smtClean="0"/>
              <a:t>性别（美国某些州）</a:t>
            </a:r>
            <a:endParaRPr lang="en-US" altLang="zh-CN" dirty="0" smtClean="0"/>
          </a:p>
          <a:p>
            <a:pPr lvl="1" eaLnBrk="1" hangingPunct="1"/>
            <a:r>
              <a:rPr lang="zh-CN" altLang="en-US" dirty="0" smtClean="0"/>
              <a:t>信用等级厘定费率，但是不能因为信用等级降低而提高续保保费</a:t>
            </a:r>
          </a:p>
        </p:txBody>
      </p:sp>
    </p:spTree>
    <p:extLst>
      <p:ext uri="{BB962C8B-B14F-4D97-AF65-F5344CB8AC3E}">
        <p14:creationId xmlns:p14="http://schemas.microsoft.com/office/powerpoint/2010/main" val="16594379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anim calcmode="lin" valueType="num">
                                      <p:cBhvr additive="base">
                                        <p:cTn id="11"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4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anim calcmode="lin" valueType="num">
                                      <p:cBhvr additive="base">
                                        <p:cTn id="15"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41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anim calcmode="lin" valueType="num">
                                      <p:cBhvr additive="base">
                                        <p:cTn id="19"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411">
                                            <p:txEl>
                                              <p:pRg st="4" end="4"/>
                                            </p:txEl>
                                          </p:spTgt>
                                        </p:tgtEl>
                                        <p:attrNameLst>
                                          <p:attrName>style.visibility</p:attrName>
                                        </p:attrNameLst>
                                      </p:cBhvr>
                                      <p:to>
                                        <p:strVal val="visible"/>
                                      </p:to>
                                    </p:set>
                                    <p:anim calcmode="lin" valueType="num">
                                      <p:cBhvr additive="base">
                                        <p:cTn id="23"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16</a:t>
            </a:fld>
            <a:r>
              <a:rPr lang="en-US" altLang="zh-CN" smtClean="0"/>
              <a:t> )</a:t>
            </a:r>
            <a:endParaRPr lang="en-US" altLang="zh-CN"/>
          </a:p>
        </p:txBody>
      </p:sp>
      <p:sp>
        <p:nvSpPr>
          <p:cNvPr id="6" name="Rectangle 2"/>
          <p:cNvSpPr txBox="1">
            <a:spLocks noChangeArrowheads="1"/>
          </p:cNvSpPr>
          <p:nvPr/>
        </p:nvSpPr>
        <p:spPr bwMode="auto">
          <a:xfrm>
            <a:off x="250825" y="2565400"/>
            <a:ext cx="7543800"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6000" b="1" kern="1200">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8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800" b="1">
                <a:solidFill>
                  <a:schemeClr val="tx2"/>
                </a:solidFill>
                <a:latin typeface="Arial" panose="020B0604020202020204" pitchFamily="34" charset="0"/>
                <a:ea typeface="宋体" panose="02010600030101010101" pitchFamily="2" charset="-122"/>
              </a:defRPr>
            </a:lvl9pPr>
          </a:lstStyle>
          <a:p>
            <a:pPr algn="ctr" eaLnBrk="1" hangingPunct="1"/>
            <a:r>
              <a:rPr lang="zh-CN" altLang="en-US" sz="4400" dirty="0" smtClean="0"/>
              <a:t>二、线性回归模型</a:t>
            </a:r>
          </a:p>
        </p:txBody>
      </p:sp>
    </p:spTree>
    <p:extLst>
      <p:ext uri="{BB962C8B-B14F-4D97-AF65-F5344CB8AC3E}">
        <p14:creationId xmlns:p14="http://schemas.microsoft.com/office/powerpoint/2010/main" val="23015048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r>
              <a:rPr lang="en-US" altLang="zh-CN"/>
              <a:t>( </a:t>
            </a:r>
            <a:fld id="{FB5D8D59-65B3-4384-896F-EE249C929C52}" type="slidenum">
              <a:rPr lang="en-US" altLang="zh-CN"/>
              <a:pPr>
                <a:defRPr/>
              </a:pPr>
              <a:t>17</a:t>
            </a:fld>
            <a:r>
              <a:rPr lang="en-US" altLang="zh-CN"/>
              <a:t> )</a:t>
            </a:r>
          </a:p>
        </p:txBody>
      </p:sp>
      <p:sp>
        <p:nvSpPr>
          <p:cNvPr id="16387" name="Rectangle 2"/>
          <p:cNvSpPr>
            <a:spLocks noGrp="1" noChangeArrowheads="1"/>
          </p:cNvSpPr>
          <p:nvPr>
            <p:ph type="title"/>
          </p:nvPr>
        </p:nvSpPr>
        <p:spPr>
          <a:xfrm>
            <a:off x="76200" y="55200"/>
            <a:ext cx="7543800" cy="685800"/>
          </a:xfrm>
        </p:spPr>
        <p:txBody>
          <a:bodyPr/>
          <a:lstStyle/>
          <a:p>
            <a:pPr eaLnBrk="1" hangingPunct="1"/>
            <a:r>
              <a:rPr lang="zh-CN" altLang="en-US" sz="2400" dirty="0" smtClean="0"/>
              <a:t>模型结构和假设</a:t>
            </a:r>
            <a:endParaRPr lang="en-US" altLang="zh-CN" sz="2400" dirty="0" smtClean="0">
              <a:latin typeface="Times New Roman" pitchFamily="18" charset="0"/>
            </a:endParaRPr>
          </a:p>
        </p:txBody>
      </p:sp>
      <p:sp>
        <p:nvSpPr>
          <p:cNvPr id="44035" name="Rectangle 3"/>
          <p:cNvSpPr>
            <a:spLocks noGrp="1" noChangeArrowheads="1"/>
          </p:cNvSpPr>
          <p:nvPr>
            <p:ph type="body" idx="1"/>
          </p:nvPr>
        </p:nvSpPr>
        <p:spPr>
          <a:xfrm>
            <a:off x="338200" y="1384671"/>
            <a:ext cx="8229600" cy="4800600"/>
          </a:xfrm>
        </p:spPr>
        <p:txBody>
          <a:bodyPr/>
          <a:lstStyle/>
          <a:p>
            <a:pPr marL="0" indent="0">
              <a:buNone/>
            </a:pPr>
            <a:r>
              <a:rPr lang="zh-CN" altLang="en-US" sz="2000" dirty="0" smtClean="0"/>
              <a:t>        假设</a:t>
            </a:r>
            <a:r>
              <a:rPr lang="zh-CN" altLang="en-US" sz="2000" dirty="0"/>
              <a:t>我们感兴趣的变量是    </a:t>
            </a:r>
            <a:r>
              <a:rPr lang="en-US" altLang="zh-CN" sz="2000" dirty="0" smtClean="0"/>
              <a:t>, </a:t>
            </a:r>
            <a:r>
              <a:rPr lang="zh-CN" altLang="en-US" sz="2000" dirty="0" smtClean="0"/>
              <a:t>希望</a:t>
            </a:r>
            <a:r>
              <a:rPr lang="zh-CN" altLang="en-US" sz="2000" dirty="0"/>
              <a:t>建立它与其</a:t>
            </a:r>
            <a:r>
              <a:rPr lang="zh-CN" altLang="en-US" sz="2000" dirty="0" smtClean="0"/>
              <a:t>他   个</a:t>
            </a:r>
            <a:r>
              <a:rPr lang="zh-CN" altLang="en-US" sz="2000" dirty="0"/>
              <a:t>解释变量                   之间的函数关系 。最一般的函数形式可以表示为</a:t>
            </a:r>
            <a:r>
              <a:rPr lang="zh-CN" altLang="en-US" sz="2000" dirty="0" smtClean="0"/>
              <a:t>：</a:t>
            </a:r>
            <a:endParaRPr lang="en-US" altLang="zh-CN" sz="2000" dirty="0" smtClean="0"/>
          </a:p>
          <a:p>
            <a:pPr marL="0" indent="0">
              <a:buNone/>
            </a:pPr>
            <a:endParaRPr lang="en-US" altLang="zh-CN" sz="2000" dirty="0"/>
          </a:p>
          <a:p>
            <a:pPr marL="0" indent="0">
              <a:buNone/>
            </a:pPr>
            <a:r>
              <a:rPr lang="zh-CN" altLang="en-US" sz="2000" dirty="0"/>
              <a:t>式</a:t>
            </a:r>
            <a:r>
              <a:rPr lang="zh-CN" altLang="en-US" sz="2000" dirty="0" smtClean="0"/>
              <a:t>中   是</a:t>
            </a:r>
            <a:r>
              <a:rPr lang="zh-CN" altLang="en-US" sz="2000" dirty="0"/>
              <a:t>随机误差。</a:t>
            </a:r>
            <a:endParaRPr lang="en-US" altLang="zh-CN" sz="2000" dirty="0"/>
          </a:p>
          <a:p>
            <a:pPr marL="0" indent="0">
              <a:buNone/>
            </a:pPr>
            <a:endParaRPr lang="en-US" altLang="zh-CN" sz="2000" dirty="0" smtClean="0"/>
          </a:p>
          <a:p>
            <a:pPr marL="0" indent="0">
              <a:buNone/>
            </a:pPr>
            <a:r>
              <a:rPr lang="zh-CN" altLang="en-US" sz="2000" dirty="0" smtClean="0"/>
              <a:t>        在</a:t>
            </a:r>
            <a:r>
              <a:rPr lang="zh-CN" altLang="en-US" sz="2000" dirty="0"/>
              <a:t>线性回归模型</a:t>
            </a:r>
            <a:r>
              <a:rPr lang="zh-CN" altLang="en-US" sz="2000" dirty="0" smtClean="0"/>
              <a:t>中</a:t>
            </a:r>
            <a:r>
              <a:rPr lang="en-US" altLang="zh-CN" sz="2000" dirty="0" smtClean="0"/>
              <a:t>, </a:t>
            </a:r>
            <a:r>
              <a:rPr lang="zh-CN" altLang="en-US" sz="2000" dirty="0" smtClean="0"/>
              <a:t>设                  是</a:t>
            </a:r>
            <a:r>
              <a:rPr lang="zh-CN" altLang="en-US" sz="2000" dirty="0"/>
              <a:t>一个线性</a:t>
            </a:r>
            <a:r>
              <a:rPr lang="zh-CN" altLang="en-US" sz="2000" dirty="0" smtClean="0"/>
              <a:t>函数</a:t>
            </a:r>
            <a:r>
              <a:rPr lang="en-US" altLang="zh-CN" sz="2000" dirty="0" smtClean="0"/>
              <a:t>, </a:t>
            </a:r>
            <a:r>
              <a:rPr lang="zh-CN" altLang="en-US" sz="2000" dirty="0" smtClean="0"/>
              <a:t>可</a:t>
            </a:r>
            <a:r>
              <a:rPr lang="zh-CN" altLang="en-US" sz="2000" dirty="0"/>
              <a:t>得线性回归模型为</a:t>
            </a:r>
            <a:r>
              <a:rPr lang="zh-CN" altLang="en-US" sz="2000" dirty="0" smtClean="0"/>
              <a:t>：</a:t>
            </a:r>
            <a:endParaRPr lang="en-US" altLang="zh-CN" sz="2000" dirty="0" smtClean="0"/>
          </a:p>
          <a:p>
            <a:pPr marL="0" indent="0">
              <a:buNone/>
            </a:pPr>
            <a:endParaRPr lang="en-US" altLang="zh-CN" sz="2000" dirty="0"/>
          </a:p>
          <a:p>
            <a:pPr marL="0" indent="0">
              <a:buNone/>
            </a:pPr>
            <a:endParaRPr lang="en-US" altLang="zh-CN" sz="2000" dirty="0"/>
          </a:p>
          <a:p>
            <a:pPr marL="0" indent="0">
              <a:buNone/>
            </a:pPr>
            <a:r>
              <a:rPr lang="zh-CN" altLang="en-US" sz="2000" dirty="0" smtClean="0"/>
              <a:t>        如果</a:t>
            </a:r>
            <a:r>
              <a:rPr lang="zh-CN" altLang="en-US" sz="2000" dirty="0"/>
              <a:t>对因变量和解释变量有</a:t>
            </a:r>
            <a:r>
              <a:rPr lang="en-US" altLang="zh-CN" sz="2000" dirty="0"/>
              <a:t>n</a:t>
            </a:r>
            <a:r>
              <a:rPr lang="zh-CN" altLang="en-US" sz="2000" dirty="0"/>
              <a:t>次</a:t>
            </a:r>
            <a:r>
              <a:rPr lang="zh-CN" altLang="en-US" sz="2000" dirty="0" smtClean="0"/>
              <a:t>观测</a:t>
            </a:r>
            <a:r>
              <a:rPr lang="en-US" altLang="zh-CN" sz="2000" dirty="0" smtClean="0"/>
              <a:t>, </a:t>
            </a:r>
            <a:r>
              <a:rPr lang="zh-CN" altLang="en-US" sz="2000" dirty="0" smtClean="0"/>
              <a:t>第</a:t>
            </a:r>
            <a:r>
              <a:rPr lang="en-US" altLang="zh-CN" sz="2000" dirty="0" err="1" smtClean="0"/>
              <a:t>i</a:t>
            </a:r>
            <a:r>
              <a:rPr lang="zh-CN" altLang="en-US" sz="2000" dirty="0" smtClean="0"/>
              <a:t>次</a:t>
            </a:r>
            <a:r>
              <a:rPr lang="zh-CN" altLang="en-US" sz="2000" dirty="0"/>
              <a:t>观测值记</a:t>
            </a:r>
            <a:r>
              <a:rPr lang="zh-CN" altLang="en-US" sz="2000" dirty="0" smtClean="0"/>
              <a:t>为   和               则</a:t>
            </a:r>
            <a:r>
              <a:rPr lang="zh-CN" altLang="en-US" sz="2000" dirty="0"/>
              <a:t>相应的线性回归模型可以表示为</a:t>
            </a:r>
            <a:r>
              <a:rPr lang="zh-CN" altLang="en-US" sz="2000" dirty="0" smtClean="0"/>
              <a:t>：</a:t>
            </a:r>
            <a:endParaRPr lang="en-US" altLang="zh-CN" sz="2000" dirty="0" smtClean="0"/>
          </a:p>
          <a:p>
            <a:pPr marL="0" indent="0">
              <a:buNone/>
            </a:pPr>
            <a:endParaRPr lang="en-US" altLang="zh-CN" sz="2000" dirty="0"/>
          </a:p>
          <a:p>
            <a:pPr marL="0" indent="0">
              <a:buNone/>
            </a:pPr>
            <a:endParaRPr lang="en-US" altLang="zh-CN" sz="2000" dirty="0" smtClean="0"/>
          </a:p>
          <a:p>
            <a:pPr marL="0" indent="0" eaLnBrk="1" hangingPunct="1">
              <a:lnSpc>
                <a:spcPct val="140000"/>
              </a:lnSpc>
              <a:buNone/>
            </a:pPr>
            <a:endParaRPr lang="en-US" altLang="zh-CN" sz="2400" dirty="0" smtClean="0">
              <a:latin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954023368"/>
              </p:ext>
            </p:extLst>
          </p:nvPr>
        </p:nvGraphicFramePr>
        <p:xfrm>
          <a:off x="3809999" y="1481229"/>
          <a:ext cx="243693" cy="288000"/>
        </p:xfrm>
        <a:graphic>
          <a:graphicData uri="http://schemas.openxmlformats.org/presentationml/2006/ole">
            <mc:AlternateContent xmlns:mc="http://schemas.openxmlformats.org/markup-compatibility/2006">
              <mc:Choice xmlns:v="urn:schemas-microsoft-com:vml" Requires="v">
                <p:oleObj spid="_x0000_s407804" name="Equation" r:id="rId3" imgW="139680" imgH="164880" progId="Equation.DSMT4">
                  <p:embed/>
                </p:oleObj>
              </mc:Choice>
              <mc:Fallback>
                <p:oleObj name="Equation" r:id="rId3" imgW="139680" imgH="164880" progId="Equation.DSMT4">
                  <p:embed/>
                  <p:pic>
                    <p:nvPicPr>
                      <p:cNvPr id="2" name="对象 1"/>
                      <p:cNvPicPr/>
                      <p:nvPr/>
                    </p:nvPicPr>
                    <p:blipFill>
                      <a:blip r:embed="rId4"/>
                      <a:stretch>
                        <a:fillRect/>
                      </a:stretch>
                    </p:blipFill>
                    <p:spPr>
                      <a:xfrm>
                        <a:off x="3809999" y="1481229"/>
                        <a:ext cx="243693" cy="28800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204817714"/>
              </p:ext>
            </p:extLst>
          </p:nvPr>
        </p:nvGraphicFramePr>
        <p:xfrm>
          <a:off x="6248400" y="1481229"/>
          <a:ext cx="205715" cy="288000"/>
        </p:xfrm>
        <a:graphic>
          <a:graphicData uri="http://schemas.openxmlformats.org/presentationml/2006/ole">
            <mc:AlternateContent xmlns:mc="http://schemas.openxmlformats.org/markup-compatibility/2006">
              <mc:Choice xmlns:v="urn:schemas-microsoft-com:vml" Requires="v">
                <p:oleObj spid="_x0000_s407805" name="Equation" r:id="rId5" imgW="126720" imgH="177480" progId="Equation.DSMT4">
                  <p:embed/>
                </p:oleObj>
              </mc:Choice>
              <mc:Fallback>
                <p:oleObj name="Equation" r:id="rId5" imgW="126720" imgH="177480" progId="Equation.DSMT4">
                  <p:embed/>
                  <p:pic>
                    <p:nvPicPr>
                      <p:cNvPr id="3" name="对象 2"/>
                      <p:cNvPicPr/>
                      <p:nvPr/>
                    </p:nvPicPr>
                    <p:blipFill>
                      <a:blip r:embed="rId6"/>
                      <a:stretch>
                        <a:fillRect/>
                      </a:stretch>
                    </p:blipFill>
                    <p:spPr>
                      <a:xfrm>
                        <a:off x="6248400" y="1481229"/>
                        <a:ext cx="205715" cy="2880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981791863"/>
              </p:ext>
            </p:extLst>
          </p:nvPr>
        </p:nvGraphicFramePr>
        <p:xfrm>
          <a:off x="7773445" y="1447800"/>
          <a:ext cx="928000" cy="288000"/>
        </p:xfrm>
        <a:graphic>
          <a:graphicData uri="http://schemas.openxmlformats.org/presentationml/2006/ole">
            <mc:AlternateContent xmlns:mc="http://schemas.openxmlformats.org/markup-compatibility/2006">
              <mc:Choice xmlns:v="urn:schemas-microsoft-com:vml" Requires="v">
                <p:oleObj spid="_x0000_s407806" name="Equation" r:id="rId7" imgW="736560" imgH="228600" progId="Equation.DSMT4">
                  <p:embed/>
                </p:oleObj>
              </mc:Choice>
              <mc:Fallback>
                <p:oleObj name="Equation" r:id="rId7" imgW="736560" imgH="228600" progId="Equation.DSMT4">
                  <p:embed/>
                  <p:pic>
                    <p:nvPicPr>
                      <p:cNvPr id="5" name="对象 4"/>
                      <p:cNvPicPr/>
                      <p:nvPr/>
                    </p:nvPicPr>
                    <p:blipFill>
                      <a:blip r:embed="rId8"/>
                      <a:stretch>
                        <a:fillRect/>
                      </a:stretch>
                    </p:blipFill>
                    <p:spPr>
                      <a:xfrm>
                        <a:off x="7773445" y="1447800"/>
                        <a:ext cx="928000" cy="2880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604056348"/>
              </p:ext>
            </p:extLst>
          </p:nvPr>
        </p:nvGraphicFramePr>
        <p:xfrm>
          <a:off x="2865400" y="2283967"/>
          <a:ext cx="3175200" cy="510300"/>
        </p:xfrm>
        <a:graphic>
          <a:graphicData uri="http://schemas.openxmlformats.org/presentationml/2006/ole">
            <mc:AlternateContent xmlns:mc="http://schemas.openxmlformats.org/markup-compatibility/2006">
              <mc:Choice xmlns:v="urn:schemas-microsoft-com:vml" Requires="v">
                <p:oleObj spid="_x0000_s407807" name="Equation" r:id="rId9" imgW="1422360" imgH="228600" progId="Equation.DSMT4">
                  <p:embed/>
                </p:oleObj>
              </mc:Choice>
              <mc:Fallback>
                <p:oleObj name="Equation" r:id="rId9" imgW="1422360" imgH="228600" progId="Equation.DSMT4">
                  <p:embed/>
                  <p:pic>
                    <p:nvPicPr>
                      <p:cNvPr id="6" name="对象 5"/>
                      <p:cNvPicPr/>
                      <p:nvPr/>
                    </p:nvPicPr>
                    <p:blipFill>
                      <a:blip r:embed="rId10"/>
                      <a:stretch>
                        <a:fillRect/>
                      </a:stretch>
                    </p:blipFill>
                    <p:spPr>
                      <a:xfrm>
                        <a:off x="2865400" y="2283967"/>
                        <a:ext cx="3175200" cy="5103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98211572"/>
              </p:ext>
            </p:extLst>
          </p:nvPr>
        </p:nvGraphicFramePr>
        <p:xfrm>
          <a:off x="914400" y="2743200"/>
          <a:ext cx="261817" cy="288000"/>
        </p:xfrm>
        <a:graphic>
          <a:graphicData uri="http://schemas.openxmlformats.org/presentationml/2006/ole">
            <mc:AlternateContent xmlns:mc="http://schemas.openxmlformats.org/markup-compatibility/2006">
              <mc:Choice xmlns:v="urn:schemas-microsoft-com:vml" Requires="v">
                <p:oleObj spid="_x0000_s407808" name="Equation" r:id="rId11" imgW="126720" imgH="139680" progId="Equation.DSMT4">
                  <p:embed/>
                </p:oleObj>
              </mc:Choice>
              <mc:Fallback>
                <p:oleObj name="Equation" r:id="rId11" imgW="126720" imgH="139680" progId="Equation.DSMT4">
                  <p:embed/>
                  <p:pic>
                    <p:nvPicPr>
                      <p:cNvPr id="7" name="对象 6"/>
                      <p:cNvPicPr/>
                      <p:nvPr/>
                    </p:nvPicPr>
                    <p:blipFill>
                      <a:blip r:embed="rId12"/>
                      <a:stretch>
                        <a:fillRect/>
                      </a:stretch>
                    </p:blipFill>
                    <p:spPr>
                      <a:xfrm>
                        <a:off x="914400" y="2743200"/>
                        <a:ext cx="261817" cy="2880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125451146"/>
              </p:ext>
            </p:extLst>
          </p:nvPr>
        </p:nvGraphicFramePr>
        <p:xfrm>
          <a:off x="3445693" y="3640971"/>
          <a:ext cx="1216000" cy="288000"/>
        </p:xfrm>
        <a:graphic>
          <a:graphicData uri="http://schemas.openxmlformats.org/presentationml/2006/ole">
            <mc:AlternateContent xmlns:mc="http://schemas.openxmlformats.org/markup-compatibility/2006">
              <mc:Choice xmlns:v="urn:schemas-microsoft-com:vml" Requires="v">
                <p:oleObj spid="_x0000_s407809" name="Equation" r:id="rId13" imgW="965160" imgH="228600" progId="Equation.DSMT4">
                  <p:embed/>
                </p:oleObj>
              </mc:Choice>
              <mc:Fallback>
                <p:oleObj name="Equation" r:id="rId13" imgW="965160" imgH="228600" progId="Equation.DSMT4">
                  <p:embed/>
                  <p:pic>
                    <p:nvPicPr>
                      <p:cNvPr id="8" name="对象 7"/>
                      <p:cNvPicPr/>
                      <p:nvPr/>
                    </p:nvPicPr>
                    <p:blipFill>
                      <a:blip r:embed="rId14"/>
                      <a:stretch>
                        <a:fillRect/>
                      </a:stretch>
                    </p:blipFill>
                    <p:spPr>
                      <a:xfrm>
                        <a:off x="3445693" y="3640971"/>
                        <a:ext cx="1216000" cy="2880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111944052"/>
              </p:ext>
            </p:extLst>
          </p:nvPr>
        </p:nvGraphicFramePr>
        <p:xfrm>
          <a:off x="2528095" y="4485532"/>
          <a:ext cx="3475009" cy="492521"/>
        </p:xfrm>
        <a:graphic>
          <a:graphicData uri="http://schemas.openxmlformats.org/presentationml/2006/ole">
            <mc:AlternateContent xmlns:mc="http://schemas.openxmlformats.org/markup-compatibility/2006">
              <mc:Choice xmlns:v="urn:schemas-microsoft-com:vml" Requires="v">
                <p:oleObj spid="_x0000_s407810" name="Equation" r:id="rId15" imgW="1612800" imgH="228600" progId="Equation.DSMT4">
                  <p:embed/>
                </p:oleObj>
              </mc:Choice>
              <mc:Fallback>
                <p:oleObj name="Equation" r:id="rId15" imgW="1612800" imgH="228600" progId="Equation.DSMT4">
                  <p:embed/>
                  <p:pic>
                    <p:nvPicPr>
                      <p:cNvPr id="9" name="对象 8"/>
                      <p:cNvPicPr/>
                      <p:nvPr/>
                    </p:nvPicPr>
                    <p:blipFill>
                      <a:blip r:embed="rId16"/>
                      <a:stretch>
                        <a:fillRect/>
                      </a:stretch>
                    </p:blipFill>
                    <p:spPr>
                      <a:xfrm>
                        <a:off x="2528095" y="4485532"/>
                        <a:ext cx="3475009" cy="492521"/>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947754379"/>
              </p:ext>
            </p:extLst>
          </p:nvPr>
        </p:nvGraphicFramePr>
        <p:xfrm>
          <a:off x="6934200" y="5416731"/>
          <a:ext cx="192000" cy="288000"/>
        </p:xfrm>
        <a:graphic>
          <a:graphicData uri="http://schemas.openxmlformats.org/presentationml/2006/ole">
            <mc:AlternateContent xmlns:mc="http://schemas.openxmlformats.org/markup-compatibility/2006">
              <mc:Choice xmlns:v="urn:schemas-microsoft-com:vml" Requires="v">
                <p:oleObj spid="_x0000_s407811" name="Equation" r:id="rId17" imgW="152280" imgH="228600" progId="Equation.DSMT4">
                  <p:embed/>
                </p:oleObj>
              </mc:Choice>
              <mc:Fallback>
                <p:oleObj name="Equation" r:id="rId17" imgW="152280" imgH="228600" progId="Equation.DSMT4">
                  <p:embed/>
                  <p:pic>
                    <p:nvPicPr>
                      <p:cNvPr id="10" name="对象 9"/>
                      <p:cNvPicPr/>
                      <p:nvPr/>
                    </p:nvPicPr>
                    <p:blipFill>
                      <a:blip r:embed="rId18"/>
                      <a:stretch>
                        <a:fillRect/>
                      </a:stretch>
                    </p:blipFill>
                    <p:spPr>
                      <a:xfrm>
                        <a:off x="6934200" y="5416731"/>
                        <a:ext cx="192000" cy="2880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470676666"/>
              </p:ext>
            </p:extLst>
          </p:nvPr>
        </p:nvGraphicFramePr>
        <p:xfrm>
          <a:off x="7391400" y="5416731"/>
          <a:ext cx="1024000" cy="288000"/>
        </p:xfrm>
        <a:graphic>
          <a:graphicData uri="http://schemas.openxmlformats.org/presentationml/2006/ole">
            <mc:AlternateContent xmlns:mc="http://schemas.openxmlformats.org/markup-compatibility/2006">
              <mc:Choice xmlns:v="urn:schemas-microsoft-com:vml" Requires="v">
                <p:oleObj spid="_x0000_s407812" name="Equation" r:id="rId19" imgW="812520" imgH="228600" progId="Equation.DSMT4">
                  <p:embed/>
                </p:oleObj>
              </mc:Choice>
              <mc:Fallback>
                <p:oleObj name="Equation" r:id="rId19" imgW="812520" imgH="228600" progId="Equation.DSMT4">
                  <p:embed/>
                  <p:pic>
                    <p:nvPicPr>
                      <p:cNvPr id="11" name="对象 10"/>
                      <p:cNvPicPr/>
                      <p:nvPr/>
                    </p:nvPicPr>
                    <p:blipFill>
                      <a:blip r:embed="rId20"/>
                      <a:stretch>
                        <a:fillRect/>
                      </a:stretch>
                    </p:blipFill>
                    <p:spPr>
                      <a:xfrm>
                        <a:off x="7391400" y="5416731"/>
                        <a:ext cx="1024000" cy="28800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663299508"/>
              </p:ext>
            </p:extLst>
          </p:nvPr>
        </p:nvGraphicFramePr>
        <p:xfrm>
          <a:off x="2362200" y="6225145"/>
          <a:ext cx="4411936" cy="443528"/>
        </p:xfrm>
        <a:graphic>
          <a:graphicData uri="http://schemas.openxmlformats.org/presentationml/2006/ole">
            <mc:AlternateContent xmlns:mc="http://schemas.openxmlformats.org/markup-compatibility/2006">
              <mc:Choice xmlns:v="urn:schemas-microsoft-com:vml" Requires="v">
                <p:oleObj spid="_x0000_s407813" name="Equation" r:id="rId21" imgW="2400120" imgH="241200" progId="Equation.DSMT4">
                  <p:embed/>
                </p:oleObj>
              </mc:Choice>
              <mc:Fallback>
                <p:oleObj name="Equation" r:id="rId21" imgW="2400120" imgH="241200" progId="Equation.DSMT4">
                  <p:embed/>
                  <p:pic>
                    <p:nvPicPr>
                      <p:cNvPr id="12" name="对象 11"/>
                      <p:cNvPicPr/>
                      <p:nvPr/>
                    </p:nvPicPr>
                    <p:blipFill>
                      <a:blip r:embed="rId22"/>
                      <a:stretch>
                        <a:fillRect/>
                      </a:stretch>
                    </p:blipFill>
                    <p:spPr>
                      <a:xfrm>
                        <a:off x="2362200" y="6225145"/>
                        <a:ext cx="4411936" cy="443528"/>
                      </a:xfrm>
                      <a:prstGeom prst="rect">
                        <a:avLst/>
                      </a:prstGeom>
                    </p:spPr>
                  </p:pic>
                </p:oleObj>
              </mc:Fallback>
            </mc:AlternateContent>
          </a:graphicData>
        </a:graphic>
      </p:graphicFrame>
    </p:spTree>
    <p:extLst>
      <p:ext uri="{BB962C8B-B14F-4D97-AF65-F5344CB8AC3E}">
        <p14:creationId xmlns:p14="http://schemas.microsoft.com/office/powerpoint/2010/main" val="22004515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04800"/>
            <a:ext cx="8229600" cy="5826125"/>
          </a:xfrm>
        </p:spPr>
        <p:txBody>
          <a:bodyPr/>
          <a:lstStyle/>
          <a:p>
            <a:pPr marL="0" lvl="0" indent="0">
              <a:buClr>
                <a:srgbClr val="330066"/>
              </a:buClr>
              <a:buNone/>
            </a:pPr>
            <a:r>
              <a:rPr lang="zh-CN" altLang="en-US" sz="2000" dirty="0">
                <a:solidFill>
                  <a:srgbClr val="000000"/>
                </a:solidFill>
              </a:rPr>
              <a:t>为方便</a:t>
            </a:r>
            <a:r>
              <a:rPr lang="zh-CN" altLang="en-US" sz="2000" dirty="0" smtClean="0">
                <a:solidFill>
                  <a:srgbClr val="000000"/>
                </a:solidFill>
              </a:rPr>
              <a:t>起见</a:t>
            </a:r>
            <a:r>
              <a:rPr lang="en-US" altLang="zh-CN" sz="2000" dirty="0" smtClean="0">
                <a:solidFill>
                  <a:srgbClr val="000000"/>
                </a:solidFill>
              </a:rPr>
              <a:t>, </a:t>
            </a:r>
            <a:r>
              <a:rPr lang="zh-CN" altLang="en-US" sz="2000" dirty="0" smtClean="0">
                <a:solidFill>
                  <a:srgbClr val="000000"/>
                </a:solidFill>
              </a:rPr>
              <a:t>线性回归</a:t>
            </a:r>
            <a:r>
              <a:rPr lang="zh-CN" altLang="en-US" sz="2000" dirty="0">
                <a:solidFill>
                  <a:srgbClr val="000000"/>
                </a:solidFill>
              </a:rPr>
              <a:t>模型可以表示为矩阵形式</a:t>
            </a:r>
            <a:r>
              <a:rPr lang="en-US" altLang="zh-CN" sz="2000" dirty="0" smtClean="0">
                <a:solidFill>
                  <a:srgbClr val="000000"/>
                </a:solidFill>
              </a:rPr>
              <a:t>:</a:t>
            </a:r>
          </a:p>
          <a:p>
            <a:pPr marL="0" lvl="0" indent="0">
              <a:buClr>
                <a:srgbClr val="330066"/>
              </a:buClr>
              <a:buNone/>
            </a:pPr>
            <a:endParaRPr lang="en-US" altLang="zh-CN" sz="2000" dirty="0">
              <a:solidFill>
                <a:srgbClr val="000000"/>
              </a:solidFill>
            </a:endParaRPr>
          </a:p>
          <a:p>
            <a:pPr marL="0" indent="0">
              <a:buNone/>
            </a:pPr>
            <a:endParaRPr lang="en-US" altLang="zh-CN" sz="2000" dirty="0" smtClean="0"/>
          </a:p>
          <a:p>
            <a:pPr marL="0" indent="0">
              <a:buNone/>
            </a:pPr>
            <a:endParaRPr lang="en-US" altLang="zh-CN" sz="2000" dirty="0"/>
          </a:p>
          <a:p>
            <a:pPr marL="0" indent="0">
              <a:buNone/>
            </a:pPr>
            <a:r>
              <a:rPr lang="zh-CN" altLang="en-US" sz="2000" dirty="0" smtClean="0"/>
              <a:t>式中</a:t>
            </a:r>
            <a:r>
              <a:rPr lang="en-US" altLang="zh-CN" sz="2000" dirty="0" smtClean="0"/>
              <a:t>, </a:t>
            </a:r>
            <a:endParaRPr lang="zh-CN" altLang="en-US" sz="2000" dirty="0"/>
          </a:p>
        </p:txBody>
      </p:sp>
      <p:sp>
        <p:nvSpPr>
          <p:cNvPr id="4" name="灯片编号占位符 3"/>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18</a:t>
            </a:fld>
            <a:r>
              <a:rPr lang="en-US" altLang="zh-CN" smtClean="0"/>
              <a:t> )</a:t>
            </a:r>
            <a:endParaRPr lang="en-US" altLang="zh-CN"/>
          </a:p>
        </p:txBody>
      </p:sp>
      <p:graphicFrame>
        <p:nvGraphicFramePr>
          <p:cNvPr id="5" name="对象 4"/>
          <p:cNvGraphicFramePr>
            <a:graphicFrameLocks noChangeAspect="1"/>
          </p:cNvGraphicFramePr>
          <p:nvPr>
            <p:extLst/>
          </p:nvPr>
        </p:nvGraphicFramePr>
        <p:xfrm>
          <a:off x="3429000" y="838200"/>
          <a:ext cx="1260000" cy="360000"/>
        </p:xfrm>
        <a:graphic>
          <a:graphicData uri="http://schemas.openxmlformats.org/presentationml/2006/ole">
            <mc:AlternateContent xmlns:mc="http://schemas.openxmlformats.org/markup-compatibility/2006">
              <mc:Choice xmlns:v="urn:schemas-microsoft-com:vml" Requires="v">
                <p:oleObj spid="_x0000_s408602" name="Equation" r:id="rId3" imgW="711000" imgH="203040" progId="Equation.DSMT4">
                  <p:embed/>
                </p:oleObj>
              </mc:Choice>
              <mc:Fallback>
                <p:oleObj name="Equation" r:id="rId3" imgW="711000" imgH="203040" progId="Equation.DSMT4">
                  <p:embed/>
                  <p:pic>
                    <p:nvPicPr>
                      <p:cNvPr id="5" name="对象 4"/>
                      <p:cNvPicPr/>
                      <p:nvPr/>
                    </p:nvPicPr>
                    <p:blipFill>
                      <a:blip r:embed="rId4"/>
                      <a:stretch>
                        <a:fillRect/>
                      </a:stretch>
                    </p:blipFill>
                    <p:spPr>
                      <a:xfrm>
                        <a:off x="3429000" y="838200"/>
                        <a:ext cx="1260000" cy="360000"/>
                      </a:xfrm>
                      <a:prstGeom prst="rect">
                        <a:avLst/>
                      </a:prstGeom>
                    </p:spPr>
                  </p:pic>
                </p:oleObj>
              </mc:Fallback>
            </mc:AlternateContent>
          </a:graphicData>
        </a:graphic>
      </p:graphicFrame>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295400"/>
            <a:ext cx="6216058"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6177" y="2730005"/>
            <a:ext cx="3962400" cy="395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79299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r>
              <a:rPr lang="en-US" altLang="zh-CN"/>
              <a:t>( </a:t>
            </a:r>
            <a:fld id="{1B66CE53-C292-4D59-9921-5A7FDC57ED61}" type="slidenum">
              <a:rPr lang="en-US" altLang="zh-CN"/>
              <a:pPr>
                <a:defRPr/>
              </a:pPr>
              <a:t>19</a:t>
            </a:fld>
            <a:r>
              <a:rPr lang="en-US" altLang="zh-CN"/>
              <a:t> )</a:t>
            </a:r>
          </a:p>
        </p:txBody>
      </p:sp>
      <p:sp>
        <p:nvSpPr>
          <p:cNvPr id="18435" name="Rectangle 2"/>
          <p:cNvSpPr>
            <a:spLocks noGrp="1" noChangeArrowheads="1"/>
          </p:cNvSpPr>
          <p:nvPr>
            <p:ph type="title"/>
          </p:nvPr>
        </p:nvSpPr>
        <p:spPr>
          <a:xfrm>
            <a:off x="152400" y="117545"/>
            <a:ext cx="7543800" cy="457200"/>
          </a:xfrm>
        </p:spPr>
        <p:txBody>
          <a:bodyPr/>
          <a:lstStyle/>
          <a:p>
            <a:pPr eaLnBrk="1" hangingPunct="1"/>
            <a:r>
              <a:rPr lang="zh-CN" altLang="en-US" sz="2400" dirty="0" smtClean="0"/>
              <a:t>基本假设</a:t>
            </a:r>
            <a:endParaRPr lang="en-US" altLang="zh-CN" sz="2400" dirty="0" smtClean="0">
              <a:latin typeface="Times New Roman" pitchFamily="18" charset="0"/>
            </a:endParaRPr>
          </a:p>
        </p:txBody>
      </p:sp>
      <p:sp>
        <p:nvSpPr>
          <p:cNvPr id="13316" name="Rectangle 4"/>
          <p:cNvSpPr>
            <a:spLocks noGrp="1" noChangeArrowheads="1"/>
          </p:cNvSpPr>
          <p:nvPr>
            <p:ph type="body" idx="1"/>
          </p:nvPr>
        </p:nvSpPr>
        <p:spPr>
          <a:xfrm>
            <a:off x="165463" y="798003"/>
            <a:ext cx="8229600" cy="4800600"/>
          </a:xfrm>
        </p:spPr>
        <p:txBody>
          <a:bodyPr/>
          <a:lstStyle/>
          <a:p>
            <a:pPr marL="0" indent="0">
              <a:buNone/>
            </a:pPr>
            <a:r>
              <a:rPr lang="en-US" altLang="zh-CN" sz="2000" dirty="0"/>
              <a:t>(1)</a:t>
            </a:r>
            <a:r>
              <a:rPr lang="zh-CN" altLang="en-US" sz="2000" dirty="0"/>
              <a:t>误差项的均值为</a:t>
            </a:r>
            <a:r>
              <a:rPr lang="zh-CN" altLang="en-US" sz="2000" dirty="0" smtClean="0"/>
              <a:t>零</a:t>
            </a:r>
            <a:r>
              <a:rPr lang="en-US" altLang="zh-CN" sz="2000" dirty="0" smtClean="0"/>
              <a:t>, </a:t>
            </a:r>
            <a:r>
              <a:rPr lang="zh-CN" altLang="en-US" sz="2000" dirty="0" smtClean="0"/>
              <a:t>且</a:t>
            </a:r>
            <a:r>
              <a:rPr lang="zh-CN" altLang="en-US" sz="2000" dirty="0"/>
              <a:t>与解释变量相互</a:t>
            </a:r>
            <a:r>
              <a:rPr lang="zh-CN" altLang="en-US" sz="2000" dirty="0" smtClean="0"/>
              <a:t>独立</a:t>
            </a:r>
            <a:r>
              <a:rPr lang="en-US" altLang="zh-CN" sz="2000" dirty="0" smtClean="0"/>
              <a:t>, </a:t>
            </a:r>
            <a:r>
              <a:rPr lang="zh-CN" altLang="en-US" sz="2000" dirty="0" smtClean="0"/>
              <a:t>即</a:t>
            </a:r>
            <a:endParaRPr lang="en-US" altLang="zh-CN" sz="2000" dirty="0" smtClean="0"/>
          </a:p>
          <a:p>
            <a:pPr marL="0" indent="0">
              <a:buNone/>
            </a:pPr>
            <a:endParaRPr lang="en-US" altLang="zh-CN" sz="2000" dirty="0"/>
          </a:p>
          <a:p>
            <a:pPr marL="0" indent="0">
              <a:buNone/>
            </a:pPr>
            <a:endParaRPr lang="en-US" altLang="zh-CN" sz="2000" dirty="0" smtClean="0"/>
          </a:p>
          <a:p>
            <a:pPr marL="0" indent="0">
              <a:buNone/>
            </a:pPr>
            <a:r>
              <a:rPr lang="en-US" altLang="zh-CN" sz="2000" dirty="0" smtClean="0"/>
              <a:t>(</a:t>
            </a:r>
            <a:r>
              <a:rPr lang="en-US" altLang="zh-CN" sz="2000" dirty="0"/>
              <a:t>2)</a:t>
            </a:r>
            <a:r>
              <a:rPr lang="zh-CN" altLang="en-US" sz="2000" dirty="0"/>
              <a:t>误差项</a:t>
            </a:r>
            <a:r>
              <a:rPr lang="zh-CN" altLang="en-US" sz="2000" dirty="0" smtClean="0"/>
              <a:t>独立同分布</a:t>
            </a:r>
            <a:r>
              <a:rPr lang="en-US" altLang="zh-CN" sz="2000" dirty="0" smtClean="0"/>
              <a:t>, </a:t>
            </a:r>
            <a:r>
              <a:rPr lang="zh-CN" altLang="en-US" sz="2000" dirty="0" smtClean="0"/>
              <a:t>即</a:t>
            </a:r>
            <a:r>
              <a:rPr lang="zh-CN" altLang="en-US" sz="2000" dirty="0"/>
              <a:t>每个误差项之间相互独立且每个误差项的方差都</a:t>
            </a:r>
            <a:r>
              <a:rPr lang="zh-CN" altLang="en-US" sz="2000" dirty="0" smtClean="0"/>
              <a:t>相等：</a:t>
            </a:r>
            <a:endParaRPr lang="en-US" altLang="zh-CN" sz="2000" dirty="0"/>
          </a:p>
          <a:p>
            <a:pPr marL="0" indent="0">
              <a:buNone/>
            </a:pPr>
            <a:endParaRPr lang="en-US" altLang="zh-CN" sz="2000" dirty="0"/>
          </a:p>
          <a:p>
            <a:pPr marL="0" indent="0">
              <a:buNone/>
            </a:pPr>
            <a:r>
              <a:rPr lang="en-US" altLang="zh-CN" sz="2000" dirty="0" smtClean="0"/>
              <a:t>(</a:t>
            </a:r>
            <a:r>
              <a:rPr lang="en-US" altLang="zh-CN" sz="2000" dirty="0"/>
              <a:t>3)</a:t>
            </a:r>
            <a:r>
              <a:rPr lang="zh-CN" altLang="en-US" sz="2000" dirty="0"/>
              <a:t>解释变量之间</a:t>
            </a:r>
            <a:r>
              <a:rPr lang="zh-CN" altLang="en-US" sz="2000" dirty="0" smtClean="0"/>
              <a:t>线性无关</a:t>
            </a:r>
            <a:endParaRPr lang="en-US" altLang="zh-CN" sz="2000" dirty="0" smtClean="0"/>
          </a:p>
          <a:p>
            <a:pPr marL="0" indent="0">
              <a:buNone/>
            </a:pPr>
            <a:endParaRPr lang="en-US" altLang="zh-CN" sz="2000" dirty="0"/>
          </a:p>
          <a:p>
            <a:pPr marL="0" indent="0">
              <a:buNone/>
            </a:pPr>
            <a:r>
              <a:rPr lang="en-US" altLang="zh-CN" sz="2000" dirty="0"/>
              <a:t>(4)</a:t>
            </a:r>
            <a:r>
              <a:rPr lang="zh-CN" altLang="en-US" sz="2000" dirty="0"/>
              <a:t>正态</a:t>
            </a:r>
            <a:r>
              <a:rPr lang="zh-CN" altLang="en-US" sz="2000" dirty="0" smtClean="0"/>
              <a:t>假设</a:t>
            </a:r>
            <a:r>
              <a:rPr lang="en-US" altLang="zh-CN" sz="2000" dirty="0" smtClean="0"/>
              <a:t>, </a:t>
            </a:r>
            <a:r>
              <a:rPr lang="zh-CN" altLang="en-US" sz="2000" dirty="0" smtClean="0"/>
              <a:t>即</a:t>
            </a:r>
            <a:r>
              <a:rPr lang="zh-CN" altLang="en-US" sz="2000" dirty="0"/>
              <a:t>假设误差项服从</a:t>
            </a:r>
            <a:r>
              <a:rPr lang="zh-CN" altLang="en-US" sz="2000" dirty="0" smtClean="0"/>
              <a:t>正态分布：</a:t>
            </a:r>
            <a:endParaRPr lang="en-US" altLang="zh-CN" sz="2000" dirty="0" smtClean="0"/>
          </a:p>
          <a:p>
            <a:pPr marL="0" indent="0">
              <a:buNone/>
            </a:pPr>
            <a:endParaRPr lang="en-US" altLang="zh-CN" sz="2000" dirty="0" smtClean="0"/>
          </a:p>
          <a:p>
            <a:pPr marL="0" indent="0">
              <a:buNone/>
            </a:pPr>
            <a:r>
              <a:rPr lang="zh-CN" altLang="en-US" sz="2000" dirty="0" smtClean="0"/>
              <a:t>在上述假设下</a:t>
            </a:r>
            <a:r>
              <a:rPr lang="en-US" altLang="zh-CN" sz="2000" dirty="0" smtClean="0"/>
              <a:t>, </a:t>
            </a:r>
            <a:r>
              <a:rPr lang="zh-CN" altLang="en-US" sz="2000" dirty="0" smtClean="0"/>
              <a:t>可得：</a:t>
            </a:r>
            <a:endParaRPr lang="en-US" altLang="zh-CN" sz="2000" dirty="0" smtClean="0"/>
          </a:p>
          <a:p>
            <a:pPr marL="0" indent="0">
              <a:buNone/>
            </a:pPr>
            <a:endParaRPr lang="en-US" altLang="zh-CN" sz="2000" dirty="0"/>
          </a:p>
          <a:p>
            <a:pPr marL="0" indent="0" eaLnBrk="1" hangingPunct="1">
              <a:lnSpc>
                <a:spcPct val="120000"/>
              </a:lnSpc>
              <a:buNone/>
            </a:pPr>
            <a:endParaRPr lang="en-US" altLang="zh-CN" sz="2400" dirty="0" smtClean="0">
              <a:latin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756553286"/>
              </p:ext>
            </p:extLst>
          </p:nvPr>
        </p:nvGraphicFramePr>
        <p:xfrm>
          <a:off x="838200" y="1393174"/>
          <a:ext cx="1783637" cy="360000"/>
        </p:xfrm>
        <a:graphic>
          <a:graphicData uri="http://schemas.openxmlformats.org/presentationml/2006/ole">
            <mc:AlternateContent xmlns:mc="http://schemas.openxmlformats.org/markup-compatibility/2006">
              <mc:Choice xmlns:v="urn:schemas-microsoft-com:vml" Requires="v">
                <p:oleObj spid="_x0000_s409702" name="Equation" r:id="rId3" imgW="1384200" imgH="279360" progId="Equation.DSMT4">
                  <p:embed/>
                </p:oleObj>
              </mc:Choice>
              <mc:Fallback>
                <p:oleObj name="Equation" r:id="rId3" imgW="1384200" imgH="279360" progId="Equation.DSMT4">
                  <p:embed/>
                  <p:pic>
                    <p:nvPicPr>
                      <p:cNvPr id="2" name="对象 1"/>
                      <p:cNvPicPr/>
                      <p:nvPr/>
                    </p:nvPicPr>
                    <p:blipFill>
                      <a:blip r:embed="rId4"/>
                      <a:stretch>
                        <a:fillRect/>
                      </a:stretch>
                    </p:blipFill>
                    <p:spPr>
                      <a:xfrm>
                        <a:off x="838200" y="1393174"/>
                        <a:ext cx="1783637" cy="3600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340797262"/>
              </p:ext>
            </p:extLst>
          </p:nvPr>
        </p:nvGraphicFramePr>
        <p:xfrm>
          <a:off x="1447800" y="2856014"/>
          <a:ext cx="4123637" cy="360000"/>
        </p:xfrm>
        <a:graphic>
          <a:graphicData uri="http://schemas.openxmlformats.org/presentationml/2006/ole">
            <mc:AlternateContent xmlns:mc="http://schemas.openxmlformats.org/markup-compatibility/2006">
              <mc:Choice xmlns:v="urn:schemas-microsoft-com:vml" Requires="v">
                <p:oleObj spid="_x0000_s409703" name="Equation" r:id="rId5" imgW="3200400" imgH="279360" progId="Equation.DSMT4">
                  <p:embed/>
                </p:oleObj>
              </mc:Choice>
              <mc:Fallback>
                <p:oleObj name="Equation" r:id="rId5" imgW="3200400" imgH="279360" progId="Equation.DSMT4">
                  <p:embed/>
                  <p:pic>
                    <p:nvPicPr>
                      <p:cNvPr id="5" name="对象 4"/>
                      <p:cNvPicPr/>
                      <p:nvPr/>
                    </p:nvPicPr>
                    <p:blipFill>
                      <a:blip r:embed="rId6"/>
                      <a:stretch>
                        <a:fillRect/>
                      </a:stretch>
                    </p:blipFill>
                    <p:spPr>
                      <a:xfrm>
                        <a:off x="1447800" y="2856014"/>
                        <a:ext cx="4123637" cy="3600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47150234"/>
              </p:ext>
            </p:extLst>
          </p:nvPr>
        </p:nvGraphicFramePr>
        <p:xfrm>
          <a:off x="3358515" y="3486365"/>
          <a:ext cx="1269473" cy="360000"/>
        </p:xfrm>
        <a:graphic>
          <a:graphicData uri="http://schemas.openxmlformats.org/presentationml/2006/ole">
            <mc:AlternateContent xmlns:mc="http://schemas.openxmlformats.org/markup-compatibility/2006">
              <mc:Choice xmlns:v="urn:schemas-microsoft-com:vml" Requires="v">
                <p:oleObj spid="_x0000_s409704" name="Equation" r:id="rId7" imgW="850680" imgH="241200" progId="Equation.DSMT4">
                  <p:embed/>
                </p:oleObj>
              </mc:Choice>
              <mc:Fallback>
                <p:oleObj name="Equation" r:id="rId7" imgW="850680" imgH="241200" progId="Equation.DSMT4">
                  <p:embed/>
                  <p:pic>
                    <p:nvPicPr>
                      <p:cNvPr id="6" name="对象 5"/>
                      <p:cNvPicPr/>
                      <p:nvPr/>
                    </p:nvPicPr>
                    <p:blipFill>
                      <a:blip r:embed="rId8"/>
                      <a:stretch>
                        <a:fillRect/>
                      </a:stretch>
                    </p:blipFill>
                    <p:spPr>
                      <a:xfrm>
                        <a:off x="3358515" y="3486365"/>
                        <a:ext cx="1269473" cy="3600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231405204"/>
              </p:ext>
            </p:extLst>
          </p:nvPr>
        </p:nvGraphicFramePr>
        <p:xfrm>
          <a:off x="3124200" y="4996221"/>
          <a:ext cx="4419600" cy="1651279"/>
        </p:xfrm>
        <a:graphic>
          <a:graphicData uri="http://schemas.openxmlformats.org/presentationml/2006/ole">
            <mc:AlternateContent xmlns:mc="http://schemas.openxmlformats.org/markup-compatibility/2006">
              <mc:Choice xmlns:v="urn:schemas-microsoft-com:vml" Requires="v">
                <p:oleObj spid="_x0000_s409705" name="Equation" r:id="rId9" imgW="2108160" imgH="787320" progId="Equation.DSMT4">
                  <p:embed/>
                </p:oleObj>
              </mc:Choice>
              <mc:Fallback>
                <p:oleObj name="Equation" r:id="rId9" imgW="2108160" imgH="787320" progId="Equation.DSMT4">
                  <p:embed/>
                  <p:pic>
                    <p:nvPicPr>
                      <p:cNvPr id="7" name="对象 6"/>
                      <p:cNvPicPr/>
                      <p:nvPr/>
                    </p:nvPicPr>
                    <p:blipFill>
                      <a:blip r:embed="rId10"/>
                      <a:stretch>
                        <a:fillRect/>
                      </a:stretch>
                    </p:blipFill>
                    <p:spPr>
                      <a:xfrm>
                        <a:off x="3124200" y="4996221"/>
                        <a:ext cx="4419600" cy="1651279"/>
                      </a:xfrm>
                      <a:prstGeom prst="rect">
                        <a:avLst/>
                      </a:prstGeom>
                      <a:noFill/>
                    </p:spPr>
                  </p:pic>
                </p:oleObj>
              </mc:Fallback>
            </mc:AlternateContent>
          </a:graphicData>
        </a:graphic>
      </p:graphicFrame>
    </p:spTree>
    <p:extLst>
      <p:ext uri="{BB962C8B-B14F-4D97-AF65-F5344CB8AC3E}">
        <p14:creationId xmlns:p14="http://schemas.microsoft.com/office/powerpoint/2010/main" val="11472299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a:xfrm>
            <a:off x="6813550" y="6096000"/>
            <a:ext cx="2133600" cy="457200"/>
          </a:xfrm>
        </p:spPr>
        <p:txBody>
          <a:bodyPr/>
          <a:lstStyle/>
          <a:p>
            <a:pPr>
              <a:defRPr/>
            </a:pPr>
            <a:r>
              <a:rPr lang="en-US" altLang="zh-CN"/>
              <a:t>( </a:t>
            </a:r>
            <a:fld id="{504F7239-364D-4B54-8753-3B553158DC3D}" type="slidenum">
              <a:rPr lang="en-US" altLang="zh-CN"/>
              <a:pPr>
                <a:defRPr/>
              </a:pPr>
              <a:t>20</a:t>
            </a:fld>
            <a:r>
              <a:rPr lang="en-US" altLang="zh-CN"/>
              <a:t> )</a:t>
            </a:r>
          </a:p>
        </p:txBody>
      </p:sp>
      <p:sp>
        <p:nvSpPr>
          <p:cNvPr id="19459" name="Rectangle 2"/>
          <p:cNvSpPr>
            <a:spLocks noGrp="1" noChangeArrowheads="1"/>
          </p:cNvSpPr>
          <p:nvPr>
            <p:ph type="title" idx="4294967295"/>
          </p:nvPr>
        </p:nvSpPr>
        <p:spPr>
          <a:xfrm>
            <a:off x="152400" y="195451"/>
            <a:ext cx="8153400" cy="639763"/>
          </a:xfrm>
        </p:spPr>
        <p:txBody>
          <a:bodyPr/>
          <a:lstStyle/>
          <a:p>
            <a:pPr eaLnBrk="1" hangingPunct="1"/>
            <a:r>
              <a:rPr lang="zh-CN" altLang="en-US" sz="2400" dirty="0" smtClean="0"/>
              <a:t>解释</a:t>
            </a:r>
            <a:r>
              <a:rPr lang="zh-CN" altLang="en-US" sz="2400" dirty="0"/>
              <a:t>变量</a:t>
            </a:r>
            <a:endParaRPr lang="en-US" altLang="zh-CN" sz="2400" dirty="0" smtClean="0">
              <a:latin typeface="Times New Roman" pitchFamily="18" charset="0"/>
            </a:endParaRPr>
          </a:p>
        </p:txBody>
      </p:sp>
      <p:sp>
        <p:nvSpPr>
          <p:cNvPr id="19460" name="Rectangle 8"/>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 name="TextBox 1"/>
          <p:cNvSpPr txBox="1"/>
          <p:nvPr/>
        </p:nvSpPr>
        <p:spPr>
          <a:xfrm>
            <a:off x="304800" y="1447800"/>
            <a:ext cx="8305800" cy="4093428"/>
          </a:xfrm>
          <a:prstGeom prst="rect">
            <a:avLst/>
          </a:prstGeom>
          <a:noFill/>
        </p:spPr>
        <p:txBody>
          <a:bodyPr wrap="square" rtlCol="0">
            <a:spAutoFit/>
          </a:bodyPr>
          <a:lstStyle/>
          <a:p>
            <a:r>
              <a:rPr lang="zh-CN" altLang="en-US" sz="2800" b="1" dirty="0" smtClean="0">
                <a:solidFill>
                  <a:srgbClr val="333399"/>
                </a:solidFill>
              </a:rPr>
              <a:t>分类</a:t>
            </a:r>
            <a:r>
              <a:rPr lang="zh-CN" altLang="en-US" sz="2800" b="1" dirty="0">
                <a:solidFill>
                  <a:srgbClr val="333399"/>
                </a:solidFill>
              </a:rPr>
              <a:t>解释</a:t>
            </a:r>
            <a:r>
              <a:rPr lang="zh-CN" altLang="en-US" sz="2800" b="1" dirty="0" smtClean="0">
                <a:solidFill>
                  <a:srgbClr val="333399"/>
                </a:solidFill>
              </a:rPr>
              <a:t>变量</a:t>
            </a:r>
            <a:endParaRPr lang="en-US" altLang="zh-CN" sz="2800" b="1" dirty="0" smtClean="0">
              <a:solidFill>
                <a:srgbClr val="333399"/>
              </a:solidFill>
            </a:endParaRPr>
          </a:p>
          <a:p>
            <a:endParaRPr lang="en-US" altLang="zh-CN" sz="2800" b="1" dirty="0">
              <a:solidFill>
                <a:srgbClr val="333399"/>
              </a:solidFill>
            </a:endParaRPr>
          </a:p>
          <a:p>
            <a:r>
              <a:rPr lang="zh-CN" altLang="en-US" sz="2800" dirty="0" smtClean="0"/>
              <a:t>如果</a:t>
            </a:r>
            <a:r>
              <a:rPr lang="zh-CN" altLang="en-US" sz="2800" dirty="0"/>
              <a:t>解释变量是分类</a:t>
            </a:r>
            <a:r>
              <a:rPr lang="zh-CN" altLang="en-US" sz="2800" dirty="0" smtClean="0"/>
              <a:t>变量</a:t>
            </a:r>
            <a:r>
              <a:rPr lang="en-US" altLang="zh-CN" sz="2800" dirty="0" smtClean="0"/>
              <a:t>, </a:t>
            </a:r>
            <a:r>
              <a:rPr lang="zh-CN" altLang="en-US" sz="2800" dirty="0" smtClean="0"/>
              <a:t>在</a:t>
            </a:r>
            <a:r>
              <a:rPr lang="zh-CN" altLang="en-US" sz="2800" dirty="0"/>
              <a:t>建模过程中需要把分类解释变量转化为虚拟变量</a:t>
            </a:r>
            <a:r>
              <a:rPr lang="zh-CN" altLang="en-US" sz="2800" dirty="0" smtClean="0"/>
              <a:t>。</a:t>
            </a:r>
            <a:endParaRPr lang="en-US" altLang="zh-CN" sz="2800" dirty="0"/>
          </a:p>
          <a:p>
            <a:endParaRPr lang="en-US" altLang="zh-CN" sz="2800" dirty="0" smtClean="0"/>
          </a:p>
          <a:p>
            <a:r>
              <a:rPr lang="zh-CN" altLang="en-US" sz="2800" dirty="0" smtClean="0"/>
              <a:t>为</a:t>
            </a:r>
            <a:r>
              <a:rPr lang="zh-CN" altLang="en-US" sz="2800" dirty="0"/>
              <a:t>避免解释变量之间出现完全共线</a:t>
            </a:r>
            <a:r>
              <a:rPr lang="zh-CN" altLang="en-US" sz="2800" dirty="0" smtClean="0"/>
              <a:t>性</a:t>
            </a:r>
            <a:r>
              <a:rPr lang="en-US" altLang="zh-CN" sz="2800" dirty="0" smtClean="0"/>
              <a:t>, </a:t>
            </a:r>
            <a:r>
              <a:rPr lang="zh-CN" altLang="en-US" sz="2800" dirty="0" smtClean="0"/>
              <a:t>虚拟变量</a:t>
            </a:r>
            <a:r>
              <a:rPr lang="zh-CN" altLang="en-US" sz="2800" dirty="0"/>
              <a:t>个数等于分类变量的水平数</a:t>
            </a:r>
            <a:r>
              <a:rPr lang="zh-CN" altLang="en-US" sz="2800" dirty="0" smtClean="0"/>
              <a:t>减去 </a:t>
            </a:r>
            <a:r>
              <a:rPr lang="en-US" altLang="zh-CN" sz="2800" dirty="0" smtClean="0"/>
              <a:t>1</a:t>
            </a:r>
            <a:r>
              <a:rPr lang="zh-CN" altLang="en-US" sz="2800" dirty="0" smtClean="0"/>
              <a:t>。</a:t>
            </a:r>
            <a:endParaRPr lang="en-US" altLang="zh-CN" sz="2800" dirty="0" smtClean="0"/>
          </a:p>
          <a:p>
            <a:endParaRPr lang="en-US" altLang="zh-CN" sz="3200" dirty="0" smtClean="0"/>
          </a:p>
          <a:p>
            <a:endParaRPr lang="zh-CN" altLang="en-US" sz="3200" dirty="0"/>
          </a:p>
        </p:txBody>
      </p:sp>
    </p:spTree>
    <p:extLst>
      <p:ext uri="{BB962C8B-B14F-4D97-AF65-F5344CB8AC3E}">
        <p14:creationId xmlns:p14="http://schemas.microsoft.com/office/powerpoint/2010/main" val="16863777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r>
              <a:rPr lang="en-US" altLang="zh-CN" smtClean="0"/>
              <a:t>( </a:t>
            </a:r>
            <a:fld id="{3EBA4A41-DF70-4ED6-A7D0-45645D30423D}" type="slidenum">
              <a:rPr lang="en-US" altLang="zh-CN" smtClean="0"/>
              <a:pPr>
                <a:defRPr/>
              </a:pPr>
              <a:t>21</a:t>
            </a:fld>
            <a:r>
              <a:rPr lang="en-US" altLang="zh-CN" smtClean="0"/>
              <a:t> )</a:t>
            </a:r>
            <a:endParaRPr lang="en-US" altLang="zh-CN"/>
          </a:p>
        </p:txBody>
      </p:sp>
      <p:sp>
        <p:nvSpPr>
          <p:cNvPr id="3" name="矩形 2"/>
          <p:cNvSpPr/>
          <p:nvPr/>
        </p:nvSpPr>
        <p:spPr>
          <a:xfrm>
            <a:off x="685800" y="533400"/>
            <a:ext cx="7391400" cy="1323439"/>
          </a:xfrm>
          <a:prstGeom prst="rect">
            <a:avLst/>
          </a:prstGeom>
        </p:spPr>
        <p:txBody>
          <a:bodyPr wrap="square">
            <a:spAutoFit/>
          </a:bodyPr>
          <a:lstStyle/>
          <a:p>
            <a:pPr lvl="0"/>
            <a:r>
              <a:rPr lang="en-US" altLang="zh-CN" sz="2000" b="1" dirty="0" smtClean="0">
                <a:solidFill>
                  <a:srgbClr val="000000"/>
                </a:solidFill>
              </a:rPr>
              <a:t>Example</a:t>
            </a:r>
            <a:r>
              <a:rPr lang="zh-CN" altLang="en-US" sz="2000" b="1" dirty="0" smtClean="0">
                <a:solidFill>
                  <a:srgbClr val="000000"/>
                </a:solidFill>
              </a:rPr>
              <a:t>：</a:t>
            </a:r>
            <a:endParaRPr lang="en-US" altLang="zh-CN" sz="2000" b="1" dirty="0" smtClean="0">
              <a:solidFill>
                <a:srgbClr val="000000"/>
              </a:solidFill>
            </a:endParaRPr>
          </a:p>
          <a:p>
            <a:pPr lvl="0"/>
            <a:endParaRPr lang="en-US" altLang="zh-CN" sz="2000" dirty="0">
              <a:solidFill>
                <a:srgbClr val="000000"/>
              </a:solidFill>
            </a:endParaRPr>
          </a:p>
          <a:p>
            <a:pPr lvl="0"/>
            <a:r>
              <a:rPr lang="en-US" altLang="zh-CN" sz="2000" dirty="0" smtClean="0">
                <a:solidFill>
                  <a:srgbClr val="000000"/>
                </a:solidFill>
              </a:rPr>
              <a:t>        </a:t>
            </a:r>
            <a:r>
              <a:rPr lang="zh-CN" altLang="en-US" sz="2000" dirty="0" smtClean="0">
                <a:solidFill>
                  <a:srgbClr val="000000"/>
                </a:solidFill>
              </a:rPr>
              <a:t>车型</a:t>
            </a:r>
            <a:r>
              <a:rPr lang="zh-CN" altLang="en-US" sz="2000" dirty="0">
                <a:solidFill>
                  <a:srgbClr val="000000"/>
                </a:solidFill>
              </a:rPr>
              <a:t>是一个分类解释</a:t>
            </a:r>
            <a:r>
              <a:rPr lang="zh-CN" altLang="en-US" sz="2000" dirty="0" smtClean="0">
                <a:solidFill>
                  <a:srgbClr val="000000"/>
                </a:solidFill>
              </a:rPr>
              <a:t>变量</a:t>
            </a:r>
            <a:r>
              <a:rPr lang="en-US" altLang="zh-CN" sz="2000" dirty="0" smtClean="0">
                <a:solidFill>
                  <a:srgbClr val="000000"/>
                </a:solidFill>
              </a:rPr>
              <a:t>, </a:t>
            </a:r>
            <a:r>
              <a:rPr lang="zh-CN" altLang="en-US" sz="2000" dirty="0" smtClean="0">
                <a:solidFill>
                  <a:srgbClr val="000000"/>
                </a:solidFill>
              </a:rPr>
              <a:t>有</a:t>
            </a:r>
            <a:r>
              <a:rPr lang="en-US" altLang="zh-CN" sz="2000" dirty="0" smtClean="0">
                <a:solidFill>
                  <a:srgbClr val="000000"/>
                </a:solidFill>
              </a:rPr>
              <a:t>A, B, C, D</a:t>
            </a:r>
            <a:r>
              <a:rPr lang="zh-CN" altLang="en-US" sz="2000" dirty="0">
                <a:solidFill>
                  <a:srgbClr val="000000"/>
                </a:solidFill>
              </a:rPr>
              <a:t>四个</a:t>
            </a:r>
            <a:r>
              <a:rPr lang="zh-CN" altLang="en-US" sz="2000" dirty="0" smtClean="0">
                <a:solidFill>
                  <a:srgbClr val="000000"/>
                </a:solidFill>
              </a:rPr>
              <a:t>水平</a:t>
            </a:r>
            <a:r>
              <a:rPr lang="en-US" altLang="zh-CN" sz="2000" dirty="0" smtClean="0">
                <a:solidFill>
                  <a:srgbClr val="000000"/>
                </a:solidFill>
              </a:rPr>
              <a:t>, </a:t>
            </a:r>
            <a:r>
              <a:rPr lang="zh-CN" altLang="en-US" sz="2000" dirty="0" smtClean="0">
                <a:solidFill>
                  <a:srgbClr val="000000"/>
                </a:solidFill>
              </a:rPr>
              <a:t>可以</a:t>
            </a:r>
            <a:r>
              <a:rPr lang="zh-CN" altLang="en-US" sz="2000" dirty="0">
                <a:solidFill>
                  <a:srgbClr val="000000"/>
                </a:solidFill>
              </a:rPr>
              <a:t>转化为</a:t>
            </a:r>
            <a:r>
              <a:rPr lang="en-US" altLang="zh-CN" sz="2000" dirty="0" err="1" smtClean="0">
                <a:solidFill>
                  <a:srgbClr val="000000"/>
                </a:solidFill>
              </a:rPr>
              <a:t>x1</a:t>
            </a:r>
            <a:r>
              <a:rPr lang="en-US" altLang="zh-CN" sz="2000" dirty="0" smtClean="0">
                <a:solidFill>
                  <a:srgbClr val="000000"/>
                </a:solidFill>
              </a:rPr>
              <a:t>, </a:t>
            </a:r>
            <a:r>
              <a:rPr lang="en-US" altLang="zh-CN" sz="2000" dirty="0" err="1" smtClean="0">
                <a:solidFill>
                  <a:srgbClr val="000000"/>
                </a:solidFill>
              </a:rPr>
              <a:t>x2</a:t>
            </a:r>
            <a:r>
              <a:rPr lang="en-US" altLang="zh-CN" sz="2000" dirty="0" smtClean="0">
                <a:solidFill>
                  <a:srgbClr val="000000"/>
                </a:solidFill>
              </a:rPr>
              <a:t>, </a:t>
            </a:r>
            <a:r>
              <a:rPr lang="en-US" altLang="zh-CN" sz="2000" dirty="0" err="1" smtClean="0">
                <a:solidFill>
                  <a:srgbClr val="000000"/>
                </a:solidFill>
              </a:rPr>
              <a:t>x3</a:t>
            </a:r>
            <a:r>
              <a:rPr lang="zh-CN" altLang="en-US" sz="2000" dirty="0">
                <a:solidFill>
                  <a:srgbClr val="000000"/>
                </a:solidFill>
              </a:rPr>
              <a:t>三个</a:t>
            </a:r>
            <a:r>
              <a:rPr lang="zh-CN" altLang="en-US" sz="2000" dirty="0" smtClean="0">
                <a:solidFill>
                  <a:srgbClr val="000000"/>
                </a:solidFill>
              </a:rPr>
              <a:t>虚拟变量</a:t>
            </a:r>
            <a:r>
              <a:rPr lang="en-US" altLang="zh-CN" sz="2000" dirty="0" smtClean="0">
                <a:solidFill>
                  <a:srgbClr val="000000"/>
                </a:solidFill>
              </a:rPr>
              <a:t>, </a:t>
            </a:r>
            <a:r>
              <a:rPr lang="zh-CN" altLang="en-US" sz="2000" dirty="0" smtClean="0">
                <a:solidFill>
                  <a:srgbClr val="000000"/>
                </a:solidFill>
              </a:rPr>
              <a:t>定义</a:t>
            </a:r>
            <a:r>
              <a:rPr lang="zh-CN" altLang="en-US" sz="2000" dirty="0">
                <a:solidFill>
                  <a:srgbClr val="000000"/>
                </a:solidFill>
              </a:rPr>
              <a:t>如下表所示：</a:t>
            </a:r>
            <a:endParaRPr lang="en-US" altLang="zh-CN" sz="2000" dirty="0">
              <a:solidFill>
                <a:srgbClr val="000000"/>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752504272"/>
              </p:ext>
            </p:extLst>
          </p:nvPr>
        </p:nvGraphicFramePr>
        <p:xfrm>
          <a:off x="866503" y="2362200"/>
          <a:ext cx="7239000" cy="3352800"/>
        </p:xfrm>
        <a:graphic>
          <a:graphicData uri="http://schemas.openxmlformats.org/drawingml/2006/table">
            <a:tbl>
              <a:tblPr firstRow="1" bandRow="1">
                <a:tableStyleId>{5C22544A-7EE6-4342-B048-85BDC9FD1C3A}</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670560">
                <a:tc>
                  <a:txBody>
                    <a:bodyPr/>
                    <a:lstStyle/>
                    <a:p>
                      <a:pPr algn="ctr"/>
                      <a:r>
                        <a:rPr lang="zh-CN" altLang="en-US" dirty="0" smtClean="0"/>
                        <a:t>车型</a:t>
                      </a:r>
                      <a:endParaRPr lang="zh-CN" altLang="en-US" dirty="0"/>
                    </a:p>
                  </a:txBody>
                  <a:tcPr/>
                </a:tc>
                <a:tc>
                  <a:txBody>
                    <a:bodyPr/>
                    <a:lstStyle/>
                    <a:p>
                      <a:pPr algn="ctr"/>
                      <a:r>
                        <a:rPr lang="en-US" altLang="zh-CN" dirty="0" smtClean="0"/>
                        <a:t>x1</a:t>
                      </a:r>
                      <a:endParaRPr lang="zh-CN" altLang="en-US" dirty="0"/>
                    </a:p>
                  </a:txBody>
                  <a:tcPr/>
                </a:tc>
                <a:tc>
                  <a:txBody>
                    <a:bodyPr/>
                    <a:lstStyle/>
                    <a:p>
                      <a:pPr algn="ctr"/>
                      <a:r>
                        <a:rPr lang="en-US" altLang="zh-CN" dirty="0" smtClean="0"/>
                        <a:t>x2</a:t>
                      </a:r>
                      <a:endParaRPr lang="zh-CN" altLang="en-US" dirty="0"/>
                    </a:p>
                  </a:txBody>
                  <a:tcPr/>
                </a:tc>
                <a:tc>
                  <a:txBody>
                    <a:bodyPr/>
                    <a:lstStyle/>
                    <a:p>
                      <a:pPr algn="ctr"/>
                      <a:r>
                        <a:rPr lang="en-US" altLang="zh-CN" dirty="0" smtClean="0"/>
                        <a:t>x3</a:t>
                      </a:r>
                      <a:endParaRPr lang="zh-CN" altLang="en-US" dirty="0"/>
                    </a:p>
                  </a:txBody>
                  <a:tcPr/>
                </a:tc>
                <a:extLst>
                  <a:ext uri="{0D108BD9-81ED-4DB2-BD59-A6C34878D82A}">
                    <a16:rowId xmlns:a16="http://schemas.microsoft.com/office/drawing/2014/main" val="10000"/>
                  </a:ext>
                </a:extLst>
              </a:tr>
              <a:tr h="670560">
                <a:tc>
                  <a:txBody>
                    <a:bodyPr/>
                    <a:lstStyle/>
                    <a:p>
                      <a:pPr algn="ctr"/>
                      <a:r>
                        <a:rPr lang="en-US" altLang="zh-CN" dirty="0" smtClean="0"/>
                        <a:t>A</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val="10001"/>
                  </a:ext>
                </a:extLst>
              </a:tr>
              <a:tr h="670560">
                <a:tc>
                  <a:txBody>
                    <a:bodyPr/>
                    <a:lstStyle/>
                    <a:p>
                      <a:pPr algn="ctr"/>
                      <a:r>
                        <a:rPr lang="en-US" altLang="zh-CN" dirty="0" smtClean="0"/>
                        <a:t>B</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val="10002"/>
                  </a:ext>
                </a:extLst>
              </a:tr>
              <a:tr h="670560">
                <a:tc>
                  <a:txBody>
                    <a:bodyPr/>
                    <a:lstStyle/>
                    <a:p>
                      <a:pPr algn="ctr"/>
                      <a:r>
                        <a:rPr lang="en-US" altLang="zh-CN" dirty="0" smtClean="0"/>
                        <a:t>C</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1</a:t>
                      </a:r>
                      <a:endParaRPr lang="zh-CN" altLang="en-US" dirty="0"/>
                    </a:p>
                  </a:txBody>
                  <a:tcPr/>
                </a:tc>
                <a:extLst>
                  <a:ext uri="{0D108BD9-81ED-4DB2-BD59-A6C34878D82A}">
                    <a16:rowId xmlns:a16="http://schemas.microsoft.com/office/drawing/2014/main" val="10003"/>
                  </a:ext>
                </a:extLst>
              </a:tr>
              <a:tr h="670560">
                <a:tc>
                  <a:txBody>
                    <a:bodyPr/>
                    <a:lstStyle/>
                    <a:p>
                      <a:pPr algn="ctr"/>
                      <a:r>
                        <a:rPr lang="en-US" altLang="zh-CN" dirty="0" smtClean="0"/>
                        <a:t>D</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tc>
                  <a:txBody>
                    <a:bodyPr/>
                    <a:lstStyle/>
                    <a:p>
                      <a:pPr algn="ctr"/>
                      <a:r>
                        <a:rPr lang="en-US" altLang="zh-CN" dirty="0" smtClean="0"/>
                        <a:t>0</a:t>
                      </a:r>
                      <a:endParaRPr lang="zh-CN" alt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333386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r>
              <a:rPr lang="en-US" altLang="zh-CN" smtClean="0"/>
              <a:t>( </a:t>
            </a:r>
            <a:fld id="{3EBA4A41-DF70-4ED6-A7D0-45645D30423D}" type="slidenum">
              <a:rPr lang="en-US" altLang="zh-CN" smtClean="0"/>
              <a:pPr>
                <a:defRPr/>
              </a:pPr>
              <a:t>22</a:t>
            </a:fld>
            <a:r>
              <a:rPr lang="en-US" altLang="zh-CN" smtClean="0"/>
              <a:t> )</a:t>
            </a:r>
            <a:endParaRPr lang="en-US" altLang="zh-CN"/>
          </a:p>
        </p:txBody>
      </p:sp>
      <p:sp>
        <p:nvSpPr>
          <p:cNvPr id="4" name="TextBox 3"/>
          <p:cNvSpPr txBox="1"/>
          <p:nvPr/>
        </p:nvSpPr>
        <p:spPr>
          <a:xfrm>
            <a:off x="381000" y="609600"/>
            <a:ext cx="7315200" cy="5632311"/>
          </a:xfrm>
          <a:prstGeom prst="rect">
            <a:avLst/>
          </a:prstGeom>
          <a:noFill/>
        </p:spPr>
        <p:txBody>
          <a:bodyPr wrap="square" rtlCol="0">
            <a:spAutoFit/>
          </a:bodyPr>
          <a:lstStyle/>
          <a:p>
            <a:r>
              <a:rPr lang="zh-CN" altLang="en-US" sz="2000" dirty="0" smtClean="0"/>
              <a:t>        假设车型是模型中唯一的解释变量</a:t>
            </a:r>
            <a:r>
              <a:rPr lang="en-US" altLang="zh-CN" sz="2000" dirty="0" smtClean="0"/>
              <a:t>, </a:t>
            </a:r>
            <a:r>
              <a:rPr lang="zh-CN" altLang="en-US" sz="2000" dirty="0" smtClean="0"/>
              <a:t>则线性回归模型的拟合值表示为：</a:t>
            </a:r>
            <a:endParaRPr lang="en-US" altLang="zh-CN" sz="2000" dirty="0" smtClean="0"/>
          </a:p>
          <a:p>
            <a:endParaRPr lang="en-US" altLang="zh-CN" sz="2000" dirty="0" smtClean="0"/>
          </a:p>
          <a:p>
            <a:r>
              <a:rPr lang="zh-CN" altLang="en-US" sz="2000" dirty="0" smtClean="0"/>
              <a:t>        根据模型</a:t>
            </a:r>
            <a:r>
              <a:rPr lang="en-US" altLang="zh-CN" sz="2000" dirty="0" smtClean="0"/>
              <a:t>, </a:t>
            </a:r>
            <a:r>
              <a:rPr lang="zh-CN" altLang="en-US" sz="2000" dirty="0" smtClean="0"/>
              <a:t>可以求得不同车型条件下对因变量的拟合值为：</a:t>
            </a:r>
            <a:endParaRPr lang="en-US" altLang="zh-CN" sz="2000" dirty="0" smtClean="0"/>
          </a:p>
          <a:p>
            <a:endParaRPr lang="en-US" altLang="zh-CN" sz="2000" dirty="0"/>
          </a:p>
          <a:p>
            <a:r>
              <a:rPr lang="en-US" altLang="zh-CN" sz="2000" dirty="0" smtClean="0"/>
              <a:t>                              </a:t>
            </a:r>
          </a:p>
          <a:p>
            <a:endParaRPr lang="en-US" altLang="zh-CN" sz="2000" dirty="0"/>
          </a:p>
          <a:p>
            <a:endParaRPr lang="en-US" altLang="zh-CN" sz="2000" dirty="0" smtClean="0"/>
          </a:p>
          <a:p>
            <a:endParaRPr lang="en-US" altLang="zh-CN" sz="2000" dirty="0"/>
          </a:p>
          <a:p>
            <a:endParaRPr lang="en-US" altLang="zh-CN" sz="2000" dirty="0" smtClean="0"/>
          </a:p>
          <a:p>
            <a:r>
              <a:rPr lang="zh-CN" altLang="en-US" sz="2000" dirty="0" smtClean="0"/>
              <a:t>        在模型中</a:t>
            </a:r>
            <a:r>
              <a:rPr lang="en-US" altLang="zh-CN" sz="2000" dirty="0" smtClean="0"/>
              <a:t>, </a:t>
            </a:r>
            <a:r>
              <a:rPr lang="zh-CN" altLang="en-US" sz="2000" dirty="0" smtClean="0"/>
              <a:t>车型</a:t>
            </a:r>
            <a:r>
              <a:rPr lang="en-US" altLang="zh-CN" sz="2000" dirty="0" smtClean="0"/>
              <a:t>D</a:t>
            </a:r>
            <a:r>
              <a:rPr lang="zh-CN" altLang="en-US" sz="2000" dirty="0" smtClean="0"/>
              <a:t>是基准水平</a:t>
            </a:r>
            <a:r>
              <a:rPr lang="en-US" altLang="zh-CN" sz="2000" dirty="0" smtClean="0"/>
              <a:t>, </a:t>
            </a:r>
            <a:r>
              <a:rPr lang="zh-CN" altLang="en-US" sz="2000" dirty="0" smtClean="0"/>
              <a:t>也称参照水平。为了预测结果的稳定性</a:t>
            </a:r>
            <a:r>
              <a:rPr lang="en-US" altLang="zh-CN" sz="2000" dirty="0" smtClean="0"/>
              <a:t>, </a:t>
            </a:r>
            <a:r>
              <a:rPr lang="zh-CN" altLang="en-US" sz="2000" dirty="0" smtClean="0"/>
              <a:t>通常选择观测值较多的水平为基准水平。</a:t>
            </a:r>
            <a:endParaRPr lang="en-US" altLang="zh-CN" sz="2000" dirty="0" smtClean="0"/>
          </a:p>
          <a:p>
            <a:endParaRPr lang="en-US" altLang="zh-CN" sz="2000" dirty="0" smtClean="0"/>
          </a:p>
          <a:p>
            <a:endParaRPr lang="en-US" altLang="zh-CN" sz="2000" dirty="0"/>
          </a:p>
          <a:p>
            <a:r>
              <a:rPr lang="zh-CN" altLang="en-US" sz="2000" dirty="0" smtClean="0"/>
              <a:t>在</a:t>
            </a:r>
            <a:r>
              <a:rPr lang="en-US" altLang="zh-CN" sz="2000" dirty="0" smtClean="0"/>
              <a:t>R</a:t>
            </a:r>
            <a:r>
              <a:rPr lang="zh-CN" altLang="en-US" sz="2000" dirty="0" smtClean="0"/>
              <a:t>中的实现：</a:t>
            </a:r>
            <a:endParaRPr lang="en-US" altLang="zh-CN" sz="2000" dirty="0" smtClean="0"/>
          </a:p>
          <a:p>
            <a:r>
              <a:rPr lang="en-US" altLang="zh-CN" sz="2000" dirty="0" smtClean="0">
                <a:solidFill>
                  <a:srgbClr val="FF0000"/>
                </a:solidFill>
              </a:rPr>
              <a:t>type = factor(c</a:t>
            </a:r>
            <a:r>
              <a:rPr lang="en-US" altLang="zh-CN" sz="2000" dirty="0">
                <a:solidFill>
                  <a:srgbClr val="FF0000"/>
                </a:solidFill>
              </a:rPr>
              <a:t>("A</a:t>
            </a:r>
            <a:r>
              <a:rPr lang="en-US" altLang="zh-CN" sz="2000" dirty="0" smtClean="0">
                <a:solidFill>
                  <a:srgbClr val="FF0000"/>
                </a:solidFill>
              </a:rPr>
              <a:t>", "</a:t>
            </a:r>
            <a:r>
              <a:rPr lang="en-US" altLang="zh-CN" sz="2000" dirty="0">
                <a:solidFill>
                  <a:srgbClr val="FF0000"/>
                </a:solidFill>
              </a:rPr>
              <a:t>B</a:t>
            </a:r>
            <a:r>
              <a:rPr lang="en-US" altLang="zh-CN" sz="2000" dirty="0" smtClean="0">
                <a:solidFill>
                  <a:srgbClr val="FF0000"/>
                </a:solidFill>
              </a:rPr>
              <a:t>", "</a:t>
            </a:r>
            <a:r>
              <a:rPr lang="en-US" altLang="zh-CN" sz="2000" dirty="0">
                <a:solidFill>
                  <a:srgbClr val="FF0000"/>
                </a:solidFill>
              </a:rPr>
              <a:t>C</a:t>
            </a:r>
            <a:r>
              <a:rPr lang="en-US" altLang="zh-CN" sz="2000" dirty="0" smtClean="0">
                <a:solidFill>
                  <a:srgbClr val="FF0000"/>
                </a:solidFill>
              </a:rPr>
              <a:t>", </a:t>
            </a:r>
            <a:r>
              <a:rPr lang="en-US" altLang="zh-CN" sz="2000" dirty="0" smtClean="0">
                <a:solidFill>
                  <a:srgbClr val="FF0000"/>
                </a:solidFill>
              </a:rPr>
              <a:t>"0D</a:t>
            </a:r>
            <a:r>
              <a:rPr lang="en-US" altLang="zh-CN" sz="2000" dirty="0">
                <a:solidFill>
                  <a:srgbClr val="FF0000"/>
                </a:solidFill>
              </a:rPr>
              <a:t>"))</a:t>
            </a:r>
          </a:p>
          <a:p>
            <a:r>
              <a:rPr lang="en-US" altLang="zh-CN" sz="2000" dirty="0" err="1">
                <a:solidFill>
                  <a:srgbClr val="FF0000"/>
                </a:solidFill>
              </a:rPr>
              <a:t>model.matrix</a:t>
            </a:r>
            <a:r>
              <a:rPr lang="en-US" altLang="zh-CN" sz="2000" dirty="0">
                <a:solidFill>
                  <a:srgbClr val="FF0000"/>
                </a:solidFill>
              </a:rPr>
              <a:t>(~type</a:t>
            </a:r>
            <a:r>
              <a:rPr lang="en-US" altLang="zh-CN" sz="2000" dirty="0" smtClean="0">
                <a:solidFill>
                  <a:srgbClr val="FF0000"/>
                </a:solidFill>
              </a:rPr>
              <a:t>)</a:t>
            </a:r>
          </a:p>
          <a:p>
            <a:endParaRPr lang="en-US" altLang="zh-CN" sz="2000" dirty="0" smtClean="0"/>
          </a:p>
        </p:txBody>
      </p:sp>
      <p:graphicFrame>
        <p:nvGraphicFramePr>
          <p:cNvPr id="5" name="对象 4"/>
          <p:cNvGraphicFramePr>
            <a:graphicFrameLocks noChangeAspect="1"/>
          </p:cNvGraphicFramePr>
          <p:nvPr>
            <p:extLst>
              <p:ext uri="{D42A27DB-BD31-4B8C-83A1-F6EECF244321}">
                <p14:modId xmlns:p14="http://schemas.microsoft.com/office/powerpoint/2010/main" val="400062849"/>
              </p:ext>
            </p:extLst>
          </p:nvPr>
        </p:nvGraphicFramePr>
        <p:xfrm>
          <a:off x="1752600" y="973500"/>
          <a:ext cx="2580000" cy="360000"/>
        </p:xfrm>
        <a:graphic>
          <a:graphicData uri="http://schemas.openxmlformats.org/presentationml/2006/ole">
            <mc:AlternateContent xmlns:mc="http://schemas.openxmlformats.org/markup-compatibility/2006">
              <mc:Choice xmlns:v="urn:schemas-microsoft-com:vml" Requires="v">
                <p:oleObj spid="_x0000_s410676" name="Equation" r:id="rId3" imgW="1638000" imgH="228600" progId="Equation.DSMT4">
                  <p:embed/>
                </p:oleObj>
              </mc:Choice>
              <mc:Fallback>
                <p:oleObj name="Equation" r:id="rId3" imgW="1638000" imgH="228600" progId="Equation.DSMT4">
                  <p:embed/>
                  <p:pic>
                    <p:nvPicPr>
                      <p:cNvPr id="5" name="对象 4"/>
                      <p:cNvPicPr/>
                      <p:nvPr/>
                    </p:nvPicPr>
                    <p:blipFill>
                      <a:blip r:embed="rId4"/>
                      <a:stretch>
                        <a:fillRect/>
                      </a:stretch>
                    </p:blipFill>
                    <p:spPr>
                      <a:xfrm>
                        <a:off x="1752600" y="973500"/>
                        <a:ext cx="2580000" cy="360000"/>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1173529" y="1985963"/>
          <a:ext cx="1264871" cy="1440000"/>
        </p:xfrm>
        <a:graphic>
          <a:graphicData uri="http://schemas.openxmlformats.org/presentationml/2006/ole">
            <mc:AlternateContent xmlns:mc="http://schemas.openxmlformats.org/markup-compatibility/2006">
              <mc:Choice xmlns:v="urn:schemas-microsoft-com:vml" Requires="v">
                <p:oleObj spid="_x0000_s410677" name="Equation" r:id="rId5" imgW="825480" imgH="939600" progId="Equation.DSMT4">
                  <p:embed/>
                </p:oleObj>
              </mc:Choice>
              <mc:Fallback>
                <p:oleObj name="Equation" r:id="rId5" imgW="825480" imgH="939600" progId="Equation.DSMT4">
                  <p:embed/>
                  <p:pic>
                    <p:nvPicPr>
                      <p:cNvPr id="6" name="对象 5"/>
                      <p:cNvPicPr/>
                      <p:nvPr/>
                    </p:nvPicPr>
                    <p:blipFill>
                      <a:blip r:embed="rId6"/>
                      <a:stretch>
                        <a:fillRect/>
                      </a:stretch>
                    </p:blipFill>
                    <p:spPr>
                      <a:xfrm>
                        <a:off x="1173529" y="1985963"/>
                        <a:ext cx="1264871" cy="1440000"/>
                      </a:xfrm>
                      <a:prstGeom prst="rect">
                        <a:avLst/>
                      </a:prstGeom>
                    </p:spPr>
                  </p:pic>
                </p:oleObj>
              </mc:Fallback>
            </mc:AlternateContent>
          </a:graphicData>
        </a:graphic>
      </p:graphicFrame>
      <p:sp>
        <p:nvSpPr>
          <p:cNvPr id="7" name="TextBox 6"/>
          <p:cNvSpPr txBox="1"/>
          <p:nvPr/>
        </p:nvSpPr>
        <p:spPr>
          <a:xfrm>
            <a:off x="2514600" y="2057400"/>
            <a:ext cx="1219200" cy="1754326"/>
          </a:xfrm>
          <a:prstGeom prst="rect">
            <a:avLst/>
          </a:prstGeom>
          <a:noFill/>
        </p:spPr>
        <p:txBody>
          <a:bodyPr wrap="square" rtlCol="0">
            <a:spAutoFit/>
          </a:bodyPr>
          <a:lstStyle/>
          <a:p>
            <a:r>
              <a:rPr lang="zh-CN" altLang="en-US" sz="1200" dirty="0" smtClean="0"/>
              <a:t>车型</a:t>
            </a:r>
            <a:r>
              <a:rPr lang="en-US" altLang="zh-CN" sz="1200" dirty="0" smtClean="0"/>
              <a:t> = A</a:t>
            </a:r>
          </a:p>
          <a:p>
            <a:endParaRPr lang="en-US" altLang="zh-CN" sz="1200" dirty="0"/>
          </a:p>
          <a:p>
            <a:r>
              <a:rPr lang="zh-CN" altLang="en-US" sz="1200" dirty="0" smtClean="0"/>
              <a:t>车型</a:t>
            </a:r>
            <a:r>
              <a:rPr lang="en-US" altLang="zh-CN" sz="1200" dirty="0" smtClean="0"/>
              <a:t> = B</a:t>
            </a:r>
          </a:p>
          <a:p>
            <a:endParaRPr lang="en-US" altLang="zh-CN" sz="1200" dirty="0"/>
          </a:p>
          <a:p>
            <a:r>
              <a:rPr lang="zh-CN" altLang="en-US" sz="1200" dirty="0" smtClean="0"/>
              <a:t>车型</a:t>
            </a:r>
            <a:r>
              <a:rPr lang="en-US" altLang="zh-CN" sz="1200" dirty="0" smtClean="0"/>
              <a:t> = C</a:t>
            </a:r>
          </a:p>
          <a:p>
            <a:endParaRPr lang="en-US" altLang="zh-CN" sz="1200" dirty="0"/>
          </a:p>
          <a:p>
            <a:r>
              <a:rPr lang="zh-CN" altLang="en-US" sz="1200" dirty="0" smtClean="0"/>
              <a:t>车型</a:t>
            </a:r>
            <a:r>
              <a:rPr lang="en-US" altLang="zh-CN" sz="1200" dirty="0" smtClean="0"/>
              <a:t> = D</a:t>
            </a:r>
          </a:p>
          <a:p>
            <a:endParaRPr lang="en-US" altLang="zh-CN" sz="1200" dirty="0"/>
          </a:p>
          <a:p>
            <a:endParaRPr lang="zh-CN" altLang="en-US" sz="1200" dirty="0"/>
          </a:p>
        </p:txBody>
      </p:sp>
      <p:pic>
        <p:nvPicPr>
          <p:cNvPr id="410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2600" y="4800600"/>
            <a:ext cx="4478383"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32451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r>
              <a:rPr lang="en-US" altLang="zh-CN" smtClean="0"/>
              <a:t>( </a:t>
            </a:r>
            <a:fld id="{3EBA4A41-DF70-4ED6-A7D0-45645D30423D}" type="slidenum">
              <a:rPr lang="en-US" altLang="zh-CN" smtClean="0"/>
              <a:pPr>
                <a:defRPr/>
              </a:pPr>
              <a:t>23</a:t>
            </a:fld>
            <a:r>
              <a:rPr lang="en-US" altLang="zh-CN" smtClean="0"/>
              <a:t> )</a:t>
            </a:r>
            <a:endParaRPr lang="en-US" altLang="zh-CN"/>
          </a:p>
        </p:txBody>
      </p:sp>
      <p:sp>
        <p:nvSpPr>
          <p:cNvPr id="3" name="矩形 2"/>
          <p:cNvSpPr/>
          <p:nvPr/>
        </p:nvSpPr>
        <p:spPr>
          <a:xfrm>
            <a:off x="152400" y="1143000"/>
            <a:ext cx="8218800" cy="3108543"/>
          </a:xfrm>
          <a:prstGeom prst="rect">
            <a:avLst/>
          </a:prstGeom>
        </p:spPr>
        <p:txBody>
          <a:bodyPr wrap="square">
            <a:spAutoFit/>
          </a:bodyPr>
          <a:lstStyle/>
          <a:p>
            <a:r>
              <a:rPr lang="zh-CN" altLang="en-US" sz="2800" b="1" dirty="0" smtClean="0">
                <a:solidFill>
                  <a:srgbClr val="333399"/>
                </a:solidFill>
              </a:rPr>
              <a:t>交互效应</a:t>
            </a:r>
            <a:endParaRPr lang="zh-CN" altLang="en-US" sz="2800" b="1" dirty="0">
              <a:solidFill>
                <a:srgbClr val="333399"/>
              </a:solidFill>
            </a:endParaRPr>
          </a:p>
          <a:p>
            <a:endParaRPr lang="en-US" altLang="zh-CN" sz="2800" b="1" dirty="0" smtClean="0"/>
          </a:p>
          <a:p>
            <a:r>
              <a:rPr lang="zh-CN" altLang="en-US" sz="2800" b="1" dirty="0" smtClean="0"/>
              <a:t>        交互效应</a:t>
            </a:r>
            <a:r>
              <a:rPr lang="zh-CN" altLang="en-US" sz="2800" dirty="0"/>
              <a:t>是指一个解释变量对因变量的影响与另一个解释变量有关</a:t>
            </a:r>
            <a:r>
              <a:rPr lang="zh-CN" altLang="en-US" sz="2800" dirty="0" smtClean="0"/>
              <a:t>。</a:t>
            </a:r>
            <a:endParaRPr lang="en-US" altLang="zh-CN" sz="2800" dirty="0" smtClean="0"/>
          </a:p>
          <a:p>
            <a:endParaRPr lang="en-US" altLang="zh-CN" sz="2800" dirty="0"/>
          </a:p>
          <a:p>
            <a:r>
              <a:rPr lang="zh-CN" altLang="en-US" sz="2800" dirty="0" smtClean="0"/>
              <a:t>        譬如</a:t>
            </a:r>
            <a:r>
              <a:rPr lang="en-US" altLang="zh-CN" sz="2800" dirty="0" smtClean="0"/>
              <a:t>, </a:t>
            </a:r>
            <a:r>
              <a:rPr lang="zh-CN" altLang="en-US" sz="2800" dirty="0" smtClean="0"/>
              <a:t>不同</a:t>
            </a:r>
            <a:r>
              <a:rPr lang="zh-CN" altLang="en-US" sz="2800" dirty="0"/>
              <a:t>性别的</a:t>
            </a:r>
            <a:r>
              <a:rPr lang="zh-CN" altLang="en-US" sz="2800" dirty="0" smtClean="0"/>
              <a:t>驾驶人</a:t>
            </a:r>
            <a:r>
              <a:rPr lang="en-US" altLang="zh-CN" sz="2800" dirty="0" smtClean="0"/>
              <a:t>, </a:t>
            </a:r>
            <a:r>
              <a:rPr lang="zh-CN" altLang="en-US" sz="2800" dirty="0" smtClean="0"/>
              <a:t>其</a:t>
            </a:r>
            <a:r>
              <a:rPr lang="zh-CN" altLang="en-US" sz="2800" dirty="0"/>
              <a:t>年龄对索赔频率的影响是不同</a:t>
            </a:r>
            <a:r>
              <a:rPr lang="zh-CN" altLang="en-US" sz="2800" dirty="0" smtClean="0"/>
              <a:t>的</a:t>
            </a:r>
            <a:r>
              <a:rPr lang="en-US" altLang="zh-CN" sz="2800" dirty="0" smtClean="0"/>
              <a:t>, </a:t>
            </a:r>
            <a:r>
              <a:rPr lang="zh-CN" altLang="en-US" sz="2800" dirty="0" smtClean="0"/>
              <a:t>即</a:t>
            </a:r>
            <a:r>
              <a:rPr lang="zh-CN" altLang="en-US" sz="2800" dirty="0"/>
              <a:t>年龄和性别之间存在交互效应。</a:t>
            </a:r>
            <a:endParaRPr lang="en-US" altLang="zh-CN" sz="2800" dirty="0"/>
          </a:p>
        </p:txBody>
      </p:sp>
    </p:spTree>
    <p:extLst>
      <p:ext uri="{BB962C8B-B14F-4D97-AF65-F5344CB8AC3E}">
        <p14:creationId xmlns:p14="http://schemas.microsoft.com/office/powerpoint/2010/main" val="7277045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r>
              <a:rPr lang="en-US" altLang="zh-CN"/>
              <a:t>( </a:t>
            </a:r>
            <a:fld id="{2E04F51F-E149-42CF-AB48-BAF6A42B818A}" type="slidenum">
              <a:rPr lang="en-US" altLang="zh-CN"/>
              <a:pPr>
                <a:defRPr/>
              </a:pPr>
              <a:t>24</a:t>
            </a:fld>
            <a:r>
              <a:rPr lang="en-US" altLang="zh-CN"/>
              <a:t> )</a:t>
            </a:r>
          </a:p>
        </p:txBody>
      </p:sp>
      <p:sp>
        <p:nvSpPr>
          <p:cNvPr id="21508" name="Text Box 13"/>
          <p:cNvSpPr txBox="1">
            <a:spLocks noChangeArrowheads="1"/>
          </p:cNvSpPr>
          <p:nvPr/>
        </p:nvSpPr>
        <p:spPr bwMode="auto">
          <a:xfrm>
            <a:off x="152400" y="457200"/>
            <a:ext cx="80772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endParaRPr lang="en-US" altLang="zh-CN" sz="2000" b="1" dirty="0" smtClean="0">
              <a:solidFill>
                <a:srgbClr val="333399"/>
              </a:solidFill>
            </a:endParaRPr>
          </a:p>
          <a:p>
            <a:r>
              <a:rPr lang="zh-CN" altLang="en-US" sz="2000" b="1" dirty="0" smtClean="0">
                <a:solidFill>
                  <a:srgbClr val="333399"/>
                </a:solidFill>
              </a:rPr>
              <a:t>变量</a:t>
            </a:r>
            <a:r>
              <a:rPr lang="zh-CN" altLang="en-US" sz="2000" b="1" dirty="0">
                <a:solidFill>
                  <a:srgbClr val="333399"/>
                </a:solidFill>
              </a:rPr>
              <a:t>的标准化</a:t>
            </a:r>
            <a:endParaRPr lang="en-US" altLang="zh-CN" sz="2000" b="1" dirty="0">
              <a:solidFill>
                <a:srgbClr val="333399"/>
              </a:solidFill>
            </a:endParaRPr>
          </a:p>
          <a:p>
            <a:pPr marL="0" indent="0">
              <a:buNone/>
            </a:pPr>
            <a:r>
              <a:rPr lang="zh-CN" altLang="en-US" sz="2000" dirty="0" smtClean="0"/>
              <a:t> </a:t>
            </a:r>
            <a:endParaRPr lang="en-US" altLang="zh-CN" sz="2000" dirty="0" smtClean="0"/>
          </a:p>
          <a:p>
            <a:pPr marL="0" indent="0">
              <a:buNone/>
            </a:pPr>
            <a:r>
              <a:rPr lang="zh-CN" altLang="en-US" sz="2000" dirty="0" smtClean="0"/>
              <a:t>        为了</a:t>
            </a:r>
            <a:r>
              <a:rPr lang="zh-CN" altLang="en-US" sz="2000" dirty="0"/>
              <a:t>消除量纲的</a:t>
            </a:r>
            <a:r>
              <a:rPr lang="zh-CN" altLang="en-US" sz="2000" dirty="0" smtClean="0"/>
              <a:t>影响</a:t>
            </a:r>
            <a:r>
              <a:rPr lang="en-US" altLang="zh-CN" sz="2000" dirty="0" smtClean="0"/>
              <a:t>, </a:t>
            </a:r>
            <a:r>
              <a:rPr lang="zh-CN" altLang="en-US" sz="2000" dirty="0" smtClean="0"/>
              <a:t>可以</a:t>
            </a:r>
            <a:r>
              <a:rPr lang="zh-CN" altLang="en-US" sz="2000" dirty="0"/>
              <a:t>考虑对变量进行</a:t>
            </a:r>
            <a:r>
              <a:rPr lang="zh-CN" altLang="en-US" sz="2000" b="1" dirty="0"/>
              <a:t>标准化</a:t>
            </a:r>
            <a:r>
              <a:rPr lang="zh-CN" altLang="en-US" sz="2000" dirty="0" smtClean="0"/>
              <a:t>处理</a:t>
            </a:r>
            <a:r>
              <a:rPr lang="en-US" altLang="zh-CN" sz="2000" dirty="0" smtClean="0"/>
              <a:t>, </a:t>
            </a:r>
            <a:r>
              <a:rPr lang="zh-CN" altLang="en-US" sz="2000" dirty="0" smtClean="0"/>
              <a:t>即：</a:t>
            </a:r>
            <a:endParaRPr lang="en-US" altLang="zh-CN" sz="2000" dirty="0" smtClean="0"/>
          </a:p>
          <a:p>
            <a:pPr marL="0" indent="0">
              <a:buNone/>
            </a:pPr>
            <a:endParaRPr lang="en-US" altLang="zh-CN" sz="2000" dirty="0"/>
          </a:p>
          <a:p>
            <a:pPr marL="0" indent="0">
              <a:buNone/>
            </a:pPr>
            <a:endParaRPr lang="en-US" altLang="zh-CN" sz="2000" dirty="0" smtClean="0"/>
          </a:p>
          <a:p>
            <a:pPr marL="0" indent="0">
              <a:buNone/>
            </a:pPr>
            <a:endParaRPr lang="en-US" altLang="zh-CN" sz="2000" dirty="0" smtClean="0"/>
          </a:p>
          <a:p>
            <a:pPr marL="0" indent="0">
              <a:buNone/>
            </a:pPr>
            <a:endParaRPr lang="en-US" altLang="zh-CN" sz="2000" dirty="0"/>
          </a:p>
          <a:p>
            <a:pPr marL="0" indent="0">
              <a:buNone/>
            </a:pPr>
            <a:endParaRPr lang="en-US" altLang="zh-CN" sz="2000" dirty="0" smtClean="0"/>
          </a:p>
          <a:p>
            <a:pPr marL="0" indent="0">
              <a:buNone/>
            </a:pPr>
            <a:r>
              <a:rPr lang="zh-CN" altLang="en-US" sz="2000" dirty="0" smtClean="0"/>
              <a:t>        式中</a:t>
            </a:r>
            <a:r>
              <a:rPr lang="en-US" altLang="zh-CN" sz="2000" dirty="0" smtClean="0"/>
              <a:t>, </a:t>
            </a:r>
            <a:endParaRPr lang="en-US" altLang="zh-CN" sz="2000" dirty="0" smtClean="0">
              <a:latin typeface="Arial" charset="0"/>
            </a:endParaRPr>
          </a:p>
          <a:p>
            <a:pPr eaLnBrk="1" hangingPunct="1"/>
            <a:endParaRPr lang="en-US" altLang="zh-CN" sz="2000" dirty="0" smtClean="0">
              <a:latin typeface="Arial" charset="0"/>
            </a:endParaRPr>
          </a:p>
          <a:p>
            <a:pPr eaLnBrk="1" hangingPunct="1"/>
            <a:endParaRPr lang="en-US" altLang="zh-CN" sz="2000" dirty="0" smtClean="0">
              <a:latin typeface="Arial" charset="0"/>
            </a:endParaRPr>
          </a:p>
          <a:p>
            <a:pPr eaLnBrk="1" hangingPunct="1"/>
            <a:endParaRPr lang="en-US" altLang="zh-CN" sz="2000" dirty="0" smtClean="0">
              <a:latin typeface="Arial" charset="0"/>
            </a:endParaRPr>
          </a:p>
          <a:p>
            <a:pPr eaLnBrk="1" hangingPunct="1"/>
            <a:endParaRPr lang="en-US" altLang="zh-CN" sz="2000" dirty="0" smtClean="0">
              <a:latin typeface="Arial" charset="0"/>
            </a:endParaRPr>
          </a:p>
          <a:p>
            <a:pPr eaLnBrk="1" hangingPunct="1"/>
            <a:endParaRPr lang="en-US" altLang="zh-CN" sz="2000" dirty="0">
              <a:latin typeface="Arial" charset="0"/>
            </a:endParaRPr>
          </a:p>
          <a:p>
            <a:pPr eaLnBrk="1" hangingPunct="1"/>
            <a:endParaRPr lang="en-US" altLang="zh-CN" sz="2000" dirty="0">
              <a:latin typeface="Arial" charset="0"/>
            </a:endParaRPr>
          </a:p>
          <a:p>
            <a:pPr eaLnBrk="1" hangingPunct="1"/>
            <a:endParaRPr lang="zh-CN" altLang="en-US" sz="2000" dirty="0">
              <a:latin typeface="Arial"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842278295"/>
              </p:ext>
            </p:extLst>
          </p:nvPr>
        </p:nvGraphicFramePr>
        <p:xfrm>
          <a:off x="2438400" y="1828800"/>
          <a:ext cx="3124200" cy="1097690"/>
        </p:xfrm>
        <a:graphic>
          <a:graphicData uri="http://schemas.openxmlformats.org/presentationml/2006/ole">
            <mc:AlternateContent xmlns:mc="http://schemas.openxmlformats.org/markup-compatibility/2006">
              <mc:Choice xmlns:v="urn:schemas-microsoft-com:vml" Requires="v">
                <p:oleObj spid="_x0000_s411698" name="Equation" r:id="rId4" imgW="1409400" imgH="495000" progId="Equation.DSMT4">
                  <p:embed/>
                </p:oleObj>
              </mc:Choice>
              <mc:Fallback>
                <p:oleObj name="Equation" r:id="rId4" imgW="1409400" imgH="495000" progId="Equation.DSMT4">
                  <p:embed/>
                  <p:pic>
                    <p:nvPicPr>
                      <p:cNvPr id="3" name="对象 2"/>
                      <p:cNvPicPr/>
                      <p:nvPr/>
                    </p:nvPicPr>
                    <p:blipFill>
                      <a:blip r:embed="rId5"/>
                      <a:stretch>
                        <a:fillRect/>
                      </a:stretch>
                    </p:blipFill>
                    <p:spPr>
                      <a:xfrm>
                        <a:off x="2438400" y="1828800"/>
                        <a:ext cx="3124200" cy="109769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26616002"/>
              </p:ext>
            </p:extLst>
          </p:nvPr>
        </p:nvGraphicFramePr>
        <p:xfrm>
          <a:off x="961586" y="3810000"/>
          <a:ext cx="6899695" cy="1175832"/>
        </p:xfrm>
        <a:graphic>
          <a:graphicData uri="http://schemas.openxmlformats.org/presentationml/2006/ole">
            <mc:AlternateContent xmlns:mc="http://schemas.openxmlformats.org/markup-compatibility/2006">
              <mc:Choice xmlns:v="urn:schemas-microsoft-com:vml" Requires="v">
                <p:oleObj spid="_x0000_s411699" name="Equation" r:id="rId6" imgW="3949560" imgH="672840" progId="Equation.DSMT4">
                  <p:embed/>
                </p:oleObj>
              </mc:Choice>
              <mc:Fallback>
                <p:oleObj name="Equation" r:id="rId6" imgW="3949560" imgH="672840" progId="Equation.DSMT4">
                  <p:embed/>
                  <p:pic>
                    <p:nvPicPr>
                      <p:cNvPr id="5" name="对象 4"/>
                      <p:cNvPicPr/>
                      <p:nvPr/>
                    </p:nvPicPr>
                    <p:blipFill>
                      <a:blip r:embed="rId7"/>
                      <a:stretch>
                        <a:fillRect/>
                      </a:stretch>
                    </p:blipFill>
                    <p:spPr>
                      <a:xfrm>
                        <a:off x="961586" y="3810000"/>
                        <a:ext cx="6899695" cy="1175832"/>
                      </a:xfrm>
                      <a:prstGeom prst="rect">
                        <a:avLst/>
                      </a:prstGeom>
                    </p:spPr>
                  </p:pic>
                </p:oleObj>
              </mc:Fallback>
            </mc:AlternateContent>
          </a:graphicData>
        </a:graphic>
      </p:graphicFrame>
    </p:spTree>
    <p:extLst>
      <p:ext uri="{BB962C8B-B14F-4D97-AF65-F5344CB8AC3E}">
        <p14:creationId xmlns:p14="http://schemas.microsoft.com/office/powerpoint/2010/main" val="26687535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r>
              <a:rPr lang="en-US" altLang="zh-CN" dirty="0"/>
              <a:t>( </a:t>
            </a:r>
            <a:fld id="{DD5099A5-FE7D-495B-8BFE-4DA194CC5A3E}" type="slidenum">
              <a:rPr lang="en-US" altLang="zh-CN"/>
              <a:pPr>
                <a:defRPr/>
              </a:pPr>
              <a:t>25</a:t>
            </a:fld>
            <a:r>
              <a:rPr lang="en-US" altLang="zh-CN" dirty="0"/>
              <a:t> )</a:t>
            </a:r>
          </a:p>
        </p:txBody>
      </p:sp>
      <p:sp>
        <p:nvSpPr>
          <p:cNvPr id="20483" name="Text Box 6"/>
          <p:cNvSpPr txBox="1">
            <a:spLocks noChangeArrowheads="1"/>
          </p:cNvSpPr>
          <p:nvPr/>
        </p:nvSpPr>
        <p:spPr bwMode="auto">
          <a:xfrm>
            <a:off x="1143000" y="99060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eaLnBrk="1" hangingPunct="1"/>
            <a:endParaRPr lang="en-US" altLang="zh-CN" dirty="0">
              <a:latin typeface="Arial" charset="0"/>
            </a:endParaRPr>
          </a:p>
        </p:txBody>
      </p:sp>
      <p:sp>
        <p:nvSpPr>
          <p:cNvPr id="2" name="TextBox 1"/>
          <p:cNvSpPr txBox="1"/>
          <p:nvPr/>
        </p:nvSpPr>
        <p:spPr>
          <a:xfrm>
            <a:off x="685800" y="762000"/>
            <a:ext cx="7315200" cy="4401205"/>
          </a:xfrm>
          <a:prstGeom prst="rect">
            <a:avLst/>
          </a:prstGeom>
          <a:noFill/>
        </p:spPr>
        <p:txBody>
          <a:bodyPr wrap="square" rtlCol="0">
            <a:spAutoFit/>
          </a:bodyPr>
          <a:lstStyle/>
          <a:p>
            <a:r>
              <a:rPr lang="en-US" altLang="zh-CN" sz="2000" b="1" dirty="0" smtClean="0"/>
              <a:t>Example:</a:t>
            </a:r>
          </a:p>
          <a:p>
            <a:r>
              <a:rPr lang="zh-CN" altLang="en-US" sz="2000" dirty="0" smtClean="0"/>
              <a:t>         </a:t>
            </a:r>
            <a:endParaRPr lang="en-US" altLang="zh-CN" sz="2000" dirty="0" smtClean="0"/>
          </a:p>
          <a:p>
            <a:r>
              <a:rPr lang="en-US" altLang="zh-CN" sz="2000" dirty="0"/>
              <a:t> </a:t>
            </a:r>
            <a:r>
              <a:rPr lang="en-US" altLang="zh-CN" sz="2000" dirty="0" smtClean="0"/>
              <a:t>       </a:t>
            </a:r>
            <a:r>
              <a:rPr lang="zh-CN" altLang="en-US" sz="2000" dirty="0" smtClean="0"/>
              <a:t>   表示汽车保险的索赔频率；</a:t>
            </a:r>
            <a:endParaRPr lang="en-US" altLang="zh-CN" sz="2000" dirty="0"/>
          </a:p>
          <a:p>
            <a:r>
              <a:rPr lang="en-US" altLang="zh-CN" sz="2000" dirty="0" smtClean="0"/>
              <a:t>           </a:t>
            </a:r>
            <a:r>
              <a:rPr lang="zh-CN" altLang="en-US" sz="2000" dirty="0" smtClean="0"/>
              <a:t>表示驾驶人的年龄</a:t>
            </a:r>
            <a:r>
              <a:rPr lang="en-US" altLang="zh-CN" sz="2000" dirty="0" smtClean="0"/>
              <a:t>, </a:t>
            </a:r>
            <a:r>
              <a:rPr lang="zh-CN" altLang="en-US" sz="2000" dirty="0" smtClean="0"/>
              <a:t>是一个连续变量； </a:t>
            </a:r>
            <a:endParaRPr lang="en-US" altLang="zh-CN" sz="2000" dirty="0" smtClean="0"/>
          </a:p>
          <a:p>
            <a:r>
              <a:rPr lang="en-US" altLang="zh-CN" sz="2000" dirty="0"/>
              <a:t> </a:t>
            </a:r>
            <a:r>
              <a:rPr lang="en-US" altLang="zh-CN" sz="2000" dirty="0" smtClean="0"/>
              <a:t>          </a:t>
            </a:r>
            <a:r>
              <a:rPr lang="zh-CN" altLang="en-US" sz="2000" dirty="0" smtClean="0"/>
              <a:t>表示性别</a:t>
            </a:r>
            <a:r>
              <a:rPr lang="en-US" altLang="zh-CN" sz="2000" dirty="0" smtClean="0"/>
              <a:t>, </a:t>
            </a:r>
            <a:r>
              <a:rPr lang="zh-CN" altLang="en-US" sz="2000" dirty="0" smtClean="0"/>
              <a:t>是一个虚拟变量</a:t>
            </a:r>
            <a:r>
              <a:rPr lang="en-US" altLang="zh-CN" sz="2000" dirty="0" smtClean="0"/>
              <a:t>, </a:t>
            </a:r>
            <a:r>
              <a:rPr lang="zh-CN" altLang="en-US" sz="2000" dirty="0" smtClean="0"/>
              <a:t>值为</a:t>
            </a:r>
            <a:r>
              <a:rPr lang="en-US" altLang="zh-CN" sz="2000" dirty="0" smtClean="0"/>
              <a:t>0</a:t>
            </a:r>
            <a:r>
              <a:rPr lang="zh-CN" altLang="en-US" sz="2000" dirty="0" smtClean="0"/>
              <a:t> 表示男性</a:t>
            </a:r>
            <a:r>
              <a:rPr lang="en-US" altLang="zh-CN" sz="2000" dirty="0" smtClean="0"/>
              <a:t>, 1</a:t>
            </a:r>
            <a:r>
              <a:rPr lang="zh-CN" altLang="en-US" sz="2000" dirty="0" smtClean="0"/>
              <a:t>表示女性；</a:t>
            </a:r>
            <a:endParaRPr lang="en-US" altLang="zh-CN" sz="2000" dirty="0" smtClean="0"/>
          </a:p>
          <a:p>
            <a:r>
              <a:rPr lang="zh-CN" altLang="en-US" sz="2000" dirty="0" smtClean="0"/>
              <a:t>             表示年龄和性别的交互效应 ；</a:t>
            </a:r>
            <a:endParaRPr lang="en-US" altLang="zh-CN" sz="2000" dirty="0" smtClean="0"/>
          </a:p>
          <a:p>
            <a:r>
              <a:rPr lang="en-US" altLang="zh-CN" sz="2000" dirty="0"/>
              <a:t> </a:t>
            </a:r>
            <a:r>
              <a:rPr lang="en-US" altLang="zh-CN" sz="2000" dirty="0" smtClean="0"/>
              <a:t>       </a:t>
            </a:r>
          </a:p>
          <a:p>
            <a:r>
              <a:rPr lang="en-US" altLang="zh-CN" sz="2000" dirty="0"/>
              <a:t> </a:t>
            </a:r>
            <a:r>
              <a:rPr lang="en-US" altLang="zh-CN" sz="2000" dirty="0" smtClean="0"/>
              <a:t>       </a:t>
            </a:r>
            <a:r>
              <a:rPr lang="zh-CN" altLang="en-US" sz="2000" dirty="0" smtClean="0"/>
              <a:t>则线性回归模型的拟合值可以表示为：</a:t>
            </a:r>
            <a:endParaRPr lang="en-US" altLang="zh-CN" sz="2000" dirty="0" smtClean="0"/>
          </a:p>
          <a:p>
            <a:endParaRPr lang="en-US" altLang="zh-CN" sz="2000" dirty="0" smtClean="0"/>
          </a:p>
          <a:p>
            <a:endParaRPr lang="en-US" altLang="zh-CN" sz="2000" dirty="0" smtClean="0"/>
          </a:p>
          <a:p>
            <a:endParaRPr lang="en-US" altLang="zh-CN" sz="2000" dirty="0" smtClean="0"/>
          </a:p>
          <a:p>
            <a:r>
              <a:rPr lang="en-US" altLang="zh-CN" sz="2000" dirty="0" smtClean="0"/>
              <a:t>        </a:t>
            </a:r>
            <a:r>
              <a:rPr lang="zh-CN" altLang="en-US" sz="2000" dirty="0" smtClean="0"/>
              <a:t>在模型中</a:t>
            </a:r>
            <a:r>
              <a:rPr lang="en-US" altLang="zh-CN" sz="2000" dirty="0" smtClean="0"/>
              <a:t>, </a:t>
            </a:r>
            <a:r>
              <a:rPr lang="zh-CN" altLang="en-US" sz="2000" dirty="0" smtClean="0"/>
              <a:t>年龄每增加一单位</a:t>
            </a:r>
            <a:r>
              <a:rPr lang="en-US" altLang="zh-CN" sz="2000" dirty="0" smtClean="0"/>
              <a:t>, </a:t>
            </a:r>
            <a:r>
              <a:rPr lang="zh-CN" altLang="en-US" sz="2000" dirty="0" smtClean="0"/>
              <a:t>对索赔频率拟合值的影响是一个跟性别有关的值</a:t>
            </a:r>
            <a:r>
              <a:rPr lang="en-US" altLang="zh-CN" sz="2000" dirty="0" smtClean="0"/>
              <a:t>, </a:t>
            </a:r>
            <a:r>
              <a:rPr lang="zh-CN" altLang="en-US" sz="2000" dirty="0" smtClean="0"/>
              <a:t>即：</a:t>
            </a:r>
            <a:endParaRPr lang="en-US" altLang="zh-CN" sz="2000" dirty="0" smtClean="0"/>
          </a:p>
          <a:p>
            <a:endParaRPr lang="en-US" altLang="zh-CN" sz="2000" dirty="0"/>
          </a:p>
        </p:txBody>
      </p:sp>
      <p:graphicFrame>
        <p:nvGraphicFramePr>
          <p:cNvPr id="3" name="对象 2"/>
          <p:cNvGraphicFramePr>
            <a:graphicFrameLocks noChangeAspect="1"/>
          </p:cNvGraphicFramePr>
          <p:nvPr>
            <p:extLst/>
          </p:nvPr>
        </p:nvGraphicFramePr>
        <p:xfrm>
          <a:off x="1260000" y="1452265"/>
          <a:ext cx="243694" cy="288000"/>
        </p:xfrm>
        <a:graphic>
          <a:graphicData uri="http://schemas.openxmlformats.org/presentationml/2006/ole">
            <mc:AlternateContent xmlns:mc="http://schemas.openxmlformats.org/markup-compatibility/2006">
              <mc:Choice xmlns:v="urn:schemas-microsoft-com:vml" Requires="v">
                <p:oleObj spid="_x0000_s412824" name="Equation" r:id="rId3" imgW="139680" imgH="164880" progId="Equation.DSMT4">
                  <p:embed/>
                </p:oleObj>
              </mc:Choice>
              <mc:Fallback>
                <p:oleObj name="Equation" r:id="rId3" imgW="139680" imgH="164880" progId="Equation.DSMT4">
                  <p:embed/>
                  <p:pic>
                    <p:nvPicPr>
                      <p:cNvPr id="3" name="对象 2"/>
                      <p:cNvPicPr/>
                      <p:nvPr/>
                    </p:nvPicPr>
                    <p:blipFill>
                      <a:blip r:embed="rId4"/>
                      <a:stretch>
                        <a:fillRect/>
                      </a:stretch>
                    </p:blipFill>
                    <p:spPr>
                      <a:xfrm>
                        <a:off x="1260000" y="1452265"/>
                        <a:ext cx="243694" cy="28800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260000" y="1752600"/>
          <a:ext cx="192000" cy="288000"/>
        </p:xfrm>
        <a:graphic>
          <a:graphicData uri="http://schemas.openxmlformats.org/presentationml/2006/ole">
            <mc:AlternateContent xmlns:mc="http://schemas.openxmlformats.org/markup-compatibility/2006">
              <mc:Choice xmlns:v="urn:schemas-microsoft-com:vml" Requires="v">
                <p:oleObj spid="_x0000_s412825" name="Equation" r:id="rId5" imgW="152280" imgH="228600" progId="Equation.DSMT4">
                  <p:embed/>
                </p:oleObj>
              </mc:Choice>
              <mc:Fallback>
                <p:oleObj name="Equation" r:id="rId5" imgW="152280" imgH="228600" progId="Equation.DSMT4">
                  <p:embed/>
                  <p:pic>
                    <p:nvPicPr>
                      <p:cNvPr id="5" name="对象 4"/>
                      <p:cNvPicPr/>
                      <p:nvPr/>
                    </p:nvPicPr>
                    <p:blipFill>
                      <a:blip r:embed="rId6"/>
                      <a:stretch>
                        <a:fillRect/>
                      </a:stretch>
                    </p:blipFill>
                    <p:spPr>
                      <a:xfrm>
                        <a:off x="1260000" y="1752600"/>
                        <a:ext cx="192000" cy="288000"/>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1260000" y="2057400"/>
          <a:ext cx="208000" cy="288000"/>
        </p:xfrm>
        <a:graphic>
          <a:graphicData uri="http://schemas.openxmlformats.org/presentationml/2006/ole">
            <mc:AlternateContent xmlns:mc="http://schemas.openxmlformats.org/markup-compatibility/2006">
              <mc:Choice xmlns:v="urn:schemas-microsoft-com:vml" Requires="v">
                <p:oleObj spid="_x0000_s412826" name="Equation" r:id="rId7" imgW="164880" imgH="228600" progId="Equation.DSMT4">
                  <p:embed/>
                </p:oleObj>
              </mc:Choice>
              <mc:Fallback>
                <p:oleObj name="Equation" r:id="rId7" imgW="164880" imgH="228600" progId="Equation.DSMT4">
                  <p:embed/>
                  <p:pic>
                    <p:nvPicPr>
                      <p:cNvPr id="6" name="对象 5"/>
                      <p:cNvPicPr/>
                      <p:nvPr/>
                    </p:nvPicPr>
                    <p:blipFill>
                      <a:blip r:embed="rId8"/>
                      <a:stretch>
                        <a:fillRect/>
                      </a:stretch>
                    </p:blipFill>
                    <p:spPr>
                      <a:xfrm>
                        <a:off x="1260000" y="2057400"/>
                        <a:ext cx="208000" cy="288000"/>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260000" y="2362200"/>
          <a:ext cx="352000" cy="288000"/>
        </p:xfrm>
        <a:graphic>
          <a:graphicData uri="http://schemas.openxmlformats.org/presentationml/2006/ole">
            <mc:AlternateContent xmlns:mc="http://schemas.openxmlformats.org/markup-compatibility/2006">
              <mc:Choice xmlns:v="urn:schemas-microsoft-com:vml" Requires="v">
                <p:oleObj spid="_x0000_s412827" name="Equation" r:id="rId9" imgW="279360" imgH="228600" progId="Equation.DSMT4">
                  <p:embed/>
                </p:oleObj>
              </mc:Choice>
              <mc:Fallback>
                <p:oleObj name="Equation" r:id="rId9" imgW="279360" imgH="228600" progId="Equation.DSMT4">
                  <p:embed/>
                  <p:pic>
                    <p:nvPicPr>
                      <p:cNvPr id="7" name="对象 6"/>
                      <p:cNvPicPr/>
                      <p:nvPr/>
                    </p:nvPicPr>
                    <p:blipFill>
                      <a:blip r:embed="rId10"/>
                      <a:stretch>
                        <a:fillRect/>
                      </a:stretch>
                    </p:blipFill>
                    <p:spPr>
                      <a:xfrm>
                        <a:off x="1260000" y="2362200"/>
                        <a:ext cx="352000" cy="2880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948079090"/>
              </p:ext>
            </p:extLst>
          </p:nvPr>
        </p:nvGraphicFramePr>
        <p:xfrm>
          <a:off x="2209800" y="3429000"/>
          <a:ext cx="4512600" cy="588600"/>
        </p:xfrm>
        <a:graphic>
          <a:graphicData uri="http://schemas.openxmlformats.org/presentationml/2006/ole">
            <mc:AlternateContent xmlns:mc="http://schemas.openxmlformats.org/markup-compatibility/2006">
              <mc:Choice xmlns:v="urn:schemas-microsoft-com:vml" Requires="v">
                <p:oleObj spid="_x0000_s412828" name="Equation" r:id="rId11" imgW="1752480" imgH="228600" progId="Equation.DSMT4">
                  <p:embed/>
                </p:oleObj>
              </mc:Choice>
              <mc:Fallback>
                <p:oleObj name="Equation" r:id="rId11" imgW="1752480" imgH="228600" progId="Equation.DSMT4">
                  <p:embed/>
                  <p:pic>
                    <p:nvPicPr>
                      <p:cNvPr id="8" name="对象 7"/>
                      <p:cNvPicPr/>
                      <p:nvPr/>
                    </p:nvPicPr>
                    <p:blipFill>
                      <a:blip r:embed="rId12"/>
                      <a:stretch>
                        <a:fillRect/>
                      </a:stretch>
                    </p:blipFill>
                    <p:spPr>
                      <a:xfrm>
                        <a:off x="2209800" y="3429000"/>
                        <a:ext cx="4512600" cy="5886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524799737"/>
              </p:ext>
            </p:extLst>
          </p:nvPr>
        </p:nvGraphicFramePr>
        <p:xfrm>
          <a:off x="3399300" y="5274628"/>
          <a:ext cx="2133600" cy="980303"/>
        </p:xfrm>
        <a:graphic>
          <a:graphicData uri="http://schemas.openxmlformats.org/presentationml/2006/ole">
            <mc:AlternateContent xmlns:mc="http://schemas.openxmlformats.org/markup-compatibility/2006">
              <mc:Choice xmlns:v="urn:schemas-microsoft-com:vml" Requires="v">
                <p:oleObj spid="_x0000_s412829" name="Equation" r:id="rId13" imgW="939600" imgH="431640" progId="Equation.DSMT4">
                  <p:embed/>
                </p:oleObj>
              </mc:Choice>
              <mc:Fallback>
                <p:oleObj name="Equation" r:id="rId13" imgW="939600" imgH="431640" progId="Equation.DSMT4">
                  <p:embed/>
                  <p:pic>
                    <p:nvPicPr>
                      <p:cNvPr id="9" name="对象 8"/>
                      <p:cNvPicPr/>
                      <p:nvPr/>
                    </p:nvPicPr>
                    <p:blipFill>
                      <a:blip r:embed="rId14"/>
                      <a:stretch>
                        <a:fillRect/>
                      </a:stretch>
                    </p:blipFill>
                    <p:spPr>
                      <a:xfrm>
                        <a:off x="3399300" y="5274628"/>
                        <a:ext cx="2133600" cy="980303"/>
                      </a:xfrm>
                      <a:prstGeom prst="rect">
                        <a:avLst/>
                      </a:prstGeom>
                    </p:spPr>
                  </p:pic>
                </p:oleObj>
              </mc:Fallback>
            </mc:AlternateContent>
          </a:graphicData>
        </a:graphic>
      </p:graphicFrame>
    </p:spTree>
    <p:extLst>
      <p:ext uri="{BB962C8B-B14F-4D97-AF65-F5344CB8AC3E}">
        <p14:creationId xmlns:p14="http://schemas.microsoft.com/office/powerpoint/2010/main" val="27696031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r>
              <a:rPr lang="en-US" altLang="zh-CN"/>
              <a:t>( </a:t>
            </a:r>
            <a:fld id="{2E04F51F-E149-42CF-AB48-BAF6A42B818A}" type="slidenum">
              <a:rPr lang="en-US" altLang="zh-CN"/>
              <a:pPr>
                <a:defRPr/>
              </a:pPr>
              <a:t>26</a:t>
            </a:fld>
            <a:r>
              <a:rPr lang="en-US" altLang="zh-CN"/>
              <a:t> )</a:t>
            </a:r>
          </a:p>
        </p:txBody>
      </p:sp>
      <p:sp>
        <p:nvSpPr>
          <p:cNvPr id="21508" name="Text Box 13"/>
          <p:cNvSpPr txBox="1">
            <a:spLocks noChangeArrowheads="1"/>
          </p:cNvSpPr>
          <p:nvPr/>
        </p:nvSpPr>
        <p:spPr bwMode="auto">
          <a:xfrm>
            <a:off x="152400" y="457200"/>
            <a:ext cx="80772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宋体" pitchFamily="2" charset="-122"/>
              </a:defRPr>
            </a:lvl1pPr>
            <a:lvl2pPr marL="742950" indent="-285750" eaLnBrk="0" hangingPunct="0">
              <a:defRPr sz="2400">
                <a:solidFill>
                  <a:schemeClr val="tx1"/>
                </a:solidFill>
                <a:latin typeface="Times New Roman" pitchFamily="18" charset="0"/>
                <a:ea typeface="宋体" pitchFamily="2" charset="-122"/>
              </a:defRPr>
            </a:lvl2pPr>
            <a:lvl3pPr marL="1143000" indent="-228600" eaLnBrk="0" hangingPunct="0">
              <a:defRPr sz="2400">
                <a:solidFill>
                  <a:schemeClr val="tx1"/>
                </a:solidFill>
                <a:latin typeface="Times New Roman" pitchFamily="18" charset="0"/>
                <a:ea typeface="宋体" pitchFamily="2" charset="-122"/>
              </a:defRPr>
            </a:lvl3pPr>
            <a:lvl4pPr marL="1600200" indent="-228600" eaLnBrk="0" hangingPunct="0">
              <a:defRPr sz="2400">
                <a:solidFill>
                  <a:schemeClr val="tx1"/>
                </a:solidFill>
                <a:latin typeface="Times New Roman" pitchFamily="18" charset="0"/>
                <a:ea typeface="宋体" pitchFamily="2" charset="-122"/>
              </a:defRPr>
            </a:lvl4pPr>
            <a:lvl5pPr marL="2057400" indent="-228600" eaLnBrk="0" hangingPunct="0">
              <a:defRPr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a:solidFill>
                  <a:schemeClr val="tx1"/>
                </a:solidFill>
                <a:latin typeface="Times New Roman" pitchFamily="18" charset="0"/>
                <a:ea typeface="宋体" pitchFamily="2" charset="-122"/>
              </a:defRPr>
            </a:lvl9pPr>
          </a:lstStyle>
          <a:p>
            <a:pPr eaLnBrk="1" hangingPunct="1"/>
            <a:endParaRPr lang="en-US" altLang="zh-CN" sz="2000" dirty="0" smtClean="0">
              <a:latin typeface="Arial" charset="0"/>
            </a:endParaRPr>
          </a:p>
          <a:p>
            <a:pPr eaLnBrk="1" hangingPunct="1"/>
            <a:endParaRPr lang="en-US" altLang="zh-CN" sz="2000" dirty="0" smtClean="0">
              <a:latin typeface="Arial" charset="0"/>
            </a:endParaRPr>
          </a:p>
          <a:p>
            <a:pPr eaLnBrk="1" hangingPunct="1"/>
            <a:r>
              <a:rPr lang="en-US" altLang="zh-CN" sz="2000" dirty="0">
                <a:latin typeface="Arial" charset="0"/>
              </a:rPr>
              <a:t> </a:t>
            </a:r>
            <a:r>
              <a:rPr lang="en-US" altLang="zh-CN" sz="2000" dirty="0" smtClean="0">
                <a:latin typeface="Arial" charset="0"/>
              </a:rPr>
              <a:t>       </a:t>
            </a:r>
            <a:r>
              <a:rPr lang="zh-CN" altLang="en-US" sz="2000" dirty="0" smtClean="0">
                <a:latin typeface="Arial" charset="0"/>
              </a:rPr>
              <a:t>基于标准化以后的数据建立的回归模型为：</a:t>
            </a:r>
            <a:endParaRPr lang="en-US" altLang="zh-CN" sz="2000" dirty="0" smtClean="0">
              <a:latin typeface="Arial" charset="0"/>
            </a:endParaRPr>
          </a:p>
          <a:p>
            <a:pPr eaLnBrk="1" hangingPunct="1"/>
            <a:endParaRPr lang="en-US" altLang="zh-CN" sz="2000" dirty="0" smtClean="0">
              <a:latin typeface="Arial" charset="0"/>
            </a:endParaRPr>
          </a:p>
          <a:p>
            <a:pPr eaLnBrk="1" hangingPunct="1"/>
            <a:endParaRPr lang="en-US" altLang="zh-CN" sz="2000" dirty="0" smtClean="0">
              <a:latin typeface="Arial" charset="0"/>
            </a:endParaRPr>
          </a:p>
          <a:p>
            <a:pPr eaLnBrk="1" hangingPunct="1"/>
            <a:r>
              <a:rPr lang="en-US" altLang="zh-CN" sz="2000" dirty="0">
                <a:latin typeface="Arial" charset="0"/>
              </a:rPr>
              <a:t> </a:t>
            </a:r>
            <a:r>
              <a:rPr lang="en-US" altLang="zh-CN" sz="2000" dirty="0" smtClean="0">
                <a:latin typeface="Arial" charset="0"/>
              </a:rPr>
              <a:t>       </a:t>
            </a:r>
          </a:p>
          <a:p>
            <a:pPr eaLnBrk="1" hangingPunct="1"/>
            <a:r>
              <a:rPr lang="en-US" altLang="zh-CN" sz="2000" dirty="0">
                <a:latin typeface="Arial" charset="0"/>
              </a:rPr>
              <a:t> </a:t>
            </a:r>
            <a:r>
              <a:rPr lang="en-US" altLang="zh-CN" sz="2000" dirty="0" smtClean="0">
                <a:latin typeface="Arial" charset="0"/>
              </a:rPr>
              <a:t>       </a:t>
            </a:r>
            <a:r>
              <a:rPr lang="zh-CN" altLang="en-US" sz="2000" dirty="0" smtClean="0">
                <a:latin typeface="Arial" charset="0"/>
              </a:rPr>
              <a:t>回归系数间有下述关系：</a:t>
            </a:r>
            <a:endParaRPr lang="en-US" altLang="zh-CN" sz="2000" dirty="0" smtClean="0">
              <a:latin typeface="Arial" charset="0"/>
            </a:endParaRPr>
          </a:p>
          <a:p>
            <a:pPr eaLnBrk="1" hangingPunct="1"/>
            <a:endParaRPr lang="en-US" altLang="zh-CN" sz="2000" dirty="0" smtClean="0">
              <a:latin typeface="Arial" charset="0"/>
            </a:endParaRPr>
          </a:p>
          <a:p>
            <a:pPr eaLnBrk="1" hangingPunct="1"/>
            <a:endParaRPr lang="en-US" altLang="zh-CN" sz="2000" dirty="0" smtClean="0">
              <a:latin typeface="Arial" charset="0"/>
            </a:endParaRPr>
          </a:p>
          <a:p>
            <a:pPr eaLnBrk="1" hangingPunct="1"/>
            <a:endParaRPr lang="en-US" altLang="zh-CN" sz="2000" dirty="0" smtClean="0">
              <a:latin typeface="Arial" charset="0"/>
            </a:endParaRPr>
          </a:p>
          <a:p>
            <a:pPr eaLnBrk="1" hangingPunct="1"/>
            <a:r>
              <a:rPr lang="en-US" altLang="zh-CN" sz="2000" dirty="0">
                <a:latin typeface="Arial" charset="0"/>
              </a:rPr>
              <a:t> </a:t>
            </a:r>
            <a:r>
              <a:rPr lang="en-US" altLang="zh-CN" sz="2000" dirty="0" smtClean="0">
                <a:latin typeface="Arial" charset="0"/>
              </a:rPr>
              <a:t>       </a:t>
            </a:r>
          </a:p>
          <a:p>
            <a:pPr eaLnBrk="1" hangingPunct="1"/>
            <a:r>
              <a:rPr lang="en-US" altLang="zh-CN" sz="2000" dirty="0" smtClean="0">
                <a:latin typeface="Arial" charset="0"/>
              </a:rPr>
              <a:t>        </a:t>
            </a:r>
            <a:r>
              <a:rPr lang="zh-CN" altLang="en-US" sz="2000" dirty="0" smtClean="0">
                <a:latin typeface="Arial" charset="0"/>
              </a:rPr>
              <a:t>标准化回归系数的绝对值大小度量了解释变量的相对重要性</a:t>
            </a:r>
            <a:r>
              <a:rPr lang="en-US" altLang="zh-CN" sz="2000" dirty="0" smtClean="0">
                <a:latin typeface="Arial" charset="0"/>
              </a:rPr>
              <a:t>, </a:t>
            </a:r>
            <a:r>
              <a:rPr lang="zh-CN" altLang="en-US" sz="2000" dirty="0" smtClean="0">
                <a:latin typeface="Arial" charset="0"/>
              </a:rPr>
              <a:t>值越大</a:t>
            </a:r>
            <a:r>
              <a:rPr lang="en-US" altLang="zh-CN" sz="2000" dirty="0" smtClean="0">
                <a:latin typeface="Arial" charset="0"/>
              </a:rPr>
              <a:t>, </a:t>
            </a:r>
            <a:r>
              <a:rPr lang="zh-CN" altLang="en-US" sz="2000" dirty="0" smtClean="0">
                <a:latin typeface="Arial" charset="0"/>
              </a:rPr>
              <a:t>表明该解释变量对因变量的影响越大。</a:t>
            </a:r>
            <a:endParaRPr lang="en-US" altLang="zh-CN" sz="2000" dirty="0" smtClean="0">
              <a:latin typeface="Arial" charset="0"/>
            </a:endParaRPr>
          </a:p>
          <a:p>
            <a:pPr eaLnBrk="1" hangingPunct="1"/>
            <a:endParaRPr lang="en-US" altLang="zh-CN" sz="2000" dirty="0" smtClean="0">
              <a:latin typeface="Arial" charset="0"/>
            </a:endParaRPr>
          </a:p>
          <a:p>
            <a:pPr eaLnBrk="1" hangingPunct="1"/>
            <a:r>
              <a:rPr lang="zh-CN" altLang="en-US" sz="2000" dirty="0" smtClean="0">
                <a:latin typeface="Arial" charset="0"/>
              </a:rPr>
              <a:t>        在</a:t>
            </a:r>
            <a:r>
              <a:rPr lang="en-US" altLang="zh-CN" sz="2000" dirty="0" smtClean="0">
                <a:latin typeface="Arial" charset="0"/>
              </a:rPr>
              <a:t>R</a:t>
            </a:r>
            <a:r>
              <a:rPr lang="zh-CN" altLang="en-US" sz="2000" dirty="0" smtClean="0">
                <a:latin typeface="Arial" charset="0"/>
              </a:rPr>
              <a:t>中</a:t>
            </a:r>
            <a:r>
              <a:rPr lang="en-US" altLang="zh-CN" sz="2000" dirty="0" smtClean="0">
                <a:latin typeface="Arial" charset="0"/>
              </a:rPr>
              <a:t>, </a:t>
            </a:r>
            <a:r>
              <a:rPr lang="zh-CN" altLang="en-US" sz="2000" dirty="0" smtClean="0">
                <a:latin typeface="Arial" charset="0"/>
              </a:rPr>
              <a:t>用</a:t>
            </a:r>
            <a:r>
              <a:rPr lang="en-US" altLang="zh-CN" sz="2000" dirty="0" smtClean="0">
                <a:solidFill>
                  <a:srgbClr val="0033CC"/>
                </a:solidFill>
                <a:latin typeface="Arial" charset="0"/>
              </a:rPr>
              <a:t>scale(data)</a:t>
            </a:r>
            <a:r>
              <a:rPr lang="zh-CN" altLang="en-US" sz="2000" dirty="0" smtClean="0">
                <a:latin typeface="Arial" charset="0"/>
              </a:rPr>
              <a:t>实现标准化</a:t>
            </a:r>
            <a:endParaRPr lang="en-US" altLang="zh-CN" sz="2000" dirty="0" smtClean="0">
              <a:latin typeface="Arial" charset="0"/>
            </a:endParaRPr>
          </a:p>
          <a:p>
            <a:pPr eaLnBrk="1" hangingPunct="1"/>
            <a:endParaRPr lang="en-US" altLang="zh-CN" sz="2000" dirty="0">
              <a:latin typeface="Arial" charset="0"/>
            </a:endParaRPr>
          </a:p>
          <a:p>
            <a:pPr eaLnBrk="1" hangingPunct="1"/>
            <a:endParaRPr lang="zh-CN" altLang="en-US" sz="2000" dirty="0">
              <a:latin typeface="Arial"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188719458"/>
              </p:ext>
            </p:extLst>
          </p:nvPr>
        </p:nvGraphicFramePr>
        <p:xfrm>
          <a:off x="2971800" y="1676400"/>
          <a:ext cx="2121600" cy="461749"/>
        </p:xfrm>
        <a:graphic>
          <a:graphicData uri="http://schemas.openxmlformats.org/presentationml/2006/ole">
            <mc:AlternateContent xmlns:mc="http://schemas.openxmlformats.org/markup-compatibility/2006">
              <mc:Choice xmlns:v="urn:schemas-microsoft-com:vml" Requires="v">
                <p:oleObj spid="_x0000_s413748" name="Equation" r:id="rId4" imgW="1168200" imgH="253800" progId="Equation.DSMT4">
                  <p:embed/>
                </p:oleObj>
              </mc:Choice>
              <mc:Fallback>
                <p:oleObj name="Equation" r:id="rId4" imgW="1168200" imgH="253800" progId="Equation.DSMT4">
                  <p:embed/>
                  <p:pic>
                    <p:nvPicPr>
                      <p:cNvPr id="6" name="对象 5"/>
                      <p:cNvPicPr/>
                      <p:nvPr/>
                    </p:nvPicPr>
                    <p:blipFill>
                      <a:blip r:embed="rId5"/>
                      <a:stretch>
                        <a:fillRect/>
                      </a:stretch>
                    </p:blipFill>
                    <p:spPr>
                      <a:xfrm>
                        <a:off x="2971800" y="1676400"/>
                        <a:ext cx="2121600" cy="461749"/>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279637696"/>
              </p:ext>
            </p:extLst>
          </p:nvPr>
        </p:nvGraphicFramePr>
        <p:xfrm>
          <a:off x="2743200" y="2971800"/>
          <a:ext cx="4086144" cy="778313"/>
        </p:xfrm>
        <a:graphic>
          <a:graphicData uri="http://schemas.openxmlformats.org/presentationml/2006/ole">
            <mc:AlternateContent xmlns:mc="http://schemas.openxmlformats.org/markup-compatibility/2006">
              <mc:Choice xmlns:v="urn:schemas-microsoft-com:vml" Requires="v">
                <p:oleObj spid="_x0000_s413749" name="Equation" r:id="rId6" imgW="2400120" imgH="457200" progId="Equation.DSMT4">
                  <p:embed/>
                </p:oleObj>
              </mc:Choice>
              <mc:Fallback>
                <p:oleObj name="Equation" r:id="rId6" imgW="2400120" imgH="457200" progId="Equation.DSMT4">
                  <p:embed/>
                  <p:pic>
                    <p:nvPicPr>
                      <p:cNvPr id="10" name="对象 9"/>
                      <p:cNvPicPr/>
                      <p:nvPr/>
                    </p:nvPicPr>
                    <p:blipFill>
                      <a:blip r:embed="rId7"/>
                      <a:stretch>
                        <a:fillRect/>
                      </a:stretch>
                    </p:blipFill>
                    <p:spPr>
                      <a:xfrm>
                        <a:off x="2743200" y="2971800"/>
                        <a:ext cx="4086144" cy="778313"/>
                      </a:xfrm>
                      <a:prstGeom prst="rect">
                        <a:avLst/>
                      </a:prstGeom>
                    </p:spPr>
                  </p:pic>
                </p:oleObj>
              </mc:Fallback>
            </mc:AlternateContent>
          </a:graphicData>
        </a:graphic>
      </p:graphicFrame>
    </p:spTree>
    <p:extLst>
      <p:ext uri="{BB962C8B-B14F-4D97-AF65-F5344CB8AC3E}">
        <p14:creationId xmlns:p14="http://schemas.microsoft.com/office/powerpoint/2010/main" val="6293321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r>
              <a:rPr lang="en-US" altLang="zh-CN"/>
              <a:t>( </a:t>
            </a:r>
            <a:fld id="{6837E047-ECE8-404B-86B5-6ACF09BE07CC}" type="slidenum">
              <a:rPr lang="en-US" altLang="zh-CN"/>
              <a:pPr>
                <a:defRPr/>
              </a:pPr>
              <a:t>27</a:t>
            </a:fld>
            <a:r>
              <a:rPr lang="en-US" altLang="zh-CN"/>
              <a:t> )</a:t>
            </a:r>
          </a:p>
        </p:txBody>
      </p:sp>
      <p:sp>
        <p:nvSpPr>
          <p:cNvPr id="6" name="内容占位符 2"/>
          <p:cNvSpPr txBox="1">
            <a:spLocks/>
          </p:cNvSpPr>
          <p:nvPr/>
        </p:nvSpPr>
        <p:spPr>
          <a:xfrm>
            <a:off x="457200" y="332656"/>
            <a:ext cx="8229600" cy="579350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endPar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zh-CN" altLang="en-US" sz="2000" b="1" i="0" u="none" strike="noStrike" kern="1200" cap="none" spc="0" normalizeH="0" baseline="0" noProof="0" dirty="0" smtClean="0">
                <a:ln>
                  <a:noFill/>
                </a:ln>
                <a:solidFill>
                  <a:srgbClr val="333399"/>
                </a:solidFill>
                <a:effectLst/>
                <a:uLnTx/>
                <a:uFillTx/>
                <a:latin typeface="Calibri"/>
                <a:ea typeface="宋体"/>
                <a:cs typeface="+mn-cs"/>
              </a:rPr>
              <a:t>变量变换</a:t>
            </a:r>
            <a:endPar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000" dirty="0">
                <a:solidFill>
                  <a:sysClr val="windowText" lastClr="000000"/>
                </a:solidFill>
                <a:latin typeface="Calibri"/>
                <a:ea typeface="宋体"/>
              </a:rPr>
              <a:t> </a:t>
            </a:r>
            <a:r>
              <a:rPr lang="en-US" altLang="zh-CN" sz="2000" dirty="0" smtClean="0">
                <a:solidFill>
                  <a:sysClr val="windowText" lastClr="000000"/>
                </a:solidFill>
                <a:latin typeface="Calibri"/>
                <a:ea typeface="宋体"/>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解释变量与因变量之间</a:t>
            </a:r>
            <a:r>
              <a:rPr lang="zh-CN" altLang="en-US" sz="2000" dirty="0" smtClean="0">
                <a:solidFill>
                  <a:sysClr val="windowText" lastClr="000000"/>
                </a:solidFill>
                <a:latin typeface="Calibri"/>
                <a:ea typeface="宋体"/>
              </a:rPr>
              <a:t>如果是</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非线性关系</a:t>
            </a:r>
            <a:r>
              <a:rPr lang="en-US" altLang="zh-CN" sz="2000" dirty="0" smtClean="0">
                <a:solidFill>
                  <a:sysClr val="windowText" lastClr="000000"/>
                </a:solidFill>
                <a:latin typeface="Calibri"/>
                <a:ea typeface="宋体"/>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可以考虑对解释变量进行变换或建立多项式回归模型。</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smtClean="0">
                <a:ln>
                  <a:noFill/>
                </a:ln>
                <a:solidFill>
                  <a:sysClr val="windowText" lastClr="000000"/>
                </a:solidFill>
                <a:effectLst/>
                <a:uLnTx/>
                <a:uFillTx/>
                <a:latin typeface="Calibri"/>
                <a:ea typeface="宋体"/>
                <a:cs typeface="+mn-cs"/>
              </a:rPr>
              <a:t>        多项式回归</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是把一个解释变量的幂变换作为新的解释变量引入回归模型。</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000" b="0" i="0" u="none" strike="noStrike" kern="1200" cap="none" spc="0" normalizeH="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为简化表述</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不妨假设只有一个原始解释变量</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则</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m</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次多项式回归模型的基本形式如下：</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000" b="0" i="0" u="none" strike="noStrike" kern="1200" cap="none" spc="0" normalizeH="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所以多项式回归也属于线性回归模型。</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20771667"/>
              </p:ext>
            </p:extLst>
          </p:nvPr>
        </p:nvGraphicFramePr>
        <p:xfrm>
          <a:off x="2514600" y="4343400"/>
          <a:ext cx="3189287" cy="381000"/>
        </p:xfrm>
        <a:graphic>
          <a:graphicData uri="http://schemas.openxmlformats.org/presentationml/2006/ole">
            <mc:AlternateContent xmlns:mc="http://schemas.openxmlformats.org/markup-compatibility/2006">
              <mc:Choice xmlns:v="urn:schemas-microsoft-com:vml" Requires="v">
                <p:oleObj spid="_x0000_s414746" name="Equation" r:id="rId3" imgW="2019240" imgH="241200" progId="Equation.DSMT4">
                  <p:embed/>
                </p:oleObj>
              </mc:Choice>
              <mc:Fallback>
                <p:oleObj name="Equation" r:id="rId3" imgW="2019240" imgH="241200" progId="Equation.DSMT4">
                  <p:embed/>
                  <p:pic>
                    <p:nvPicPr>
                      <p:cNvPr id="2" name="对象 1"/>
                      <p:cNvPicPr/>
                      <p:nvPr/>
                    </p:nvPicPr>
                    <p:blipFill>
                      <a:blip r:embed="rId4"/>
                      <a:stretch>
                        <a:fillRect/>
                      </a:stretch>
                    </p:blipFill>
                    <p:spPr>
                      <a:xfrm>
                        <a:off x="2514600" y="4343400"/>
                        <a:ext cx="3189287" cy="381000"/>
                      </a:xfrm>
                      <a:prstGeom prst="rect">
                        <a:avLst/>
                      </a:prstGeom>
                    </p:spPr>
                  </p:pic>
                </p:oleObj>
              </mc:Fallback>
            </mc:AlternateContent>
          </a:graphicData>
        </a:graphic>
      </p:graphicFrame>
    </p:spTree>
    <p:extLst>
      <p:ext uri="{BB962C8B-B14F-4D97-AF65-F5344CB8AC3E}">
        <p14:creationId xmlns:p14="http://schemas.microsoft.com/office/powerpoint/2010/main" val="34042852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r>
              <a:rPr lang="en-US" altLang="zh-CN"/>
              <a:t>( </a:t>
            </a:r>
            <a:fld id="{6837E047-ECE8-404B-86B5-6ACF09BE07CC}" type="slidenum">
              <a:rPr lang="en-US" altLang="zh-CN"/>
              <a:pPr>
                <a:defRPr/>
              </a:pPr>
              <a:t>28</a:t>
            </a:fld>
            <a:r>
              <a:rPr lang="en-US" altLang="zh-CN"/>
              <a:t> )</a:t>
            </a:r>
          </a:p>
        </p:txBody>
      </p:sp>
      <p:sp>
        <p:nvSpPr>
          <p:cNvPr id="6" name="内容占位符 2"/>
          <p:cNvSpPr txBox="1">
            <a:spLocks/>
          </p:cNvSpPr>
          <p:nvPr/>
        </p:nvSpPr>
        <p:spPr>
          <a:xfrm>
            <a:off x="457200" y="332656"/>
            <a:ext cx="8229600" cy="579350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indent="0" fontAlgn="auto">
              <a:spcAft>
                <a:spcPts val="0"/>
              </a:spcAft>
              <a:buNone/>
              <a:defRPr/>
            </a:pP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indent="0" fontAlgn="auto">
              <a:spcAft>
                <a:spcPts val="0"/>
              </a:spcAft>
              <a:buNone/>
              <a:defRPr/>
            </a:pPr>
            <a:endParaRPr lang="en-US" altLang="zh-CN" sz="2000" dirty="0">
              <a:solidFill>
                <a:sysClr val="windowText" lastClr="000000"/>
              </a:solidFill>
              <a:latin typeface="Calibri"/>
              <a:ea typeface="宋体"/>
            </a:endParaRPr>
          </a:p>
          <a:p>
            <a:pPr marL="0" indent="0" fontAlgn="auto">
              <a:spcAft>
                <a:spcPts val="0"/>
              </a:spcAft>
              <a:buNone/>
              <a:defRPr/>
            </a:pPr>
            <a:r>
              <a:rPr lang="en-US" altLang="zh-CN" sz="2000" dirty="0">
                <a:solidFill>
                  <a:sysClr val="windowText" lastClr="000000"/>
                </a:solidFill>
                <a:latin typeface="Calibri"/>
                <a:ea typeface="宋体"/>
              </a:rPr>
              <a:t> </a:t>
            </a:r>
            <a:r>
              <a:rPr lang="en-US" altLang="zh-CN" sz="2000" dirty="0" smtClean="0">
                <a:solidFill>
                  <a:sysClr val="windowText" lastClr="000000"/>
                </a:solidFill>
                <a:latin typeface="Calibri"/>
                <a:ea typeface="宋体"/>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在普通多项式回归中</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多项式的阶数不同 </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参数估计结果也不同。</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indent="0" fontAlgn="auto">
              <a:spcAft>
                <a:spcPts val="0"/>
              </a:spcAft>
              <a:buNone/>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indent="0" fontAlgn="auto">
              <a:spcAft>
                <a:spcPts val="0"/>
              </a:spcAft>
              <a:buNone/>
              <a:defRPr/>
            </a:pPr>
            <a:r>
              <a:rPr lang="en-US" altLang="zh-CN" sz="2000" dirty="0">
                <a:solidFill>
                  <a:sysClr val="windowText" lastClr="000000"/>
                </a:solidFill>
                <a:latin typeface="Calibri"/>
                <a:ea typeface="宋体"/>
              </a:rPr>
              <a:t> </a:t>
            </a:r>
            <a:r>
              <a:rPr lang="en-US" altLang="zh-CN" sz="2000" dirty="0" smtClean="0">
                <a:solidFill>
                  <a:sysClr val="windowText" lastClr="000000"/>
                </a:solidFill>
                <a:latin typeface="Calibri"/>
                <a:ea typeface="宋体"/>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为了克服这种缺陷</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可以使用</a:t>
            </a:r>
            <a:r>
              <a:rPr kumimoji="0" lang="zh-CN" altLang="en-US" sz="2000" b="1" i="0" u="none" strike="noStrike" kern="1200" cap="none" spc="0" normalizeH="0" baseline="0" noProof="0" dirty="0" smtClean="0">
                <a:ln>
                  <a:noFill/>
                </a:ln>
                <a:solidFill>
                  <a:sysClr val="windowText" lastClr="000000"/>
                </a:solidFill>
                <a:effectLst/>
                <a:uLnTx/>
                <a:uFillTx/>
                <a:latin typeface="Calibri"/>
                <a:ea typeface="宋体"/>
                <a:cs typeface="+mn-cs"/>
              </a:rPr>
              <a:t>正交多项式回归</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模型 </a:t>
            </a:r>
            <a:r>
              <a:rPr lang="en-US" altLang="zh-CN" sz="2000" dirty="0" smtClean="0">
                <a:solidFill>
                  <a:sysClr val="windowText" lastClr="000000"/>
                </a:solidFill>
                <a:latin typeface="Calibri"/>
              </a:rPr>
              <a:t>, </a:t>
            </a:r>
            <a:r>
              <a:rPr lang="zh-CN" altLang="en-US" sz="2000" dirty="0" smtClean="0">
                <a:solidFill>
                  <a:sysClr val="windowText" lastClr="000000"/>
                </a:solidFill>
                <a:latin typeface="Calibri"/>
              </a:rPr>
              <a:t>即</a:t>
            </a:r>
            <a:r>
              <a:rPr lang="zh-CN" altLang="en-US" sz="2000" dirty="0">
                <a:solidFill>
                  <a:sysClr val="windowText" lastClr="000000"/>
                </a:solidFill>
                <a:latin typeface="Calibri"/>
              </a:rPr>
              <a:t>把原来的解释变量 转化</a:t>
            </a:r>
            <a:r>
              <a:rPr lang="zh-CN" altLang="en-US" sz="2000" dirty="0" smtClean="0">
                <a:solidFill>
                  <a:sysClr val="windowText" lastClr="000000"/>
                </a:solidFill>
                <a:latin typeface="Calibri"/>
              </a:rPr>
              <a:t>为新</a:t>
            </a:r>
            <a:r>
              <a:rPr lang="zh-CN" altLang="en-US" sz="2000" dirty="0">
                <a:solidFill>
                  <a:sysClr val="windowText" lastClr="000000"/>
                </a:solidFill>
                <a:latin typeface="Calibri"/>
              </a:rPr>
              <a:t>的正交解释</a:t>
            </a:r>
            <a:r>
              <a:rPr lang="zh-CN" altLang="en-US" sz="2000" dirty="0" smtClean="0">
                <a:solidFill>
                  <a:sysClr val="windowText" lastClr="000000"/>
                </a:solidFill>
                <a:latin typeface="Calibri"/>
              </a:rPr>
              <a:t>变量。</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000" dirty="0">
                <a:solidFill>
                  <a:sysClr val="windowText" lastClr="000000"/>
                </a:solidFill>
                <a:latin typeface="Calibri"/>
                <a:ea typeface="宋体"/>
              </a:rPr>
              <a:t> </a:t>
            </a:r>
            <a:r>
              <a:rPr lang="en-US" altLang="zh-CN" sz="2000" dirty="0" smtClean="0">
                <a:solidFill>
                  <a:sysClr val="windowText" lastClr="000000"/>
                </a:solidFill>
                <a:latin typeface="Calibri"/>
                <a:ea typeface="宋体"/>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譬如 </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lang="zh-CN" altLang="en-US" sz="2000" noProof="0" dirty="0" smtClean="0">
                <a:solidFill>
                  <a:sysClr val="windowText" lastClr="000000"/>
                </a:solidFill>
                <a:latin typeface="Calibri"/>
                <a:ea typeface="宋体"/>
              </a:rPr>
              <a:t>三阶正交多项式回归模型为表示为：</a:t>
            </a:r>
            <a:endParaRPr lang="en-US" altLang="zh-CN" sz="2000" noProof="0" dirty="0" smtClean="0">
              <a:solidFill>
                <a:sysClr val="windowText" lastClr="000000"/>
              </a:solidFill>
              <a:latin typeface="Calibri"/>
              <a:ea typeface="宋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89578262"/>
              </p:ext>
            </p:extLst>
          </p:nvPr>
        </p:nvGraphicFramePr>
        <p:xfrm>
          <a:off x="1905000" y="3810000"/>
          <a:ext cx="4233331" cy="609600"/>
        </p:xfrm>
        <a:graphic>
          <a:graphicData uri="http://schemas.openxmlformats.org/presentationml/2006/ole">
            <mc:AlternateContent xmlns:mc="http://schemas.openxmlformats.org/markup-compatibility/2006">
              <mc:Choice xmlns:v="urn:schemas-microsoft-com:vml" Requires="v">
                <p:oleObj spid="_x0000_s415770" name="Equation" r:id="rId3" imgW="1587240" imgH="228600" progId="Equation.DSMT4">
                  <p:embed/>
                </p:oleObj>
              </mc:Choice>
              <mc:Fallback>
                <p:oleObj name="Equation" r:id="rId3" imgW="1587240" imgH="228600" progId="Equation.DSMT4">
                  <p:embed/>
                  <p:pic>
                    <p:nvPicPr>
                      <p:cNvPr id="3" name="对象 2"/>
                      <p:cNvPicPr/>
                      <p:nvPr/>
                    </p:nvPicPr>
                    <p:blipFill>
                      <a:blip r:embed="rId4"/>
                      <a:stretch>
                        <a:fillRect/>
                      </a:stretch>
                    </p:blipFill>
                    <p:spPr>
                      <a:xfrm>
                        <a:off x="1905000" y="3810000"/>
                        <a:ext cx="4233331" cy="609600"/>
                      </a:xfrm>
                      <a:prstGeom prst="rect">
                        <a:avLst/>
                      </a:prstGeom>
                    </p:spPr>
                  </p:pic>
                </p:oleObj>
              </mc:Fallback>
            </mc:AlternateContent>
          </a:graphicData>
        </a:graphic>
      </p:graphicFrame>
    </p:spTree>
    <p:extLst>
      <p:ext uri="{BB962C8B-B14F-4D97-AF65-F5344CB8AC3E}">
        <p14:creationId xmlns:p14="http://schemas.microsoft.com/office/powerpoint/2010/main" val="23925201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r>
              <a:rPr lang="en-US" altLang="zh-CN" smtClean="0"/>
              <a:t>( </a:t>
            </a:r>
            <a:fld id="{E4706E09-746E-47F2-A172-5718E8C4482E}" type="slidenum">
              <a:rPr lang="en-US" altLang="zh-CN" smtClean="0"/>
              <a:pPr>
                <a:defRPr/>
              </a:pPr>
              <a:t>29</a:t>
            </a:fld>
            <a:r>
              <a:rPr lang="en-US" altLang="zh-CN" smtClean="0"/>
              <a:t> )</a:t>
            </a:r>
            <a:endParaRPr lang="en-US" altLang="zh-CN"/>
          </a:p>
        </p:txBody>
      </p:sp>
      <p:sp>
        <p:nvSpPr>
          <p:cNvPr id="7" name="矩形 6"/>
          <p:cNvSpPr/>
          <p:nvPr/>
        </p:nvSpPr>
        <p:spPr>
          <a:xfrm>
            <a:off x="381000" y="533400"/>
            <a:ext cx="8458200" cy="5861476"/>
          </a:xfrm>
          <a:prstGeom prst="rect">
            <a:avLst/>
          </a:prstGeom>
        </p:spPr>
        <p:txBody>
          <a:bodyPr wrap="square">
            <a:spAutoFit/>
          </a:bodyPr>
          <a:lstStyle/>
          <a:p>
            <a:pPr>
              <a:lnSpc>
                <a:spcPct val="150000"/>
              </a:lnSpc>
            </a:pPr>
            <a:r>
              <a:rPr lang="zh-CN" altLang="en-US" sz="1800" dirty="0" smtClean="0">
                <a:latin typeface="Arial Unicode MS" panose="020B0604020202020204" pitchFamily="34" charset="-122"/>
                <a:ea typeface="Arial Unicode MS" panose="020B0604020202020204" pitchFamily="34" charset="-122"/>
                <a:cs typeface="Arial Unicode MS" panose="020B0604020202020204" pitchFamily="34" charset="-122"/>
              </a:rPr>
              <a:t>在</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R</a:t>
            </a:r>
            <a:r>
              <a:rPr lang="zh-CN" altLang="en-US" sz="1800" dirty="0" smtClean="0">
                <a:latin typeface="Arial Unicode MS" panose="020B0604020202020204" pitchFamily="34" charset="-122"/>
                <a:ea typeface="Arial Unicode MS" panose="020B0604020202020204" pitchFamily="34" charset="-122"/>
                <a:cs typeface="Arial Unicode MS" panose="020B0604020202020204" pitchFamily="34" charset="-122"/>
              </a:rPr>
              <a:t>中的实现：</a:t>
            </a:r>
            <a:endPar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50000"/>
              </a:lnSpc>
            </a:pPr>
            <a:endPar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50000"/>
              </a:lnSpc>
            </a:pP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set.seed</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(10</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a:t>
            </a:r>
          </a:p>
          <a:p>
            <a:pPr>
              <a:lnSpc>
                <a:spcPct val="150000"/>
              </a:lnSpc>
            </a:pP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x = 1:20</a:t>
            </a:r>
            <a:endPar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50000"/>
              </a:lnSpc>
            </a:pP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y = 2 + x +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x^2</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runif</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(20</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)*50</a:t>
            </a:r>
          </a:p>
          <a:p>
            <a:pPr>
              <a:lnSpc>
                <a:spcPct val="150000"/>
              </a:lnSpc>
            </a:pP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mod1</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lm(</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y~x</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a:t>
            </a:r>
          </a:p>
          <a:p>
            <a:pPr>
              <a:lnSpc>
                <a:spcPct val="150000"/>
              </a:lnSpc>
            </a:pP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mod2</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lm(</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y~poly</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(x, 2</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a:t>
            </a:r>
          </a:p>
          <a:p>
            <a:pPr>
              <a:lnSpc>
                <a:spcPct val="150000"/>
              </a:lnSpc>
            </a:pP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mod3</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lm(</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y~poly</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(x, 19</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a:t>
            </a:r>
          </a:p>
          <a:p>
            <a:pPr>
              <a:lnSpc>
                <a:spcPct val="150000"/>
              </a:lnSpc>
            </a:pP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plot(y ~ x,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yaxs</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i</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pch</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19,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ylim</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c(0, 500),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xlim</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c(0, 21),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xaxs</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i</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las = 1</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a:t>
            </a:r>
          </a:p>
          <a:p>
            <a:pPr>
              <a:lnSpc>
                <a:spcPct val="150000"/>
              </a:lnSpc>
            </a:pPr>
            <a:r>
              <a:rPr lang="en-US" altLang="zh-CN" sz="1800" dirty="0" err="1">
                <a:latin typeface="Arial Unicode MS" panose="020B0604020202020204" pitchFamily="34" charset="-122"/>
                <a:ea typeface="Arial Unicode MS" panose="020B0604020202020204" pitchFamily="34" charset="-122"/>
                <a:cs typeface="Arial Unicode MS" panose="020B0604020202020204" pitchFamily="34" charset="-122"/>
              </a:rPr>
              <a:t>abline</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(mod1)</a:t>
            </a:r>
          </a:p>
          <a:p>
            <a:pPr>
              <a:lnSpc>
                <a:spcPct val="150000"/>
              </a:lnSpc>
            </a:pP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points(x, fitted(</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mod2</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col = 2, type = 'l',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lty</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4,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pch</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a:t>
            </a:r>
            <a:endPar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50000"/>
              </a:lnSpc>
            </a:pP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points(x, fitted(</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mod3</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col = 4, type = 'l',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lty</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5,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pch</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a:t>
            </a:r>
            <a:endPar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50000"/>
              </a:lnSpc>
            </a:pP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legend(1, 450, c</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1800" dirty="0">
                <a:latin typeface="Arial Unicode MS" panose="020B0604020202020204" pitchFamily="34" charset="-122"/>
                <a:ea typeface="Arial Unicode MS" panose="020B0604020202020204" pitchFamily="34" charset="-122"/>
                <a:cs typeface="Arial Unicode MS" panose="020B0604020202020204" pitchFamily="34" charset="-122"/>
              </a:rPr>
              <a:t>一元线性回归</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1800" dirty="0">
                <a:latin typeface="Arial Unicode MS" panose="020B0604020202020204" pitchFamily="34" charset="-122"/>
                <a:ea typeface="Arial Unicode MS" panose="020B0604020202020204" pitchFamily="34" charset="-122"/>
                <a:cs typeface="Arial Unicode MS" panose="020B0604020202020204" pitchFamily="34" charset="-122"/>
              </a:rPr>
              <a:t>二次多项式回归</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'19</a:t>
            </a:r>
            <a:r>
              <a:rPr lang="zh-CN" altLang="en-US" sz="1800" dirty="0">
                <a:latin typeface="Arial Unicode MS" panose="020B0604020202020204" pitchFamily="34" charset="-122"/>
                <a:ea typeface="Arial Unicode MS" panose="020B0604020202020204" pitchFamily="34" charset="-122"/>
                <a:cs typeface="Arial Unicode MS" panose="020B0604020202020204" pitchFamily="34" charset="-122"/>
              </a:rPr>
              <a:t>次多项式回归</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dirty="0" err="1" smtClean="0">
                <a:latin typeface="Arial Unicode MS" panose="020B0604020202020204" pitchFamily="34" charset="-122"/>
                <a:ea typeface="Arial Unicode MS" panose="020B0604020202020204" pitchFamily="34" charset="-122"/>
                <a:cs typeface="Arial Unicode MS" panose="020B0604020202020204" pitchFamily="34" charset="-122"/>
              </a:rPr>
              <a:t>lty</a:t>
            </a:r>
            <a:r>
              <a:rPr lang="en-US" altLang="zh-CN" sz="1800" dirty="0" smtClean="0">
                <a:latin typeface="Arial Unicode MS" panose="020B0604020202020204" pitchFamily="34" charset="-122"/>
                <a:ea typeface="Arial Unicode MS" panose="020B0604020202020204" pitchFamily="34" charset="-122"/>
                <a:cs typeface="Arial Unicode MS" panose="020B0604020202020204" pitchFamily="34" charset="-122"/>
              </a:rPr>
              <a:t> = c(1, 2, 3),  col = c(1, 2, 4</a:t>
            </a:r>
            <a:r>
              <a:rPr lang="en-US" altLang="zh-CN" sz="1800" dirty="0">
                <a:latin typeface="Arial Unicode MS" panose="020B0604020202020204" pitchFamily="34" charset="-122"/>
                <a:ea typeface="Arial Unicode MS" panose="020B0604020202020204" pitchFamily="34" charset="-122"/>
                <a:cs typeface="Arial Unicode MS" panose="020B0604020202020204" pitchFamily="34" charset="-122"/>
              </a:rPr>
              <a:t>)) </a:t>
            </a:r>
          </a:p>
        </p:txBody>
      </p:sp>
    </p:spTree>
    <p:extLst>
      <p:ext uri="{BB962C8B-B14F-4D97-AF65-F5344CB8AC3E}">
        <p14:creationId xmlns:p14="http://schemas.microsoft.com/office/powerpoint/2010/main" val="1108472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r>
              <a:rPr lang="en-US" altLang="zh-CN" smtClean="0"/>
              <a:t>( </a:t>
            </a:r>
            <a:fld id="{E4706E09-746E-47F2-A172-5718E8C4482E}" type="slidenum">
              <a:rPr lang="en-US" altLang="zh-CN" smtClean="0"/>
              <a:pPr>
                <a:defRPr/>
              </a:pPr>
              <a:t>30</a:t>
            </a:fld>
            <a:r>
              <a:rPr lang="en-US" altLang="zh-CN" smtClean="0"/>
              <a:t> )</a:t>
            </a:r>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685800"/>
            <a:ext cx="5440680" cy="5432535"/>
          </a:xfrm>
          <a:prstGeom prst="rect">
            <a:avLst/>
          </a:prstGeom>
        </p:spPr>
      </p:pic>
    </p:spTree>
    <p:extLst>
      <p:ext uri="{BB962C8B-B14F-4D97-AF65-F5344CB8AC3E}">
        <p14:creationId xmlns:p14="http://schemas.microsoft.com/office/powerpoint/2010/main" val="32713313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381000"/>
            <a:ext cx="7391400" cy="5749925"/>
          </a:xfrm>
        </p:spPr>
        <p:txBody>
          <a:bodyPr/>
          <a:lstStyle/>
          <a:p>
            <a:pPr marL="0" indent="0">
              <a:buNone/>
            </a:pPr>
            <a:endParaRPr lang="en-US" altLang="zh-CN" sz="2000" dirty="0" smtClean="0"/>
          </a:p>
          <a:p>
            <a:pPr marL="0" indent="0">
              <a:buNone/>
            </a:pPr>
            <a:r>
              <a:rPr lang="zh-CN" altLang="en-US" sz="2000" dirty="0" smtClean="0"/>
              <a:t>       如果</a:t>
            </a:r>
            <a:r>
              <a:rPr lang="zh-CN" altLang="en-US" sz="2000" dirty="0"/>
              <a:t>解释</a:t>
            </a:r>
            <a:r>
              <a:rPr lang="zh-CN" altLang="en-US" sz="2000" dirty="0" smtClean="0"/>
              <a:t>变量取值较大</a:t>
            </a:r>
            <a:r>
              <a:rPr lang="en-US" altLang="zh-CN" sz="2000" dirty="0" smtClean="0"/>
              <a:t>, </a:t>
            </a:r>
            <a:r>
              <a:rPr lang="zh-CN" altLang="en-US" sz="2000" dirty="0" smtClean="0"/>
              <a:t>多项式模型中高次项</a:t>
            </a:r>
            <a:r>
              <a:rPr lang="zh-CN" altLang="en-US" sz="2000" dirty="0"/>
              <a:t>可能</a:t>
            </a:r>
            <a:r>
              <a:rPr lang="zh-CN" altLang="en-US" sz="2000" dirty="0" smtClean="0"/>
              <a:t>会导致计算溢出</a:t>
            </a:r>
            <a:r>
              <a:rPr lang="en-US" altLang="zh-CN" sz="2000" dirty="0" smtClean="0"/>
              <a:t>, </a:t>
            </a:r>
            <a:r>
              <a:rPr lang="zh-CN" altLang="en-US" sz="2000" dirty="0" smtClean="0"/>
              <a:t>从而使得对其参数的估计值出现下溢。解决</a:t>
            </a:r>
            <a:r>
              <a:rPr lang="zh-CN" altLang="en-US" sz="2000" dirty="0"/>
              <a:t>这一</a:t>
            </a:r>
            <a:r>
              <a:rPr lang="zh-CN" altLang="en-US" sz="2000" dirty="0" smtClean="0"/>
              <a:t>问题</a:t>
            </a:r>
            <a:r>
              <a:rPr lang="zh-CN" altLang="en-US" sz="2000" dirty="0"/>
              <a:t>的常用方法是</a:t>
            </a:r>
            <a:r>
              <a:rPr lang="zh-CN" altLang="en-US" sz="2000" dirty="0" smtClean="0"/>
              <a:t>对解释变量进行</a:t>
            </a:r>
            <a:r>
              <a:rPr lang="zh-CN" altLang="en-US" sz="2000" dirty="0"/>
              <a:t>下述</a:t>
            </a:r>
            <a:r>
              <a:rPr lang="zh-CN" altLang="en-US" sz="2000" dirty="0" smtClean="0"/>
              <a:t>变换：</a:t>
            </a:r>
            <a:endParaRPr lang="en-US" altLang="zh-CN" sz="2000" dirty="0" smtClean="0"/>
          </a:p>
          <a:p>
            <a:pPr marL="0" indent="0">
              <a:buNone/>
            </a:pPr>
            <a:endParaRPr lang="en-US" altLang="zh-CN" sz="2000" dirty="0" smtClean="0"/>
          </a:p>
          <a:p>
            <a:pPr marL="0" indent="0">
              <a:buNone/>
            </a:pPr>
            <a:endParaRPr lang="en-US" altLang="zh-CN" sz="2000" dirty="0"/>
          </a:p>
          <a:p>
            <a:pPr marL="0" indent="0">
              <a:buNone/>
            </a:pPr>
            <a:endParaRPr lang="en-US" altLang="zh-CN" sz="2000" dirty="0" smtClean="0"/>
          </a:p>
          <a:p>
            <a:pPr marL="0" indent="0">
              <a:buNone/>
            </a:pPr>
            <a:r>
              <a:rPr lang="zh-CN" altLang="en-US" sz="2000" dirty="0" smtClean="0"/>
              <a:t>        如果模型中包含多个自变量</a:t>
            </a:r>
            <a:r>
              <a:rPr lang="en-US" altLang="zh-CN" sz="2000" dirty="0" smtClean="0"/>
              <a:t>(</a:t>
            </a:r>
            <a:r>
              <a:rPr lang="zh-CN" altLang="en-US" sz="2000" dirty="0" smtClean="0"/>
              <a:t>譬如两个</a:t>
            </a:r>
            <a:r>
              <a:rPr lang="en-US" altLang="zh-CN" sz="2000" dirty="0" smtClean="0"/>
              <a:t>), </a:t>
            </a:r>
            <a:r>
              <a:rPr lang="zh-CN" altLang="en-US" sz="2000" dirty="0" smtClean="0"/>
              <a:t>则模型可表示为：</a:t>
            </a:r>
            <a:endParaRPr lang="en-US" altLang="zh-CN" sz="2000" dirty="0" smtClean="0"/>
          </a:p>
          <a:p>
            <a:pPr marL="0" indent="0">
              <a:buNone/>
            </a:pPr>
            <a:endParaRPr lang="en-US" altLang="zh-CN" sz="2000" dirty="0"/>
          </a:p>
          <a:p>
            <a:pPr marL="0" indent="0">
              <a:buNone/>
            </a:pPr>
            <a:endParaRPr lang="en-US" altLang="zh-CN" sz="2000" dirty="0" smtClean="0"/>
          </a:p>
          <a:p>
            <a:pPr marL="0" indent="0">
              <a:buNone/>
            </a:pPr>
            <a:r>
              <a:rPr lang="zh-CN" altLang="en-US" sz="2000" dirty="0" smtClean="0"/>
              <a:t>       在多项式回归模型中</a:t>
            </a:r>
            <a:r>
              <a:rPr lang="en-US" altLang="zh-CN" sz="2000" dirty="0" smtClean="0"/>
              <a:t>, </a:t>
            </a:r>
            <a:r>
              <a:rPr lang="zh-CN" altLang="en-US" sz="2000" dirty="0" smtClean="0"/>
              <a:t>如果已经包含高次项</a:t>
            </a:r>
            <a:r>
              <a:rPr lang="en-US" altLang="zh-CN" sz="2000" dirty="0" smtClean="0"/>
              <a:t>, </a:t>
            </a:r>
            <a:r>
              <a:rPr lang="zh-CN" altLang="en-US" sz="2000" dirty="0" smtClean="0"/>
              <a:t>则所有的低次项通常也要保留在模型中。</a:t>
            </a:r>
            <a:endParaRPr lang="zh-CN" altLang="en-US" sz="2000" dirty="0"/>
          </a:p>
        </p:txBody>
      </p:sp>
      <p:sp>
        <p:nvSpPr>
          <p:cNvPr id="5" name="灯片编号占位符 4"/>
          <p:cNvSpPr>
            <a:spLocks noGrp="1"/>
          </p:cNvSpPr>
          <p:nvPr>
            <p:ph type="sldNum" sz="quarter" idx="12"/>
          </p:nvPr>
        </p:nvSpPr>
        <p:spPr/>
        <p:txBody>
          <a:bodyPr/>
          <a:lstStyle/>
          <a:p>
            <a:pPr>
              <a:defRPr/>
            </a:pPr>
            <a:r>
              <a:rPr lang="en-US" altLang="zh-CN" smtClean="0"/>
              <a:t>( </a:t>
            </a:r>
            <a:fld id="{E4706E09-746E-47F2-A172-5718E8C4482E}" type="slidenum">
              <a:rPr lang="en-US" altLang="zh-CN" smtClean="0"/>
              <a:pPr>
                <a:defRPr/>
              </a:pPr>
              <a:t>31</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3715987906"/>
              </p:ext>
            </p:extLst>
          </p:nvPr>
        </p:nvGraphicFramePr>
        <p:xfrm>
          <a:off x="2971800" y="2286000"/>
          <a:ext cx="1886824" cy="648000"/>
        </p:xfrm>
        <a:graphic>
          <a:graphicData uri="http://schemas.openxmlformats.org/presentationml/2006/ole">
            <mc:AlternateContent xmlns:mc="http://schemas.openxmlformats.org/markup-compatibility/2006">
              <mc:Choice xmlns:v="urn:schemas-microsoft-com:vml" Requires="v">
                <p:oleObj spid="_x0000_s416818" name="Equation" r:id="rId3" imgW="1257120" imgH="431640" progId="Equation.DSMT4">
                  <p:embed/>
                </p:oleObj>
              </mc:Choice>
              <mc:Fallback>
                <p:oleObj name="Equation" r:id="rId3" imgW="1257120" imgH="431640" progId="Equation.DSMT4">
                  <p:embed/>
                  <p:pic>
                    <p:nvPicPr>
                      <p:cNvPr id="6" name="对象 5"/>
                      <p:cNvPicPr/>
                      <p:nvPr/>
                    </p:nvPicPr>
                    <p:blipFill>
                      <a:blip r:embed="rId4"/>
                      <a:stretch>
                        <a:fillRect/>
                      </a:stretch>
                    </p:blipFill>
                    <p:spPr>
                      <a:xfrm>
                        <a:off x="2971800" y="2286000"/>
                        <a:ext cx="1886824" cy="6480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69878649"/>
              </p:ext>
            </p:extLst>
          </p:nvPr>
        </p:nvGraphicFramePr>
        <p:xfrm>
          <a:off x="2057400" y="3998993"/>
          <a:ext cx="4376841" cy="360000"/>
        </p:xfrm>
        <a:graphic>
          <a:graphicData uri="http://schemas.openxmlformats.org/presentationml/2006/ole">
            <mc:AlternateContent xmlns:mc="http://schemas.openxmlformats.org/markup-compatibility/2006">
              <mc:Choice xmlns:v="urn:schemas-microsoft-com:vml" Requires="v">
                <p:oleObj spid="_x0000_s416819" name="Equation" r:id="rId5" imgW="2933640" imgH="241200" progId="Equation.DSMT4">
                  <p:embed/>
                </p:oleObj>
              </mc:Choice>
              <mc:Fallback>
                <p:oleObj name="Equation" r:id="rId5" imgW="2933640" imgH="241200" progId="Equation.DSMT4">
                  <p:embed/>
                  <p:pic>
                    <p:nvPicPr>
                      <p:cNvPr id="7" name="对象 6"/>
                      <p:cNvPicPr/>
                      <p:nvPr/>
                    </p:nvPicPr>
                    <p:blipFill>
                      <a:blip r:embed="rId6"/>
                      <a:stretch>
                        <a:fillRect/>
                      </a:stretch>
                    </p:blipFill>
                    <p:spPr>
                      <a:xfrm>
                        <a:off x="2057400" y="3998993"/>
                        <a:ext cx="4376841" cy="360000"/>
                      </a:xfrm>
                      <a:prstGeom prst="rect">
                        <a:avLst/>
                      </a:prstGeom>
                    </p:spPr>
                  </p:pic>
                </p:oleObj>
              </mc:Fallback>
            </mc:AlternateContent>
          </a:graphicData>
        </a:graphic>
      </p:graphicFrame>
    </p:spTree>
    <p:extLst>
      <p:ext uri="{BB962C8B-B14F-4D97-AF65-F5344CB8AC3E}">
        <p14:creationId xmlns:p14="http://schemas.microsoft.com/office/powerpoint/2010/main" val="24637936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6"/>
          <p:cNvSpPr>
            <a:spLocks noGrp="1"/>
          </p:cNvSpPr>
          <p:nvPr>
            <p:ph type="sldNum" sz="quarter" idx="12"/>
          </p:nvPr>
        </p:nvSpPr>
        <p:spPr/>
        <p:txBody>
          <a:bodyPr/>
          <a:lstStyle/>
          <a:p>
            <a:pPr>
              <a:defRPr/>
            </a:pPr>
            <a:r>
              <a:rPr lang="en-US" altLang="zh-CN" dirty="0"/>
              <a:t>( </a:t>
            </a:r>
            <a:fld id="{29B684AC-5500-4CF6-B5A8-858E17DB5A15}" type="slidenum">
              <a:rPr lang="en-US" altLang="zh-CN"/>
              <a:pPr>
                <a:defRPr/>
              </a:pPr>
              <a:t>32</a:t>
            </a:fld>
            <a:r>
              <a:rPr lang="en-US" altLang="zh-CN" dirty="0"/>
              <a:t> )</a:t>
            </a:r>
          </a:p>
        </p:txBody>
      </p:sp>
      <p:sp>
        <p:nvSpPr>
          <p:cNvPr id="33795" name="Rectangle 2"/>
          <p:cNvSpPr>
            <a:spLocks noGrp="1" noChangeArrowheads="1"/>
          </p:cNvSpPr>
          <p:nvPr>
            <p:ph type="title"/>
          </p:nvPr>
        </p:nvSpPr>
        <p:spPr>
          <a:xfrm>
            <a:off x="457200" y="122238"/>
            <a:ext cx="7543800" cy="1249362"/>
          </a:xfrm>
        </p:spPr>
        <p:txBody>
          <a:bodyPr/>
          <a:lstStyle/>
          <a:p>
            <a:pPr eaLnBrk="1" hangingPunct="1"/>
            <a:r>
              <a:rPr lang="zh-CN" altLang="en-US" sz="2800" dirty="0" smtClean="0"/>
              <a:t>参数估计</a:t>
            </a:r>
            <a:endParaRPr lang="en-US" altLang="zh-CN" sz="2800" dirty="0" smtClean="0"/>
          </a:p>
        </p:txBody>
      </p:sp>
      <p:sp>
        <p:nvSpPr>
          <p:cNvPr id="2" name="矩形 1"/>
          <p:cNvSpPr/>
          <p:nvPr/>
        </p:nvSpPr>
        <p:spPr>
          <a:xfrm>
            <a:off x="381000" y="1676400"/>
            <a:ext cx="7620000" cy="4093428"/>
          </a:xfrm>
          <a:prstGeom prst="rect">
            <a:avLst/>
          </a:prstGeom>
        </p:spPr>
        <p:txBody>
          <a:bodyPr wrap="square">
            <a:spAutoFit/>
          </a:bodyPr>
          <a:lstStyle/>
          <a:p>
            <a:pPr lvl="0" fontAlgn="auto">
              <a:spcBef>
                <a:spcPct val="20000"/>
              </a:spcBef>
              <a:spcAft>
                <a:spcPts val="0"/>
              </a:spcAft>
            </a:pPr>
            <a:r>
              <a:rPr lang="zh-CN" altLang="en-US" sz="2000" b="1" dirty="0" smtClean="0">
                <a:solidFill>
                  <a:srgbClr val="333399"/>
                </a:solidFill>
                <a:latin typeface="Calibri"/>
                <a:ea typeface="宋体"/>
              </a:rPr>
              <a:t>最小二乘估计</a:t>
            </a:r>
            <a:endParaRPr lang="en-US" altLang="zh-CN" sz="2000" b="1" dirty="0">
              <a:solidFill>
                <a:srgbClr val="333399"/>
              </a:solidFill>
              <a:latin typeface="Calibri"/>
              <a:ea typeface="宋体"/>
            </a:endParaRPr>
          </a:p>
          <a:p>
            <a:pPr lvl="0" fontAlgn="auto">
              <a:spcBef>
                <a:spcPct val="20000"/>
              </a:spcBef>
              <a:spcAft>
                <a:spcPts val="0"/>
              </a:spcAft>
            </a:pPr>
            <a:endParaRPr lang="en-US" altLang="zh-CN" sz="2000" dirty="0" smtClean="0">
              <a:solidFill>
                <a:prstClr val="black"/>
              </a:solidFill>
              <a:latin typeface="Calibri"/>
              <a:ea typeface="宋体"/>
            </a:endParaRPr>
          </a:p>
          <a:p>
            <a:pPr lvl="0" fontAlgn="auto">
              <a:spcBef>
                <a:spcPct val="20000"/>
              </a:spcBef>
              <a:spcAft>
                <a:spcPts val="0"/>
              </a:spcAft>
            </a:pPr>
            <a:r>
              <a:rPr lang="en-US" altLang="zh-CN" sz="2000" dirty="0">
                <a:solidFill>
                  <a:prstClr val="black"/>
                </a:solidFill>
                <a:latin typeface="Calibri"/>
                <a:ea typeface="宋体"/>
              </a:rPr>
              <a:t> </a:t>
            </a:r>
            <a:r>
              <a:rPr lang="en-US" altLang="zh-CN" sz="2000" dirty="0" smtClean="0">
                <a:solidFill>
                  <a:prstClr val="black"/>
                </a:solidFill>
                <a:latin typeface="Calibri"/>
                <a:ea typeface="宋体"/>
              </a:rPr>
              <a:t>        </a:t>
            </a:r>
            <a:r>
              <a:rPr lang="zh-CN" altLang="en-US" sz="2000" dirty="0" smtClean="0">
                <a:solidFill>
                  <a:prstClr val="black"/>
                </a:solidFill>
                <a:latin typeface="Calibri"/>
                <a:ea typeface="宋体"/>
              </a:rPr>
              <a:t>回归</a:t>
            </a:r>
            <a:r>
              <a:rPr lang="zh-CN" altLang="en-US" sz="2000" dirty="0">
                <a:solidFill>
                  <a:prstClr val="black"/>
                </a:solidFill>
                <a:latin typeface="Calibri"/>
                <a:ea typeface="宋体"/>
              </a:rPr>
              <a:t>参数的最小二乘估计可以通过最小化残差平方和求得</a:t>
            </a:r>
            <a:r>
              <a:rPr lang="zh-CN" altLang="en-US" sz="2000" dirty="0" smtClean="0">
                <a:solidFill>
                  <a:prstClr val="black"/>
                </a:solidFill>
                <a:latin typeface="Calibri"/>
                <a:ea typeface="宋体"/>
              </a:rPr>
              <a:t>：</a:t>
            </a:r>
            <a:endParaRPr lang="en-US" altLang="zh-CN" sz="2000" dirty="0" smtClean="0">
              <a:solidFill>
                <a:prstClr val="black"/>
              </a:solidFill>
              <a:latin typeface="Calibri"/>
              <a:ea typeface="宋体"/>
            </a:endParaRPr>
          </a:p>
          <a:p>
            <a:pPr lvl="0" fontAlgn="auto">
              <a:spcBef>
                <a:spcPct val="20000"/>
              </a:spcBef>
              <a:spcAft>
                <a:spcPts val="0"/>
              </a:spcAft>
            </a:pPr>
            <a:endParaRPr lang="en-US" altLang="zh-CN" sz="2000" dirty="0" smtClean="0">
              <a:solidFill>
                <a:prstClr val="black"/>
              </a:solidFill>
              <a:latin typeface="Calibri"/>
              <a:ea typeface="宋体"/>
            </a:endParaRPr>
          </a:p>
          <a:p>
            <a:pPr lvl="0" fontAlgn="auto">
              <a:spcBef>
                <a:spcPct val="20000"/>
              </a:spcBef>
              <a:spcAft>
                <a:spcPts val="0"/>
              </a:spcAft>
            </a:pPr>
            <a:endParaRPr lang="en-US" altLang="zh-CN" sz="2000" dirty="0">
              <a:solidFill>
                <a:prstClr val="black"/>
              </a:solidFill>
              <a:latin typeface="Calibri"/>
              <a:ea typeface="宋体"/>
            </a:endParaRPr>
          </a:p>
          <a:p>
            <a:pPr lvl="0" fontAlgn="auto">
              <a:spcBef>
                <a:spcPct val="20000"/>
              </a:spcBef>
              <a:spcAft>
                <a:spcPts val="0"/>
              </a:spcAft>
            </a:pPr>
            <a:endParaRPr lang="en-US" altLang="zh-CN" sz="2000" dirty="0" smtClean="0">
              <a:solidFill>
                <a:prstClr val="black"/>
              </a:solidFill>
              <a:latin typeface="Calibri"/>
              <a:ea typeface="宋体"/>
            </a:endParaRPr>
          </a:p>
          <a:p>
            <a:pPr lvl="0" fontAlgn="auto">
              <a:spcBef>
                <a:spcPct val="20000"/>
              </a:spcBef>
              <a:spcAft>
                <a:spcPts val="0"/>
              </a:spcAft>
            </a:pPr>
            <a:r>
              <a:rPr lang="en-US" altLang="zh-CN" sz="2000" dirty="0">
                <a:solidFill>
                  <a:prstClr val="black"/>
                </a:solidFill>
                <a:latin typeface="Calibri"/>
                <a:ea typeface="宋体"/>
              </a:rPr>
              <a:t> </a:t>
            </a:r>
            <a:r>
              <a:rPr lang="en-US" altLang="zh-CN" sz="2000" dirty="0" smtClean="0">
                <a:solidFill>
                  <a:prstClr val="black"/>
                </a:solidFill>
                <a:latin typeface="Calibri"/>
                <a:ea typeface="宋体"/>
              </a:rPr>
              <a:t>        </a:t>
            </a:r>
            <a:r>
              <a:rPr lang="zh-CN" altLang="en-US" sz="2000" dirty="0" smtClean="0">
                <a:solidFill>
                  <a:prstClr val="black"/>
                </a:solidFill>
                <a:latin typeface="Calibri"/>
                <a:ea typeface="宋体"/>
              </a:rPr>
              <a:t>对</a:t>
            </a:r>
            <a:r>
              <a:rPr lang="en-US" altLang="zh-CN" sz="2000" dirty="0" smtClean="0">
                <a:solidFill>
                  <a:prstClr val="black"/>
                </a:solidFill>
                <a:latin typeface="Calibri"/>
                <a:ea typeface="宋体"/>
              </a:rPr>
              <a:t>S</a:t>
            </a:r>
            <a:r>
              <a:rPr lang="zh-CN" altLang="en-US" sz="2000" dirty="0" smtClean="0">
                <a:solidFill>
                  <a:prstClr val="black"/>
                </a:solidFill>
                <a:latin typeface="Calibri"/>
                <a:ea typeface="宋体"/>
              </a:rPr>
              <a:t>关于  求偏导</a:t>
            </a:r>
            <a:r>
              <a:rPr lang="en-US" altLang="zh-CN" sz="2000" dirty="0" smtClean="0">
                <a:solidFill>
                  <a:prstClr val="black"/>
                </a:solidFill>
                <a:latin typeface="Calibri"/>
                <a:ea typeface="宋体"/>
              </a:rPr>
              <a:t>, </a:t>
            </a:r>
            <a:r>
              <a:rPr lang="zh-CN" altLang="en-US" sz="2000" dirty="0" smtClean="0">
                <a:solidFill>
                  <a:prstClr val="black"/>
                </a:solidFill>
                <a:latin typeface="Calibri"/>
                <a:ea typeface="宋体"/>
              </a:rPr>
              <a:t>并令其等于零</a:t>
            </a:r>
            <a:r>
              <a:rPr lang="en-US" altLang="zh-CN" sz="2000" dirty="0" smtClean="0">
                <a:solidFill>
                  <a:prstClr val="black"/>
                </a:solidFill>
                <a:latin typeface="Calibri"/>
                <a:ea typeface="宋体"/>
              </a:rPr>
              <a:t>, </a:t>
            </a:r>
            <a:r>
              <a:rPr lang="zh-CN" altLang="en-US" sz="2000" dirty="0" smtClean="0">
                <a:solidFill>
                  <a:prstClr val="black"/>
                </a:solidFill>
                <a:latin typeface="Calibri"/>
                <a:ea typeface="宋体"/>
              </a:rPr>
              <a:t>即得</a:t>
            </a:r>
            <a:endParaRPr lang="en-US" altLang="zh-CN" sz="2000" dirty="0" smtClean="0">
              <a:solidFill>
                <a:prstClr val="black"/>
              </a:solidFill>
              <a:latin typeface="Calibri"/>
              <a:ea typeface="宋体"/>
            </a:endParaRPr>
          </a:p>
          <a:p>
            <a:pPr lvl="0" fontAlgn="auto">
              <a:spcBef>
                <a:spcPct val="20000"/>
              </a:spcBef>
              <a:spcAft>
                <a:spcPts val="0"/>
              </a:spcAft>
            </a:pPr>
            <a:endParaRPr lang="en-US" altLang="zh-CN" sz="2000" dirty="0">
              <a:solidFill>
                <a:prstClr val="black"/>
              </a:solidFill>
              <a:latin typeface="Calibri"/>
              <a:ea typeface="宋体"/>
            </a:endParaRPr>
          </a:p>
          <a:p>
            <a:pPr lvl="0" fontAlgn="auto">
              <a:spcBef>
                <a:spcPct val="20000"/>
              </a:spcBef>
              <a:spcAft>
                <a:spcPts val="0"/>
              </a:spcAft>
            </a:pPr>
            <a:endParaRPr lang="en-US" altLang="zh-CN" sz="2000" dirty="0" smtClean="0">
              <a:solidFill>
                <a:prstClr val="black"/>
              </a:solidFill>
              <a:latin typeface="Calibri"/>
              <a:ea typeface="宋体"/>
            </a:endParaRPr>
          </a:p>
          <a:p>
            <a:pPr lvl="0" fontAlgn="auto">
              <a:spcBef>
                <a:spcPct val="20000"/>
              </a:spcBef>
              <a:spcAft>
                <a:spcPts val="0"/>
              </a:spcAft>
            </a:pPr>
            <a:r>
              <a:rPr lang="en-US" altLang="zh-CN" sz="2000" dirty="0">
                <a:solidFill>
                  <a:prstClr val="black"/>
                </a:solidFill>
                <a:latin typeface="Calibri"/>
                <a:ea typeface="宋体"/>
              </a:rPr>
              <a:t> </a:t>
            </a:r>
            <a:r>
              <a:rPr lang="en-US" altLang="zh-CN" sz="2000" dirty="0" smtClean="0">
                <a:solidFill>
                  <a:prstClr val="black"/>
                </a:solidFill>
                <a:latin typeface="Calibri"/>
                <a:ea typeface="宋体"/>
              </a:rPr>
              <a:t>        </a:t>
            </a:r>
            <a:r>
              <a:rPr lang="zh-CN" altLang="en-US" sz="2000" dirty="0" smtClean="0">
                <a:solidFill>
                  <a:prstClr val="black"/>
                </a:solidFill>
                <a:latin typeface="Calibri"/>
                <a:ea typeface="宋体"/>
              </a:rPr>
              <a:t>得到回归参数</a:t>
            </a:r>
            <a:r>
              <a:rPr lang="zh-CN" altLang="en-US" sz="2000" b="1" dirty="0" smtClean="0">
                <a:solidFill>
                  <a:prstClr val="black"/>
                </a:solidFill>
                <a:latin typeface="Calibri"/>
                <a:ea typeface="宋体"/>
              </a:rPr>
              <a:t>最小二乘估计</a:t>
            </a:r>
            <a:r>
              <a:rPr lang="zh-CN" altLang="en-US" sz="2000" dirty="0" smtClean="0">
                <a:solidFill>
                  <a:prstClr val="black"/>
                </a:solidFill>
                <a:latin typeface="Calibri"/>
                <a:ea typeface="宋体"/>
              </a:rPr>
              <a:t>：</a:t>
            </a:r>
            <a:endParaRPr lang="en-US" altLang="zh-CN" sz="2000" dirty="0" smtClean="0">
              <a:solidFill>
                <a:prstClr val="black"/>
              </a:solidFill>
              <a:latin typeface="Calibri"/>
              <a:ea typeface="宋体"/>
            </a:endParaRPr>
          </a:p>
          <a:p>
            <a:pPr lvl="0" fontAlgn="auto">
              <a:spcBef>
                <a:spcPct val="20000"/>
              </a:spcBef>
              <a:spcAft>
                <a:spcPts val="0"/>
              </a:spcAft>
            </a:pPr>
            <a:endParaRPr lang="en-US" altLang="zh-CN" sz="2000" dirty="0" smtClean="0">
              <a:solidFill>
                <a:prstClr val="black"/>
              </a:solidFill>
              <a:latin typeface="Calibri"/>
              <a:ea typeface="宋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71426833"/>
              </p:ext>
            </p:extLst>
          </p:nvPr>
        </p:nvGraphicFramePr>
        <p:xfrm>
          <a:off x="1862546" y="2933700"/>
          <a:ext cx="3933265" cy="685800"/>
        </p:xfrm>
        <a:graphic>
          <a:graphicData uri="http://schemas.openxmlformats.org/presentationml/2006/ole">
            <mc:AlternateContent xmlns:mc="http://schemas.openxmlformats.org/markup-compatibility/2006">
              <mc:Choice xmlns:v="urn:schemas-microsoft-com:vml" Requires="v">
                <p:oleObj spid="_x0000_s417890" name="Equation" r:id="rId3" imgW="2476440" imgH="431640" progId="Equation.DSMT4">
                  <p:embed/>
                </p:oleObj>
              </mc:Choice>
              <mc:Fallback>
                <p:oleObj name="Equation" r:id="rId3" imgW="2476440" imgH="431640" progId="Equation.DSMT4">
                  <p:embed/>
                  <p:pic>
                    <p:nvPicPr>
                      <p:cNvPr id="3" name="对象 2"/>
                      <p:cNvPicPr/>
                      <p:nvPr/>
                    </p:nvPicPr>
                    <p:blipFill>
                      <a:blip r:embed="rId4"/>
                      <a:stretch>
                        <a:fillRect/>
                      </a:stretch>
                    </p:blipFill>
                    <p:spPr>
                      <a:xfrm>
                        <a:off x="1862546" y="2933700"/>
                        <a:ext cx="3933265" cy="6858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456362938"/>
              </p:ext>
            </p:extLst>
          </p:nvPr>
        </p:nvGraphicFramePr>
        <p:xfrm>
          <a:off x="2438400" y="4304211"/>
          <a:ext cx="2419927" cy="609600"/>
        </p:xfrm>
        <a:graphic>
          <a:graphicData uri="http://schemas.openxmlformats.org/presentationml/2006/ole">
            <mc:AlternateContent xmlns:mc="http://schemas.openxmlformats.org/markup-compatibility/2006">
              <mc:Choice xmlns:v="urn:schemas-microsoft-com:vml" Requires="v">
                <p:oleObj spid="_x0000_s417891" name="Equation" r:id="rId5" imgW="1663560" imgH="419040" progId="Equation.DSMT4">
                  <p:embed/>
                </p:oleObj>
              </mc:Choice>
              <mc:Fallback>
                <p:oleObj name="Equation" r:id="rId5" imgW="1663560" imgH="419040" progId="Equation.DSMT4">
                  <p:embed/>
                  <p:pic>
                    <p:nvPicPr>
                      <p:cNvPr id="4" name="对象 3"/>
                      <p:cNvPicPr/>
                      <p:nvPr/>
                    </p:nvPicPr>
                    <p:blipFill>
                      <a:blip r:embed="rId6"/>
                      <a:stretch>
                        <a:fillRect/>
                      </a:stretch>
                    </p:blipFill>
                    <p:spPr>
                      <a:xfrm>
                        <a:off x="2438400" y="4304211"/>
                        <a:ext cx="2419927" cy="60960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752600" y="3962400"/>
          <a:ext cx="228600" cy="304800"/>
        </p:xfrm>
        <a:graphic>
          <a:graphicData uri="http://schemas.openxmlformats.org/presentationml/2006/ole">
            <mc:AlternateContent xmlns:mc="http://schemas.openxmlformats.org/markup-compatibility/2006">
              <mc:Choice xmlns:v="urn:schemas-microsoft-com:vml" Requires="v">
                <p:oleObj spid="_x0000_s417892" name="Equation" r:id="rId7" imgW="152280" imgH="203040" progId="Equation.DSMT4">
                  <p:embed/>
                </p:oleObj>
              </mc:Choice>
              <mc:Fallback>
                <p:oleObj name="Equation" r:id="rId7" imgW="152280" imgH="203040" progId="Equation.DSMT4">
                  <p:embed/>
                  <p:pic>
                    <p:nvPicPr>
                      <p:cNvPr id="5" name="对象 4"/>
                      <p:cNvPicPr/>
                      <p:nvPr/>
                    </p:nvPicPr>
                    <p:blipFill>
                      <a:blip r:embed="rId8"/>
                      <a:stretch>
                        <a:fillRect/>
                      </a:stretch>
                    </p:blipFill>
                    <p:spPr>
                      <a:xfrm>
                        <a:off x="1752600" y="3962400"/>
                        <a:ext cx="228600" cy="3048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20086290"/>
              </p:ext>
            </p:extLst>
          </p:nvPr>
        </p:nvGraphicFramePr>
        <p:xfrm>
          <a:off x="2723532" y="5642628"/>
          <a:ext cx="1566000" cy="432000"/>
        </p:xfrm>
        <a:graphic>
          <a:graphicData uri="http://schemas.openxmlformats.org/presentationml/2006/ole">
            <mc:AlternateContent xmlns:mc="http://schemas.openxmlformats.org/markup-compatibility/2006">
              <mc:Choice xmlns:v="urn:schemas-microsoft-com:vml" Requires="v">
                <p:oleObj spid="_x0000_s417893" name="Equation" r:id="rId9" imgW="1104840" imgH="304560" progId="Equation.DSMT4">
                  <p:embed/>
                </p:oleObj>
              </mc:Choice>
              <mc:Fallback>
                <p:oleObj name="Equation" r:id="rId9" imgW="1104840" imgH="304560" progId="Equation.DSMT4">
                  <p:embed/>
                  <p:pic>
                    <p:nvPicPr>
                      <p:cNvPr id="7" name="对象 6"/>
                      <p:cNvPicPr/>
                      <p:nvPr/>
                    </p:nvPicPr>
                    <p:blipFill>
                      <a:blip r:embed="rId10"/>
                      <a:stretch>
                        <a:fillRect/>
                      </a:stretch>
                    </p:blipFill>
                    <p:spPr>
                      <a:xfrm>
                        <a:off x="2723532" y="5642628"/>
                        <a:ext cx="1566000" cy="432000"/>
                      </a:xfrm>
                      <a:prstGeom prst="rect">
                        <a:avLst/>
                      </a:prstGeom>
                    </p:spPr>
                  </p:pic>
                </p:oleObj>
              </mc:Fallback>
            </mc:AlternateContent>
          </a:graphicData>
        </a:graphic>
      </p:graphicFrame>
    </p:spTree>
    <p:extLst>
      <p:ext uri="{BB962C8B-B14F-4D97-AF65-F5344CB8AC3E}">
        <p14:creationId xmlns:p14="http://schemas.microsoft.com/office/powerpoint/2010/main" val="29956386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r>
              <a:rPr lang="en-US" altLang="zh-CN"/>
              <a:t>( </a:t>
            </a:r>
            <a:fld id="{EE29FEA6-90F2-4CE8-AA20-72E66AAB8847}" type="slidenum">
              <a:rPr lang="en-US" altLang="zh-CN"/>
              <a:pPr>
                <a:defRPr/>
              </a:pPr>
              <a:t>33</a:t>
            </a:fld>
            <a:r>
              <a:rPr lang="en-US" altLang="zh-CN"/>
              <a:t> )</a:t>
            </a:r>
          </a:p>
        </p:txBody>
      </p:sp>
      <p:sp>
        <p:nvSpPr>
          <p:cNvPr id="12" name="内容占位符 2"/>
          <p:cNvSpPr txBox="1">
            <a:spLocks/>
          </p:cNvSpPr>
          <p:nvPr/>
        </p:nvSpPr>
        <p:spPr>
          <a:xfrm>
            <a:off x="457200" y="404664"/>
            <a:ext cx="8229600" cy="5721499"/>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endPar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zh-CN" altLang="en-US" sz="2400" b="1" i="0" u="none" strike="noStrike" kern="1200" cap="none" spc="0" normalizeH="0" baseline="0" noProof="0" dirty="0" smtClean="0">
                <a:ln>
                  <a:noFill/>
                </a:ln>
                <a:solidFill>
                  <a:srgbClr val="333399"/>
                </a:solidFill>
                <a:effectLst/>
                <a:uLnTx/>
                <a:uFillTx/>
                <a:latin typeface="Calibri"/>
                <a:ea typeface="宋体"/>
                <a:cs typeface="+mn-cs"/>
              </a:rPr>
              <a:t>极大似然估计</a:t>
            </a:r>
            <a:endParaRPr kumimoji="0" lang="en-US" altLang="zh-CN" sz="24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假设误差项服从正态分布</a:t>
            </a:r>
            <a:r>
              <a:rPr lang="en-US" altLang="zh-CN" sz="2400" dirty="0" smtClean="0">
                <a:solidFill>
                  <a:sysClr val="windowText" lastClr="000000"/>
                </a:solidFill>
                <a:latin typeface="Calibri"/>
                <a:ea typeface="宋体"/>
              </a:rPr>
              <a:t>, </a:t>
            </a:r>
            <a:r>
              <a:rPr lang="zh-CN" altLang="en-US" sz="2400" dirty="0" smtClean="0">
                <a:solidFill>
                  <a:sysClr val="windowText" lastClr="000000"/>
                </a:solidFill>
                <a:latin typeface="Calibri"/>
                <a:ea typeface="宋体"/>
              </a:rPr>
              <a:t>则</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因变量 的密度函数为：</a:t>
            </a: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 </a:t>
            </a: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        </a:t>
            </a: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400" dirty="0">
                <a:solidFill>
                  <a:sysClr val="windowText" lastClr="000000"/>
                </a:solidFill>
                <a:latin typeface="Calibri"/>
                <a:ea typeface="宋体"/>
              </a:rPr>
              <a:t> </a:t>
            </a:r>
            <a:r>
              <a:rPr lang="en-US" altLang="zh-CN" sz="2400" dirty="0" smtClean="0">
                <a:solidFill>
                  <a:sysClr val="windowText" lastClr="000000"/>
                </a:solidFill>
                <a:latin typeface="Calibri"/>
                <a:ea typeface="宋体"/>
              </a:rPr>
              <a:t>        </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 线性回归模型的对数似然函数可以表示为：</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         </a:t>
            </a: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400" dirty="0">
                <a:solidFill>
                  <a:sysClr val="windowText" lastClr="000000"/>
                </a:solidFill>
                <a:latin typeface="Calibri"/>
                <a:ea typeface="宋体"/>
              </a:rPr>
              <a:t> </a:t>
            </a:r>
            <a:r>
              <a:rPr lang="en-US" altLang="zh-CN" sz="2400" dirty="0" smtClean="0">
                <a:solidFill>
                  <a:sysClr val="windowText" lastClr="000000"/>
                </a:solidFill>
                <a:latin typeface="Calibri"/>
                <a:ea typeface="宋体"/>
              </a:rPr>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400" b="0" i="0" u="none" strike="noStrike" kern="1200" cap="none" spc="0" normalizeH="0" baseline="0" noProof="0" dirty="0">
                <a:ln>
                  <a:noFill/>
                </a:ln>
                <a:solidFill>
                  <a:sysClr val="windowText" lastClr="000000"/>
                </a:solidFill>
                <a:effectLst/>
                <a:uLnTx/>
                <a:uFillTx/>
                <a:latin typeface="Calibri"/>
                <a:ea typeface="宋体"/>
              </a:rPr>
              <a:t> </a:t>
            </a:r>
            <a:r>
              <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rPr>
              <a:t>        </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对数似然函数的最大化等价于残差平方和的最小化</a:t>
            </a:r>
            <a:r>
              <a:rPr lang="en-US" altLang="zh-CN" sz="2400" dirty="0" smtClean="0">
                <a:solidFill>
                  <a:sysClr val="windowText" lastClr="000000"/>
                </a:solidFill>
                <a:latin typeface="Calibri"/>
                <a:ea typeface="宋体"/>
              </a:rPr>
              <a:t>, </a:t>
            </a:r>
            <a:r>
              <a:rPr lang="zh-CN" altLang="en-US" sz="2400" dirty="0" smtClean="0">
                <a:solidFill>
                  <a:sysClr val="windowText" lastClr="000000"/>
                </a:solidFill>
                <a:latin typeface="Calibri"/>
                <a:ea typeface="宋体"/>
              </a:rPr>
              <a:t>即</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在正态分布假设下</a:t>
            </a:r>
            <a:r>
              <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rPr>
              <a:t>, </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回归参数的极大似然估计等价于最小二乘估计。</a:t>
            </a:r>
          </a:p>
        </p:txBody>
      </p:sp>
      <p:graphicFrame>
        <p:nvGraphicFramePr>
          <p:cNvPr id="2" name="对象 1"/>
          <p:cNvGraphicFramePr>
            <a:graphicFrameLocks noChangeAspect="1"/>
          </p:cNvGraphicFramePr>
          <p:nvPr>
            <p:extLst>
              <p:ext uri="{D42A27DB-BD31-4B8C-83A1-F6EECF244321}">
                <p14:modId xmlns:p14="http://schemas.microsoft.com/office/powerpoint/2010/main" val="3084910439"/>
              </p:ext>
            </p:extLst>
          </p:nvPr>
        </p:nvGraphicFramePr>
        <p:xfrm>
          <a:off x="2269359" y="2133600"/>
          <a:ext cx="3771758" cy="692400"/>
        </p:xfrm>
        <a:graphic>
          <a:graphicData uri="http://schemas.openxmlformats.org/presentationml/2006/ole">
            <mc:AlternateContent xmlns:mc="http://schemas.openxmlformats.org/markup-compatibility/2006">
              <mc:Choice xmlns:v="urn:schemas-microsoft-com:vml" Requires="v">
                <p:oleObj spid="_x0000_s418866" name="Equation" r:id="rId3" imgW="2628720" imgH="482400" progId="Equation.DSMT4">
                  <p:embed/>
                </p:oleObj>
              </mc:Choice>
              <mc:Fallback>
                <p:oleObj name="Equation" r:id="rId3" imgW="2628720" imgH="482400" progId="Equation.DSMT4">
                  <p:embed/>
                  <p:pic>
                    <p:nvPicPr>
                      <p:cNvPr id="2" name="对象 1"/>
                      <p:cNvPicPr/>
                      <p:nvPr/>
                    </p:nvPicPr>
                    <p:blipFill>
                      <a:blip r:embed="rId4"/>
                      <a:stretch>
                        <a:fillRect/>
                      </a:stretch>
                    </p:blipFill>
                    <p:spPr>
                      <a:xfrm>
                        <a:off x="2269359" y="2133600"/>
                        <a:ext cx="3771758" cy="69240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223795059"/>
              </p:ext>
            </p:extLst>
          </p:nvPr>
        </p:nvGraphicFramePr>
        <p:xfrm>
          <a:off x="2269359" y="3657600"/>
          <a:ext cx="4038880" cy="742281"/>
        </p:xfrm>
        <a:graphic>
          <a:graphicData uri="http://schemas.openxmlformats.org/presentationml/2006/ole">
            <mc:AlternateContent xmlns:mc="http://schemas.openxmlformats.org/markup-compatibility/2006">
              <mc:Choice xmlns:v="urn:schemas-microsoft-com:vml" Requires="v">
                <p:oleObj spid="_x0000_s418867" name="Equation" r:id="rId5" imgW="2349360" imgH="431640" progId="Equation.DSMT4">
                  <p:embed/>
                </p:oleObj>
              </mc:Choice>
              <mc:Fallback>
                <p:oleObj name="Equation" r:id="rId5" imgW="2349360" imgH="431640" progId="Equation.DSMT4">
                  <p:embed/>
                  <p:pic>
                    <p:nvPicPr>
                      <p:cNvPr id="3" name="对象 2"/>
                      <p:cNvPicPr/>
                      <p:nvPr/>
                    </p:nvPicPr>
                    <p:blipFill>
                      <a:blip r:embed="rId6"/>
                      <a:stretch>
                        <a:fillRect/>
                      </a:stretch>
                    </p:blipFill>
                    <p:spPr>
                      <a:xfrm>
                        <a:off x="2269359" y="3657600"/>
                        <a:ext cx="4038880" cy="742281"/>
                      </a:xfrm>
                      <a:prstGeom prst="rect">
                        <a:avLst/>
                      </a:prstGeom>
                    </p:spPr>
                  </p:pic>
                </p:oleObj>
              </mc:Fallback>
            </mc:AlternateContent>
          </a:graphicData>
        </a:graphic>
      </p:graphicFrame>
    </p:spTree>
    <p:extLst>
      <p:ext uri="{BB962C8B-B14F-4D97-AF65-F5344CB8AC3E}">
        <p14:creationId xmlns:p14="http://schemas.microsoft.com/office/powerpoint/2010/main" val="40875732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r>
              <a:rPr lang="en-US" altLang="zh-CN"/>
              <a:t>( </a:t>
            </a:r>
            <a:fld id="{EE29FEA6-90F2-4CE8-AA20-72E66AAB8847}" type="slidenum">
              <a:rPr lang="en-US" altLang="zh-CN"/>
              <a:pPr>
                <a:defRPr/>
              </a:pPr>
              <a:t>34</a:t>
            </a:fld>
            <a:r>
              <a:rPr lang="en-US" altLang="zh-CN"/>
              <a:t> )</a:t>
            </a:r>
          </a:p>
        </p:txBody>
      </p:sp>
      <p:sp>
        <p:nvSpPr>
          <p:cNvPr id="12" name="内容占位符 2"/>
          <p:cNvSpPr txBox="1">
            <a:spLocks/>
          </p:cNvSpPr>
          <p:nvPr/>
        </p:nvSpPr>
        <p:spPr>
          <a:xfrm>
            <a:off x="457200" y="404664"/>
            <a:ext cx="8229600" cy="57214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endParaRPr kumimoji="0" lang="en-US" altLang="zh-CN" sz="2400" b="1" i="0" u="none" strike="noStrike" kern="1200" cap="none" spc="0" normalizeH="0" baseline="0" noProof="0" dirty="0" smtClean="0">
              <a:ln>
                <a:noFill/>
              </a:ln>
              <a:solidFill>
                <a:srgbClr val="333399"/>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         对</a:t>
            </a:r>
            <a:r>
              <a:rPr lang="zh-CN" altLang="en-US" sz="2400" dirty="0" smtClean="0">
                <a:solidFill>
                  <a:sysClr val="windowText" lastClr="000000"/>
                </a:solidFill>
                <a:latin typeface="Calibri"/>
                <a:ea typeface="宋体"/>
              </a:rPr>
              <a:t>上式</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关于    求导</a:t>
            </a:r>
            <a:r>
              <a:rPr lang="en-US" altLang="zh-CN" sz="2400" dirty="0" smtClean="0">
                <a:solidFill>
                  <a:sysClr val="windowText" lastClr="000000"/>
                </a:solidFill>
                <a:latin typeface="Calibri"/>
                <a:ea typeface="宋体"/>
              </a:rPr>
              <a:t>, </a:t>
            </a:r>
            <a:r>
              <a:rPr lang="zh-CN" altLang="en-US" sz="2400" dirty="0" smtClean="0">
                <a:solidFill>
                  <a:sysClr val="windowText" lastClr="000000"/>
                </a:solidFill>
                <a:latin typeface="Calibri"/>
                <a:ea typeface="宋体"/>
              </a:rPr>
              <a:t>并</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用回归参数的极大似然估计值 代入上式 </a:t>
            </a:r>
            <a:r>
              <a:rPr lang="en-US" altLang="zh-CN" sz="2400" dirty="0" smtClean="0">
                <a:solidFill>
                  <a:sysClr val="windowText" lastClr="000000"/>
                </a:solidFill>
                <a:latin typeface="Calibri"/>
                <a:ea typeface="宋体"/>
              </a:rPr>
              <a:t>, </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并令上式等于零</a:t>
            </a:r>
            <a:r>
              <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rPr>
              <a:t>, </a:t>
            </a:r>
            <a:r>
              <a:rPr kumimoji="0" lang="zh-CN" altLang="en-US" sz="2400" b="0" i="0" u="none" strike="noStrike" kern="1200" cap="none" spc="0" normalizeH="0" baseline="0" noProof="0" dirty="0" smtClean="0">
                <a:ln>
                  <a:noFill/>
                </a:ln>
                <a:solidFill>
                  <a:sysClr val="windowText" lastClr="000000"/>
                </a:solidFill>
                <a:effectLst/>
                <a:uLnTx/>
                <a:uFillTx/>
                <a:latin typeface="Calibri"/>
                <a:ea typeface="宋体"/>
              </a:rPr>
              <a:t>则可以求得方差参数 的极大似然估计值为：</a:t>
            </a: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400" b="0" i="0" u="none" strike="noStrike" kern="1200" cap="none" spc="0" normalizeH="0" baseline="0" noProof="0" dirty="0" smtClean="0">
              <a:ln>
                <a:noFill/>
              </a:ln>
              <a:solidFill>
                <a:sysClr val="windowText" lastClr="000000"/>
              </a:solidFill>
              <a:effectLst/>
              <a:uLnTx/>
              <a:uFillTx/>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4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400" dirty="0" smtClean="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400" dirty="0">
                <a:solidFill>
                  <a:sysClr val="windowText" lastClr="000000"/>
                </a:solidFill>
                <a:latin typeface="Calibri"/>
                <a:ea typeface="宋体"/>
              </a:rPr>
              <a:t> </a:t>
            </a:r>
            <a:r>
              <a:rPr lang="en-US" altLang="zh-CN" sz="2400" dirty="0" smtClean="0">
                <a:solidFill>
                  <a:sysClr val="windowText" lastClr="000000"/>
                </a:solidFill>
                <a:latin typeface="Calibri"/>
                <a:ea typeface="宋体"/>
              </a:rPr>
              <a:t>        </a:t>
            </a:r>
            <a:r>
              <a:rPr lang="zh-CN" altLang="en-US" sz="2400" dirty="0" smtClean="0">
                <a:solidFill>
                  <a:sysClr val="windowText" lastClr="000000"/>
                </a:solidFill>
                <a:latin typeface="Calibri"/>
                <a:ea typeface="宋体"/>
              </a:rPr>
              <a:t>这个方差估计是有偏的</a:t>
            </a:r>
            <a:r>
              <a:rPr lang="en-US" altLang="zh-CN" sz="2400" dirty="0" smtClean="0">
                <a:solidFill>
                  <a:sysClr val="windowText" lastClr="000000"/>
                </a:solidFill>
                <a:latin typeface="Calibri"/>
                <a:ea typeface="宋体"/>
              </a:rPr>
              <a:t>, </a:t>
            </a:r>
            <a:r>
              <a:rPr lang="zh-CN" altLang="en-US" sz="2400" dirty="0" smtClean="0">
                <a:solidFill>
                  <a:sysClr val="windowText" lastClr="000000"/>
                </a:solidFill>
                <a:latin typeface="Calibri"/>
                <a:ea typeface="宋体"/>
              </a:rPr>
              <a:t>在实际中很少用。</a:t>
            </a:r>
            <a:endParaRPr lang="en-US" altLang="zh-CN" sz="2400" noProof="0" dirty="0" smtClean="0">
              <a:solidFill>
                <a:sysClr val="windowText" lastClr="000000"/>
              </a:solidFill>
              <a:latin typeface="Calibri"/>
              <a:ea typeface="宋体"/>
            </a:endParaRPr>
          </a:p>
        </p:txBody>
      </p:sp>
      <p:graphicFrame>
        <p:nvGraphicFramePr>
          <p:cNvPr id="4" name="对象 3"/>
          <p:cNvGraphicFramePr>
            <a:graphicFrameLocks noChangeAspect="1"/>
          </p:cNvGraphicFramePr>
          <p:nvPr>
            <p:extLst/>
          </p:nvPr>
        </p:nvGraphicFramePr>
        <p:xfrm>
          <a:off x="2667000" y="1761836"/>
          <a:ext cx="304800" cy="304800"/>
        </p:xfrm>
        <a:graphic>
          <a:graphicData uri="http://schemas.openxmlformats.org/presentationml/2006/ole">
            <mc:AlternateContent xmlns:mc="http://schemas.openxmlformats.org/markup-compatibility/2006">
              <mc:Choice xmlns:v="urn:schemas-microsoft-com:vml" Requires="v">
                <p:oleObj spid="_x0000_s419890" name="Equation" r:id="rId3" imgW="203040" imgH="203040" progId="Equation.DSMT4">
                  <p:embed/>
                </p:oleObj>
              </mc:Choice>
              <mc:Fallback>
                <p:oleObj name="Equation" r:id="rId3" imgW="203040" imgH="203040" progId="Equation.DSMT4">
                  <p:embed/>
                  <p:pic>
                    <p:nvPicPr>
                      <p:cNvPr id="4" name="对象 3"/>
                      <p:cNvPicPr/>
                      <p:nvPr/>
                    </p:nvPicPr>
                    <p:blipFill>
                      <a:blip r:embed="rId4"/>
                      <a:stretch>
                        <a:fillRect/>
                      </a:stretch>
                    </p:blipFill>
                    <p:spPr>
                      <a:xfrm>
                        <a:off x="2667000" y="1761836"/>
                        <a:ext cx="304800" cy="3048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819650660"/>
              </p:ext>
            </p:extLst>
          </p:nvPr>
        </p:nvGraphicFramePr>
        <p:xfrm>
          <a:off x="2438400" y="3124200"/>
          <a:ext cx="3770215" cy="859036"/>
        </p:xfrm>
        <a:graphic>
          <a:graphicData uri="http://schemas.openxmlformats.org/presentationml/2006/ole">
            <mc:AlternateContent xmlns:mc="http://schemas.openxmlformats.org/markup-compatibility/2006">
              <mc:Choice xmlns:v="urn:schemas-microsoft-com:vml" Requires="v">
                <p:oleObj spid="_x0000_s419891" name="Equation" r:id="rId5" imgW="2006280" imgH="457200" progId="Equation.DSMT4">
                  <p:embed/>
                </p:oleObj>
              </mc:Choice>
              <mc:Fallback>
                <p:oleObj name="Equation" r:id="rId5" imgW="2006280" imgH="457200" progId="Equation.DSMT4">
                  <p:embed/>
                  <p:pic>
                    <p:nvPicPr>
                      <p:cNvPr id="5" name="对象 4"/>
                      <p:cNvPicPr/>
                      <p:nvPr/>
                    </p:nvPicPr>
                    <p:blipFill>
                      <a:blip r:embed="rId6"/>
                      <a:stretch>
                        <a:fillRect/>
                      </a:stretch>
                    </p:blipFill>
                    <p:spPr>
                      <a:xfrm>
                        <a:off x="2438400" y="3124200"/>
                        <a:ext cx="3770215" cy="859036"/>
                      </a:xfrm>
                      <a:prstGeom prst="rect">
                        <a:avLst/>
                      </a:prstGeom>
                    </p:spPr>
                  </p:pic>
                </p:oleObj>
              </mc:Fallback>
            </mc:AlternateContent>
          </a:graphicData>
        </a:graphic>
      </p:graphicFrame>
    </p:spTree>
    <p:extLst>
      <p:ext uri="{BB962C8B-B14F-4D97-AF65-F5344CB8AC3E}">
        <p14:creationId xmlns:p14="http://schemas.microsoft.com/office/powerpoint/2010/main" val="30667206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r>
              <a:rPr lang="en-US" altLang="zh-CN" smtClean="0"/>
              <a:t>( </a:t>
            </a:r>
            <a:fld id="{3EBA4A41-DF70-4ED6-A7D0-45645D30423D}" type="slidenum">
              <a:rPr lang="en-US" altLang="zh-CN" smtClean="0"/>
              <a:pPr>
                <a:defRPr/>
              </a:pPr>
              <a:t>35</a:t>
            </a:fld>
            <a:r>
              <a:rPr lang="en-US" altLang="zh-CN" smtClean="0"/>
              <a:t> )</a:t>
            </a:r>
            <a:endParaRPr lang="en-US" altLang="zh-CN"/>
          </a:p>
        </p:txBody>
      </p:sp>
      <p:sp>
        <p:nvSpPr>
          <p:cNvPr id="3" name="内容占位符 2"/>
          <p:cNvSpPr txBox="1">
            <a:spLocks/>
          </p:cNvSpPr>
          <p:nvPr/>
        </p:nvSpPr>
        <p:spPr>
          <a:xfrm>
            <a:off x="457200" y="332656"/>
            <a:ext cx="8229600" cy="579350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endPar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zh-CN" altLang="en-US" sz="2000" b="1" i="0" u="none" strike="noStrike" kern="1200" cap="none" spc="0" normalizeH="0" baseline="0" noProof="0" dirty="0" smtClean="0">
                <a:ln>
                  <a:noFill/>
                </a:ln>
                <a:solidFill>
                  <a:srgbClr val="333399"/>
                </a:solidFill>
                <a:effectLst/>
                <a:uLnTx/>
                <a:uFillTx/>
                <a:latin typeface="Calibri"/>
                <a:ea typeface="宋体"/>
                <a:cs typeface="+mn-cs"/>
              </a:rPr>
              <a:t>方差参数的无偏估计</a:t>
            </a:r>
            <a:endPar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000" b="0" i="0" u="none" strike="noStrike" kern="1200" cap="none" spc="0" normalizeH="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在线性回归模型中</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对因变量的预测值可以表示为：</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000" noProof="0" dirty="0" smtClean="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zh-CN" altLang="en-US" sz="2000" dirty="0">
                <a:solidFill>
                  <a:sysClr val="windowText" lastClr="000000"/>
                </a:solidFill>
                <a:latin typeface="Calibri"/>
                <a:ea typeface="宋体"/>
              </a:rPr>
              <a:t> </a:t>
            </a:r>
            <a:r>
              <a:rPr lang="zh-CN" altLang="en-US" sz="2000" dirty="0" smtClean="0">
                <a:solidFill>
                  <a:sysClr val="windowText" lastClr="000000"/>
                </a:solidFill>
                <a:latin typeface="Calibri"/>
                <a:ea typeface="宋体"/>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线性回归模型的残差可以表示为：</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         残差平方和表示为：</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         在正态性假设下</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有</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000" dirty="0" smtClean="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zh-CN" altLang="en-US" sz="2000" b="1" dirty="0" smtClean="0">
                <a:solidFill>
                  <a:sysClr val="windowText" lastClr="000000"/>
                </a:solidFill>
                <a:latin typeface="Calibri"/>
                <a:ea typeface="宋体"/>
              </a:rPr>
              <a:t>         </a:t>
            </a:r>
            <a:endParaRPr lang="en-US" altLang="zh-CN" sz="2000" b="1" dirty="0" smtClean="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000" b="1" dirty="0">
                <a:solidFill>
                  <a:sysClr val="windowText" lastClr="000000"/>
                </a:solidFill>
                <a:latin typeface="Calibri"/>
                <a:ea typeface="宋体"/>
              </a:rPr>
              <a:t> </a:t>
            </a:r>
            <a:r>
              <a:rPr lang="en-US" altLang="zh-CN" sz="2000" b="1" dirty="0" smtClean="0">
                <a:solidFill>
                  <a:sysClr val="windowText" lastClr="000000"/>
                </a:solidFill>
                <a:latin typeface="Calibri"/>
                <a:ea typeface="宋体"/>
              </a:rPr>
              <a:t>        </a:t>
            </a:r>
            <a:r>
              <a:rPr lang="zh-CN" altLang="en-US" sz="2000" b="1" dirty="0" smtClean="0">
                <a:solidFill>
                  <a:sysClr val="windowText" lastClr="000000"/>
                </a:solidFill>
                <a:latin typeface="Calibri"/>
                <a:ea typeface="宋体"/>
              </a:rPr>
              <a:t>方差的无偏估计</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p:txBody>
      </p:sp>
      <p:graphicFrame>
        <p:nvGraphicFramePr>
          <p:cNvPr id="5" name="对象 4"/>
          <p:cNvGraphicFramePr>
            <a:graphicFrameLocks noChangeAspect="1"/>
          </p:cNvGraphicFramePr>
          <p:nvPr>
            <p:extLst/>
          </p:nvPr>
        </p:nvGraphicFramePr>
        <p:xfrm>
          <a:off x="3060000" y="1981200"/>
          <a:ext cx="2438400" cy="762000"/>
        </p:xfrm>
        <a:graphic>
          <a:graphicData uri="http://schemas.openxmlformats.org/presentationml/2006/ole">
            <mc:AlternateContent xmlns:mc="http://schemas.openxmlformats.org/markup-compatibility/2006">
              <mc:Choice xmlns:v="urn:schemas-microsoft-com:vml" Requires="v">
                <p:oleObj spid="_x0000_s420986" name="Equation" r:id="rId3" imgW="1625400" imgH="507960" progId="Equation.DSMT4">
                  <p:embed/>
                </p:oleObj>
              </mc:Choice>
              <mc:Fallback>
                <p:oleObj name="Equation" r:id="rId3" imgW="1625400" imgH="507960" progId="Equation.DSMT4">
                  <p:embed/>
                  <p:pic>
                    <p:nvPicPr>
                      <p:cNvPr id="5" name="对象 4"/>
                      <p:cNvPicPr/>
                      <p:nvPr/>
                    </p:nvPicPr>
                    <p:blipFill>
                      <a:blip r:embed="rId4"/>
                      <a:stretch>
                        <a:fillRect/>
                      </a:stretch>
                    </p:blipFill>
                    <p:spPr>
                      <a:xfrm>
                        <a:off x="3060000" y="1981200"/>
                        <a:ext cx="2438400" cy="7620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456250303"/>
              </p:ext>
            </p:extLst>
          </p:nvPr>
        </p:nvGraphicFramePr>
        <p:xfrm>
          <a:off x="5113166" y="2829211"/>
          <a:ext cx="2057400" cy="419878"/>
        </p:xfrm>
        <a:graphic>
          <a:graphicData uri="http://schemas.openxmlformats.org/presentationml/2006/ole">
            <mc:AlternateContent xmlns:mc="http://schemas.openxmlformats.org/markup-compatibility/2006">
              <mc:Choice xmlns:v="urn:schemas-microsoft-com:vml" Requires="v">
                <p:oleObj spid="_x0000_s420987" name="Equation" r:id="rId5" imgW="1244520" imgH="253800" progId="Equation.DSMT4">
                  <p:embed/>
                </p:oleObj>
              </mc:Choice>
              <mc:Fallback>
                <p:oleObj name="Equation" r:id="rId5" imgW="1244520" imgH="253800" progId="Equation.DSMT4">
                  <p:embed/>
                  <p:pic>
                    <p:nvPicPr>
                      <p:cNvPr id="6" name="对象 5"/>
                      <p:cNvPicPr/>
                      <p:nvPr/>
                    </p:nvPicPr>
                    <p:blipFill>
                      <a:blip r:embed="rId6"/>
                      <a:stretch>
                        <a:fillRect/>
                      </a:stretch>
                    </p:blipFill>
                    <p:spPr>
                      <a:xfrm>
                        <a:off x="5113166" y="2829211"/>
                        <a:ext cx="2057400" cy="41987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954376268"/>
              </p:ext>
            </p:extLst>
          </p:nvPr>
        </p:nvGraphicFramePr>
        <p:xfrm>
          <a:off x="3429000" y="3481970"/>
          <a:ext cx="4495800" cy="441552"/>
        </p:xfrm>
        <a:graphic>
          <a:graphicData uri="http://schemas.openxmlformats.org/presentationml/2006/ole">
            <mc:AlternateContent xmlns:mc="http://schemas.openxmlformats.org/markup-compatibility/2006">
              <mc:Choice xmlns:v="urn:schemas-microsoft-com:vml" Requires="v">
                <p:oleObj spid="_x0000_s420988" name="Equation" r:id="rId7" imgW="2844720" imgH="279360" progId="Equation.DSMT4">
                  <p:embed/>
                </p:oleObj>
              </mc:Choice>
              <mc:Fallback>
                <p:oleObj name="Equation" r:id="rId7" imgW="2844720" imgH="279360" progId="Equation.DSMT4">
                  <p:embed/>
                  <p:pic>
                    <p:nvPicPr>
                      <p:cNvPr id="7" name="对象 6"/>
                      <p:cNvPicPr/>
                      <p:nvPr/>
                    </p:nvPicPr>
                    <p:blipFill>
                      <a:blip r:embed="rId8"/>
                      <a:stretch>
                        <a:fillRect/>
                      </a:stretch>
                    </p:blipFill>
                    <p:spPr>
                      <a:xfrm>
                        <a:off x="3429000" y="3481970"/>
                        <a:ext cx="4495800" cy="44155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892529546"/>
              </p:ext>
            </p:extLst>
          </p:nvPr>
        </p:nvGraphicFramePr>
        <p:xfrm>
          <a:off x="3429000" y="4507559"/>
          <a:ext cx="1905000" cy="608815"/>
        </p:xfrm>
        <a:graphic>
          <a:graphicData uri="http://schemas.openxmlformats.org/presentationml/2006/ole">
            <mc:AlternateContent xmlns:mc="http://schemas.openxmlformats.org/markup-compatibility/2006">
              <mc:Choice xmlns:v="urn:schemas-microsoft-com:vml" Requires="v">
                <p:oleObj spid="_x0000_s420989" name="Equation" r:id="rId9" imgW="1231560" imgH="393480" progId="Equation.DSMT4">
                  <p:embed/>
                </p:oleObj>
              </mc:Choice>
              <mc:Fallback>
                <p:oleObj name="Equation" r:id="rId9" imgW="1231560" imgH="393480" progId="Equation.DSMT4">
                  <p:embed/>
                  <p:pic>
                    <p:nvPicPr>
                      <p:cNvPr id="8" name="对象 7"/>
                      <p:cNvPicPr/>
                      <p:nvPr/>
                    </p:nvPicPr>
                    <p:blipFill>
                      <a:blip r:embed="rId10"/>
                      <a:stretch>
                        <a:fillRect/>
                      </a:stretch>
                    </p:blipFill>
                    <p:spPr>
                      <a:xfrm>
                        <a:off x="3429000" y="4507559"/>
                        <a:ext cx="1905000" cy="60881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880505382"/>
              </p:ext>
            </p:extLst>
          </p:nvPr>
        </p:nvGraphicFramePr>
        <p:xfrm>
          <a:off x="3354917" y="5656182"/>
          <a:ext cx="2053166" cy="762000"/>
        </p:xfrm>
        <a:graphic>
          <a:graphicData uri="http://schemas.openxmlformats.org/presentationml/2006/ole">
            <mc:AlternateContent xmlns:mc="http://schemas.openxmlformats.org/markup-compatibility/2006">
              <mc:Choice xmlns:v="urn:schemas-microsoft-com:vml" Requires="v">
                <p:oleObj spid="_x0000_s420990" name="Equation" r:id="rId11" imgW="1231560" imgH="457200" progId="Equation.DSMT4">
                  <p:embed/>
                </p:oleObj>
              </mc:Choice>
              <mc:Fallback>
                <p:oleObj name="Equation" r:id="rId11" imgW="1231560" imgH="457200" progId="Equation.DSMT4">
                  <p:embed/>
                  <p:pic>
                    <p:nvPicPr>
                      <p:cNvPr id="9" name="对象 8"/>
                      <p:cNvPicPr/>
                      <p:nvPr/>
                    </p:nvPicPr>
                    <p:blipFill>
                      <a:blip r:embed="rId12"/>
                      <a:stretch>
                        <a:fillRect/>
                      </a:stretch>
                    </p:blipFill>
                    <p:spPr>
                      <a:xfrm>
                        <a:off x="3354917" y="5656182"/>
                        <a:ext cx="2053166" cy="762000"/>
                      </a:xfrm>
                      <a:prstGeom prst="rect">
                        <a:avLst/>
                      </a:prstGeom>
                    </p:spPr>
                  </p:pic>
                </p:oleObj>
              </mc:Fallback>
            </mc:AlternateContent>
          </a:graphicData>
        </a:graphic>
      </p:graphicFrame>
    </p:spTree>
    <p:extLst>
      <p:ext uri="{BB962C8B-B14F-4D97-AF65-F5344CB8AC3E}">
        <p14:creationId xmlns:p14="http://schemas.microsoft.com/office/powerpoint/2010/main" val="36427381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r>
              <a:rPr lang="en-US" altLang="zh-CN" smtClean="0"/>
              <a:t>( </a:t>
            </a:r>
            <a:fld id="{3EBA4A41-DF70-4ED6-A7D0-45645D30423D}" type="slidenum">
              <a:rPr lang="en-US" altLang="zh-CN" smtClean="0"/>
              <a:pPr>
                <a:defRPr/>
              </a:pPr>
              <a:t>36</a:t>
            </a:fld>
            <a:r>
              <a:rPr lang="en-US" altLang="zh-CN" smtClean="0"/>
              <a:t> )</a:t>
            </a:r>
            <a:endParaRPr lang="en-US" altLang="zh-CN"/>
          </a:p>
        </p:txBody>
      </p:sp>
      <p:sp>
        <p:nvSpPr>
          <p:cNvPr id="3" name="内容占位符 2"/>
          <p:cNvSpPr txBox="1">
            <a:spLocks/>
          </p:cNvSpPr>
          <p:nvPr/>
        </p:nvSpPr>
        <p:spPr>
          <a:xfrm>
            <a:off x="539552" y="260648"/>
            <a:ext cx="8157592" cy="629255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endPar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rPr>
              <a:t>1.3.4</a:t>
            </a:r>
            <a:r>
              <a:rPr kumimoji="0" lang="zh-CN" altLang="en-US" sz="2000" b="1" i="0" u="none" strike="noStrike" kern="1200" cap="none" spc="0" normalizeH="0" baseline="0" noProof="0" dirty="0" smtClean="0">
                <a:ln>
                  <a:noFill/>
                </a:ln>
                <a:solidFill>
                  <a:srgbClr val="333399"/>
                </a:solidFill>
                <a:effectLst/>
                <a:uLnTx/>
                <a:uFillTx/>
                <a:latin typeface="Calibri"/>
                <a:ea typeface="宋体"/>
                <a:cs typeface="+mn-cs"/>
              </a:rPr>
              <a:t>最小二乘参数估计值的性质</a:t>
            </a:r>
            <a:endParaRPr kumimoji="0" lang="en-US" altLang="zh-CN" sz="2000" b="1" i="0" u="none" strike="noStrike" kern="1200" cap="none" spc="0" normalizeH="0" baseline="0" noProof="0" dirty="0" smtClean="0">
              <a:ln>
                <a:noFill/>
              </a:ln>
              <a:solidFill>
                <a:srgbClr val="333399"/>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(1)</a:t>
            </a:r>
            <a:r>
              <a:rPr kumimoji="0" lang="zh-CN" altLang="en-US" sz="2000" b="1" i="0" u="none" strike="noStrike" kern="1200" cap="none" spc="0" normalizeH="0" baseline="0" noProof="0" dirty="0" smtClean="0">
                <a:ln>
                  <a:noFill/>
                </a:ln>
                <a:solidFill>
                  <a:sysClr val="windowText" lastClr="000000"/>
                </a:solidFill>
                <a:effectLst/>
                <a:uLnTx/>
                <a:uFillTx/>
                <a:latin typeface="Calibri"/>
                <a:ea typeface="宋体"/>
                <a:cs typeface="+mn-cs"/>
              </a:rPr>
              <a:t>无偏性</a:t>
            </a:r>
            <a:endParaRPr kumimoji="0" lang="en-US" altLang="zh-CN" sz="2000" b="1"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zh-CN" altLang="en-US" sz="2000" dirty="0">
                <a:solidFill>
                  <a:sysClr val="windowText" lastClr="000000"/>
                </a:solidFill>
                <a:latin typeface="Calibri"/>
                <a:ea typeface="宋体"/>
              </a:rPr>
              <a:t> </a:t>
            </a:r>
            <a:r>
              <a:rPr lang="zh-CN" altLang="en-US" sz="2000" dirty="0" smtClean="0">
                <a:solidFill>
                  <a:sysClr val="windowText" lastClr="000000"/>
                </a:solidFill>
                <a:latin typeface="Calibri"/>
                <a:ea typeface="宋体"/>
              </a:rPr>
              <a:t>    </a:t>
            </a: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000" dirty="0" smtClean="0">
                <a:solidFill>
                  <a:sysClr val="windowText" lastClr="000000"/>
                </a:solidFill>
                <a:latin typeface="Calibri"/>
                <a:ea typeface="宋体"/>
              </a:rPr>
              <a:t>     </a:t>
            </a:r>
            <a:r>
              <a:rPr lang="zh-CN" altLang="en-US" sz="2000" dirty="0" smtClean="0">
                <a:solidFill>
                  <a:sysClr val="windowText" lastClr="000000"/>
                </a:solidFill>
                <a:latin typeface="Calibri"/>
                <a:ea typeface="宋体"/>
              </a:rPr>
              <a:t>在     的所有线性无偏估计中</a:t>
            </a:r>
            <a:r>
              <a:rPr lang="en-US" altLang="zh-CN" sz="2000" dirty="0" smtClean="0">
                <a:solidFill>
                  <a:sysClr val="windowText" lastClr="000000"/>
                </a:solidFill>
                <a:latin typeface="Calibri"/>
                <a:ea typeface="宋体"/>
              </a:rPr>
              <a:t>, </a:t>
            </a:r>
            <a:r>
              <a:rPr lang="zh-CN" altLang="en-US" sz="2000" dirty="0" smtClean="0">
                <a:solidFill>
                  <a:sysClr val="windowText" lastClr="000000"/>
                </a:solidFill>
                <a:latin typeface="Calibri"/>
                <a:ea typeface="宋体"/>
              </a:rPr>
              <a:t>最小二乘估计的方差最小。</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(2)</a:t>
            </a:r>
            <a:r>
              <a:rPr kumimoji="0" lang="zh-CN" altLang="en-US" sz="2000" b="1" i="0" u="none" strike="noStrike" kern="1200" cap="none" spc="0" normalizeH="0" baseline="0" noProof="0" dirty="0" smtClean="0">
                <a:ln>
                  <a:noFill/>
                </a:ln>
                <a:solidFill>
                  <a:sysClr val="windowText" lastClr="000000"/>
                </a:solidFill>
                <a:effectLst/>
                <a:uLnTx/>
                <a:uFillTx/>
                <a:latin typeface="Calibri"/>
                <a:ea typeface="宋体"/>
                <a:cs typeface="+mn-cs"/>
              </a:rPr>
              <a:t>协方差矩阵</a:t>
            </a:r>
            <a:endParaRPr kumimoji="0" lang="en-US" altLang="zh-CN" sz="2000" b="1"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altLang="zh-CN" sz="2000" dirty="0" smtClean="0">
                <a:solidFill>
                  <a:sysClr val="windowText" lastClr="000000"/>
                </a:solidFill>
                <a:latin typeface="Calibri"/>
                <a:ea typeface="宋体"/>
              </a:rPr>
              <a:t>                                                                        </a:t>
            </a: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zh-CN" altLang="en-US" sz="2000" dirty="0">
                <a:solidFill>
                  <a:sysClr val="windowText" lastClr="000000"/>
                </a:solidFill>
                <a:latin typeface="Calibri"/>
                <a:ea typeface="宋体"/>
              </a:rPr>
              <a:t> </a:t>
            </a:r>
            <a:r>
              <a:rPr lang="zh-CN" altLang="en-US" sz="2000" dirty="0" smtClean="0">
                <a:solidFill>
                  <a:sysClr val="windowText" lastClr="000000"/>
                </a:solidFill>
                <a:latin typeface="Calibri"/>
                <a:ea typeface="宋体"/>
              </a:rPr>
              <a:t>        式中</a:t>
            </a:r>
            <a:r>
              <a:rPr lang="en-US" altLang="zh-CN" sz="2000" dirty="0" smtClean="0">
                <a:solidFill>
                  <a:sysClr val="windowText" lastClr="000000"/>
                </a:solidFill>
                <a:latin typeface="Calibri"/>
                <a:ea typeface="宋体"/>
              </a:rPr>
              <a:t>, </a:t>
            </a:r>
            <a:r>
              <a:rPr lang="zh-CN" altLang="en-US" sz="2000" dirty="0" smtClean="0">
                <a:solidFill>
                  <a:sysClr val="windowText" lastClr="000000"/>
                </a:solidFill>
                <a:latin typeface="Calibri"/>
                <a:ea typeface="宋体"/>
              </a:rPr>
              <a:t>         是              对角线上元素</a:t>
            </a:r>
            <a:r>
              <a:rPr lang="en-US" altLang="zh-CN" sz="2000" dirty="0" smtClean="0">
                <a:solidFill>
                  <a:sysClr val="windowText" lastClr="000000"/>
                </a:solidFill>
                <a:latin typeface="Calibri"/>
                <a:ea typeface="宋体"/>
              </a:rPr>
              <a:t>, </a:t>
            </a:r>
            <a:r>
              <a:rPr lang="zh-CN" altLang="en-US" sz="2000" dirty="0" smtClean="0">
                <a:solidFill>
                  <a:sysClr val="windowText" lastClr="000000"/>
                </a:solidFill>
                <a:latin typeface="Calibri"/>
                <a:ea typeface="宋体"/>
              </a:rPr>
              <a:t>    是解释变量     与其他解释变量之间的复相关系数。</a:t>
            </a: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p:txBody>
      </p:sp>
      <p:graphicFrame>
        <p:nvGraphicFramePr>
          <p:cNvPr id="4" name="对象 3"/>
          <p:cNvGraphicFramePr>
            <a:graphicFrameLocks noChangeAspect="1"/>
          </p:cNvGraphicFramePr>
          <p:nvPr>
            <p:extLst/>
          </p:nvPr>
        </p:nvGraphicFramePr>
        <p:xfrm>
          <a:off x="900000" y="1905000"/>
          <a:ext cx="933450" cy="381000"/>
        </p:xfrm>
        <a:graphic>
          <a:graphicData uri="http://schemas.openxmlformats.org/presentationml/2006/ole">
            <mc:AlternateContent xmlns:mc="http://schemas.openxmlformats.org/markup-compatibility/2006">
              <mc:Choice xmlns:v="urn:schemas-microsoft-com:vml" Requires="v">
                <p:oleObj spid="_x0000_s422082" name="Equation" r:id="rId3" imgW="622080" imgH="253800" progId="Equation.DSMT4">
                  <p:embed/>
                </p:oleObj>
              </mc:Choice>
              <mc:Fallback>
                <p:oleObj name="Equation" r:id="rId3" imgW="622080" imgH="253800" progId="Equation.DSMT4">
                  <p:embed/>
                  <p:pic>
                    <p:nvPicPr>
                      <p:cNvPr id="4" name="对象 3"/>
                      <p:cNvPicPr/>
                      <p:nvPr/>
                    </p:nvPicPr>
                    <p:blipFill>
                      <a:blip r:embed="rId4"/>
                      <a:stretch>
                        <a:fillRect/>
                      </a:stretch>
                    </p:blipFill>
                    <p:spPr>
                      <a:xfrm>
                        <a:off x="900000" y="1905000"/>
                        <a:ext cx="933450" cy="38100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219200" y="2514600"/>
          <a:ext cx="228600" cy="304800"/>
        </p:xfrm>
        <a:graphic>
          <a:graphicData uri="http://schemas.openxmlformats.org/presentationml/2006/ole">
            <mc:AlternateContent xmlns:mc="http://schemas.openxmlformats.org/markup-compatibility/2006">
              <mc:Choice xmlns:v="urn:schemas-microsoft-com:vml" Requires="v">
                <p:oleObj spid="_x0000_s422083" name="Equation" r:id="rId5" imgW="152280" imgH="203040" progId="Equation.DSMT4">
                  <p:embed/>
                </p:oleObj>
              </mc:Choice>
              <mc:Fallback>
                <p:oleObj name="Equation" r:id="rId5" imgW="152280" imgH="203040" progId="Equation.DSMT4">
                  <p:embed/>
                  <p:pic>
                    <p:nvPicPr>
                      <p:cNvPr id="5" name="对象 4"/>
                      <p:cNvPicPr/>
                      <p:nvPr/>
                    </p:nvPicPr>
                    <p:blipFill>
                      <a:blip r:embed="rId6"/>
                      <a:stretch>
                        <a:fillRect/>
                      </a:stretch>
                    </p:blipFill>
                    <p:spPr>
                      <a:xfrm>
                        <a:off x="1219200" y="2514600"/>
                        <a:ext cx="228600" cy="3048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974052181"/>
              </p:ext>
            </p:extLst>
          </p:nvPr>
        </p:nvGraphicFramePr>
        <p:xfrm>
          <a:off x="900000" y="3775167"/>
          <a:ext cx="3472392" cy="1295400"/>
        </p:xfrm>
        <a:graphic>
          <a:graphicData uri="http://schemas.openxmlformats.org/presentationml/2006/ole">
            <mc:AlternateContent xmlns:mc="http://schemas.openxmlformats.org/markup-compatibility/2006">
              <mc:Choice xmlns:v="urn:schemas-microsoft-com:vml" Requires="v">
                <p:oleObj spid="_x0000_s422084" name="Equation" r:id="rId7" imgW="2450880" imgH="914400" progId="Equation.DSMT4">
                  <p:embed/>
                </p:oleObj>
              </mc:Choice>
              <mc:Fallback>
                <p:oleObj name="Equation" r:id="rId7" imgW="2450880" imgH="914400" progId="Equation.DSMT4">
                  <p:embed/>
                  <p:pic>
                    <p:nvPicPr>
                      <p:cNvPr id="6" name="对象 5"/>
                      <p:cNvPicPr/>
                      <p:nvPr/>
                    </p:nvPicPr>
                    <p:blipFill>
                      <a:blip r:embed="rId8"/>
                      <a:stretch>
                        <a:fillRect/>
                      </a:stretch>
                    </p:blipFill>
                    <p:spPr>
                      <a:xfrm>
                        <a:off x="900000" y="3775167"/>
                        <a:ext cx="3472392" cy="12954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78350893"/>
              </p:ext>
            </p:extLst>
          </p:nvPr>
        </p:nvGraphicFramePr>
        <p:xfrm>
          <a:off x="4732840" y="3892731"/>
          <a:ext cx="3257550" cy="762000"/>
        </p:xfrm>
        <a:graphic>
          <a:graphicData uri="http://schemas.openxmlformats.org/presentationml/2006/ole">
            <mc:AlternateContent xmlns:mc="http://schemas.openxmlformats.org/markup-compatibility/2006">
              <mc:Choice xmlns:v="urn:schemas-microsoft-com:vml" Requires="v">
                <p:oleObj spid="_x0000_s422085" name="Equation" r:id="rId9" imgW="2171520" imgH="507960" progId="Equation.DSMT4">
                  <p:embed/>
                </p:oleObj>
              </mc:Choice>
              <mc:Fallback>
                <p:oleObj name="Equation" r:id="rId9" imgW="2171520" imgH="507960" progId="Equation.DSMT4">
                  <p:embed/>
                  <p:pic>
                    <p:nvPicPr>
                      <p:cNvPr id="7" name="对象 6"/>
                      <p:cNvPicPr/>
                      <p:nvPr/>
                    </p:nvPicPr>
                    <p:blipFill>
                      <a:blip r:embed="rId10"/>
                      <a:stretch>
                        <a:fillRect/>
                      </a:stretch>
                    </p:blipFill>
                    <p:spPr>
                      <a:xfrm>
                        <a:off x="4732840" y="3892731"/>
                        <a:ext cx="3257550" cy="762000"/>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828800" y="4953000"/>
          <a:ext cx="304800" cy="413658"/>
        </p:xfrm>
        <a:graphic>
          <a:graphicData uri="http://schemas.openxmlformats.org/presentationml/2006/ole">
            <mc:AlternateContent xmlns:mc="http://schemas.openxmlformats.org/markup-compatibility/2006">
              <mc:Choice xmlns:v="urn:schemas-microsoft-com:vml" Requires="v">
                <p:oleObj spid="_x0000_s422086" name="Equation" r:id="rId11" imgW="177480" imgH="241200" progId="Equation.DSMT4">
                  <p:embed/>
                </p:oleObj>
              </mc:Choice>
              <mc:Fallback>
                <p:oleObj name="Equation" r:id="rId11" imgW="177480" imgH="241200" progId="Equation.DSMT4">
                  <p:embed/>
                  <p:pic>
                    <p:nvPicPr>
                      <p:cNvPr id="8" name="对象 7"/>
                      <p:cNvPicPr/>
                      <p:nvPr/>
                    </p:nvPicPr>
                    <p:blipFill>
                      <a:blip r:embed="rId12"/>
                      <a:stretch>
                        <a:fillRect/>
                      </a:stretch>
                    </p:blipFill>
                    <p:spPr>
                      <a:xfrm>
                        <a:off x="1828800" y="4953000"/>
                        <a:ext cx="304800" cy="413658"/>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4876800" y="5029200"/>
          <a:ext cx="361950" cy="381000"/>
        </p:xfrm>
        <a:graphic>
          <a:graphicData uri="http://schemas.openxmlformats.org/presentationml/2006/ole">
            <mc:AlternateContent xmlns:mc="http://schemas.openxmlformats.org/markup-compatibility/2006">
              <mc:Choice xmlns:v="urn:schemas-microsoft-com:vml" Requires="v">
                <p:oleObj spid="_x0000_s422087" name="Equation" r:id="rId13" imgW="241200" imgH="253800" progId="Equation.DSMT4">
                  <p:embed/>
                </p:oleObj>
              </mc:Choice>
              <mc:Fallback>
                <p:oleObj name="Equation" r:id="rId13" imgW="241200" imgH="253800" progId="Equation.DSMT4">
                  <p:embed/>
                  <p:pic>
                    <p:nvPicPr>
                      <p:cNvPr id="9" name="对象 8"/>
                      <p:cNvPicPr/>
                      <p:nvPr/>
                    </p:nvPicPr>
                    <p:blipFill>
                      <a:blip r:embed="rId14"/>
                      <a:stretch>
                        <a:fillRect/>
                      </a:stretch>
                    </p:blipFill>
                    <p:spPr>
                      <a:xfrm>
                        <a:off x="4876800" y="5029200"/>
                        <a:ext cx="361950" cy="3810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187699870"/>
              </p:ext>
            </p:extLst>
          </p:nvPr>
        </p:nvGraphicFramePr>
        <p:xfrm>
          <a:off x="2653342" y="5050523"/>
          <a:ext cx="685800" cy="330653"/>
        </p:xfrm>
        <a:graphic>
          <a:graphicData uri="http://schemas.openxmlformats.org/presentationml/2006/ole">
            <mc:AlternateContent xmlns:mc="http://schemas.openxmlformats.org/markup-compatibility/2006">
              <mc:Choice xmlns:v="urn:schemas-microsoft-com:vml" Requires="v">
                <p:oleObj spid="_x0000_s422088" name="Equation" r:id="rId15" imgW="533160" imgH="228600" progId="Equation.DSMT4">
                  <p:embed/>
                </p:oleObj>
              </mc:Choice>
              <mc:Fallback>
                <p:oleObj name="Equation" r:id="rId15" imgW="533160" imgH="228600" progId="Equation.DSMT4">
                  <p:embed/>
                  <p:pic>
                    <p:nvPicPr>
                      <p:cNvPr id="10" name="对象 9"/>
                      <p:cNvPicPr/>
                      <p:nvPr/>
                    </p:nvPicPr>
                    <p:blipFill>
                      <a:blip r:embed="rId16"/>
                      <a:stretch>
                        <a:fillRect/>
                      </a:stretch>
                    </p:blipFill>
                    <p:spPr>
                      <a:xfrm>
                        <a:off x="2653342" y="5050523"/>
                        <a:ext cx="685800" cy="330653"/>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6477000" y="5029200"/>
          <a:ext cx="228600" cy="334108"/>
        </p:xfrm>
        <a:graphic>
          <a:graphicData uri="http://schemas.openxmlformats.org/presentationml/2006/ole">
            <mc:AlternateContent xmlns:mc="http://schemas.openxmlformats.org/markup-compatibility/2006">
              <mc:Choice xmlns:v="urn:schemas-microsoft-com:vml" Requires="v">
                <p:oleObj spid="_x0000_s422089" name="Equation" r:id="rId17" imgW="164880" imgH="241200" progId="Equation.DSMT4">
                  <p:embed/>
                </p:oleObj>
              </mc:Choice>
              <mc:Fallback>
                <p:oleObj name="Equation" r:id="rId17" imgW="164880" imgH="241200" progId="Equation.DSMT4">
                  <p:embed/>
                  <p:pic>
                    <p:nvPicPr>
                      <p:cNvPr id="11" name="对象 10"/>
                      <p:cNvPicPr/>
                      <p:nvPr/>
                    </p:nvPicPr>
                    <p:blipFill>
                      <a:blip r:embed="rId18"/>
                      <a:stretch>
                        <a:fillRect/>
                      </a:stretch>
                    </p:blipFill>
                    <p:spPr>
                      <a:xfrm>
                        <a:off x="6477000" y="5029200"/>
                        <a:ext cx="228600" cy="334108"/>
                      </a:xfrm>
                      <a:prstGeom prst="rect">
                        <a:avLst/>
                      </a:prstGeom>
                    </p:spPr>
                  </p:pic>
                </p:oleObj>
              </mc:Fallback>
            </mc:AlternateContent>
          </a:graphicData>
        </a:graphic>
      </p:graphicFrame>
    </p:spTree>
    <p:extLst>
      <p:ext uri="{BB962C8B-B14F-4D97-AF65-F5344CB8AC3E}">
        <p14:creationId xmlns:p14="http://schemas.microsoft.com/office/powerpoint/2010/main" val="4511069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r>
              <a:rPr lang="en-US" altLang="zh-CN" smtClean="0"/>
              <a:t>( </a:t>
            </a:r>
            <a:fld id="{3EBA4A41-DF70-4ED6-A7D0-45645D30423D}" type="slidenum">
              <a:rPr lang="en-US" altLang="zh-CN" smtClean="0"/>
              <a:pPr>
                <a:defRPr/>
              </a:pPr>
              <a:t>37</a:t>
            </a:fld>
            <a:r>
              <a:rPr lang="en-US" altLang="zh-CN" smtClean="0"/>
              <a:t> )</a:t>
            </a:r>
            <a:endParaRPr lang="en-US" altLang="zh-CN"/>
          </a:p>
        </p:txBody>
      </p:sp>
      <p:sp>
        <p:nvSpPr>
          <p:cNvPr id="3" name="内容占位符 2"/>
          <p:cNvSpPr txBox="1">
            <a:spLocks/>
          </p:cNvSpPr>
          <p:nvPr/>
        </p:nvSpPr>
        <p:spPr>
          <a:xfrm>
            <a:off x="539552" y="260648"/>
            <a:ext cx="8157592" cy="629255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(3)</a:t>
            </a:r>
            <a:r>
              <a:rPr kumimoji="0" lang="zh-CN" altLang="en-US" sz="2000" b="1" i="0" u="none" strike="noStrike" kern="1200" cap="none" spc="0" normalizeH="0" baseline="0" noProof="0" dirty="0" smtClean="0">
                <a:ln>
                  <a:noFill/>
                </a:ln>
                <a:solidFill>
                  <a:sysClr val="windowText" lastClr="000000"/>
                </a:solidFill>
                <a:effectLst/>
                <a:uLnTx/>
                <a:uFillTx/>
                <a:latin typeface="Calibri"/>
                <a:ea typeface="宋体"/>
                <a:cs typeface="+mn-cs"/>
              </a:rPr>
              <a:t>正态分布假设下的性质</a:t>
            </a:r>
            <a:endParaRPr lang="en-US" altLang="zh-CN" sz="2000" b="1"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altLang="zh-CN" sz="2000" b="1" i="0" u="none" strike="noStrike" kern="1200" cap="none" spc="0" normalizeH="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如果进一步假设误差项服从正态分布</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则有：</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lang="en-US" altLang="zh-CN" sz="2000" dirty="0">
              <a:solidFill>
                <a:sysClr val="windowText" lastClr="000000"/>
              </a:solidFill>
              <a:latin typeface="Calibri"/>
              <a:ea typeface="宋体"/>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         此外</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在误差项服从正态分布的假设下 最小二乘估计值与其真实值之间的加权距离服从自由度为</a:t>
            </a:r>
            <a:r>
              <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rPr>
              <a:t>k + 1 </a:t>
            </a:r>
            <a:r>
              <a:rPr kumimoji="0" lang="zh-CN" altLang="en-US" sz="2000" b="0" i="0" u="none" strike="noStrike" kern="1200" cap="none" spc="0" normalizeH="0" baseline="0" noProof="0" dirty="0" smtClean="0">
                <a:ln>
                  <a:noFill/>
                </a:ln>
                <a:solidFill>
                  <a:sysClr val="windowText" lastClr="000000"/>
                </a:solidFill>
                <a:effectLst/>
                <a:uLnTx/>
                <a:uFillTx/>
                <a:latin typeface="Calibri"/>
                <a:ea typeface="宋体"/>
                <a:cs typeface="+mn-cs"/>
              </a:rPr>
              <a:t>的卡方分布</a:t>
            </a:r>
            <a:r>
              <a:rPr lang="zh-CN" altLang="en-US" sz="2000" dirty="0">
                <a:solidFill>
                  <a:sysClr val="windowText" lastClr="000000"/>
                </a:solidFill>
                <a:latin typeface="Calibri"/>
                <a:ea typeface="宋体"/>
              </a:rPr>
              <a:t>。</a:t>
            </a: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smtClean="0">
              <a:ln>
                <a:noFill/>
              </a:ln>
              <a:solidFill>
                <a:sysClr val="windowText" lastClr="000000"/>
              </a:solidFill>
              <a:effectLst/>
              <a:uLnTx/>
              <a:uFillTx/>
              <a:latin typeface="Calibri"/>
              <a:ea typeface="宋体"/>
              <a:cs typeface="+mn-cs"/>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184504111"/>
              </p:ext>
            </p:extLst>
          </p:nvPr>
        </p:nvGraphicFramePr>
        <p:xfrm>
          <a:off x="2819400" y="2819400"/>
          <a:ext cx="2907030" cy="533400"/>
        </p:xfrm>
        <a:graphic>
          <a:graphicData uri="http://schemas.openxmlformats.org/presentationml/2006/ole">
            <mc:AlternateContent xmlns:mc="http://schemas.openxmlformats.org/markup-compatibility/2006">
              <mc:Choice xmlns:v="urn:schemas-microsoft-com:vml" Requires="v">
                <p:oleObj spid="_x0000_s422962" name="Equation" r:id="rId3" imgW="1384200" imgH="253800" progId="Equation.DSMT4">
                  <p:embed/>
                </p:oleObj>
              </mc:Choice>
              <mc:Fallback>
                <p:oleObj name="Equation" r:id="rId3" imgW="1384200" imgH="253800" progId="Equation.DSMT4">
                  <p:embed/>
                  <p:pic>
                    <p:nvPicPr>
                      <p:cNvPr id="12" name="对象 11"/>
                      <p:cNvPicPr/>
                      <p:nvPr/>
                    </p:nvPicPr>
                    <p:blipFill>
                      <a:blip r:embed="rId4"/>
                      <a:stretch>
                        <a:fillRect/>
                      </a:stretch>
                    </p:blipFill>
                    <p:spPr>
                      <a:xfrm>
                        <a:off x="2819400" y="2819400"/>
                        <a:ext cx="2907030" cy="533400"/>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849082783"/>
              </p:ext>
            </p:extLst>
          </p:nvPr>
        </p:nvGraphicFramePr>
        <p:xfrm>
          <a:off x="2819400" y="2124892"/>
          <a:ext cx="2264226" cy="509451"/>
        </p:xfrm>
        <a:graphic>
          <a:graphicData uri="http://schemas.openxmlformats.org/presentationml/2006/ole">
            <mc:AlternateContent xmlns:mc="http://schemas.openxmlformats.org/markup-compatibility/2006">
              <mc:Choice xmlns:v="urn:schemas-microsoft-com:vml" Requires="v">
                <p:oleObj spid="_x0000_s422963" name="Equation" r:id="rId5" imgW="1015920" imgH="228600" progId="Equation.DSMT4">
                  <p:embed/>
                </p:oleObj>
              </mc:Choice>
              <mc:Fallback>
                <p:oleObj name="Equation" r:id="rId5" imgW="1015920" imgH="228600" progId="Equation.DSMT4">
                  <p:embed/>
                  <p:pic>
                    <p:nvPicPr>
                      <p:cNvPr id="14" name="对象 13"/>
                      <p:cNvPicPr/>
                      <p:nvPr/>
                    </p:nvPicPr>
                    <p:blipFill>
                      <a:blip r:embed="rId6"/>
                      <a:stretch>
                        <a:fillRect/>
                      </a:stretch>
                    </p:blipFill>
                    <p:spPr>
                      <a:xfrm>
                        <a:off x="2819400" y="2124892"/>
                        <a:ext cx="2264226" cy="509451"/>
                      </a:xfrm>
                      <a:prstGeom prst="rect">
                        <a:avLst/>
                      </a:prstGeom>
                    </p:spPr>
                  </p:pic>
                </p:oleObj>
              </mc:Fallback>
            </mc:AlternateContent>
          </a:graphicData>
        </a:graphic>
      </p:graphicFrame>
    </p:spTree>
    <p:extLst>
      <p:ext uri="{BB962C8B-B14F-4D97-AF65-F5344CB8AC3E}">
        <p14:creationId xmlns:p14="http://schemas.microsoft.com/office/powerpoint/2010/main" val="11032723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3A4C155-83DD-4BBD-805A-DB8201E60DBF}"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0179" name="Rectangle 2"/>
          <p:cNvSpPr>
            <a:spLocks noGrp="1" noChangeArrowheads="1"/>
          </p:cNvSpPr>
          <p:nvPr>
            <p:ph type="title"/>
          </p:nvPr>
        </p:nvSpPr>
        <p:spPr>
          <a:xfrm>
            <a:off x="755650" y="2781300"/>
            <a:ext cx="7543800" cy="508000"/>
          </a:xfrm>
        </p:spPr>
        <p:txBody>
          <a:bodyPr/>
          <a:lstStyle/>
          <a:p>
            <a:pPr algn="ctr" eaLnBrk="1" hangingPunct="1"/>
            <a:r>
              <a:rPr lang="zh-CN" altLang="en-US" sz="3600" dirty="0" smtClean="0"/>
              <a:t>最小二乘法的应用</a:t>
            </a:r>
            <a:endParaRPr lang="en-US" altLang="zh-CN" sz="3600" dirty="0" smtClean="0"/>
          </a:p>
        </p:txBody>
      </p:sp>
    </p:spTree>
    <p:extLst>
      <p:ext uri="{BB962C8B-B14F-4D97-AF65-F5344CB8AC3E}">
        <p14:creationId xmlns:p14="http://schemas.microsoft.com/office/powerpoint/2010/main" val="41311555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8037010-D243-46DA-90E7-58D685BE4844}"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1203" name="Rectangle 2"/>
          <p:cNvSpPr>
            <a:spLocks noGrp="1" noChangeArrowheads="1"/>
          </p:cNvSpPr>
          <p:nvPr>
            <p:ph type="title"/>
          </p:nvPr>
        </p:nvSpPr>
        <p:spPr/>
        <p:txBody>
          <a:bodyPr/>
          <a:lstStyle/>
          <a:p>
            <a:pPr eaLnBrk="1" hangingPunct="1"/>
            <a:r>
              <a:rPr lang="zh-CN" altLang="en-US" smtClean="0"/>
              <a:t>加法模型</a:t>
            </a:r>
          </a:p>
        </p:txBody>
      </p:sp>
      <p:sp>
        <p:nvSpPr>
          <p:cNvPr id="27651" name="Rectangle 3"/>
          <p:cNvSpPr>
            <a:spLocks noGrp="1" noChangeArrowheads="1"/>
          </p:cNvSpPr>
          <p:nvPr>
            <p:ph type="body" idx="1"/>
          </p:nvPr>
        </p:nvSpPr>
        <p:spPr/>
        <p:txBody>
          <a:bodyPr/>
          <a:lstStyle/>
          <a:p>
            <a:pPr algn="just" eaLnBrk="1" hangingPunct="1"/>
            <a:r>
              <a:rPr lang="zh-CN" altLang="en-US" smtClean="0">
                <a:latin typeface="Times New Roman" panose="02020603050405020304" pitchFamily="18" charset="0"/>
              </a:rPr>
              <a:t>假设只有</a:t>
            </a:r>
            <a:r>
              <a:rPr lang="en-US" altLang="zh-CN" smtClean="0">
                <a:latin typeface="Times New Roman" panose="02020603050405020304" pitchFamily="18" charset="0"/>
              </a:rPr>
              <a:t>2</a:t>
            </a:r>
            <a:r>
              <a:rPr lang="zh-CN" altLang="en-US" smtClean="0">
                <a:latin typeface="Times New Roman" panose="02020603050405020304" pitchFamily="18" charset="0"/>
              </a:rPr>
              <a:t>个分类变量，每个分类变量的相对费率分别为</a:t>
            </a:r>
            <a:r>
              <a:rPr lang="en-US" altLang="zh-CN" i="1" smtClean="0">
                <a:latin typeface="Symbol" panose="05050102010706020507" pitchFamily="18" charset="2"/>
              </a:rPr>
              <a:t>a</a:t>
            </a:r>
            <a:r>
              <a:rPr lang="en-US" altLang="zh-CN" i="1" baseline="-25000" smtClean="0">
                <a:latin typeface="Times New Roman" panose="02020603050405020304" pitchFamily="18" charset="0"/>
              </a:rPr>
              <a:t>i</a:t>
            </a:r>
            <a:r>
              <a:rPr lang="zh-CN" altLang="en-US" smtClean="0">
                <a:latin typeface="Times New Roman" panose="02020603050405020304" pitchFamily="18" charset="0"/>
              </a:rPr>
              <a:t>，</a:t>
            </a:r>
            <a:r>
              <a:rPr lang="en-US" altLang="zh-CN" smtClean="0">
                <a:latin typeface="Symbol" panose="05050102010706020507" pitchFamily="18" charset="2"/>
              </a:rPr>
              <a:t>b</a:t>
            </a:r>
            <a:r>
              <a:rPr lang="en-US" altLang="zh-CN" i="1" baseline="-25000" smtClean="0">
                <a:latin typeface="Times New Roman" panose="02020603050405020304" pitchFamily="18" charset="0"/>
              </a:rPr>
              <a:t>j</a:t>
            </a:r>
            <a:r>
              <a:rPr lang="zh-CN" altLang="en-US" smtClean="0">
                <a:latin typeface="Times New Roman" panose="02020603050405020304" pitchFamily="18" charset="0"/>
              </a:rPr>
              <a:t>。</a:t>
            </a:r>
            <a:r>
              <a:rPr lang="en-US" altLang="zh-CN" i="1" smtClean="0">
                <a:latin typeface="Times New Roman" panose="02020603050405020304" pitchFamily="18" charset="0"/>
              </a:rPr>
              <a:t>C</a:t>
            </a:r>
            <a:r>
              <a:rPr lang="en-US" altLang="zh-CN" i="1" baseline="-25000" smtClean="0">
                <a:latin typeface="Times New Roman" panose="02020603050405020304" pitchFamily="18" charset="0"/>
              </a:rPr>
              <a:t>ij</a:t>
            </a:r>
            <a:r>
              <a:rPr lang="zh-CN" altLang="en-US" smtClean="0">
                <a:latin typeface="Times New Roman" panose="02020603050405020304" pitchFamily="18" charset="0"/>
              </a:rPr>
              <a:t>为各个类别的经验赔款，</a:t>
            </a:r>
            <a:r>
              <a:rPr lang="en-US" altLang="zh-CN" i="1" smtClean="0">
                <a:latin typeface="Times New Roman" panose="02020603050405020304" pitchFamily="18" charset="0"/>
              </a:rPr>
              <a:t>n</a:t>
            </a:r>
            <a:r>
              <a:rPr lang="en-US" altLang="zh-CN" i="1" baseline="-25000" smtClean="0">
                <a:latin typeface="Times New Roman" panose="02020603050405020304" pitchFamily="18" charset="0"/>
              </a:rPr>
              <a:t>ij</a:t>
            </a:r>
            <a:r>
              <a:rPr lang="zh-CN" altLang="en-US" smtClean="0">
                <a:latin typeface="Times New Roman" panose="02020603050405020304" pitchFamily="18" charset="0"/>
              </a:rPr>
              <a:t>为各个类别的风险单位数，</a:t>
            </a:r>
            <a:r>
              <a:rPr lang="en-US" altLang="zh-CN" i="1" smtClean="0">
                <a:latin typeface="Times New Roman" panose="02020603050405020304" pitchFamily="18" charset="0"/>
              </a:rPr>
              <a:t>y</a:t>
            </a:r>
            <a:r>
              <a:rPr lang="en-US" altLang="zh-CN" i="1" baseline="-25000" smtClean="0">
                <a:latin typeface="Times New Roman" panose="02020603050405020304" pitchFamily="18" charset="0"/>
              </a:rPr>
              <a:t>ij</a:t>
            </a:r>
            <a:r>
              <a:rPr lang="zh-CN" altLang="en-US" smtClean="0">
                <a:latin typeface="Times New Roman" panose="02020603050405020304" pitchFamily="18" charset="0"/>
              </a:rPr>
              <a:t>为各个类别的经验纯保费，则其纯保费可表示为</a:t>
            </a:r>
          </a:p>
          <a:p>
            <a:pPr algn="just" eaLnBrk="1" hangingPunct="1"/>
            <a:endParaRPr lang="en-US" altLang="zh-CN" smtClean="0">
              <a:latin typeface="Times New Roman" panose="02020603050405020304" pitchFamily="18" charset="0"/>
            </a:endParaRPr>
          </a:p>
          <a:p>
            <a:pPr algn="just" eaLnBrk="1" hangingPunct="1"/>
            <a:endParaRPr lang="en-US" altLang="zh-CN" smtClean="0">
              <a:latin typeface="Times New Roman" panose="02020603050405020304" pitchFamily="18" charset="0"/>
            </a:endParaRPr>
          </a:p>
          <a:p>
            <a:pPr algn="just" eaLnBrk="1" hangingPunct="1"/>
            <a:r>
              <a:rPr lang="zh-CN" altLang="en-US" smtClean="0"/>
              <a:t>估计参数时可以令下式达到最小：</a:t>
            </a:r>
            <a:endParaRPr lang="en-US" altLang="zh-CN" smtClean="0"/>
          </a:p>
        </p:txBody>
      </p:sp>
      <p:sp>
        <p:nvSpPr>
          <p:cNvPr id="51205" name="Rectangle 5"/>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27652" name="Object 4"/>
          <p:cNvGraphicFramePr>
            <a:graphicFrameLocks noChangeAspect="1"/>
          </p:cNvGraphicFramePr>
          <p:nvPr/>
        </p:nvGraphicFramePr>
        <p:xfrm>
          <a:off x="2195513" y="3716338"/>
          <a:ext cx="3973512" cy="523875"/>
        </p:xfrm>
        <a:graphic>
          <a:graphicData uri="http://schemas.openxmlformats.org/presentationml/2006/ole">
            <mc:AlternateContent xmlns:mc="http://schemas.openxmlformats.org/markup-compatibility/2006">
              <mc:Choice xmlns:v="urn:schemas-microsoft-com:vml" Requires="v">
                <p:oleObj spid="_x0000_s424970" name="Equation" r:id="rId3" imgW="1752600" imgH="266700" progId="Equation.DSMT4">
                  <p:embed/>
                </p:oleObj>
              </mc:Choice>
              <mc:Fallback>
                <p:oleObj name="Equation" r:id="rId3" imgW="1752600" imgH="266700" progId="Equation.DSMT4">
                  <p:embed/>
                  <p:pic>
                    <p:nvPicPr>
                      <p:cNvPr id="276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716338"/>
                        <a:ext cx="39735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7" name="Rectangle 8"/>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51208" name="Object 11"/>
          <p:cNvGraphicFramePr>
            <a:graphicFrameLocks noChangeAspect="1"/>
          </p:cNvGraphicFramePr>
          <p:nvPr/>
        </p:nvGraphicFramePr>
        <p:xfrm>
          <a:off x="2268538" y="5516563"/>
          <a:ext cx="4103687" cy="877887"/>
        </p:xfrm>
        <a:graphic>
          <a:graphicData uri="http://schemas.openxmlformats.org/presentationml/2006/ole">
            <mc:AlternateContent xmlns:mc="http://schemas.openxmlformats.org/markup-compatibility/2006">
              <mc:Choice xmlns:v="urn:schemas-microsoft-com:vml" Requires="v">
                <p:oleObj spid="_x0000_s424971" name="Equation" r:id="rId5" imgW="2197100" imgH="469900" progId="Equation.DSMT4">
                  <p:embed/>
                </p:oleObj>
              </mc:Choice>
              <mc:Fallback>
                <p:oleObj name="Equation" r:id="rId5" imgW="2197100" imgH="469900" progId="Equation.DSMT4">
                  <p:embed/>
                  <p:pic>
                    <p:nvPicPr>
                      <p:cNvPr id="51208"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5516563"/>
                        <a:ext cx="4103687"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39425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3" end="3"/>
                                            </p:txEl>
                                          </p:spTgt>
                                        </p:tgtEl>
                                        <p:attrNameLst>
                                          <p:attrName>style.visibility</p:attrName>
                                        </p:attrNameLst>
                                      </p:cBhvr>
                                      <p:to>
                                        <p:strVal val="visible"/>
                                      </p:to>
                                    </p:set>
                                    <p:anim calcmode="lin" valueType="num">
                                      <p:cBhvr additive="base">
                                        <p:cTn id="13"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7652"/>
                                        </p:tgtEl>
                                        <p:attrNameLst>
                                          <p:attrName>style.visibility</p:attrName>
                                        </p:attrNameLst>
                                      </p:cBhvr>
                                      <p:to>
                                        <p:strVal val="visible"/>
                                      </p:to>
                                    </p:set>
                                    <p:anim calcmode="lin" valueType="num">
                                      <p:cBhvr additive="base">
                                        <p:cTn id="19" dur="500" fill="hold"/>
                                        <p:tgtEl>
                                          <p:spTgt spid="27652"/>
                                        </p:tgtEl>
                                        <p:attrNameLst>
                                          <p:attrName>ppt_x</p:attrName>
                                        </p:attrNameLst>
                                      </p:cBhvr>
                                      <p:tavLst>
                                        <p:tav tm="0">
                                          <p:val>
                                            <p:strVal val="#ppt_x"/>
                                          </p:val>
                                        </p:tav>
                                        <p:tav tm="100000">
                                          <p:val>
                                            <p:strVal val="#ppt_x"/>
                                          </p:val>
                                        </p:tav>
                                      </p:tavLst>
                                    </p:anim>
                                    <p:anim calcmode="lin" valueType="num">
                                      <p:cBhvr additive="base">
                                        <p:cTn id="20" dur="500" fill="hold"/>
                                        <p:tgtEl>
                                          <p:spTgt spid="27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23C39DC-86C4-4895-9540-1C335BCDB060}"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2227" name="Rectangle 2"/>
          <p:cNvSpPr>
            <a:spLocks noGrp="1" noChangeArrowheads="1"/>
          </p:cNvSpPr>
          <p:nvPr>
            <p:ph type="title"/>
          </p:nvPr>
        </p:nvSpPr>
        <p:spPr/>
        <p:txBody>
          <a:bodyPr/>
          <a:lstStyle/>
          <a:p>
            <a:pPr eaLnBrk="1" hangingPunct="1"/>
            <a:r>
              <a:rPr lang="zh-CN" altLang="en-US" smtClean="0"/>
              <a:t>上述参数估计可能存在的问题</a:t>
            </a:r>
          </a:p>
        </p:txBody>
      </p:sp>
      <p:sp>
        <p:nvSpPr>
          <p:cNvPr id="37891" name="Rectangle 3"/>
          <p:cNvSpPr>
            <a:spLocks noGrp="1" noChangeArrowheads="1"/>
          </p:cNvSpPr>
          <p:nvPr>
            <p:ph type="body" idx="1"/>
          </p:nvPr>
        </p:nvSpPr>
        <p:spPr>
          <a:xfrm>
            <a:off x="457200" y="2060575"/>
            <a:ext cx="8229600" cy="4070350"/>
          </a:xfrm>
        </p:spPr>
        <p:txBody>
          <a:bodyPr/>
          <a:lstStyle/>
          <a:p>
            <a:pPr eaLnBrk="1" hangingPunct="1"/>
            <a:r>
              <a:rPr lang="zh-CN" altLang="en-US" smtClean="0">
                <a:latin typeface="Times New Roman" panose="02020603050405020304" pitchFamily="18" charset="0"/>
              </a:rPr>
              <a:t>如果上述模型的误差项是一</a:t>
            </a:r>
            <a:r>
              <a:rPr lang="zh-CN" altLang="en-US" smtClean="0">
                <a:solidFill>
                  <a:srgbClr val="0000FF"/>
                </a:solidFill>
                <a:latin typeface="Times New Roman" panose="02020603050405020304" pitchFamily="18" charset="0"/>
              </a:rPr>
              <a:t>正态</a:t>
            </a:r>
            <a:r>
              <a:rPr lang="zh-CN" altLang="en-US" smtClean="0">
                <a:latin typeface="Times New Roman" panose="02020603050405020304" pitchFamily="18" charset="0"/>
              </a:rPr>
              <a:t>随机变量，且</a:t>
            </a:r>
            <a:r>
              <a:rPr lang="zh-CN" altLang="en-US" smtClean="0">
                <a:solidFill>
                  <a:srgbClr val="0000FF"/>
                </a:solidFill>
                <a:latin typeface="Times New Roman" panose="02020603050405020304" pitchFamily="18" charset="0"/>
              </a:rPr>
              <a:t>独立</a:t>
            </a:r>
            <a:r>
              <a:rPr lang="zh-CN" altLang="en-US" smtClean="0">
                <a:latin typeface="Times New Roman" panose="02020603050405020304" pitchFamily="18" charset="0"/>
              </a:rPr>
              <a:t>于分类变量（费率因子），则在统计上是</a:t>
            </a:r>
            <a:r>
              <a:rPr lang="zh-CN" altLang="en-US" smtClean="0">
                <a:solidFill>
                  <a:srgbClr val="0000FF"/>
                </a:solidFill>
                <a:latin typeface="Times New Roman" panose="02020603050405020304" pitchFamily="18" charset="0"/>
              </a:rPr>
              <a:t>最优</a:t>
            </a:r>
            <a:r>
              <a:rPr lang="zh-CN" altLang="en-US" smtClean="0">
                <a:latin typeface="Times New Roman" panose="02020603050405020304" pitchFamily="18" charset="0"/>
              </a:rPr>
              <a:t>的。 </a:t>
            </a:r>
          </a:p>
          <a:p>
            <a:pPr eaLnBrk="1" hangingPunct="1"/>
            <a:r>
              <a:rPr lang="zh-CN" altLang="en-US" smtClean="0">
                <a:latin typeface="Times New Roman" panose="02020603050405020304" pitchFamily="18" charset="0"/>
              </a:rPr>
              <a:t>如果保单数分布不均匀，则：对包含有</a:t>
            </a:r>
            <a:r>
              <a:rPr lang="zh-CN" altLang="en-US" smtClean="0">
                <a:solidFill>
                  <a:srgbClr val="0000FF"/>
                </a:solidFill>
                <a:latin typeface="Times New Roman" panose="02020603050405020304" pitchFamily="18" charset="0"/>
              </a:rPr>
              <a:t>最多</a:t>
            </a:r>
            <a:r>
              <a:rPr lang="zh-CN" altLang="en-US" smtClean="0">
                <a:latin typeface="Times New Roman" panose="02020603050405020304" pitchFamily="18" charset="0"/>
              </a:rPr>
              <a:t>风险单位数的类别的拟合效果</a:t>
            </a:r>
            <a:r>
              <a:rPr lang="zh-CN" altLang="en-US" smtClean="0">
                <a:solidFill>
                  <a:srgbClr val="0000FF"/>
                </a:solidFill>
                <a:latin typeface="Times New Roman" panose="02020603050405020304" pitchFamily="18" charset="0"/>
              </a:rPr>
              <a:t>最好</a:t>
            </a:r>
            <a:r>
              <a:rPr lang="zh-CN" altLang="en-US" smtClean="0">
                <a:latin typeface="Times New Roman" panose="02020603050405020304" pitchFamily="18" charset="0"/>
              </a:rPr>
              <a:t>。</a:t>
            </a:r>
          </a:p>
          <a:p>
            <a:pPr eaLnBrk="1" hangingPunct="1"/>
            <a:r>
              <a:rPr lang="zh-CN" altLang="en-US" smtClean="0">
                <a:latin typeface="Times New Roman" panose="02020603050405020304" pitchFamily="18" charset="0"/>
              </a:rPr>
              <a:t>估计结果在统计上是显著的，但对包含有较少风险单位数的那些类别而言，厘定的保费可能是</a:t>
            </a:r>
            <a:r>
              <a:rPr lang="zh-CN" altLang="en-US" smtClean="0">
                <a:solidFill>
                  <a:srgbClr val="0000FF"/>
                </a:solidFill>
                <a:latin typeface="Times New Roman" panose="02020603050405020304" pitchFamily="18" charset="0"/>
              </a:rPr>
              <a:t>不适当的</a:t>
            </a:r>
            <a:r>
              <a:rPr lang="zh-CN" altLang="en-US" smtClean="0">
                <a:latin typeface="Times New Roman" panose="02020603050405020304" pitchFamily="18" charset="0"/>
              </a:rPr>
              <a:t>。 </a:t>
            </a:r>
          </a:p>
        </p:txBody>
      </p:sp>
    </p:spTree>
    <p:extLst>
      <p:ext uri="{BB962C8B-B14F-4D97-AF65-F5344CB8AC3E}">
        <p14:creationId xmlns:p14="http://schemas.microsoft.com/office/powerpoint/2010/main" val="1581780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additive="base">
                                        <p:cTn id="13"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1">
                                            <p:txEl>
                                              <p:pRg st="2" end="2"/>
                                            </p:txEl>
                                          </p:spTgt>
                                        </p:tgtEl>
                                        <p:attrNameLst>
                                          <p:attrName>style.visibility</p:attrName>
                                        </p:attrNameLst>
                                      </p:cBhvr>
                                      <p:to>
                                        <p:strVal val="visible"/>
                                      </p:to>
                                    </p:set>
                                    <p:anim calcmode="lin" valueType="num">
                                      <p:cBhvr additive="base">
                                        <p:cTn id="19"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CDD2F64-2F2C-4C32-A7E1-91BFD8D3ADBA}"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3251" name="Rectangle 2"/>
          <p:cNvSpPr>
            <a:spLocks noGrp="1" noChangeArrowheads="1"/>
          </p:cNvSpPr>
          <p:nvPr>
            <p:ph type="title"/>
          </p:nvPr>
        </p:nvSpPr>
        <p:spPr/>
        <p:txBody>
          <a:bodyPr/>
          <a:lstStyle/>
          <a:p>
            <a:pPr eaLnBrk="1" hangingPunct="1"/>
            <a:r>
              <a:rPr lang="zh-CN" altLang="en-US" smtClean="0"/>
              <a:t>解决办法</a:t>
            </a:r>
          </a:p>
        </p:txBody>
      </p:sp>
      <p:sp>
        <p:nvSpPr>
          <p:cNvPr id="38915" name="Rectangle 3"/>
          <p:cNvSpPr>
            <a:spLocks noGrp="1" noChangeArrowheads="1"/>
          </p:cNvSpPr>
          <p:nvPr>
            <p:ph type="body" idx="1"/>
          </p:nvPr>
        </p:nvSpPr>
        <p:spPr/>
        <p:txBody>
          <a:bodyPr/>
          <a:lstStyle/>
          <a:p>
            <a:pPr eaLnBrk="1" hangingPunct="1"/>
            <a:r>
              <a:rPr lang="zh-CN" altLang="en-US" smtClean="0"/>
              <a:t>给每一类别赋予近似相同的权数。一种极端的情况就是给每一类别赋予完全相同的权数：</a:t>
            </a:r>
          </a:p>
          <a:p>
            <a:pPr eaLnBrk="1" hangingPunct="1"/>
            <a:endParaRPr lang="zh-CN" altLang="en-US" smtClean="0"/>
          </a:p>
          <a:p>
            <a:pPr eaLnBrk="1" hangingPunct="1"/>
            <a:endParaRPr lang="zh-CN" altLang="en-US" smtClean="0"/>
          </a:p>
          <a:p>
            <a:pPr eaLnBrk="1" hangingPunct="1"/>
            <a:r>
              <a:rPr lang="zh-CN" altLang="en-US" smtClean="0"/>
              <a:t>一种折中的处理方法是给每一个类别赋予的权数等于其风险单位数的平方根，此时：</a:t>
            </a:r>
          </a:p>
          <a:p>
            <a:pPr eaLnBrk="1" hangingPunct="1"/>
            <a:endParaRPr lang="zh-CN" altLang="en-US" smtClean="0"/>
          </a:p>
        </p:txBody>
      </p:sp>
      <p:sp>
        <p:nvSpPr>
          <p:cNvPr id="53253" name="Rectangle 5"/>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38916" name="Object 4"/>
          <p:cNvGraphicFramePr>
            <a:graphicFrameLocks noChangeAspect="1"/>
          </p:cNvGraphicFramePr>
          <p:nvPr/>
        </p:nvGraphicFramePr>
        <p:xfrm>
          <a:off x="2452688" y="2857500"/>
          <a:ext cx="3463925" cy="790575"/>
        </p:xfrm>
        <a:graphic>
          <a:graphicData uri="http://schemas.openxmlformats.org/presentationml/2006/ole">
            <mc:AlternateContent xmlns:mc="http://schemas.openxmlformats.org/markup-compatibility/2006">
              <mc:Choice xmlns:v="urn:schemas-microsoft-com:vml" Requires="v">
                <p:oleObj spid="_x0000_s425994" name="Equation" r:id="rId3" imgW="1726451" imgH="393529" progId="Equation.DSMT4">
                  <p:embed/>
                </p:oleObj>
              </mc:Choice>
              <mc:Fallback>
                <p:oleObj name="Equation" r:id="rId3" imgW="1726451" imgH="393529" progId="Equation.DSMT4">
                  <p:embed/>
                  <p:pic>
                    <p:nvPicPr>
                      <p:cNvPr id="3891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2688" y="2857500"/>
                        <a:ext cx="346392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5" name="Rectangle 7"/>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38918" name="Object 6"/>
          <p:cNvGraphicFramePr>
            <a:graphicFrameLocks noChangeAspect="1"/>
          </p:cNvGraphicFramePr>
          <p:nvPr/>
        </p:nvGraphicFramePr>
        <p:xfrm>
          <a:off x="2411413" y="5084763"/>
          <a:ext cx="4392612" cy="839787"/>
        </p:xfrm>
        <a:graphic>
          <a:graphicData uri="http://schemas.openxmlformats.org/presentationml/2006/ole">
            <mc:AlternateContent xmlns:mc="http://schemas.openxmlformats.org/markup-compatibility/2006">
              <mc:Choice xmlns:v="urn:schemas-microsoft-com:vml" Requires="v">
                <p:oleObj spid="_x0000_s425995" name="Equation" r:id="rId5" imgW="2463800" imgH="469900" progId="Equation.DSMT4">
                  <p:embed/>
                </p:oleObj>
              </mc:Choice>
              <mc:Fallback>
                <p:oleObj name="Equation" r:id="rId5" imgW="2463800" imgH="469900" progId="Equation.DSMT4">
                  <p:embed/>
                  <p:pic>
                    <p:nvPicPr>
                      <p:cNvPr id="3891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5084763"/>
                        <a:ext cx="4392612"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985232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8916"/>
                                        </p:tgtEl>
                                        <p:attrNameLst>
                                          <p:attrName>style.visibility</p:attrName>
                                        </p:attrNameLst>
                                      </p:cBhvr>
                                      <p:to>
                                        <p:strVal val="visible"/>
                                      </p:to>
                                    </p:set>
                                    <p:anim calcmode="lin" valueType="num">
                                      <p:cBhvr additive="base">
                                        <p:cTn id="13" dur="500" fill="hold"/>
                                        <p:tgtEl>
                                          <p:spTgt spid="38916"/>
                                        </p:tgtEl>
                                        <p:attrNameLst>
                                          <p:attrName>ppt_x</p:attrName>
                                        </p:attrNameLst>
                                      </p:cBhvr>
                                      <p:tavLst>
                                        <p:tav tm="0">
                                          <p:val>
                                            <p:strVal val="#ppt_x"/>
                                          </p:val>
                                        </p:tav>
                                        <p:tav tm="100000">
                                          <p:val>
                                            <p:strVal val="#ppt_x"/>
                                          </p:val>
                                        </p:tav>
                                      </p:tavLst>
                                    </p:anim>
                                    <p:anim calcmode="lin" valueType="num">
                                      <p:cBhvr additive="base">
                                        <p:cTn id="14"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anim calcmode="lin" valueType="num">
                                      <p:cBhvr additive="base">
                                        <p:cTn id="19" dur="500" fill="hold"/>
                                        <p:tgtEl>
                                          <p:spTgt spid="389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8918"/>
                                        </p:tgtEl>
                                        <p:attrNameLst>
                                          <p:attrName>style.visibility</p:attrName>
                                        </p:attrNameLst>
                                      </p:cBhvr>
                                      <p:to>
                                        <p:strVal val="visible"/>
                                      </p:to>
                                    </p:set>
                                    <p:anim calcmode="lin" valueType="num">
                                      <p:cBhvr additive="base">
                                        <p:cTn id="25" dur="500" fill="hold"/>
                                        <p:tgtEl>
                                          <p:spTgt spid="38918"/>
                                        </p:tgtEl>
                                        <p:attrNameLst>
                                          <p:attrName>ppt_x</p:attrName>
                                        </p:attrNameLst>
                                      </p:cBhvr>
                                      <p:tavLst>
                                        <p:tav tm="0">
                                          <p:val>
                                            <p:strVal val="#ppt_x"/>
                                          </p:val>
                                        </p:tav>
                                        <p:tav tm="100000">
                                          <p:val>
                                            <p:strVal val="#ppt_x"/>
                                          </p:val>
                                        </p:tav>
                                      </p:tavLst>
                                    </p:anim>
                                    <p:anim calcmode="lin" valueType="num">
                                      <p:cBhvr additive="base">
                                        <p:cTn id="26"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09F9AEB-A76B-4A05-8C40-579E39018B57}"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4275" name="Rectangle 2"/>
          <p:cNvSpPr>
            <a:spLocks noGrp="1" noChangeArrowheads="1"/>
          </p:cNvSpPr>
          <p:nvPr>
            <p:ph type="title"/>
          </p:nvPr>
        </p:nvSpPr>
        <p:spPr/>
        <p:txBody>
          <a:bodyPr/>
          <a:lstStyle/>
          <a:p>
            <a:pPr eaLnBrk="1" hangingPunct="1"/>
            <a:r>
              <a:rPr lang="zh-CN" altLang="en-US" smtClean="0"/>
              <a:t>最小二乘法的应用：例</a:t>
            </a:r>
          </a:p>
        </p:txBody>
      </p:sp>
      <p:sp>
        <p:nvSpPr>
          <p:cNvPr id="40963" name="Rectangle 3"/>
          <p:cNvSpPr>
            <a:spLocks noGrp="1" noChangeArrowheads="1"/>
          </p:cNvSpPr>
          <p:nvPr>
            <p:ph type="body" idx="1"/>
          </p:nvPr>
        </p:nvSpPr>
        <p:spPr>
          <a:xfrm>
            <a:off x="468313" y="1700213"/>
            <a:ext cx="8229600" cy="1081087"/>
          </a:xfrm>
        </p:spPr>
        <p:txBody>
          <a:bodyPr/>
          <a:lstStyle/>
          <a:p>
            <a:pPr eaLnBrk="1" hangingPunct="1"/>
            <a:r>
              <a:rPr lang="en-US" altLang="zh-CN" smtClean="0">
                <a:latin typeface="Times New Roman" panose="02020603050405020304" pitchFamily="18" charset="0"/>
              </a:rPr>
              <a:t>400</a:t>
            </a:r>
            <a:r>
              <a:rPr lang="zh-CN" altLang="en-US" smtClean="0">
                <a:latin typeface="Times New Roman" panose="02020603050405020304" pitchFamily="18" charset="0"/>
              </a:rPr>
              <a:t>份汽车保险单根据两个变量“地区”和“车型”分组的结果如下表所示。用加法模型拟合各组的相对费率。 </a:t>
            </a:r>
          </a:p>
        </p:txBody>
      </p:sp>
      <p:graphicFrame>
        <p:nvGraphicFramePr>
          <p:cNvPr id="41033" name="Group 73"/>
          <p:cNvGraphicFramePr>
            <a:graphicFrameLocks noGrp="1"/>
          </p:cNvGraphicFramePr>
          <p:nvPr/>
        </p:nvGraphicFramePr>
        <p:xfrm>
          <a:off x="288925" y="3406775"/>
          <a:ext cx="4319588" cy="1828800"/>
        </p:xfrm>
        <a:graphic>
          <a:graphicData uri="http://schemas.openxmlformats.org/drawingml/2006/table">
            <a:tbl>
              <a:tblPr/>
              <a:tblGrid>
                <a:gridCol w="1081088">
                  <a:extLst>
                    <a:ext uri="{9D8B030D-6E8A-4147-A177-3AD203B41FA5}">
                      <a16:colId xmlns:a16="http://schemas.microsoft.com/office/drawing/2014/main" val="2476645625"/>
                    </a:ext>
                  </a:extLst>
                </a:gridCol>
                <a:gridCol w="1077912">
                  <a:extLst>
                    <a:ext uri="{9D8B030D-6E8A-4147-A177-3AD203B41FA5}">
                      <a16:colId xmlns:a16="http://schemas.microsoft.com/office/drawing/2014/main" val="1429973678"/>
                    </a:ext>
                  </a:extLst>
                </a:gridCol>
                <a:gridCol w="1081088">
                  <a:extLst>
                    <a:ext uri="{9D8B030D-6E8A-4147-A177-3AD203B41FA5}">
                      <a16:colId xmlns:a16="http://schemas.microsoft.com/office/drawing/2014/main" val="1211237168"/>
                    </a:ext>
                  </a:extLst>
                </a:gridCol>
                <a:gridCol w="1079500">
                  <a:extLst>
                    <a:ext uri="{9D8B030D-6E8A-4147-A177-3AD203B41FA5}">
                      <a16:colId xmlns:a16="http://schemas.microsoft.com/office/drawing/2014/main" val="537283391"/>
                    </a:ext>
                  </a:extLst>
                </a:gridCol>
              </a:tblGrid>
              <a:tr h="454025">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类别</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A</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B</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C</a:t>
                      </a: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4283030212"/>
                  </a:ext>
                </a:extLst>
              </a:tr>
              <a:tr h="36036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80</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52</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946550623"/>
                  </a:ext>
                </a:extLst>
              </a:tr>
              <a:tr h="358775">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136</a:t>
                      </a:r>
                      <a:endParaRPr kumimoji="0" lang="en-US" altLang="zh-CN" sz="2000" b="0" i="0" u="none" strike="noStrike" cap="none" normalizeH="0" baseline="0" dirty="0" smtClean="0">
                        <a:ln>
                          <a:noFill/>
                        </a:ln>
                        <a:solidFill>
                          <a:srgbClr val="0000FF"/>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60</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24</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808459781"/>
                  </a:ext>
                </a:extLst>
              </a:tr>
              <a:tr h="433388">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3</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16</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935644974"/>
                  </a:ext>
                </a:extLst>
              </a:tr>
            </a:tbl>
          </a:graphicData>
        </a:graphic>
      </p:graphicFrame>
      <p:graphicFrame>
        <p:nvGraphicFramePr>
          <p:cNvPr id="41034" name="Group 74"/>
          <p:cNvGraphicFramePr>
            <a:graphicFrameLocks noGrp="1"/>
          </p:cNvGraphicFramePr>
          <p:nvPr/>
        </p:nvGraphicFramePr>
        <p:xfrm>
          <a:off x="4716463" y="3357563"/>
          <a:ext cx="4176712" cy="1874838"/>
        </p:xfrm>
        <a:graphic>
          <a:graphicData uri="http://schemas.openxmlformats.org/drawingml/2006/table">
            <a:tbl>
              <a:tblPr/>
              <a:tblGrid>
                <a:gridCol w="1106487">
                  <a:extLst>
                    <a:ext uri="{9D8B030D-6E8A-4147-A177-3AD203B41FA5}">
                      <a16:colId xmlns:a16="http://schemas.microsoft.com/office/drawing/2014/main" val="4150818033"/>
                    </a:ext>
                  </a:extLst>
                </a:gridCol>
                <a:gridCol w="981075">
                  <a:extLst>
                    <a:ext uri="{9D8B030D-6E8A-4147-A177-3AD203B41FA5}">
                      <a16:colId xmlns:a16="http://schemas.microsoft.com/office/drawing/2014/main" val="905989668"/>
                    </a:ext>
                  </a:extLst>
                </a:gridCol>
                <a:gridCol w="982663">
                  <a:extLst>
                    <a:ext uri="{9D8B030D-6E8A-4147-A177-3AD203B41FA5}">
                      <a16:colId xmlns:a16="http://schemas.microsoft.com/office/drawing/2014/main" val="2848263712"/>
                    </a:ext>
                  </a:extLst>
                </a:gridCol>
                <a:gridCol w="1106487">
                  <a:extLst>
                    <a:ext uri="{9D8B030D-6E8A-4147-A177-3AD203B41FA5}">
                      <a16:colId xmlns:a16="http://schemas.microsoft.com/office/drawing/2014/main" val="763999512"/>
                    </a:ext>
                  </a:extLst>
                </a:gridCol>
              </a:tblGrid>
              <a:tr h="503238">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类别</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A</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B</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C</a:t>
                      </a: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727710548"/>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8,400</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7,020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3,600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274401556"/>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17,340</a:t>
                      </a:r>
                      <a:endPar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7,200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4,590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947794030"/>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3</a:t>
                      </a:r>
                    </a:p>
                  </a:txBody>
                  <a:tcPr anchor="ctr" horzOverflow="overflow">
                    <a:lnL w="28575" cap="flat" cmpd="sng" algn="ctr">
                      <a:solidFill>
                        <a:srgbClr val="3366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825</a:t>
                      </a:r>
                      <a:endPar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1,140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2,640</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28575" cap="flat" cmpd="sng" algn="ctr">
                      <a:solidFill>
                        <a:srgbClr val="336600"/>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671823351"/>
                  </a:ext>
                </a:extLst>
              </a:tr>
            </a:tbl>
          </a:graphicData>
        </a:graphic>
      </p:graphicFrame>
      <p:sp>
        <p:nvSpPr>
          <p:cNvPr id="41024" name="Rectangle 64"/>
          <p:cNvSpPr>
            <a:spLocks noChangeArrowheads="1"/>
          </p:cNvSpPr>
          <p:nvPr/>
        </p:nvSpPr>
        <p:spPr bwMode="auto">
          <a:xfrm>
            <a:off x="539750" y="2852738"/>
            <a:ext cx="3816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1752600" algn="ctr"/>
              </a:tabLst>
              <a:defRPr b="1">
                <a:solidFill>
                  <a:schemeClr val="tx1"/>
                </a:solidFill>
                <a:latin typeface="Arial" panose="020B0604020202020204" pitchFamily="34" charset="0"/>
                <a:ea typeface="宋体" panose="02010600030101010101" pitchFamily="2" charset="-122"/>
              </a:defRPr>
            </a:lvl1pPr>
            <a:lvl2pPr marL="742950" indent="-285750">
              <a:tabLst>
                <a:tab pos="1752600" algn="ctr"/>
              </a:tabLst>
              <a:defRPr b="1">
                <a:solidFill>
                  <a:schemeClr val="tx1"/>
                </a:solidFill>
                <a:latin typeface="Arial" panose="020B0604020202020204" pitchFamily="34" charset="0"/>
                <a:ea typeface="宋体" panose="02010600030101010101" pitchFamily="2" charset="-122"/>
              </a:defRPr>
            </a:lvl2pPr>
            <a:lvl3pPr marL="1143000" indent="-228600">
              <a:tabLst>
                <a:tab pos="1752600" algn="ctr"/>
              </a:tabLst>
              <a:defRPr b="1">
                <a:solidFill>
                  <a:schemeClr val="tx1"/>
                </a:solidFill>
                <a:latin typeface="Arial" panose="020B0604020202020204" pitchFamily="34" charset="0"/>
                <a:ea typeface="宋体" panose="02010600030101010101" pitchFamily="2" charset="-122"/>
              </a:defRPr>
            </a:lvl3pPr>
            <a:lvl4pPr marL="1600200" indent="-228600">
              <a:tabLst>
                <a:tab pos="1752600" algn="ctr"/>
              </a:tabLst>
              <a:defRPr b="1">
                <a:solidFill>
                  <a:schemeClr val="tx1"/>
                </a:solidFill>
                <a:latin typeface="Arial" panose="020B0604020202020204" pitchFamily="34" charset="0"/>
                <a:ea typeface="宋体" panose="02010600030101010101" pitchFamily="2" charset="-122"/>
              </a:defRPr>
            </a:lvl4pPr>
            <a:lvl5pPr marL="2057400" indent="-228600">
              <a:tabLst>
                <a:tab pos="1752600" algn="ctr"/>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752600" algn="ctr"/>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752600" algn="ctr"/>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752600" algn="ctr"/>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752600" algn="ctr"/>
              </a:tabLs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52600" algn="ctr"/>
              </a:tabLst>
              <a:defRPr/>
            </a:pPr>
            <a:r>
              <a:rPr kumimoji="0" lang="zh-CN" altLang="en-US" sz="2000" b="1" i="0" u="none" strike="noStrike" kern="1200" cap="none" spc="0" normalizeH="0" baseline="0" noProof="0" smtClean="0">
                <a:ln>
                  <a:noFill/>
                </a:ln>
                <a:solidFill>
                  <a:srgbClr val="330066"/>
                </a:solidFill>
                <a:effectLst/>
                <a:uLnTx/>
                <a:uFillTx/>
                <a:latin typeface="宋体" panose="02010600030101010101" pitchFamily="2" charset="-122"/>
                <a:ea typeface="宋体" panose="02010600030101010101" pitchFamily="2" charset="-122"/>
                <a:cs typeface="Times New Roman" panose="02020603050405020304" pitchFamily="18" charset="0"/>
              </a:rPr>
              <a:t>各组的风险单位数</a:t>
            </a:r>
            <a:r>
              <a:rPr kumimoji="0" lang="en-US" altLang="zh-CN" sz="2000" b="1" i="0" u="none" strike="noStrike" kern="1200" cap="none" spc="0" normalizeH="0" baseline="0" noProof="0" smtClean="0">
                <a:ln>
                  <a:noFill/>
                </a:ln>
                <a:solidFill>
                  <a:srgbClr val="330066"/>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zh-CN" altLang="en-US" sz="2000" b="1" i="0" u="none" strike="noStrike" kern="1200" cap="none" spc="0" normalizeH="0" baseline="0" noProof="0" smtClean="0">
                <a:ln>
                  <a:noFill/>
                </a:ln>
                <a:solidFill>
                  <a:srgbClr val="330066"/>
                </a:solidFill>
                <a:effectLst/>
                <a:uLnTx/>
                <a:uFillTx/>
                <a:latin typeface="宋体" panose="02010600030101010101" pitchFamily="2" charset="-122"/>
                <a:ea typeface="宋体" panose="02010600030101010101" pitchFamily="2" charset="-122"/>
                <a:cs typeface="Times New Roman" panose="02020603050405020304" pitchFamily="18" charset="0"/>
              </a:rPr>
              <a:t>保单年数</a:t>
            </a:r>
            <a:r>
              <a:rPr kumimoji="0" lang="en-US" altLang="zh-CN" sz="2000" b="1" i="0" u="none" strike="noStrike" kern="1200" cap="none" spc="0" normalizeH="0" baseline="0" noProof="0" smtClean="0">
                <a:ln>
                  <a:noFill/>
                </a:ln>
                <a:solidFill>
                  <a:srgbClr val="330066"/>
                </a:solidFill>
                <a:effectLst/>
                <a:uLnTx/>
                <a:uFillTx/>
                <a:latin typeface="宋体" panose="02010600030101010101" pitchFamily="2" charset="-122"/>
                <a:ea typeface="宋体" panose="02010600030101010101" pitchFamily="2" charset="-122"/>
                <a:cs typeface="Times New Roman" panose="02020603050405020304" pitchFamily="18" charset="0"/>
              </a:rPr>
              <a:t>)        </a:t>
            </a:r>
          </a:p>
        </p:txBody>
      </p:sp>
      <p:sp>
        <p:nvSpPr>
          <p:cNvPr id="41025" name="Rectangle 65"/>
          <p:cNvSpPr>
            <a:spLocks noChangeArrowheads="1"/>
          </p:cNvSpPr>
          <p:nvPr/>
        </p:nvSpPr>
        <p:spPr bwMode="auto">
          <a:xfrm>
            <a:off x="5364163" y="2781300"/>
            <a:ext cx="1973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Times New Roman" panose="02020603050405020304" pitchFamily="18" charset="0"/>
              </a:rPr>
              <a:t>各组的经验赔款</a:t>
            </a:r>
          </a:p>
        </p:txBody>
      </p:sp>
    </p:spTree>
    <p:extLst>
      <p:ext uri="{BB962C8B-B14F-4D97-AF65-F5344CB8AC3E}">
        <p14:creationId xmlns:p14="http://schemas.microsoft.com/office/powerpoint/2010/main" val="14082499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024"/>
                                        </p:tgtEl>
                                        <p:attrNameLst>
                                          <p:attrName>style.visibility</p:attrName>
                                        </p:attrNameLst>
                                      </p:cBhvr>
                                      <p:to>
                                        <p:strVal val="visible"/>
                                      </p:to>
                                    </p:set>
                                    <p:anim calcmode="lin" valueType="num">
                                      <p:cBhvr additive="base">
                                        <p:cTn id="13" dur="500" fill="hold"/>
                                        <p:tgtEl>
                                          <p:spTgt spid="41024"/>
                                        </p:tgtEl>
                                        <p:attrNameLst>
                                          <p:attrName>ppt_x</p:attrName>
                                        </p:attrNameLst>
                                      </p:cBhvr>
                                      <p:tavLst>
                                        <p:tav tm="0">
                                          <p:val>
                                            <p:strVal val="#ppt_x"/>
                                          </p:val>
                                        </p:tav>
                                        <p:tav tm="100000">
                                          <p:val>
                                            <p:strVal val="#ppt_x"/>
                                          </p:val>
                                        </p:tav>
                                      </p:tavLst>
                                    </p:anim>
                                    <p:anim calcmode="lin" valueType="num">
                                      <p:cBhvr additive="base">
                                        <p:cTn id="14" dur="500" fill="hold"/>
                                        <p:tgtEl>
                                          <p:spTgt spid="4102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1033"/>
                                        </p:tgtEl>
                                        <p:attrNameLst>
                                          <p:attrName>style.visibility</p:attrName>
                                        </p:attrNameLst>
                                      </p:cBhvr>
                                      <p:to>
                                        <p:strVal val="visible"/>
                                      </p:to>
                                    </p:set>
                                    <p:anim calcmode="lin" valueType="num">
                                      <p:cBhvr additive="base">
                                        <p:cTn id="17" dur="500" fill="hold"/>
                                        <p:tgtEl>
                                          <p:spTgt spid="41033"/>
                                        </p:tgtEl>
                                        <p:attrNameLst>
                                          <p:attrName>ppt_x</p:attrName>
                                        </p:attrNameLst>
                                      </p:cBhvr>
                                      <p:tavLst>
                                        <p:tav tm="0">
                                          <p:val>
                                            <p:strVal val="#ppt_x"/>
                                          </p:val>
                                        </p:tav>
                                        <p:tav tm="100000">
                                          <p:val>
                                            <p:strVal val="#ppt_x"/>
                                          </p:val>
                                        </p:tav>
                                      </p:tavLst>
                                    </p:anim>
                                    <p:anim calcmode="lin" valueType="num">
                                      <p:cBhvr additive="base">
                                        <p:cTn id="18" dur="500" fill="hold"/>
                                        <p:tgtEl>
                                          <p:spTgt spid="41033"/>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41034"/>
                                        </p:tgtEl>
                                        <p:attrNameLst>
                                          <p:attrName>style.visibility</p:attrName>
                                        </p:attrNameLst>
                                      </p:cBhvr>
                                      <p:to>
                                        <p:strVal val="visible"/>
                                      </p:to>
                                    </p:set>
                                    <p:anim calcmode="lin" valueType="num">
                                      <p:cBhvr additive="base">
                                        <p:cTn id="23" dur="500" fill="hold"/>
                                        <p:tgtEl>
                                          <p:spTgt spid="41034"/>
                                        </p:tgtEl>
                                        <p:attrNameLst>
                                          <p:attrName>ppt_x</p:attrName>
                                        </p:attrNameLst>
                                      </p:cBhvr>
                                      <p:tavLst>
                                        <p:tav tm="0">
                                          <p:val>
                                            <p:strVal val="#ppt_x"/>
                                          </p:val>
                                        </p:tav>
                                        <p:tav tm="100000">
                                          <p:val>
                                            <p:strVal val="#ppt_x"/>
                                          </p:val>
                                        </p:tav>
                                      </p:tavLst>
                                    </p:anim>
                                    <p:anim calcmode="lin" valueType="num">
                                      <p:cBhvr additive="base">
                                        <p:cTn id="24" dur="500" fill="hold"/>
                                        <p:tgtEl>
                                          <p:spTgt spid="4103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1025"/>
                                        </p:tgtEl>
                                        <p:attrNameLst>
                                          <p:attrName>style.visibility</p:attrName>
                                        </p:attrNameLst>
                                      </p:cBhvr>
                                      <p:to>
                                        <p:strVal val="visible"/>
                                      </p:to>
                                    </p:set>
                                    <p:anim calcmode="lin" valueType="num">
                                      <p:cBhvr additive="base">
                                        <p:cTn id="27" dur="500" fill="hold"/>
                                        <p:tgtEl>
                                          <p:spTgt spid="41025"/>
                                        </p:tgtEl>
                                        <p:attrNameLst>
                                          <p:attrName>ppt_x</p:attrName>
                                        </p:attrNameLst>
                                      </p:cBhvr>
                                      <p:tavLst>
                                        <p:tav tm="0">
                                          <p:val>
                                            <p:strVal val="#ppt_x"/>
                                          </p:val>
                                        </p:tav>
                                        <p:tav tm="100000">
                                          <p:val>
                                            <p:strVal val="#ppt_x"/>
                                          </p:val>
                                        </p:tav>
                                      </p:tavLst>
                                    </p:anim>
                                    <p:anim calcmode="lin" valueType="num">
                                      <p:cBhvr additive="base">
                                        <p:cTn id="28" dur="500" fill="hold"/>
                                        <p:tgtEl>
                                          <p:spTgt spid="410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P spid="41024" grpId="0"/>
      <p:bldP spid="410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1F4400B-AE85-4379-8424-2788047C26F6}"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47193" name="Group 89"/>
          <p:cNvGraphicFramePr>
            <a:graphicFrameLocks noGrp="1"/>
          </p:cNvGraphicFramePr>
          <p:nvPr/>
        </p:nvGraphicFramePr>
        <p:xfrm>
          <a:off x="1908175" y="1087438"/>
          <a:ext cx="5573713" cy="1922463"/>
        </p:xfrm>
        <a:graphic>
          <a:graphicData uri="http://schemas.openxmlformats.org/drawingml/2006/table">
            <a:tbl>
              <a:tblPr/>
              <a:tblGrid>
                <a:gridCol w="1441450">
                  <a:extLst>
                    <a:ext uri="{9D8B030D-6E8A-4147-A177-3AD203B41FA5}">
                      <a16:colId xmlns:a16="http://schemas.microsoft.com/office/drawing/2014/main" val="941380488"/>
                    </a:ext>
                  </a:extLst>
                </a:gridCol>
                <a:gridCol w="1438275">
                  <a:extLst>
                    <a:ext uri="{9D8B030D-6E8A-4147-A177-3AD203B41FA5}">
                      <a16:colId xmlns:a16="http://schemas.microsoft.com/office/drawing/2014/main" val="2827787885"/>
                    </a:ext>
                  </a:extLst>
                </a:gridCol>
                <a:gridCol w="1246188">
                  <a:extLst>
                    <a:ext uri="{9D8B030D-6E8A-4147-A177-3AD203B41FA5}">
                      <a16:colId xmlns:a16="http://schemas.microsoft.com/office/drawing/2014/main" val="2968575074"/>
                    </a:ext>
                  </a:extLst>
                </a:gridCol>
                <a:gridCol w="1447800">
                  <a:extLst>
                    <a:ext uri="{9D8B030D-6E8A-4147-A177-3AD203B41FA5}">
                      <a16:colId xmlns:a16="http://schemas.microsoft.com/office/drawing/2014/main" val="1836586100"/>
                    </a:ext>
                  </a:extLst>
                </a:gridCol>
              </a:tblGrid>
              <a:tr h="55086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类别</a:t>
                      </a:r>
                    </a:p>
                  </a:txBody>
                  <a:tcPr anchor="ct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A</a:t>
                      </a: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B</a:t>
                      </a: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C</a:t>
                      </a:r>
                    </a:p>
                  </a:txBody>
                  <a:tcPr anchor="ct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748930979"/>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a:t>
                      </a:r>
                    </a:p>
                  </a:txBody>
                  <a:tcPr anchor="ct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105.00</a:t>
                      </a:r>
                      <a:endPar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135.00</a:t>
                      </a:r>
                      <a:endPar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180.00</a:t>
                      </a:r>
                      <a:endPar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802344637"/>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a:t>
                      </a:r>
                    </a:p>
                  </a:txBody>
                  <a:tcPr anchor="ct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127.50</a:t>
                      </a:r>
                      <a:endPar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120.00</a:t>
                      </a:r>
                      <a:endPar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191.25</a:t>
                      </a:r>
                      <a:endPar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032446728"/>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3</a:t>
                      </a:r>
                    </a:p>
                  </a:txBody>
                  <a:tcPr anchor="ct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206.25</a:t>
                      </a:r>
                      <a:endPar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142.50</a:t>
                      </a:r>
                      <a:endParaRPr kumimoji="0" lang="en-US" altLang="zh-CN" sz="2000" b="0"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165.00</a:t>
                      </a:r>
                      <a:endParaRPr kumimoji="0" lang="en-US" altLang="zh-CN" sz="2000" b="0"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anchor="ct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883578310"/>
                  </a:ext>
                </a:extLst>
              </a:tr>
            </a:tbl>
          </a:graphicData>
        </a:graphic>
      </p:graphicFrame>
      <p:sp>
        <p:nvSpPr>
          <p:cNvPr id="47146" name="Rectangle 42"/>
          <p:cNvSpPr>
            <a:spLocks noChangeArrowheads="1"/>
          </p:cNvSpPr>
          <p:nvPr/>
        </p:nvSpPr>
        <p:spPr bwMode="auto">
          <a:xfrm>
            <a:off x="3059113" y="655638"/>
            <a:ext cx="25923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Times New Roman" panose="02020603050405020304" pitchFamily="18" charset="0"/>
              </a:rPr>
              <a:t>经验纯保费</a:t>
            </a:r>
          </a:p>
        </p:txBody>
      </p:sp>
      <p:sp>
        <p:nvSpPr>
          <p:cNvPr id="47186" name="Rectangle 82"/>
          <p:cNvSpPr>
            <a:spLocks noGrp="1" noChangeArrowheads="1"/>
          </p:cNvSpPr>
          <p:nvPr>
            <p:ph type="body" idx="1"/>
          </p:nvPr>
        </p:nvSpPr>
        <p:spPr>
          <a:xfrm>
            <a:off x="457200" y="3175000"/>
            <a:ext cx="8229600" cy="1333500"/>
          </a:xfrm>
        </p:spPr>
        <p:txBody>
          <a:bodyPr/>
          <a:lstStyle/>
          <a:p>
            <a:pPr eaLnBrk="1" hangingPunct="1"/>
            <a:r>
              <a:rPr lang="zh-CN" altLang="en-US" smtClean="0"/>
              <a:t>模型：</a:t>
            </a:r>
          </a:p>
          <a:p>
            <a:pPr algn="ctr" eaLnBrk="1" hangingPunct="1">
              <a:buFont typeface="Wingdings" panose="05000000000000000000" pitchFamily="2" charset="2"/>
              <a:buNone/>
            </a:pPr>
            <a:r>
              <a:rPr lang="zh-CN" altLang="en-US" b="1" smtClean="0">
                <a:solidFill>
                  <a:srgbClr val="FF0000"/>
                </a:solidFill>
              </a:rPr>
              <a:t>纯保费＝基础保费＋地区的相对费率＋车型的相对费率</a:t>
            </a:r>
          </a:p>
        </p:txBody>
      </p:sp>
      <p:graphicFrame>
        <p:nvGraphicFramePr>
          <p:cNvPr id="47190" name="Object 86"/>
          <p:cNvGraphicFramePr>
            <a:graphicFrameLocks noChangeAspect="1"/>
          </p:cNvGraphicFramePr>
          <p:nvPr/>
        </p:nvGraphicFramePr>
        <p:xfrm>
          <a:off x="2490788" y="4724400"/>
          <a:ext cx="3657600" cy="506413"/>
        </p:xfrm>
        <a:graphic>
          <a:graphicData uri="http://schemas.openxmlformats.org/presentationml/2006/ole">
            <mc:AlternateContent xmlns:mc="http://schemas.openxmlformats.org/markup-compatibility/2006">
              <mc:Choice xmlns:v="urn:schemas-microsoft-com:vml" Requires="v">
                <p:oleObj spid="_x0000_s427014" name="Equation" r:id="rId4" imgW="1511300" imgH="241300" progId="Equation.DSMT4">
                  <p:embed/>
                </p:oleObj>
              </mc:Choice>
              <mc:Fallback>
                <p:oleObj name="Equation" r:id="rId4" imgW="1511300" imgH="241300" progId="Equation.DSMT4">
                  <p:embed/>
                  <p:pic>
                    <p:nvPicPr>
                      <p:cNvPr id="47190" name="Object 8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0788" y="4724400"/>
                        <a:ext cx="36576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23713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193"/>
                                        </p:tgtEl>
                                        <p:attrNameLst>
                                          <p:attrName>style.visibility</p:attrName>
                                        </p:attrNameLst>
                                      </p:cBhvr>
                                      <p:to>
                                        <p:strVal val="visible"/>
                                      </p:to>
                                    </p:set>
                                    <p:anim calcmode="lin" valueType="num">
                                      <p:cBhvr additive="base">
                                        <p:cTn id="7" dur="500" fill="hold"/>
                                        <p:tgtEl>
                                          <p:spTgt spid="47193"/>
                                        </p:tgtEl>
                                        <p:attrNameLst>
                                          <p:attrName>ppt_x</p:attrName>
                                        </p:attrNameLst>
                                      </p:cBhvr>
                                      <p:tavLst>
                                        <p:tav tm="0">
                                          <p:val>
                                            <p:strVal val="#ppt_x"/>
                                          </p:val>
                                        </p:tav>
                                        <p:tav tm="100000">
                                          <p:val>
                                            <p:strVal val="#ppt_x"/>
                                          </p:val>
                                        </p:tav>
                                      </p:tavLst>
                                    </p:anim>
                                    <p:anim calcmode="lin" valueType="num">
                                      <p:cBhvr additive="base">
                                        <p:cTn id="8" dur="500" fill="hold"/>
                                        <p:tgtEl>
                                          <p:spTgt spid="4719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146"/>
                                        </p:tgtEl>
                                        <p:attrNameLst>
                                          <p:attrName>style.visibility</p:attrName>
                                        </p:attrNameLst>
                                      </p:cBhvr>
                                      <p:to>
                                        <p:strVal val="visible"/>
                                      </p:to>
                                    </p:set>
                                    <p:anim calcmode="lin" valueType="num">
                                      <p:cBhvr additive="base">
                                        <p:cTn id="11" dur="500" fill="hold"/>
                                        <p:tgtEl>
                                          <p:spTgt spid="47146"/>
                                        </p:tgtEl>
                                        <p:attrNameLst>
                                          <p:attrName>ppt_x</p:attrName>
                                        </p:attrNameLst>
                                      </p:cBhvr>
                                      <p:tavLst>
                                        <p:tav tm="0">
                                          <p:val>
                                            <p:strVal val="#ppt_x"/>
                                          </p:val>
                                        </p:tav>
                                        <p:tav tm="100000">
                                          <p:val>
                                            <p:strVal val="#ppt_x"/>
                                          </p:val>
                                        </p:tav>
                                      </p:tavLst>
                                    </p:anim>
                                    <p:anim calcmode="lin" valueType="num">
                                      <p:cBhvr additive="base">
                                        <p:cTn id="12" dur="500" fill="hold"/>
                                        <p:tgtEl>
                                          <p:spTgt spid="4714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186">
                                            <p:txEl>
                                              <p:pRg st="0" end="0"/>
                                            </p:txEl>
                                          </p:spTgt>
                                        </p:tgtEl>
                                        <p:attrNameLst>
                                          <p:attrName>style.visibility</p:attrName>
                                        </p:attrNameLst>
                                      </p:cBhvr>
                                      <p:to>
                                        <p:strVal val="visible"/>
                                      </p:to>
                                    </p:set>
                                    <p:anim calcmode="lin" valueType="num">
                                      <p:cBhvr additive="base">
                                        <p:cTn id="17" dur="500" fill="hold"/>
                                        <p:tgtEl>
                                          <p:spTgt spid="47186">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186">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186">
                                            <p:txEl>
                                              <p:pRg st="1" end="1"/>
                                            </p:txEl>
                                          </p:spTgt>
                                        </p:tgtEl>
                                        <p:attrNameLst>
                                          <p:attrName>style.visibility</p:attrName>
                                        </p:attrNameLst>
                                      </p:cBhvr>
                                      <p:to>
                                        <p:strVal val="visible"/>
                                      </p:to>
                                    </p:set>
                                    <p:anim calcmode="lin" valueType="num">
                                      <p:cBhvr additive="base">
                                        <p:cTn id="21" dur="500" fill="hold"/>
                                        <p:tgtEl>
                                          <p:spTgt spid="47186">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186">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7190"/>
                                        </p:tgtEl>
                                        <p:attrNameLst>
                                          <p:attrName>style.visibility</p:attrName>
                                        </p:attrNameLst>
                                      </p:cBhvr>
                                      <p:to>
                                        <p:strVal val="visible"/>
                                      </p:to>
                                    </p:set>
                                    <p:anim calcmode="lin" valueType="num">
                                      <p:cBhvr additive="base">
                                        <p:cTn id="25" dur="500" fill="hold"/>
                                        <p:tgtEl>
                                          <p:spTgt spid="47190"/>
                                        </p:tgtEl>
                                        <p:attrNameLst>
                                          <p:attrName>ppt_x</p:attrName>
                                        </p:attrNameLst>
                                      </p:cBhvr>
                                      <p:tavLst>
                                        <p:tav tm="0">
                                          <p:val>
                                            <p:strVal val="#ppt_x"/>
                                          </p:val>
                                        </p:tav>
                                        <p:tav tm="100000">
                                          <p:val>
                                            <p:strVal val="#ppt_x"/>
                                          </p:val>
                                        </p:tav>
                                      </p:tavLst>
                                    </p:anim>
                                    <p:anim calcmode="lin" valueType="num">
                                      <p:cBhvr additive="base">
                                        <p:cTn id="26" dur="500" fill="hold"/>
                                        <p:tgtEl>
                                          <p:spTgt spid="471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46" grpId="0"/>
      <p:bldP spid="47186"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6"/>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732E523-A14D-4047-AFA3-EFED82D5B55B}"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5059" name="Rectangle 3"/>
          <p:cNvSpPr>
            <a:spLocks noGrp="1" noChangeArrowheads="1"/>
          </p:cNvSpPr>
          <p:nvPr>
            <p:ph type="body" sz="half" idx="1"/>
          </p:nvPr>
        </p:nvSpPr>
        <p:spPr>
          <a:xfrm>
            <a:off x="457200" y="1719263"/>
            <a:ext cx="8291513" cy="4411662"/>
          </a:xfrm>
        </p:spPr>
        <p:txBody>
          <a:bodyPr/>
          <a:lstStyle/>
          <a:p>
            <a:pPr eaLnBrk="1" hangingPunct="1"/>
            <a:r>
              <a:rPr lang="zh-CN" altLang="en-US" sz="2000" smtClean="0">
                <a:latin typeface="Times New Roman" panose="02020603050405020304" pitchFamily="18" charset="0"/>
              </a:rPr>
              <a:t>参数的估计结果（相对费率）：</a:t>
            </a:r>
          </a:p>
          <a:p>
            <a:pPr eaLnBrk="1" hangingPunct="1"/>
            <a:endParaRPr lang="zh-CN" altLang="en-US" sz="2000" smtClean="0">
              <a:latin typeface="Times New Roman" panose="02020603050405020304" pitchFamily="18" charset="0"/>
            </a:endParaRPr>
          </a:p>
          <a:p>
            <a:pPr eaLnBrk="1" hangingPunct="1"/>
            <a:endParaRPr lang="zh-CN" altLang="en-US" sz="2000" smtClean="0">
              <a:latin typeface="Times New Roman" panose="02020603050405020304" pitchFamily="18" charset="0"/>
            </a:endParaRPr>
          </a:p>
          <a:p>
            <a:pPr eaLnBrk="1" hangingPunct="1"/>
            <a:endParaRPr lang="zh-CN" altLang="en-US" sz="2000" smtClean="0">
              <a:latin typeface="Times New Roman" panose="02020603050405020304" pitchFamily="18" charset="0"/>
            </a:endParaRPr>
          </a:p>
          <a:p>
            <a:pPr eaLnBrk="1" hangingPunct="1"/>
            <a:endParaRPr lang="zh-CN" altLang="en-US" sz="2000" smtClean="0">
              <a:latin typeface="Times New Roman" panose="02020603050405020304" pitchFamily="18" charset="0"/>
            </a:endParaRPr>
          </a:p>
          <a:p>
            <a:pPr eaLnBrk="1" hangingPunct="1"/>
            <a:r>
              <a:rPr lang="zh-CN" altLang="en-US" sz="2000" smtClean="0">
                <a:latin typeface="Times New Roman" panose="02020603050405020304" pitchFamily="18" charset="0"/>
              </a:rPr>
              <a:t>如“</a:t>
            </a:r>
            <a:r>
              <a:rPr lang="zh-CN" altLang="en-US" sz="2000" smtClean="0">
                <a:solidFill>
                  <a:srgbClr val="FF0000"/>
                </a:solidFill>
                <a:latin typeface="Times New Roman" panose="02020603050405020304" pitchFamily="18" charset="0"/>
              </a:rPr>
              <a:t>车型</a:t>
            </a:r>
            <a:r>
              <a:rPr lang="en-US" altLang="zh-CN" sz="2000" smtClean="0">
                <a:solidFill>
                  <a:srgbClr val="FF0000"/>
                </a:solidFill>
                <a:latin typeface="Times New Roman" panose="02020603050405020304" pitchFamily="18" charset="0"/>
              </a:rPr>
              <a:t>1</a:t>
            </a:r>
            <a:r>
              <a:rPr lang="en-US" altLang="zh-CN" sz="2000" smtClean="0">
                <a:latin typeface="Times New Roman" panose="02020603050405020304" pitchFamily="18" charset="0"/>
              </a:rPr>
              <a:t>”</a:t>
            </a:r>
            <a:r>
              <a:rPr lang="zh-CN" altLang="en-US" sz="2000" smtClean="0">
                <a:latin typeface="Times New Roman" panose="02020603050405020304" pitchFamily="18" charset="0"/>
              </a:rPr>
              <a:t>与“</a:t>
            </a:r>
            <a:r>
              <a:rPr lang="zh-CN" altLang="en-US" sz="2000" smtClean="0">
                <a:solidFill>
                  <a:srgbClr val="0000FF"/>
                </a:solidFill>
                <a:latin typeface="Times New Roman" panose="02020603050405020304" pitchFamily="18" charset="0"/>
              </a:rPr>
              <a:t>地区</a:t>
            </a:r>
            <a:r>
              <a:rPr lang="en-US" altLang="zh-CN" sz="2000" smtClean="0">
                <a:solidFill>
                  <a:srgbClr val="0000FF"/>
                </a:solidFill>
                <a:latin typeface="Times New Roman" panose="02020603050405020304" pitchFamily="18" charset="0"/>
              </a:rPr>
              <a:t>1</a:t>
            </a:r>
            <a:r>
              <a:rPr lang="en-US" altLang="zh-CN" sz="2000" smtClean="0">
                <a:latin typeface="Times New Roman" panose="02020603050405020304" pitchFamily="18" charset="0"/>
              </a:rPr>
              <a:t>”</a:t>
            </a:r>
            <a:r>
              <a:rPr lang="zh-CN" altLang="en-US" sz="2000" smtClean="0">
                <a:latin typeface="Times New Roman" panose="02020603050405020304" pitchFamily="18" charset="0"/>
              </a:rPr>
              <a:t>所对应类别的纯保费为：</a:t>
            </a:r>
          </a:p>
          <a:p>
            <a:pPr algn="ctr" eaLnBrk="1" hangingPunct="1">
              <a:buClrTx/>
              <a:buSzTx/>
              <a:buFontTx/>
              <a:buNone/>
            </a:pPr>
            <a:r>
              <a:rPr lang="en-US" altLang="zh-CN" sz="2000" smtClean="0">
                <a:latin typeface="Times New Roman" panose="02020603050405020304" pitchFamily="18" charset="0"/>
              </a:rPr>
              <a:t>131.8875</a:t>
            </a:r>
            <a:r>
              <a:rPr lang="zh-CN" altLang="en-US" sz="2000" smtClean="0">
                <a:latin typeface="Times New Roman" panose="02020603050405020304" pitchFamily="18" charset="0"/>
              </a:rPr>
              <a:t>－</a:t>
            </a:r>
            <a:r>
              <a:rPr lang="en-US" altLang="zh-CN" sz="2000" smtClean="0">
                <a:solidFill>
                  <a:srgbClr val="FF0000"/>
                </a:solidFill>
                <a:latin typeface="Times New Roman" panose="02020603050405020304" pitchFamily="18" charset="0"/>
              </a:rPr>
              <a:t>6.01</a:t>
            </a:r>
            <a:r>
              <a:rPr lang="zh-CN" altLang="en-US" sz="2000" smtClean="0">
                <a:latin typeface="Times New Roman" panose="02020603050405020304" pitchFamily="18" charset="0"/>
              </a:rPr>
              <a:t>－</a:t>
            </a:r>
            <a:r>
              <a:rPr lang="en-US" altLang="zh-CN" sz="2000" smtClean="0">
                <a:solidFill>
                  <a:srgbClr val="0000FF"/>
                </a:solidFill>
                <a:latin typeface="Times New Roman" panose="02020603050405020304" pitchFamily="18" charset="0"/>
              </a:rPr>
              <a:t>11.03</a:t>
            </a:r>
            <a:r>
              <a:rPr lang="zh-CN" altLang="en-US" sz="2000" smtClean="0">
                <a:latin typeface="Times New Roman" panose="02020603050405020304" pitchFamily="18" charset="0"/>
              </a:rPr>
              <a:t>＝</a:t>
            </a:r>
            <a:r>
              <a:rPr lang="en-US" altLang="zh-CN" sz="2000" smtClean="0">
                <a:latin typeface="Times New Roman" panose="02020603050405020304" pitchFamily="18" charset="0"/>
              </a:rPr>
              <a:t>114.85</a:t>
            </a:r>
            <a:endParaRPr lang="zh-CN" altLang="en-US" sz="2000" smtClean="0">
              <a:latin typeface="Times New Roman" panose="02020603050405020304" pitchFamily="18" charset="0"/>
            </a:endParaRPr>
          </a:p>
        </p:txBody>
      </p:sp>
      <p:sp>
        <p:nvSpPr>
          <p:cNvPr id="56324" name="Rectangle 5"/>
          <p:cNvSpPr>
            <a:spLocks noChangeArrowheads="1"/>
          </p:cNvSpPr>
          <p:nvPr/>
        </p:nvSpPr>
        <p:spPr bwMode="auto">
          <a:xfrm>
            <a:off x="0" y="3109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45060" name="Object 4"/>
          <p:cNvGraphicFramePr>
            <a:graphicFrameLocks noChangeAspect="1"/>
          </p:cNvGraphicFramePr>
          <p:nvPr/>
        </p:nvGraphicFramePr>
        <p:xfrm>
          <a:off x="1116013" y="2276475"/>
          <a:ext cx="5589587" cy="1385888"/>
        </p:xfrm>
        <a:graphic>
          <a:graphicData uri="http://schemas.openxmlformats.org/presentationml/2006/ole">
            <mc:AlternateContent xmlns:mc="http://schemas.openxmlformats.org/markup-compatibility/2006">
              <mc:Choice xmlns:v="urn:schemas-microsoft-com:vml" Requires="v">
                <p:oleObj spid="_x0000_s428042" name="Equation" r:id="rId3" imgW="3149600" imgH="774700" progId="Equation.DSMT4">
                  <p:embed/>
                </p:oleObj>
              </mc:Choice>
              <mc:Fallback>
                <p:oleObj name="Equation" r:id="rId3" imgW="3149600" imgH="774700" progId="Equation.DSMT4">
                  <p:embed/>
                  <p:pic>
                    <p:nvPicPr>
                      <p:cNvPr id="4506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276475"/>
                        <a:ext cx="5589587"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6" name="Object 12"/>
          <p:cNvGraphicFramePr>
            <a:graphicFrameLocks noChangeAspect="1"/>
          </p:cNvGraphicFramePr>
          <p:nvPr>
            <p:ph sz="half" idx="2"/>
          </p:nvPr>
        </p:nvGraphicFramePr>
        <p:xfrm>
          <a:off x="2268538" y="620713"/>
          <a:ext cx="4248150" cy="908050"/>
        </p:xfrm>
        <a:graphic>
          <a:graphicData uri="http://schemas.openxmlformats.org/presentationml/2006/ole">
            <mc:AlternateContent xmlns:mc="http://schemas.openxmlformats.org/markup-compatibility/2006">
              <mc:Choice xmlns:v="urn:schemas-microsoft-com:vml" Requires="v">
                <p:oleObj spid="_x0000_s428043" name="Equation" r:id="rId5" imgW="2197100" imgH="469900" progId="Equation.DSMT4">
                  <p:embed/>
                </p:oleObj>
              </mc:Choice>
              <mc:Fallback>
                <p:oleObj name="Equation" r:id="rId5" imgW="2197100" imgH="469900" progId="Equation.DSMT4">
                  <p:embed/>
                  <p:pic>
                    <p:nvPicPr>
                      <p:cNvPr id="56326"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620713"/>
                        <a:ext cx="424815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29438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5060"/>
                                        </p:tgtEl>
                                        <p:attrNameLst>
                                          <p:attrName>style.visibility</p:attrName>
                                        </p:attrNameLst>
                                      </p:cBhvr>
                                      <p:to>
                                        <p:strVal val="visible"/>
                                      </p:to>
                                    </p:set>
                                    <p:anim calcmode="lin" valueType="num">
                                      <p:cBhvr additive="base">
                                        <p:cTn id="13" dur="500" fill="hold"/>
                                        <p:tgtEl>
                                          <p:spTgt spid="45060"/>
                                        </p:tgtEl>
                                        <p:attrNameLst>
                                          <p:attrName>ppt_x</p:attrName>
                                        </p:attrNameLst>
                                      </p:cBhvr>
                                      <p:tavLst>
                                        <p:tav tm="0">
                                          <p:val>
                                            <p:strVal val="#ppt_x"/>
                                          </p:val>
                                        </p:tav>
                                        <p:tav tm="100000">
                                          <p:val>
                                            <p:strVal val="#ppt_x"/>
                                          </p:val>
                                        </p:tav>
                                      </p:tavLst>
                                    </p:anim>
                                    <p:anim calcmode="lin" valueType="num">
                                      <p:cBhvr additive="base">
                                        <p:cTn id="14"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59">
                                            <p:txEl>
                                              <p:pRg st="5" end="5"/>
                                            </p:txEl>
                                          </p:spTgt>
                                        </p:tgtEl>
                                        <p:attrNameLst>
                                          <p:attrName>style.visibility</p:attrName>
                                        </p:attrNameLst>
                                      </p:cBhvr>
                                      <p:to>
                                        <p:strVal val="visible"/>
                                      </p:to>
                                    </p:set>
                                    <p:anim calcmode="lin" valueType="num">
                                      <p:cBhvr additive="base">
                                        <p:cTn id="19" dur="500" fill="hold"/>
                                        <p:tgtEl>
                                          <p:spTgt spid="45059">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059">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5059">
                                            <p:txEl>
                                              <p:pRg st="6" end="6"/>
                                            </p:txEl>
                                          </p:spTgt>
                                        </p:tgtEl>
                                        <p:attrNameLst>
                                          <p:attrName>style.visibility</p:attrName>
                                        </p:attrNameLst>
                                      </p:cBhvr>
                                      <p:to>
                                        <p:strVal val="visible"/>
                                      </p:to>
                                    </p:set>
                                    <p:anim calcmode="lin" valueType="num">
                                      <p:cBhvr additive="base">
                                        <p:cTn id="23" dur="500" fill="hold"/>
                                        <p:tgtEl>
                                          <p:spTgt spid="45059">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50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8FBF216-6E1B-4844-8BBA-C17EF5092DDD}"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7347" name="Rectangle 4"/>
          <p:cNvSpPr>
            <a:spLocks noChangeArrowheads="1"/>
          </p:cNvSpPr>
          <p:nvPr/>
        </p:nvSpPr>
        <p:spPr bwMode="auto">
          <a:xfrm>
            <a:off x="1547813" y="762000"/>
            <a:ext cx="526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Times New Roman" panose="02020603050405020304" pitchFamily="18" charset="0"/>
              </a:rPr>
              <a:t>纯保费的拟合值（用实际的风险单位数加权）</a:t>
            </a:r>
          </a:p>
        </p:txBody>
      </p:sp>
      <p:graphicFrame>
        <p:nvGraphicFramePr>
          <p:cNvPr id="46299" name="Group 219"/>
          <p:cNvGraphicFramePr>
            <a:graphicFrameLocks noGrp="1"/>
          </p:cNvGraphicFramePr>
          <p:nvPr/>
        </p:nvGraphicFramePr>
        <p:xfrm>
          <a:off x="1042988" y="1319213"/>
          <a:ext cx="6696075" cy="1828800"/>
        </p:xfrm>
        <a:graphic>
          <a:graphicData uri="http://schemas.openxmlformats.org/drawingml/2006/table">
            <a:tbl>
              <a:tblPr/>
              <a:tblGrid>
                <a:gridCol w="1674812">
                  <a:extLst>
                    <a:ext uri="{9D8B030D-6E8A-4147-A177-3AD203B41FA5}">
                      <a16:colId xmlns:a16="http://schemas.microsoft.com/office/drawing/2014/main" val="744499724"/>
                    </a:ext>
                  </a:extLst>
                </a:gridCol>
                <a:gridCol w="1673225">
                  <a:extLst>
                    <a:ext uri="{9D8B030D-6E8A-4147-A177-3AD203B41FA5}">
                      <a16:colId xmlns:a16="http://schemas.microsoft.com/office/drawing/2014/main" val="1657122019"/>
                    </a:ext>
                  </a:extLst>
                </a:gridCol>
                <a:gridCol w="1674813">
                  <a:extLst>
                    <a:ext uri="{9D8B030D-6E8A-4147-A177-3AD203B41FA5}">
                      <a16:colId xmlns:a16="http://schemas.microsoft.com/office/drawing/2014/main" val="1562042070"/>
                    </a:ext>
                  </a:extLst>
                </a:gridCol>
                <a:gridCol w="1673225">
                  <a:extLst>
                    <a:ext uri="{9D8B030D-6E8A-4147-A177-3AD203B41FA5}">
                      <a16:colId xmlns:a16="http://schemas.microsoft.com/office/drawing/2014/main" val="1554840338"/>
                    </a:ext>
                  </a:extLst>
                </a:gridCol>
              </a:tblGrid>
              <a:tr h="45561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类别</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A</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B</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C</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1862402483"/>
                  </a:ext>
                </a:extLst>
              </a:tr>
              <a:tr h="45561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114.85</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122.50</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173.08</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572825744"/>
                  </a:ext>
                </a:extLst>
              </a:tr>
              <a:tr h="45561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123.97</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131.62</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182.20</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524109919"/>
                  </a:ext>
                </a:extLst>
              </a:tr>
              <a:tr h="45561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3</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129.01</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136.66</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tab pos="1752600" algn="ctr"/>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187.24</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4283102833"/>
                  </a:ext>
                </a:extLst>
              </a:tr>
            </a:tbl>
          </a:graphicData>
        </a:graphic>
      </p:graphicFrame>
      <p:graphicFrame>
        <p:nvGraphicFramePr>
          <p:cNvPr id="46300" name="Group 220"/>
          <p:cNvGraphicFramePr>
            <a:graphicFrameLocks noGrp="1"/>
          </p:cNvGraphicFramePr>
          <p:nvPr/>
        </p:nvGraphicFramePr>
        <p:xfrm>
          <a:off x="1116013" y="3968750"/>
          <a:ext cx="6551612" cy="1828800"/>
        </p:xfrm>
        <a:graphic>
          <a:graphicData uri="http://schemas.openxmlformats.org/drawingml/2006/table">
            <a:tbl>
              <a:tblPr/>
              <a:tblGrid>
                <a:gridCol w="1733550">
                  <a:extLst>
                    <a:ext uri="{9D8B030D-6E8A-4147-A177-3AD203B41FA5}">
                      <a16:colId xmlns:a16="http://schemas.microsoft.com/office/drawing/2014/main" val="1658452643"/>
                    </a:ext>
                  </a:extLst>
                </a:gridCol>
                <a:gridCol w="1651000">
                  <a:extLst>
                    <a:ext uri="{9D8B030D-6E8A-4147-A177-3AD203B41FA5}">
                      <a16:colId xmlns:a16="http://schemas.microsoft.com/office/drawing/2014/main" val="1786767815"/>
                    </a:ext>
                  </a:extLst>
                </a:gridCol>
                <a:gridCol w="1463675">
                  <a:extLst>
                    <a:ext uri="{9D8B030D-6E8A-4147-A177-3AD203B41FA5}">
                      <a16:colId xmlns:a16="http://schemas.microsoft.com/office/drawing/2014/main" val="1707816189"/>
                    </a:ext>
                  </a:extLst>
                </a:gridCol>
                <a:gridCol w="1703387">
                  <a:extLst>
                    <a:ext uri="{9D8B030D-6E8A-4147-A177-3AD203B41FA5}">
                      <a16:colId xmlns:a16="http://schemas.microsoft.com/office/drawing/2014/main" val="3576943418"/>
                    </a:ext>
                  </a:extLst>
                </a:gridCol>
              </a:tblGrid>
              <a:tr h="36671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类别</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A</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B</a:t>
                      </a: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C</a:t>
                      </a: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1044775795"/>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105.00</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135.00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180.00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318646710"/>
                  </a:ext>
                </a:extLst>
              </a:tr>
              <a:tr h="45561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127.50</a:t>
                      </a:r>
                      <a:endPar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120.00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191.25</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1905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4291766778"/>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3</a:t>
                      </a:r>
                    </a:p>
                  </a:txBody>
                  <a:tcPr horzOverflow="overflow">
                    <a:lnL w="28575"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206.25</a:t>
                      </a:r>
                      <a:endPar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142.50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19050"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dirty="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165.00</a:t>
                      </a:r>
                      <a:endParaRPr kumimoji="0"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905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558006852"/>
                  </a:ext>
                </a:extLst>
              </a:tr>
            </a:tbl>
          </a:graphicData>
        </a:graphic>
      </p:graphicFrame>
      <p:sp>
        <p:nvSpPr>
          <p:cNvPr id="57402" name="Rectangle 147"/>
          <p:cNvSpPr>
            <a:spLocks noChangeArrowheads="1"/>
          </p:cNvSpPr>
          <p:nvPr/>
        </p:nvSpPr>
        <p:spPr bwMode="auto">
          <a:xfrm>
            <a:off x="3275013" y="3429000"/>
            <a:ext cx="24495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Times New Roman" panose="02020603050405020304" pitchFamily="18" charset="0"/>
              </a:rPr>
              <a:t>经验纯保费</a:t>
            </a:r>
          </a:p>
        </p:txBody>
      </p:sp>
    </p:spTree>
    <p:extLst>
      <p:ext uri="{BB962C8B-B14F-4D97-AF65-F5344CB8AC3E}">
        <p14:creationId xmlns:p14="http://schemas.microsoft.com/office/powerpoint/2010/main" val="12002573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E42CD8-26DB-42A2-9A64-8A1AEBE0E1F3}"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371" name="Rectangle 4"/>
          <p:cNvSpPr>
            <a:spLocks noChangeArrowheads="1"/>
          </p:cNvSpPr>
          <p:nvPr/>
        </p:nvSpPr>
        <p:spPr bwMode="auto">
          <a:xfrm>
            <a:off x="107950" y="923607"/>
            <a:ext cx="7559675" cy="590931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area &lt;- c('A','B','C','A','B',	'C','A','B','C')</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type &lt;- rep(1:3, each =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claim &lt;- c(8400,7020,3600,17340,7200,4590,825,1140,	2640)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n &lt;- c(80,	52,20,136,	60,24,4,8,	16)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premium &lt;- claim/n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dt</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&lt;-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data.frame</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(area, type, n, claim, premium)</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dt</a:t>
            </a:r>
            <a:endPar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X &lt;-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model.matrix</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factor(area) + factor(type), data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dt</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loss.f</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&lt;- function(par, X, y, n, index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 y </a:t>
            </a:r>
            <a:r>
              <a:rPr kumimoji="0" lang="zh-CN" altLang="en-US"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经验纯保费</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n </a:t>
            </a:r>
            <a:r>
              <a:rPr kumimoji="0" lang="zh-CN" altLang="en-US"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风险单位数</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X </a:t>
            </a:r>
            <a:r>
              <a:rPr kumimoji="0" lang="zh-CN" altLang="en-US"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为设计矩阵</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muij</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&lt;- X%*%par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Qij</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&lt;- (n)^(index)*(y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muij</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Q &lt;- sum(</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Qij</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return(Q)</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starts &lt;- (rep(1, length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ncol</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m0 &lt;-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optim</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(par = starts,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fn</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loss.f</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y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dt$premium</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X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model.matrix</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factor(area) + factor(type), data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dt</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n = </a:t>
            </a:r>
            <a:r>
              <a:rPr kumimoji="0" lang="en-US" altLang="zh-CN" sz="1400" b="1" i="0" u="none" strike="noStrike" kern="1200" cap="none" spc="0" normalizeH="0" baseline="0" noProof="0" dirty="0" err="1" smtClean="0">
                <a:ln>
                  <a:noFill/>
                </a:ln>
                <a:solidFill>
                  <a:srgbClr val="000000"/>
                </a:solidFill>
                <a:effectLst/>
                <a:uLnTx/>
                <a:uFillTx/>
                <a:latin typeface="宋体" panose="02010600030101010101" pitchFamily="2" charset="-122"/>
                <a:ea typeface="宋体" panose="02010600030101010101" pitchFamily="2" charset="-122"/>
                <a:cs typeface="+mn-cs"/>
              </a:rPr>
              <a:t>dt$n</a:t>
            </a: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index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                   method = "CG", hessian = T)</a:t>
            </a:r>
          </a:p>
        </p:txBody>
      </p:sp>
      <p:sp>
        <p:nvSpPr>
          <p:cNvPr id="58372" name="Rectangle 5"/>
          <p:cNvSpPr>
            <a:spLocks noChangeArrowheads="1"/>
          </p:cNvSpPr>
          <p:nvPr/>
        </p:nvSpPr>
        <p:spPr bwMode="auto">
          <a:xfrm>
            <a:off x="971550" y="311150"/>
            <a:ext cx="6048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该例的 </a:t>
            </a:r>
            <a:r>
              <a:rPr kumimoji="0" lang="en-US" altLang="zh-CN"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R </a:t>
            </a: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程序为（风险单位数加权）：</a:t>
            </a:r>
          </a:p>
        </p:txBody>
      </p:sp>
    </p:spTree>
    <p:extLst>
      <p:ext uri="{BB962C8B-B14F-4D97-AF65-F5344CB8AC3E}">
        <p14:creationId xmlns:p14="http://schemas.microsoft.com/office/powerpoint/2010/main" val="407659480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4F140B3-ED10-47E0-B8F8-D33C4B454477}"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395" name="Rectangle 4"/>
          <p:cNvSpPr>
            <a:spLocks noChangeArrowheads="1"/>
          </p:cNvSpPr>
          <p:nvPr/>
        </p:nvSpPr>
        <p:spPr bwMode="auto">
          <a:xfrm>
            <a:off x="215900" y="1263650"/>
            <a:ext cx="7559675" cy="17557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m1 &lt;- lm(premium ~ factor(area) + factor(type), data = dt, weights = 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纯保费拟合值</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y.fit &lt;- X%*%m0$par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y &lt;- premium</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cbind(y.fit, y)</a:t>
            </a:r>
          </a:p>
        </p:txBody>
      </p:sp>
      <p:sp>
        <p:nvSpPr>
          <p:cNvPr id="59396" name="Rectangle 5"/>
          <p:cNvSpPr>
            <a:spLocks noChangeArrowheads="1"/>
          </p:cNvSpPr>
          <p:nvPr/>
        </p:nvSpPr>
        <p:spPr bwMode="auto">
          <a:xfrm>
            <a:off x="971550" y="311150"/>
            <a:ext cx="6048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该例的 </a:t>
            </a:r>
            <a:r>
              <a:rPr kumimoji="0" lang="en-US" altLang="zh-CN"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R </a:t>
            </a: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程序为（风险单位数加权）：</a:t>
            </a:r>
          </a:p>
        </p:txBody>
      </p:sp>
    </p:spTree>
    <p:extLst>
      <p:ext uri="{BB962C8B-B14F-4D97-AF65-F5344CB8AC3E}">
        <p14:creationId xmlns:p14="http://schemas.microsoft.com/office/powerpoint/2010/main" val="290611017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FC7411F-C2A6-438B-A0FE-24FCB2D7C3B3}"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0419" name="Rectangle 4"/>
          <p:cNvSpPr>
            <a:spLocks noChangeArrowheads="1"/>
          </p:cNvSpPr>
          <p:nvPr/>
        </p:nvSpPr>
        <p:spPr bwMode="auto">
          <a:xfrm>
            <a:off x="1292225" y="290513"/>
            <a:ext cx="526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Times New Roman" panose="02020603050405020304" pitchFamily="18" charset="0"/>
              </a:rPr>
              <a:t>纯保费的拟合值：假设各组的风险单位数相等</a:t>
            </a:r>
          </a:p>
        </p:txBody>
      </p:sp>
      <p:graphicFrame>
        <p:nvGraphicFramePr>
          <p:cNvPr id="48341" name="Group 213"/>
          <p:cNvGraphicFramePr>
            <a:graphicFrameLocks noGrp="1"/>
          </p:cNvGraphicFramePr>
          <p:nvPr/>
        </p:nvGraphicFramePr>
        <p:xfrm>
          <a:off x="1042988" y="908050"/>
          <a:ext cx="6697662" cy="1828800"/>
        </p:xfrm>
        <a:graphic>
          <a:graphicData uri="http://schemas.openxmlformats.org/drawingml/2006/table">
            <a:tbl>
              <a:tblPr/>
              <a:tblGrid>
                <a:gridCol w="1830387">
                  <a:extLst>
                    <a:ext uri="{9D8B030D-6E8A-4147-A177-3AD203B41FA5}">
                      <a16:colId xmlns:a16="http://schemas.microsoft.com/office/drawing/2014/main" val="1684843679"/>
                    </a:ext>
                  </a:extLst>
                </a:gridCol>
                <a:gridCol w="1577975">
                  <a:extLst>
                    <a:ext uri="{9D8B030D-6E8A-4147-A177-3AD203B41FA5}">
                      <a16:colId xmlns:a16="http://schemas.microsoft.com/office/drawing/2014/main" val="3019976273"/>
                    </a:ext>
                  </a:extLst>
                </a:gridCol>
                <a:gridCol w="1643063">
                  <a:extLst>
                    <a:ext uri="{9D8B030D-6E8A-4147-A177-3AD203B41FA5}">
                      <a16:colId xmlns:a16="http://schemas.microsoft.com/office/drawing/2014/main" val="2957229296"/>
                    </a:ext>
                  </a:extLst>
                </a:gridCol>
                <a:gridCol w="1646237">
                  <a:extLst>
                    <a:ext uri="{9D8B030D-6E8A-4147-A177-3AD203B41FA5}">
                      <a16:colId xmlns:a16="http://schemas.microsoft.com/office/drawing/2014/main" val="2120000133"/>
                    </a:ext>
                  </a:extLst>
                </a:gridCol>
              </a:tblGrid>
              <a:tr h="288925">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类别</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marL="342900" indent="-342900">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A</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marL="342900" indent="-342900">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B</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marL="342900" indent="-342900">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tab pos="1752600" algn="ctr"/>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C</a:t>
                      </a: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2283827118"/>
                  </a:ext>
                </a:extLst>
              </a:tr>
              <a:tr h="287338">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no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133.75</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119.99</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166.25</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extLst>
                  <a:ext uri="{0D108BD9-81ED-4DB2-BD59-A6C34878D82A}">
                    <a16:rowId xmlns:a16="http://schemas.microsoft.com/office/drawing/2014/main" val="330573342"/>
                  </a:ext>
                </a:extLst>
              </a:tr>
              <a:tr h="288925">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no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140.00</a:t>
                      </a:r>
                      <a:endPar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126.25</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172.50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extLst>
                  <a:ext uri="{0D108BD9-81ED-4DB2-BD59-A6C34878D82A}">
                    <a16:rowId xmlns:a16="http://schemas.microsoft.com/office/drawing/2014/main" val="1029216489"/>
                  </a:ext>
                </a:extLst>
              </a:tr>
              <a:tr h="287338">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3</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no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165.00</a:t>
                      </a:r>
                      <a:endPar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151.25</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197.50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EB"/>
                    </a:solidFill>
                  </a:tcPr>
                </a:tc>
                <a:extLst>
                  <a:ext uri="{0D108BD9-81ED-4DB2-BD59-A6C34878D82A}">
                    <a16:rowId xmlns:a16="http://schemas.microsoft.com/office/drawing/2014/main" val="4047226698"/>
                  </a:ext>
                </a:extLst>
              </a:tr>
            </a:tbl>
          </a:graphicData>
        </a:graphic>
      </p:graphicFrame>
      <p:graphicFrame>
        <p:nvGraphicFramePr>
          <p:cNvPr id="60447" name="Object 107"/>
          <p:cNvGraphicFramePr>
            <a:graphicFrameLocks noChangeAspect="1"/>
          </p:cNvGraphicFramePr>
          <p:nvPr/>
        </p:nvGraphicFramePr>
        <p:xfrm>
          <a:off x="2674938" y="2967038"/>
          <a:ext cx="3362325" cy="763587"/>
        </p:xfrm>
        <a:graphic>
          <a:graphicData uri="http://schemas.openxmlformats.org/presentationml/2006/ole">
            <mc:AlternateContent xmlns:mc="http://schemas.openxmlformats.org/markup-compatibility/2006">
              <mc:Choice xmlns:v="urn:schemas-microsoft-com:vml" Requires="v">
                <p:oleObj spid="_x0000_s429062" name="Equation" r:id="rId3" imgW="1726451" imgH="393529" progId="Equation.DSMT4">
                  <p:embed/>
                </p:oleObj>
              </mc:Choice>
              <mc:Fallback>
                <p:oleObj name="Equation" r:id="rId3" imgW="1726451" imgH="393529" progId="Equation.DSMT4">
                  <p:embed/>
                  <p:pic>
                    <p:nvPicPr>
                      <p:cNvPr id="60447" name="Object 1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4938" y="2967038"/>
                        <a:ext cx="33623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48" name="Rectangle 109"/>
          <p:cNvSpPr>
            <a:spLocks noChangeArrowheads="1"/>
          </p:cNvSpPr>
          <p:nvPr/>
        </p:nvSpPr>
        <p:spPr bwMode="auto">
          <a:xfrm>
            <a:off x="0" y="3109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0449" name="Rectangle 140"/>
          <p:cNvSpPr>
            <a:spLocks noChangeArrowheads="1"/>
          </p:cNvSpPr>
          <p:nvPr/>
        </p:nvSpPr>
        <p:spPr bwMode="auto">
          <a:xfrm>
            <a:off x="3275013" y="3860800"/>
            <a:ext cx="2520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Times New Roman" panose="02020603050405020304" pitchFamily="18" charset="0"/>
              </a:rPr>
              <a:t>经验纯保费</a:t>
            </a:r>
          </a:p>
        </p:txBody>
      </p:sp>
      <p:graphicFrame>
        <p:nvGraphicFramePr>
          <p:cNvPr id="48342" name="Group 214"/>
          <p:cNvGraphicFramePr>
            <a:graphicFrameLocks noGrp="1"/>
          </p:cNvGraphicFramePr>
          <p:nvPr/>
        </p:nvGraphicFramePr>
        <p:xfrm>
          <a:off x="1042988" y="4437063"/>
          <a:ext cx="6840537" cy="1828800"/>
        </p:xfrm>
        <a:graphic>
          <a:graphicData uri="http://schemas.openxmlformats.org/drawingml/2006/table">
            <a:tbl>
              <a:tblPr/>
              <a:tblGrid>
                <a:gridCol w="1809750">
                  <a:extLst>
                    <a:ext uri="{9D8B030D-6E8A-4147-A177-3AD203B41FA5}">
                      <a16:colId xmlns:a16="http://schemas.microsoft.com/office/drawing/2014/main" val="208460200"/>
                    </a:ext>
                  </a:extLst>
                </a:gridCol>
                <a:gridCol w="1724025">
                  <a:extLst>
                    <a:ext uri="{9D8B030D-6E8A-4147-A177-3AD203B41FA5}">
                      <a16:colId xmlns:a16="http://schemas.microsoft.com/office/drawing/2014/main" val="157285228"/>
                    </a:ext>
                  </a:extLst>
                </a:gridCol>
                <a:gridCol w="1528762">
                  <a:extLst>
                    <a:ext uri="{9D8B030D-6E8A-4147-A177-3AD203B41FA5}">
                      <a16:colId xmlns:a16="http://schemas.microsoft.com/office/drawing/2014/main" val="1679356924"/>
                    </a:ext>
                  </a:extLst>
                </a:gridCol>
                <a:gridCol w="1778000">
                  <a:extLst>
                    <a:ext uri="{9D8B030D-6E8A-4147-A177-3AD203B41FA5}">
                      <a16:colId xmlns:a16="http://schemas.microsoft.com/office/drawing/2014/main" val="1834245738"/>
                    </a:ext>
                  </a:extLst>
                </a:gridCol>
              </a:tblGrid>
              <a:tr h="43815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类别</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A</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B</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C</a:t>
                      </a: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3386768584"/>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1</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105.00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135.00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180.00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extLst>
                  <a:ext uri="{0D108BD9-81ED-4DB2-BD59-A6C34878D82A}">
                    <a16:rowId xmlns:a16="http://schemas.microsoft.com/office/drawing/2014/main" val="2722882991"/>
                  </a:ext>
                </a:extLst>
              </a:tr>
              <a:tr h="45561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2</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127.50</a:t>
                      </a:r>
                      <a:endParaRPr kumimoji="0" lang="en-US" altLang="zh-CN" sz="2000" b="0" i="0" u="none" strike="noStrike" cap="none" normalizeH="0" baseline="0" smtClean="0">
                        <a:ln>
                          <a:noFill/>
                        </a:ln>
                        <a:solidFill>
                          <a:srgbClr val="0000FF"/>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120.00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191.25</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EB"/>
                    </a:solidFill>
                  </a:tcPr>
                </a:tc>
                <a:extLst>
                  <a:ext uri="{0D108BD9-81ED-4DB2-BD59-A6C34878D82A}">
                    <a16:rowId xmlns:a16="http://schemas.microsoft.com/office/drawing/2014/main" val="2774576837"/>
                  </a:ext>
                </a:extLst>
              </a:tr>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rPr>
                        <a:t>3</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206.25</a:t>
                      </a:r>
                      <a:endParaRPr kumimoji="0" lang="en-US" altLang="zh-CN" sz="2000" b="0" i="0" u="none" strike="noStrike" cap="none" normalizeH="0" baseline="0" smtClean="0">
                        <a:ln>
                          <a:noFill/>
                        </a:ln>
                        <a:solidFill>
                          <a:srgbClr val="FF0000"/>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142.50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EB"/>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165.00</a:t>
                      </a:r>
                      <a:endParaRPr kumimoji="0"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EB"/>
                    </a:solidFill>
                  </a:tcPr>
                </a:tc>
                <a:extLst>
                  <a:ext uri="{0D108BD9-81ED-4DB2-BD59-A6C34878D82A}">
                    <a16:rowId xmlns:a16="http://schemas.microsoft.com/office/drawing/2014/main" val="894510413"/>
                  </a:ext>
                </a:extLst>
              </a:tr>
            </a:tbl>
          </a:graphicData>
        </a:graphic>
      </p:graphicFrame>
    </p:spTree>
    <p:extLst>
      <p:ext uri="{BB962C8B-B14F-4D97-AF65-F5344CB8AC3E}">
        <p14:creationId xmlns:p14="http://schemas.microsoft.com/office/powerpoint/2010/main" val="82861596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9E19464-FC19-45D2-8AAB-0F9D5140329D}"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1443" name="Rectangle 5"/>
          <p:cNvSpPr>
            <a:spLocks noChangeArrowheads="1"/>
          </p:cNvSpPr>
          <p:nvPr/>
        </p:nvSpPr>
        <p:spPr bwMode="auto">
          <a:xfrm>
            <a:off x="539750" y="479425"/>
            <a:ext cx="44989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该例的 </a:t>
            </a:r>
            <a:r>
              <a:rPr kumimoji="0" lang="en-US" altLang="zh-CN"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R </a:t>
            </a: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程序为（等权数，均为</a:t>
            </a:r>
            <a:r>
              <a:rPr kumimoji="0" lang="en-US" altLang="zh-CN"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1</a:t>
            </a: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a:t>
            </a:r>
          </a:p>
        </p:txBody>
      </p:sp>
      <p:sp>
        <p:nvSpPr>
          <p:cNvPr id="61444" name="Rectangle 4"/>
          <p:cNvSpPr>
            <a:spLocks noChangeArrowheads="1"/>
          </p:cNvSpPr>
          <p:nvPr/>
        </p:nvSpPr>
        <p:spPr bwMode="auto">
          <a:xfrm>
            <a:off x="215900" y="1817688"/>
            <a:ext cx="7559675" cy="6477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m2 &lt;- lm(premium ~ factor(area) + factor(type), data = dt)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predict(m2)</a:t>
            </a:r>
          </a:p>
        </p:txBody>
      </p:sp>
    </p:spTree>
    <p:extLst>
      <p:ext uri="{BB962C8B-B14F-4D97-AF65-F5344CB8AC3E}">
        <p14:creationId xmlns:p14="http://schemas.microsoft.com/office/powerpoint/2010/main" val="8801501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059711-B14F-452C-862E-10D438242D1D}"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49365" name="Group 213"/>
          <p:cNvGraphicFramePr>
            <a:graphicFrameLocks noGrp="1"/>
          </p:cNvGraphicFramePr>
          <p:nvPr/>
        </p:nvGraphicFramePr>
        <p:xfrm>
          <a:off x="971550" y="1125538"/>
          <a:ext cx="6408738" cy="1828800"/>
        </p:xfrm>
        <a:graphic>
          <a:graphicData uri="http://schemas.openxmlformats.org/drawingml/2006/table">
            <a:tbl>
              <a:tblPr/>
              <a:tblGrid>
                <a:gridCol w="1601788">
                  <a:extLst>
                    <a:ext uri="{9D8B030D-6E8A-4147-A177-3AD203B41FA5}">
                      <a16:colId xmlns:a16="http://schemas.microsoft.com/office/drawing/2014/main" val="3305625750"/>
                    </a:ext>
                  </a:extLst>
                </a:gridCol>
                <a:gridCol w="1651000">
                  <a:extLst>
                    <a:ext uri="{9D8B030D-6E8A-4147-A177-3AD203B41FA5}">
                      <a16:colId xmlns:a16="http://schemas.microsoft.com/office/drawing/2014/main" val="3257613897"/>
                    </a:ext>
                  </a:extLst>
                </a:gridCol>
                <a:gridCol w="1554162">
                  <a:extLst>
                    <a:ext uri="{9D8B030D-6E8A-4147-A177-3AD203B41FA5}">
                      <a16:colId xmlns:a16="http://schemas.microsoft.com/office/drawing/2014/main" val="3260128559"/>
                    </a:ext>
                  </a:extLst>
                </a:gridCol>
                <a:gridCol w="1601788">
                  <a:extLst>
                    <a:ext uri="{9D8B030D-6E8A-4147-A177-3AD203B41FA5}">
                      <a16:colId xmlns:a16="http://schemas.microsoft.com/office/drawing/2014/main" val="2830729636"/>
                    </a:ext>
                  </a:extLst>
                </a:gridCol>
              </a:tblGrid>
              <a:tr h="306388">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类别</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marL="342900" indent="-342900">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tab pos="1752600" algn="ctr"/>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marL="342900" indent="-342900">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tab pos="1752600" algn="ctr"/>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marL="342900" indent="-342900">
                        <a:lnSpc>
                          <a:spcPct val="120000"/>
                        </a:lnSpc>
                        <a:spcBef>
                          <a:spcPct val="30000"/>
                        </a:spcBef>
                        <a:buClr>
                          <a:schemeClr val="tx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tabLst>
                          <a:tab pos="1752600" algn="ctr"/>
                        </a:tabLst>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tab pos="1752600" algn="ctr"/>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a:t>
                      </a: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1283272645"/>
                  </a:ext>
                </a:extLst>
              </a:tr>
              <a:tr h="306388">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119.87 </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122.86 </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170.01 </a:t>
                      </a: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885703883"/>
                  </a:ext>
                </a:extLst>
              </a:tr>
              <a:tr h="304800">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126.92 </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129.91 </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177.06 </a:t>
                      </a: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213156168"/>
                  </a:ext>
                </a:extLst>
              </a:tr>
              <a:tr h="306388">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143.47 </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146.46 </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marL="342900" indent="-342900">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692150" indent="-347663">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987425" indent="-29368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281113" indent="-292100">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598613" indent="-315913">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0558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5130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9702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427413" indent="-315913"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20000"/>
                        </a:lnSpc>
                        <a:spcBef>
                          <a:spcPct val="0"/>
                        </a:spcBef>
                        <a:spcAft>
                          <a:spcPct val="0"/>
                        </a:spcAft>
                        <a:buClrTx/>
                        <a:buSzPct val="70000"/>
                        <a:buFont typeface="Times New Roman" panose="02020603050405020304" pitchFamily="18" charset="0"/>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193.62 </a:t>
                      </a: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71180383"/>
                  </a:ext>
                </a:extLst>
              </a:tr>
            </a:tbl>
          </a:graphicData>
        </a:graphic>
      </p:graphicFrame>
      <p:graphicFrame>
        <p:nvGraphicFramePr>
          <p:cNvPr id="49364" name="Group 212"/>
          <p:cNvGraphicFramePr>
            <a:graphicFrameLocks noGrp="1"/>
          </p:cNvGraphicFramePr>
          <p:nvPr/>
        </p:nvGraphicFramePr>
        <p:xfrm>
          <a:off x="971550" y="4724400"/>
          <a:ext cx="6470650" cy="1828800"/>
        </p:xfrm>
        <a:graphic>
          <a:graphicData uri="http://schemas.openxmlformats.org/drawingml/2006/table">
            <a:tbl>
              <a:tblPr/>
              <a:tblGrid>
                <a:gridCol w="1712913">
                  <a:extLst>
                    <a:ext uri="{9D8B030D-6E8A-4147-A177-3AD203B41FA5}">
                      <a16:colId xmlns:a16="http://schemas.microsoft.com/office/drawing/2014/main" val="850581731"/>
                    </a:ext>
                  </a:extLst>
                </a:gridCol>
                <a:gridCol w="1630362">
                  <a:extLst>
                    <a:ext uri="{9D8B030D-6E8A-4147-A177-3AD203B41FA5}">
                      <a16:colId xmlns:a16="http://schemas.microsoft.com/office/drawing/2014/main" val="3390502441"/>
                    </a:ext>
                  </a:extLst>
                </a:gridCol>
                <a:gridCol w="1444625">
                  <a:extLst>
                    <a:ext uri="{9D8B030D-6E8A-4147-A177-3AD203B41FA5}">
                      <a16:colId xmlns:a16="http://schemas.microsoft.com/office/drawing/2014/main" val="915514078"/>
                    </a:ext>
                  </a:extLst>
                </a:gridCol>
                <a:gridCol w="1682750">
                  <a:extLst>
                    <a:ext uri="{9D8B030D-6E8A-4147-A177-3AD203B41FA5}">
                      <a16:colId xmlns:a16="http://schemas.microsoft.com/office/drawing/2014/main" val="833157100"/>
                    </a:ext>
                  </a:extLst>
                </a:gridCol>
              </a:tblGrid>
              <a:tr h="45720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类别</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a:t>
                      </a: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地区</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a:t>
                      </a: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28575"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EBEBF5"/>
                    </a:solidFill>
                  </a:tcPr>
                </a:tc>
                <a:extLst>
                  <a:ext uri="{0D108BD9-81ED-4DB2-BD59-A6C34878D82A}">
                    <a16:rowId xmlns:a16="http://schemas.microsoft.com/office/drawing/2014/main" val="1311174232"/>
                  </a:ext>
                </a:extLst>
              </a:tr>
              <a:tr h="439738">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105.00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135.00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180.00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563869416"/>
                  </a:ext>
                </a:extLst>
              </a:tr>
              <a:tr h="43815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127.50</a:t>
                      </a:r>
                      <a:endParaRPr kumimoji="0" lang="en-US" altLang="zh-CN" sz="20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120.00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191.25</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12700"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494469387"/>
                  </a:ext>
                </a:extLst>
              </a:tr>
              <a:tr h="439738">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车型</a:t>
                      </a:r>
                      <a:r>
                        <a:rPr kumimoji="0"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28575"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206.25</a:t>
                      </a:r>
                      <a:endParaRPr kumimoji="0" lang="en-US" altLang="zh-CN" sz="2000" b="0"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142.50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12700"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165.00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336600"/>
                      </a:solidFill>
                      <a:prstDash val="solid"/>
                      <a:round/>
                      <a:headEnd type="none" w="med" len="med"/>
                      <a:tailEnd type="none" w="med" len="med"/>
                    </a:lnL>
                    <a:lnR w="28575" cap="flat" cmpd="sng" algn="ctr">
                      <a:solidFill>
                        <a:srgbClr val="336600"/>
                      </a:solidFill>
                      <a:prstDash val="solid"/>
                      <a:round/>
                      <a:headEnd type="none" w="med" len="med"/>
                      <a:tailEnd type="none" w="med" len="med"/>
                    </a:lnR>
                    <a:lnT w="12700" cap="flat" cmpd="sng" algn="ctr">
                      <a:solidFill>
                        <a:srgbClr val="336600"/>
                      </a:solidFill>
                      <a:prstDash val="solid"/>
                      <a:round/>
                      <a:headEnd type="none" w="med" len="med"/>
                      <a:tailEnd type="none" w="med" len="med"/>
                    </a:lnT>
                    <a:lnB w="28575" cap="flat" cmpd="sng" algn="ctr">
                      <a:solidFill>
                        <a:srgbClr val="3366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6301372"/>
                  </a:ext>
                </a:extLst>
              </a:tr>
            </a:tbl>
          </a:graphicData>
        </a:graphic>
      </p:graphicFrame>
      <p:sp>
        <p:nvSpPr>
          <p:cNvPr id="62521" name="Rectangle 105"/>
          <p:cNvSpPr>
            <a:spLocks noChangeArrowheads="1"/>
          </p:cNvSpPr>
          <p:nvPr/>
        </p:nvSpPr>
        <p:spPr bwMode="auto">
          <a:xfrm>
            <a:off x="1117600" y="655638"/>
            <a:ext cx="6191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Arial" panose="020B0604020202020204" pitchFamily="34" charset="0"/>
                <a:ea typeface="宋体" panose="02010600030101010101" pitchFamily="2" charset="-122"/>
                <a:cs typeface="+mn-cs"/>
              </a:rPr>
              <a:t>纯保费的拟合值（用各组风险单位数的平方根加权）</a:t>
            </a:r>
          </a:p>
        </p:txBody>
      </p:sp>
      <p:sp>
        <p:nvSpPr>
          <p:cNvPr id="62522" name="Rectangle 109"/>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62523" name="Object 108"/>
          <p:cNvGraphicFramePr>
            <a:graphicFrameLocks noChangeAspect="1"/>
          </p:cNvGraphicFramePr>
          <p:nvPr/>
        </p:nvGraphicFramePr>
        <p:xfrm>
          <a:off x="1535113" y="3244850"/>
          <a:ext cx="5278437" cy="1004888"/>
        </p:xfrm>
        <a:graphic>
          <a:graphicData uri="http://schemas.openxmlformats.org/presentationml/2006/ole">
            <mc:AlternateContent xmlns:mc="http://schemas.openxmlformats.org/markup-compatibility/2006">
              <mc:Choice xmlns:v="urn:schemas-microsoft-com:vml" Requires="v">
                <p:oleObj spid="_x0000_s430086" name="Equation" r:id="rId3" imgW="2463800" imgH="469900" progId="Equation.DSMT4">
                  <p:embed/>
                </p:oleObj>
              </mc:Choice>
              <mc:Fallback>
                <p:oleObj name="Equation" r:id="rId3" imgW="2463800" imgH="469900" progId="Equation.DSMT4">
                  <p:embed/>
                  <p:pic>
                    <p:nvPicPr>
                      <p:cNvPr id="62523" name="Object 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5113" y="3244850"/>
                        <a:ext cx="52784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524" name="Rectangle 138"/>
          <p:cNvSpPr>
            <a:spLocks noChangeArrowheads="1"/>
          </p:cNvSpPr>
          <p:nvPr/>
        </p:nvSpPr>
        <p:spPr bwMode="auto">
          <a:xfrm>
            <a:off x="2843213" y="4271963"/>
            <a:ext cx="2933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Times New Roman" panose="02020603050405020304" pitchFamily="18" charset="0"/>
              </a:rPr>
              <a:t>经验纯保费</a:t>
            </a:r>
          </a:p>
        </p:txBody>
      </p:sp>
    </p:spTree>
    <p:extLst>
      <p:ext uri="{BB962C8B-B14F-4D97-AF65-F5344CB8AC3E}">
        <p14:creationId xmlns:p14="http://schemas.microsoft.com/office/powerpoint/2010/main" val="32934411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91E352D-C232-447A-91AF-5309E84105D1}"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3491" name="Rectangle 5"/>
          <p:cNvSpPr>
            <a:spLocks noChangeArrowheads="1"/>
          </p:cNvSpPr>
          <p:nvPr/>
        </p:nvSpPr>
        <p:spPr bwMode="auto">
          <a:xfrm>
            <a:off x="539750" y="479425"/>
            <a:ext cx="64341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该例的 </a:t>
            </a:r>
            <a:r>
              <a:rPr kumimoji="0" lang="en-US" altLang="zh-CN"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R </a:t>
            </a: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程序为（</a:t>
            </a:r>
            <a:r>
              <a:rPr kumimoji="0" lang="zh-CN" altLang="en-US" sz="2000" b="1" i="0" u="none" strike="noStrike" kern="1200" cap="none" spc="0" normalizeH="0" baseline="0" noProof="0" smtClean="0">
                <a:ln>
                  <a:noFill/>
                </a:ln>
                <a:solidFill>
                  <a:srgbClr val="330066"/>
                </a:solidFill>
                <a:effectLst/>
                <a:uLnTx/>
                <a:uFillTx/>
                <a:latin typeface="Arial" panose="020B0604020202020204" pitchFamily="34" charset="0"/>
                <a:ea typeface="宋体" panose="02010600030101010101" pitchFamily="2" charset="-122"/>
                <a:cs typeface="+mn-cs"/>
              </a:rPr>
              <a:t>用各组风险单位数的平方根加权</a:t>
            </a:r>
            <a:r>
              <a:rPr kumimoji="0" lang="zh-CN" altLang="en-US" sz="2000" b="1" i="0" u="none" strike="noStrike" kern="1200" cap="none" spc="0" normalizeH="0" baseline="0" noProof="0" smtClean="0">
                <a:ln>
                  <a:noFill/>
                </a:ln>
                <a:solidFill>
                  <a:srgbClr val="330066"/>
                </a:solidFill>
                <a:effectLst/>
                <a:uLnTx/>
                <a:uFillTx/>
                <a:latin typeface="Times New Roman" panose="02020603050405020304" pitchFamily="18" charset="0"/>
                <a:ea typeface="宋体" panose="02010600030101010101" pitchFamily="2" charset="-122"/>
                <a:cs typeface="+mn-cs"/>
              </a:rPr>
              <a:t>）：</a:t>
            </a:r>
          </a:p>
        </p:txBody>
      </p:sp>
      <p:sp>
        <p:nvSpPr>
          <p:cNvPr id="63492" name="Rectangle 4"/>
          <p:cNvSpPr>
            <a:spLocks noChangeArrowheads="1"/>
          </p:cNvSpPr>
          <p:nvPr/>
        </p:nvSpPr>
        <p:spPr bwMode="auto">
          <a:xfrm>
            <a:off x="215900" y="1817688"/>
            <a:ext cx="7559675" cy="6477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m3 &lt;- lm(premium ~ factor(area) + factor(type), data = dt)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predict(m3)</a:t>
            </a:r>
          </a:p>
        </p:txBody>
      </p:sp>
    </p:spTree>
    <p:extLst>
      <p:ext uri="{BB962C8B-B14F-4D97-AF65-F5344CB8AC3E}">
        <p14:creationId xmlns:p14="http://schemas.microsoft.com/office/powerpoint/2010/main" val="33530232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AC21018-0B7E-46D6-9FF2-1F9915FAF9CD}"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4515" name="Rectangle 2"/>
          <p:cNvSpPr>
            <a:spLocks noGrp="1" noChangeArrowheads="1"/>
          </p:cNvSpPr>
          <p:nvPr>
            <p:ph type="title"/>
          </p:nvPr>
        </p:nvSpPr>
        <p:spPr>
          <a:xfrm>
            <a:off x="457200" y="122238"/>
            <a:ext cx="7543800" cy="785812"/>
          </a:xfrm>
        </p:spPr>
        <p:txBody>
          <a:bodyPr/>
          <a:lstStyle/>
          <a:p>
            <a:pPr eaLnBrk="1" hangingPunct="1"/>
            <a:r>
              <a:rPr lang="zh-CN" altLang="en-US" smtClean="0"/>
              <a:t>最小二乘法（线性回归）的缺陷</a:t>
            </a:r>
          </a:p>
        </p:txBody>
      </p:sp>
      <p:sp>
        <p:nvSpPr>
          <p:cNvPr id="2" name="Rectangle 3"/>
          <p:cNvSpPr>
            <a:spLocks noGrp="1" noChangeArrowheads="1"/>
          </p:cNvSpPr>
          <p:nvPr>
            <p:ph type="body" idx="1"/>
          </p:nvPr>
        </p:nvSpPr>
        <p:spPr>
          <a:xfrm>
            <a:off x="457200" y="1125538"/>
            <a:ext cx="8362950" cy="5183187"/>
          </a:xfrm>
        </p:spPr>
        <p:txBody>
          <a:bodyPr/>
          <a:lstStyle/>
          <a:p>
            <a:pPr eaLnBrk="1" hangingPunct="1"/>
            <a:r>
              <a:rPr lang="zh-CN" altLang="en-US" smtClean="0">
                <a:latin typeface="Times New Roman" panose="02020603050405020304" pitchFamily="18" charset="0"/>
              </a:rPr>
              <a:t>要求因变量服从</a:t>
            </a:r>
            <a:r>
              <a:rPr lang="zh-CN" altLang="en-US" b="1" smtClean="0">
                <a:solidFill>
                  <a:srgbClr val="FF0000"/>
                </a:solidFill>
                <a:latin typeface="Times New Roman" panose="02020603050405020304" pitchFamily="18" charset="0"/>
              </a:rPr>
              <a:t>正态分布</a:t>
            </a:r>
            <a:r>
              <a:rPr lang="zh-CN" altLang="en-US" smtClean="0">
                <a:latin typeface="Times New Roman" panose="02020603050405020304" pitchFamily="18" charset="0"/>
              </a:rPr>
              <a:t>且具有</a:t>
            </a:r>
            <a:r>
              <a:rPr lang="zh-CN" altLang="en-US" b="1" smtClean="0">
                <a:solidFill>
                  <a:srgbClr val="FF0000"/>
                </a:solidFill>
                <a:latin typeface="Times New Roman" panose="02020603050405020304" pitchFamily="18" charset="0"/>
              </a:rPr>
              <a:t>相同方差</a:t>
            </a:r>
            <a:r>
              <a:rPr lang="zh-CN" altLang="en-US" smtClean="0">
                <a:latin typeface="Times New Roman" panose="02020603050405020304" pitchFamily="18" charset="0"/>
              </a:rPr>
              <a:t>不现实。试图通过数据变换来满足这一假设，如取对数 </a:t>
            </a:r>
            <a:r>
              <a:rPr lang="en-US" altLang="zh-CN" smtClean="0">
                <a:latin typeface="Times New Roman" panose="02020603050405020304" pitchFamily="18" charset="0"/>
              </a:rPr>
              <a:t>ln (</a:t>
            </a:r>
            <a:r>
              <a:rPr lang="en-US" altLang="zh-CN" i="1" smtClean="0">
                <a:latin typeface="Times New Roman" panose="02020603050405020304" pitchFamily="18" charset="0"/>
              </a:rPr>
              <a:t>Y</a:t>
            </a:r>
            <a:r>
              <a:rPr lang="en-US" altLang="zh-CN" smtClean="0">
                <a:latin typeface="Times New Roman" panose="02020603050405020304" pitchFamily="18" charset="0"/>
              </a:rPr>
              <a:t>)</a:t>
            </a:r>
            <a:r>
              <a:rPr lang="zh-CN" altLang="en-US" smtClean="0">
                <a:latin typeface="Times New Roman" panose="02020603050405020304" pitchFamily="18" charset="0"/>
              </a:rPr>
              <a:t>。但是通常难以解释。</a:t>
            </a:r>
          </a:p>
          <a:p>
            <a:pPr eaLnBrk="1" hangingPunct="1"/>
            <a:r>
              <a:rPr lang="zh-CN" altLang="en-US" smtClean="0">
                <a:latin typeface="Times New Roman" panose="02020603050405020304" pitchFamily="18" charset="0"/>
              </a:rPr>
              <a:t>在保险实务中，因变量的取值往往是非负的。因变量服从正态分布的假设显然不能满足这一要求。</a:t>
            </a:r>
          </a:p>
          <a:p>
            <a:pPr eaLnBrk="1" hangingPunct="1"/>
            <a:r>
              <a:rPr lang="zh-CN" altLang="en-US" smtClean="0">
                <a:latin typeface="Times New Roman" panose="02020603050405020304" pitchFamily="18" charset="0"/>
              </a:rPr>
              <a:t>如果因变量是严格非负的，那么当因变量的均值趋于零时，其方差也应该趋于零。换言之，因变量的方差是其均值的函数。而在线性回归模型中，假设因变量的方差是固定的常数。</a:t>
            </a:r>
          </a:p>
          <a:p>
            <a:pPr eaLnBrk="1" hangingPunct="1"/>
            <a:r>
              <a:rPr lang="zh-CN" altLang="en-US" smtClean="0">
                <a:latin typeface="Times New Roman" panose="02020603050405020304" pitchFamily="18" charset="0"/>
              </a:rPr>
              <a:t>假设解释变量通过加法关系对因变量产生影响，但在某些情况下，解释变量之间可能通过一种乘法关系对因变量产生影响。</a:t>
            </a:r>
          </a:p>
        </p:txBody>
      </p:sp>
    </p:spTree>
    <p:extLst>
      <p:ext uri="{BB962C8B-B14F-4D97-AF65-F5344CB8AC3E}">
        <p14:creationId xmlns:p14="http://schemas.microsoft.com/office/powerpoint/2010/main" val="880364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6"/>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6336A0-1A08-4D5A-AFA5-93A90BAFEF38}"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5539" name="Rectangle 2"/>
          <p:cNvSpPr>
            <a:spLocks noGrp="1" noChangeArrowheads="1"/>
          </p:cNvSpPr>
          <p:nvPr>
            <p:ph type="title"/>
          </p:nvPr>
        </p:nvSpPr>
        <p:spPr/>
        <p:txBody>
          <a:bodyPr/>
          <a:lstStyle/>
          <a:p>
            <a:pPr eaLnBrk="1" hangingPunct="1"/>
            <a:r>
              <a:rPr lang="zh-CN" altLang="en-US" smtClean="0"/>
              <a:t>最小二乘法：乘法模型（如何用 </a:t>
            </a:r>
            <a:r>
              <a:rPr lang="en-US" altLang="zh-CN" smtClean="0"/>
              <a:t>R </a:t>
            </a:r>
            <a:r>
              <a:rPr lang="zh-CN" altLang="en-US" smtClean="0"/>
              <a:t>代码实现）</a:t>
            </a:r>
          </a:p>
        </p:txBody>
      </p:sp>
      <p:sp>
        <p:nvSpPr>
          <p:cNvPr id="74755" name="Rectangle 3"/>
          <p:cNvSpPr>
            <a:spLocks noGrp="1" noChangeArrowheads="1"/>
          </p:cNvSpPr>
          <p:nvPr>
            <p:ph type="body" sz="half" idx="1"/>
          </p:nvPr>
        </p:nvSpPr>
        <p:spPr>
          <a:xfrm>
            <a:off x="457200" y="1719263"/>
            <a:ext cx="8291513" cy="701675"/>
          </a:xfrm>
        </p:spPr>
        <p:txBody>
          <a:bodyPr/>
          <a:lstStyle/>
          <a:p>
            <a:pPr eaLnBrk="1" hangingPunct="1"/>
            <a:r>
              <a:rPr lang="zh-CN" altLang="en-US" sz="2000" smtClean="0"/>
              <a:t>应用本例的数据，用下述乘法模型估计各组的纯保费：</a:t>
            </a:r>
          </a:p>
        </p:txBody>
      </p:sp>
      <p:graphicFrame>
        <p:nvGraphicFramePr>
          <p:cNvPr id="74756" name="Object 4"/>
          <p:cNvGraphicFramePr>
            <a:graphicFrameLocks noChangeAspect="1"/>
          </p:cNvGraphicFramePr>
          <p:nvPr>
            <p:ph sz="half" idx="2"/>
          </p:nvPr>
        </p:nvGraphicFramePr>
        <p:xfrm>
          <a:off x="2555875" y="2420938"/>
          <a:ext cx="2376488" cy="506412"/>
        </p:xfrm>
        <a:graphic>
          <a:graphicData uri="http://schemas.openxmlformats.org/presentationml/2006/ole">
            <mc:AlternateContent xmlns:mc="http://schemas.openxmlformats.org/markup-compatibility/2006">
              <mc:Choice xmlns:v="urn:schemas-microsoft-com:vml" Requires="v">
                <p:oleObj spid="_x0000_s431122" name="Equation" r:id="rId3" imgW="1129810" imgH="241195" progId="Equation.DSMT4">
                  <p:embed/>
                </p:oleObj>
              </mc:Choice>
              <mc:Fallback>
                <p:oleObj name="Equation" r:id="rId3" imgW="1129810" imgH="241195" progId="Equation.DSMT4">
                  <p:embed/>
                  <p:pic>
                    <p:nvPicPr>
                      <p:cNvPr id="7475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420938"/>
                        <a:ext cx="2376488"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58" name="Text Box 6"/>
          <p:cNvSpPr txBox="1">
            <a:spLocks noChangeArrowheads="1"/>
          </p:cNvSpPr>
          <p:nvPr/>
        </p:nvSpPr>
        <p:spPr bwMode="auto">
          <a:xfrm>
            <a:off x="900113" y="3068638"/>
            <a:ext cx="262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提示：目标函数为</a:t>
            </a:r>
          </a:p>
        </p:txBody>
      </p:sp>
      <p:graphicFrame>
        <p:nvGraphicFramePr>
          <p:cNvPr id="74759" name="Object 7"/>
          <p:cNvGraphicFramePr>
            <a:graphicFrameLocks noChangeAspect="1"/>
          </p:cNvGraphicFramePr>
          <p:nvPr/>
        </p:nvGraphicFramePr>
        <p:xfrm>
          <a:off x="2411413" y="3644900"/>
          <a:ext cx="2808287" cy="728663"/>
        </p:xfrm>
        <a:graphic>
          <a:graphicData uri="http://schemas.openxmlformats.org/presentationml/2006/ole">
            <mc:AlternateContent xmlns:mc="http://schemas.openxmlformats.org/markup-compatibility/2006">
              <mc:Choice xmlns:v="urn:schemas-microsoft-com:vml" Requires="v">
                <p:oleObj spid="_x0000_s431123" name="Equation" r:id="rId5" imgW="1371600" imgH="355600" progId="Equation.DSMT4">
                  <p:embed/>
                </p:oleObj>
              </mc:Choice>
              <mc:Fallback>
                <p:oleObj name="Equation" r:id="rId5" imgW="1371600" imgH="355600" progId="Equation.DSMT4">
                  <p:embed/>
                  <p:pic>
                    <p:nvPicPr>
                      <p:cNvPr id="7475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3644900"/>
                        <a:ext cx="2808287"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60" name="Text Box 8"/>
          <p:cNvSpPr txBox="1">
            <a:spLocks noChangeArrowheads="1"/>
          </p:cNvSpPr>
          <p:nvPr/>
        </p:nvSpPr>
        <p:spPr bwMode="auto">
          <a:xfrm>
            <a:off x="684213" y="4365625"/>
            <a:ext cx="475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求偏导并令其等于零可得迭代公式</a:t>
            </a:r>
          </a:p>
        </p:txBody>
      </p:sp>
      <p:graphicFrame>
        <p:nvGraphicFramePr>
          <p:cNvPr id="74761" name="Object 9"/>
          <p:cNvGraphicFramePr>
            <a:graphicFrameLocks noChangeAspect="1"/>
          </p:cNvGraphicFramePr>
          <p:nvPr/>
        </p:nvGraphicFramePr>
        <p:xfrm>
          <a:off x="1835150" y="5013325"/>
          <a:ext cx="2049463" cy="1416050"/>
        </p:xfrm>
        <a:graphic>
          <a:graphicData uri="http://schemas.openxmlformats.org/presentationml/2006/ole">
            <mc:AlternateContent xmlns:mc="http://schemas.openxmlformats.org/markup-compatibility/2006">
              <mc:Choice xmlns:v="urn:schemas-microsoft-com:vml" Requires="v">
                <p:oleObj spid="_x0000_s431124" name="Equation" r:id="rId7" imgW="977900" imgH="698500" progId="Equation.DSMT4">
                  <p:embed/>
                </p:oleObj>
              </mc:Choice>
              <mc:Fallback>
                <p:oleObj name="Equation" r:id="rId7" imgW="977900" imgH="698500" progId="Equation.DSMT4">
                  <p:embed/>
                  <p:pic>
                    <p:nvPicPr>
                      <p:cNvPr id="74761"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150" y="5013325"/>
                        <a:ext cx="2049463" cy="141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4" name="Object 12"/>
          <p:cNvGraphicFramePr>
            <a:graphicFrameLocks noChangeAspect="1"/>
          </p:cNvGraphicFramePr>
          <p:nvPr/>
        </p:nvGraphicFramePr>
        <p:xfrm>
          <a:off x="4500563" y="5084763"/>
          <a:ext cx="1944687" cy="1312862"/>
        </p:xfrm>
        <a:graphic>
          <a:graphicData uri="http://schemas.openxmlformats.org/presentationml/2006/ole">
            <mc:AlternateContent xmlns:mc="http://schemas.openxmlformats.org/markup-compatibility/2006">
              <mc:Choice xmlns:v="urn:schemas-microsoft-com:vml" Requires="v">
                <p:oleObj spid="_x0000_s431125" name="Equation" r:id="rId9" imgW="977900" imgH="660400" progId="Equation.DSMT4">
                  <p:embed/>
                </p:oleObj>
              </mc:Choice>
              <mc:Fallback>
                <p:oleObj name="Equation" r:id="rId9" imgW="977900" imgH="660400" progId="Equation.DSMT4">
                  <p:embed/>
                  <p:pic>
                    <p:nvPicPr>
                      <p:cNvPr id="74764"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00563" y="5084763"/>
                        <a:ext cx="1944687" cy="131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66960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additive="base">
                                        <p:cTn id="7"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4756"/>
                                        </p:tgtEl>
                                        <p:attrNameLst>
                                          <p:attrName>style.visibility</p:attrName>
                                        </p:attrNameLst>
                                      </p:cBhvr>
                                      <p:to>
                                        <p:strVal val="visible"/>
                                      </p:to>
                                    </p:set>
                                    <p:anim calcmode="lin" valueType="num">
                                      <p:cBhvr additive="base">
                                        <p:cTn id="11" dur="500" fill="hold"/>
                                        <p:tgtEl>
                                          <p:spTgt spid="74756"/>
                                        </p:tgtEl>
                                        <p:attrNameLst>
                                          <p:attrName>ppt_x</p:attrName>
                                        </p:attrNameLst>
                                      </p:cBhvr>
                                      <p:tavLst>
                                        <p:tav tm="0">
                                          <p:val>
                                            <p:strVal val="#ppt_x"/>
                                          </p:val>
                                        </p:tav>
                                        <p:tav tm="100000">
                                          <p:val>
                                            <p:strVal val="#ppt_x"/>
                                          </p:val>
                                        </p:tav>
                                      </p:tavLst>
                                    </p:anim>
                                    <p:anim calcmode="lin" valueType="num">
                                      <p:cBhvr additive="base">
                                        <p:cTn id="12" dur="500" fill="hold"/>
                                        <p:tgtEl>
                                          <p:spTgt spid="7475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4758"/>
                                        </p:tgtEl>
                                        <p:attrNameLst>
                                          <p:attrName>style.visibility</p:attrName>
                                        </p:attrNameLst>
                                      </p:cBhvr>
                                      <p:to>
                                        <p:strVal val="visible"/>
                                      </p:to>
                                    </p:set>
                                    <p:anim calcmode="lin" valueType="num">
                                      <p:cBhvr additive="base">
                                        <p:cTn id="17" dur="500" fill="hold"/>
                                        <p:tgtEl>
                                          <p:spTgt spid="74758"/>
                                        </p:tgtEl>
                                        <p:attrNameLst>
                                          <p:attrName>ppt_x</p:attrName>
                                        </p:attrNameLst>
                                      </p:cBhvr>
                                      <p:tavLst>
                                        <p:tav tm="0">
                                          <p:val>
                                            <p:strVal val="#ppt_x"/>
                                          </p:val>
                                        </p:tav>
                                        <p:tav tm="100000">
                                          <p:val>
                                            <p:strVal val="#ppt_x"/>
                                          </p:val>
                                        </p:tav>
                                      </p:tavLst>
                                    </p:anim>
                                    <p:anim calcmode="lin" valueType="num">
                                      <p:cBhvr additive="base">
                                        <p:cTn id="18" dur="500" fill="hold"/>
                                        <p:tgtEl>
                                          <p:spTgt spid="7475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4759"/>
                                        </p:tgtEl>
                                        <p:attrNameLst>
                                          <p:attrName>style.visibility</p:attrName>
                                        </p:attrNameLst>
                                      </p:cBhvr>
                                      <p:to>
                                        <p:strVal val="visible"/>
                                      </p:to>
                                    </p:set>
                                    <p:anim calcmode="lin" valueType="num">
                                      <p:cBhvr additive="base">
                                        <p:cTn id="21" dur="500" fill="hold"/>
                                        <p:tgtEl>
                                          <p:spTgt spid="74759"/>
                                        </p:tgtEl>
                                        <p:attrNameLst>
                                          <p:attrName>ppt_x</p:attrName>
                                        </p:attrNameLst>
                                      </p:cBhvr>
                                      <p:tavLst>
                                        <p:tav tm="0">
                                          <p:val>
                                            <p:strVal val="#ppt_x"/>
                                          </p:val>
                                        </p:tav>
                                        <p:tav tm="100000">
                                          <p:val>
                                            <p:strVal val="#ppt_x"/>
                                          </p:val>
                                        </p:tav>
                                      </p:tavLst>
                                    </p:anim>
                                    <p:anim calcmode="lin" valueType="num">
                                      <p:cBhvr additive="base">
                                        <p:cTn id="22" dur="500" fill="hold"/>
                                        <p:tgtEl>
                                          <p:spTgt spid="74759"/>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4760"/>
                                        </p:tgtEl>
                                        <p:attrNameLst>
                                          <p:attrName>style.visibility</p:attrName>
                                        </p:attrNameLst>
                                      </p:cBhvr>
                                      <p:to>
                                        <p:strVal val="visible"/>
                                      </p:to>
                                    </p:set>
                                    <p:anim calcmode="lin" valueType="num">
                                      <p:cBhvr additive="base">
                                        <p:cTn id="27" dur="500" fill="hold"/>
                                        <p:tgtEl>
                                          <p:spTgt spid="74760"/>
                                        </p:tgtEl>
                                        <p:attrNameLst>
                                          <p:attrName>ppt_x</p:attrName>
                                        </p:attrNameLst>
                                      </p:cBhvr>
                                      <p:tavLst>
                                        <p:tav tm="0">
                                          <p:val>
                                            <p:strVal val="#ppt_x"/>
                                          </p:val>
                                        </p:tav>
                                        <p:tav tm="100000">
                                          <p:val>
                                            <p:strVal val="#ppt_x"/>
                                          </p:val>
                                        </p:tav>
                                      </p:tavLst>
                                    </p:anim>
                                    <p:anim calcmode="lin" valueType="num">
                                      <p:cBhvr additive="base">
                                        <p:cTn id="28" dur="500" fill="hold"/>
                                        <p:tgtEl>
                                          <p:spTgt spid="7476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4761"/>
                                        </p:tgtEl>
                                        <p:attrNameLst>
                                          <p:attrName>style.visibility</p:attrName>
                                        </p:attrNameLst>
                                      </p:cBhvr>
                                      <p:to>
                                        <p:strVal val="visible"/>
                                      </p:to>
                                    </p:set>
                                    <p:anim calcmode="lin" valueType="num">
                                      <p:cBhvr additive="base">
                                        <p:cTn id="31" dur="500" fill="hold"/>
                                        <p:tgtEl>
                                          <p:spTgt spid="74761"/>
                                        </p:tgtEl>
                                        <p:attrNameLst>
                                          <p:attrName>ppt_x</p:attrName>
                                        </p:attrNameLst>
                                      </p:cBhvr>
                                      <p:tavLst>
                                        <p:tav tm="0">
                                          <p:val>
                                            <p:strVal val="#ppt_x"/>
                                          </p:val>
                                        </p:tav>
                                        <p:tav tm="100000">
                                          <p:val>
                                            <p:strVal val="#ppt_x"/>
                                          </p:val>
                                        </p:tav>
                                      </p:tavLst>
                                    </p:anim>
                                    <p:anim calcmode="lin" valueType="num">
                                      <p:cBhvr additive="base">
                                        <p:cTn id="32" dur="500" fill="hold"/>
                                        <p:tgtEl>
                                          <p:spTgt spid="74761"/>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74764"/>
                                        </p:tgtEl>
                                        <p:attrNameLst>
                                          <p:attrName>style.visibility</p:attrName>
                                        </p:attrNameLst>
                                      </p:cBhvr>
                                      <p:to>
                                        <p:strVal val="visible"/>
                                      </p:to>
                                    </p:set>
                                    <p:anim calcmode="lin" valueType="num">
                                      <p:cBhvr additive="base">
                                        <p:cTn id="37" dur="500" fill="hold"/>
                                        <p:tgtEl>
                                          <p:spTgt spid="74764"/>
                                        </p:tgtEl>
                                        <p:attrNameLst>
                                          <p:attrName>ppt_x</p:attrName>
                                        </p:attrNameLst>
                                      </p:cBhvr>
                                      <p:tavLst>
                                        <p:tav tm="0">
                                          <p:val>
                                            <p:strVal val="#ppt_x"/>
                                          </p:val>
                                        </p:tav>
                                        <p:tav tm="100000">
                                          <p:val>
                                            <p:strVal val="#ppt_x"/>
                                          </p:val>
                                        </p:tav>
                                      </p:tavLst>
                                    </p:anim>
                                    <p:anim calcmode="lin" valueType="num">
                                      <p:cBhvr additive="base">
                                        <p:cTn id="38" dur="500" fill="hold"/>
                                        <p:tgtEl>
                                          <p:spTgt spid="747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P spid="74758" grpId="0"/>
      <p:bldP spid="7476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6"/>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6336A0-1A08-4D5A-AFA5-93A90BAFEF38}" type="slidenum">
              <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0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a:xfrm>
            <a:off x="228600" y="304800"/>
            <a:ext cx="7924800" cy="6001643"/>
          </a:xfrm>
          <a:prstGeom prst="rect">
            <a:avLst/>
          </a:prstGeom>
        </p:spPr>
        <p:txBody>
          <a:bodyPr wrap="square">
            <a:spAutoFit/>
          </a:bodyPr>
          <a:lstStyle/>
          <a:p>
            <a:r>
              <a:rPr lang="zh-CN" altLang="en-US" sz="1600" dirty="0"/>
              <a:t># =================================================================</a:t>
            </a:r>
          </a:p>
          <a:p>
            <a:r>
              <a:rPr lang="zh-CN" altLang="en-US" sz="1600" dirty="0"/>
              <a:t># 2. 最小二乘法(乘法模型)</a:t>
            </a:r>
          </a:p>
          <a:p>
            <a:r>
              <a:rPr lang="zh-CN" altLang="en-US" sz="1600" dirty="0"/>
              <a:t># =================================================================</a:t>
            </a:r>
          </a:p>
          <a:p>
            <a:r>
              <a:rPr lang="zh-CN" altLang="en-US" sz="1600" dirty="0"/>
              <a:t>X &lt;- model.matrix(~ factor(area) + factor(type), data = dt)</a:t>
            </a:r>
          </a:p>
          <a:p>
            <a:r>
              <a:rPr lang="zh-CN" altLang="en-US" sz="1600" dirty="0"/>
              <a:t># X &lt;- X[,c(1, 6:9)]</a:t>
            </a:r>
          </a:p>
          <a:p>
            <a:endParaRPr lang="zh-CN" altLang="en-US" sz="1600" dirty="0"/>
          </a:p>
          <a:p>
            <a:r>
              <a:rPr lang="zh-CN" altLang="en-US" sz="1600" dirty="0"/>
              <a:t>loss.f &lt;- function(par, X, y, n, index = 1){</a:t>
            </a:r>
          </a:p>
          <a:p>
            <a:r>
              <a:rPr lang="zh-CN" altLang="en-US" sz="1600" dirty="0"/>
              <a:t>  # y 经验纯保费</a:t>
            </a:r>
          </a:p>
          <a:p>
            <a:r>
              <a:rPr lang="zh-CN" altLang="en-US" sz="1600" dirty="0"/>
              <a:t>  # n 风险单位数</a:t>
            </a:r>
          </a:p>
          <a:p>
            <a:r>
              <a:rPr lang="zh-CN" altLang="en-US" sz="1600" dirty="0"/>
              <a:t>  # X 为设计矩阵</a:t>
            </a:r>
          </a:p>
          <a:p>
            <a:r>
              <a:rPr lang="zh-CN" altLang="en-US" sz="1600" dirty="0"/>
              <a:t>  muij &lt;- exp(X%*%par)</a:t>
            </a:r>
          </a:p>
          <a:p>
            <a:r>
              <a:rPr lang="zh-CN" altLang="en-US" sz="1600" dirty="0"/>
              <a:t>  Qij &lt;- (n)^(index)*(y - muij)^2</a:t>
            </a:r>
          </a:p>
          <a:p>
            <a:r>
              <a:rPr lang="zh-CN" altLang="en-US" sz="1600" dirty="0"/>
              <a:t>  Q &lt;- sum(Qij)</a:t>
            </a:r>
          </a:p>
          <a:p>
            <a:r>
              <a:rPr lang="zh-CN" altLang="en-US" sz="1600" dirty="0"/>
              <a:t>  return(Q)</a:t>
            </a:r>
          </a:p>
          <a:p>
            <a:r>
              <a:rPr lang="zh-CN" altLang="en-US" sz="1600" dirty="0"/>
              <a:t>}</a:t>
            </a:r>
          </a:p>
          <a:p>
            <a:r>
              <a:rPr lang="zh-CN" altLang="en-US" sz="1600" dirty="0"/>
              <a:t>starts &lt;- (rep(1, length = ncol(X)))</a:t>
            </a:r>
          </a:p>
          <a:p>
            <a:r>
              <a:rPr lang="zh-CN" altLang="en-US" sz="1600" dirty="0"/>
              <a:t>par &lt;- starts</a:t>
            </a:r>
          </a:p>
          <a:p>
            <a:r>
              <a:rPr lang="zh-CN" altLang="en-US" sz="1600" dirty="0"/>
              <a:t>m0 &lt;- optim(par = starts, </a:t>
            </a:r>
          </a:p>
          <a:p>
            <a:r>
              <a:rPr lang="zh-CN" altLang="en-US" sz="1600" dirty="0"/>
              <a:t>            fn = loss.f, </a:t>
            </a:r>
          </a:p>
          <a:p>
            <a:r>
              <a:rPr lang="zh-CN" altLang="en-US" sz="1600" dirty="0"/>
              <a:t>            y = dt$premium,</a:t>
            </a:r>
          </a:p>
          <a:p>
            <a:r>
              <a:rPr lang="zh-CN" altLang="en-US" sz="1600" dirty="0"/>
              <a:t>            X = X,</a:t>
            </a:r>
          </a:p>
          <a:p>
            <a:r>
              <a:rPr lang="zh-CN" altLang="en-US" sz="1600" dirty="0"/>
              <a:t>            n = dt$n,</a:t>
            </a:r>
          </a:p>
          <a:p>
            <a:r>
              <a:rPr lang="zh-CN" altLang="en-US" sz="1600" dirty="0"/>
              <a:t>            index = 1,</a:t>
            </a:r>
          </a:p>
          <a:p>
            <a:r>
              <a:rPr lang="zh-CN" altLang="en-US" sz="1600" dirty="0"/>
              <a:t>            method = "CG", hessian = T)</a:t>
            </a:r>
          </a:p>
        </p:txBody>
      </p:sp>
    </p:spTree>
    <p:extLst>
      <p:ext uri="{BB962C8B-B14F-4D97-AF65-F5344CB8AC3E}">
        <p14:creationId xmlns:p14="http://schemas.microsoft.com/office/powerpoint/2010/main" val="269931757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54B6892-370A-481B-8C19-7C91056C31E1}" type="slidenum">
              <a:rPr lang="en-US" altLang="zh-CN" b="0" smtClean="0"/>
              <a:pPr/>
              <a:t>55</a:t>
            </a:fld>
            <a:endParaRPr lang="en-US" altLang="zh-CN" b="0" smtClean="0"/>
          </a:p>
        </p:txBody>
      </p:sp>
      <p:sp>
        <p:nvSpPr>
          <p:cNvPr id="21507" name="Rectangle 2"/>
          <p:cNvSpPr>
            <a:spLocks noGrp="1" noChangeArrowheads="1"/>
          </p:cNvSpPr>
          <p:nvPr>
            <p:ph type="title"/>
          </p:nvPr>
        </p:nvSpPr>
        <p:spPr>
          <a:xfrm>
            <a:off x="250825" y="2565400"/>
            <a:ext cx="7543800" cy="574675"/>
          </a:xfrm>
        </p:spPr>
        <p:txBody>
          <a:bodyPr/>
          <a:lstStyle/>
          <a:p>
            <a:pPr algn="ctr" eaLnBrk="1" hangingPunct="1"/>
            <a:r>
              <a:rPr lang="zh-CN" altLang="en-US" sz="4400" dirty="0"/>
              <a:t>三</a:t>
            </a:r>
            <a:r>
              <a:rPr lang="zh-CN" altLang="en-US" sz="4400" dirty="0" smtClean="0"/>
              <a:t>、广义线性模型</a:t>
            </a:r>
          </a:p>
        </p:txBody>
      </p:sp>
    </p:spTree>
    <p:extLst>
      <p:ext uri="{BB962C8B-B14F-4D97-AF65-F5344CB8AC3E}">
        <p14:creationId xmlns:p14="http://schemas.microsoft.com/office/powerpoint/2010/main" val="200151806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dirty="0"/>
              <a:t>( </a:t>
            </a:r>
            <a:fld id="{FB5D8D59-65B3-4384-896F-EE249C929C52}" type="slidenum">
              <a:rPr lang="en-US" altLang="zh-CN"/>
              <a:pPr>
                <a:defRPr/>
              </a:pPr>
              <a:t>56</a:t>
            </a:fld>
            <a:r>
              <a:rPr lang="en-US" altLang="zh-CN" dirty="0"/>
              <a:t> )</a:t>
            </a:r>
          </a:p>
        </p:txBody>
      </p:sp>
      <p:sp>
        <p:nvSpPr>
          <p:cNvPr id="16387" name="Rectangle 2"/>
          <p:cNvSpPr>
            <a:spLocks noGrp="1" noChangeArrowheads="1"/>
          </p:cNvSpPr>
          <p:nvPr>
            <p:ph type="title"/>
          </p:nvPr>
        </p:nvSpPr>
        <p:spPr>
          <a:xfrm>
            <a:off x="533400" y="609600"/>
            <a:ext cx="7543800" cy="685800"/>
          </a:xfrm>
        </p:spPr>
        <p:txBody>
          <a:bodyPr/>
          <a:lstStyle/>
          <a:p>
            <a:pPr eaLnBrk="1" hangingPunct="1"/>
            <a:r>
              <a:rPr lang="zh-CN" altLang="en-US" sz="2800" dirty="0" smtClean="0">
                <a:latin typeface="Times New Roman" pitchFamily="18" charset="0"/>
              </a:rPr>
              <a:t>线性回归的基本假设</a:t>
            </a:r>
            <a:endParaRPr lang="en-US" altLang="zh-CN" sz="2800" dirty="0" smtClean="0">
              <a:latin typeface="Times New Roman" pitchFamily="18" charset="0"/>
            </a:endParaRPr>
          </a:p>
        </p:txBody>
      </p:sp>
      <p:sp>
        <p:nvSpPr>
          <p:cNvPr id="44035" name="Rectangle 3"/>
          <p:cNvSpPr>
            <a:spLocks noGrp="1" noChangeArrowheads="1"/>
          </p:cNvSpPr>
          <p:nvPr>
            <p:ph type="body" idx="1"/>
          </p:nvPr>
        </p:nvSpPr>
        <p:spPr>
          <a:xfrm>
            <a:off x="533400" y="1676400"/>
            <a:ext cx="8229600" cy="4343400"/>
          </a:xfrm>
        </p:spPr>
        <p:txBody>
          <a:bodyPr/>
          <a:lstStyle/>
          <a:p>
            <a:pPr eaLnBrk="1" hangingPunct="1">
              <a:lnSpc>
                <a:spcPct val="140000"/>
              </a:lnSpc>
            </a:pPr>
            <a:r>
              <a:rPr lang="zh-CN" altLang="en-US" sz="2000" dirty="0" smtClean="0">
                <a:latin typeface="Times New Roman" pitchFamily="18" charset="0"/>
              </a:rPr>
              <a:t>因变量的观测值相互独立，且服从正态分布，即</a:t>
            </a:r>
            <a:endParaRPr lang="en-US" altLang="zh-CN" sz="2000" dirty="0">
              <a:latin typeface="Times New Roman" pitchFamily="18" charset="0"/>
            </a:endParaRPr>
          </a:p>
          <a:p>
            <a:pPr marL="0" indent="0" eaLnBrk="1" hangingPunct="1">
              <a:lnSpc>
                <a:spcPct val="140000"/>
              </a:lnSpc>
              <a:buNone/>
            </a:pPr>
            <a:r>
              <a:rPr lang="zh-CN" altLang="en-US" sz="2000" dirty="0" smtClean="0">
                <a:latin typeface="华文楷体" panose="02010600040101010101" pitchFamily="2" charset="-122"/>
                <a:ea typeface="华文楷体" panose="02010600040101010101" pitchFamily="2" charset="-122"/>
              </a:rPr>
              <a:t>线性回归模型中，如果使用最小二乘法估计模型参数，无需作正态分布假设。进行统计推断或应用极大似然法估计模型参数时，需要作正态性假设。</a:t>
            </a:r>
            <a:endParaRPr lang="en-US" altLang="zh-CN" sz="2000" dirty="0" smtClean="0">
              <a:latin typeface="华文楷体" panose="02010600040101010101" pitchFamily="2" charset="-122"/>
              <a:ea typeface="华文楷体" panose="02010600040101010101" pitchFamily="2" charset="-122"/>
            </a:endParaRPr>
          </a:p>
          <a:p>
            <a:pPr eaLnBrk="1" hangingPunct="1">
              <a:lnSpc>
                <a:spcPct val="140000"/>
              </a:lnSpc>
            </a:pPr>
            <a:r>
              <a:rPr lang="zh-CN" altLang="en-US" sz="2000" dirty="0" smtClean="0">
                <a:latin typeface="Times New Roman" pitchFamily="18" charset="0"/>
              </a:rPr>
              <a:t>所有的观测值都具有相同的方差，             。</a:t>
            </a:r>
            <a:endParaRPr lang="en-US" altLang="zh-CN" sz="2000" dirty="0" smtClean="0">
              <a:latin typeface="Times New Roman" pitchFamily="18" charset="0"/>
            </a:endParaRPr>
          </a:p>
          <a:p>
            <a:pPr eaLnBrk="1" hangingPunct="1">
              <a:lnSpc>
                <a:spcPct val="140000"/>
              </a:lnSpc>
            </a:pPr>
            <a:r>
              <a:rPr lang="zh-CN" altLang="en-US" sz="2000" dirty="0" smtClean="0">
                <a:latin typeface="Times New Roman" pitchFamily="18" charset="0"/>
              </a:rPr>
              <a:t>因变量的期望值可以直接表示为参数的线性组合                   </a:t>
            </a:r>
            <a:r>
              <a:rPr lang="zh-CN" altLang="en-US" sz="2000" dirty="0">
                <a:latin typeface="Times New Roman" pitchFamily="18" charset="0"/>
              </a:rPr>
              <a:t>。</a:t>
            </a:r>
            <a:r>
              <a:rPr lang="zh-CN" altLang="en-US" sz="2000" dirty="0" smtClean="0">
                <a:latin typeface="Times New Roman" pitchFamily="18" charset="0"/>
              </a:rPr>
              <a:t>其中</a:t>
            </a:r>
            <a:endParaRPr lang="en-US" altLang="zh-CN" sz="2000" dirty="0" smtClean="0">
              <a:latin typeface="Times New Roman" pitchFamily="18" charset="0"/>
            </a:endParaRPr>
          </a:p>
          <a:p>
            <a:pPr marL="0" indent="0" eaLnBrk="1" hangingPunct="1">
              <a:lnSpc>
                <a:spcPct val="140000"/>
              </a:lnSpc>
              <a:buNone/>
            </a:pPr>
            <a:r>
              <a:rPr lang="en-US" altLang="zh-CN" sz="2000" dirty="0" smtClean="0">
                <a:latin typeface="Times New Roman" pitchFamily="18" charset="0"/>
              </a:rPr>
              <a:t>                             </a:t>
            </a:r>
            <a:r>
              <a:rPr lang="zh-CN" altLang="en-US" sz="2000" dirty="0" smtClean="0">
                <a:latin typeface="Times New Roman" pitchFamily="18" charset="0"/>
              </a:rPr>
              <a:t>，表示参数向量；                               ，表示第</a:t>
            </a:r>
            <a:r>
              <a:rPr lang="en-US" altLang="zh-CN" sz="2000" dirty="0" err="1" smtClean="0">
                <a:latin typeface="Times New Roman" pitchFamily="18" charset="0"/>
              </a:rPr>
              <a:t>i</a:t>
            </a:r>
            <a:r>
              <a:rPr lang="zh-CN" altLang="en-US" sz="2000" dirty="0" smtClean="0">
                <a:latin typeface="Times New Roman" pitchFamily="18" charset="0"/>
              </a:rPr>
              <a:t>次观测的解释变量向量。</a:t>
            </a:r>
            <a:endParaRPr lang="en-US" altLang="zh-CN" sz="2000" dirty="0" smtClean="0">
              <a:latin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429249425"/>
              </p:ext>
            </p:extLst>
          </p:nvPr>
        </p:nvGraphicFramePr>
        <p:xfrm>
          <a:off x="6371230" y="1677538"/>
          <a:ext cx="1676400" cy="442383"/>
        </p:xfrm>
        <a:graphic>
          <a:graphicData uri="http://schemas.openxmlformats.org/presentationml/2006/ole">
            <mc:AlternateContent xmlns:mc="http://schemas.openxmlformats.org/markup-compatibility/2006">
              <mc:Choice xmlns:v="urn:schemas-microsoft-com:vml" Requires="v">
                <p:oleObj spid="_x0000_s423996" name="Equation" r:id="rId3" imgW="914400" imgH="241200" progId="Equation.DSMT4">
                  <p:embed/>
                </p:oleObj>
              </mc:Choice>
              <mc:Fallback>
                <p:oleObj name="Equation" r:id="rId3" imgW="914400" imgH="241200" progId="Equation.DSMT4">
                  <p:embed/>
                  <p:pic>
                    <p:nvPicPr>
                      <p:cNvPr id="0" name=""/>
                      <p:cNvPicPr/>
                      <p:nvPr/>
                    </p:nvPicPr>
                    <p:blipFill>
                      <a:blip r:embed="rId4"/>
                      <a:stretch>
                        <a:fillRect/>
                      </a:stretch>
                    </p:blipFill>
                    <p:spPr>
                      <a:xfrm>
                        <a:off x="6371230" y="1677538"/>
                        <a:ext cx="1676400" cy="44238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772372356"/>
              </p:ext>
            </p:extLst>
          </p:nvPr>
        </p:nvGraphicFramePr>
        <p:xfrm>
          <a:off x="4694830" y="3581594"/>
          <a:ext cx="822158" cy="381000"/>
        </p:xfrm>
        <a:graphic>
          <a:graphicData uri="http://schemas.openxmlformats.org/presentationml/2006/ole">
            <mc:AlternateContent xmlns:mc="http://schemas.openxmlformats.org/markup-compatibility/2006">
              <mc:Choice xmlns:v="urn:schemas-microsoft-com:vml" Requires="v">
                <p:oleObj spid="_x0000_s423997" name="Equation" r:id="rId5" imgW="520560" imgH="241200" progId="Equation.DSMT4">
                  <p:embed/>
                </p:oleObj>
              </mc:Choice>
              <mc:Fallback>
                <p:oleObj name="Equation" r:id="rId5" imgW="520560" imgH="241200" progId="Equation.DSMT4">
                  <p:embed/>
                  <p:pic>
                    <p:nvPicPr>
                      <p:cNvPr id="0" name=""/>
                      <p:cNvPicPr/>
                      <p:nvPr/>
                    </p:nvPicPr>
                    <p:blipFill>
                      <a:blip r:embed="rId6"/>
                      <a:stretch>
                        <a:fillRect/>
                      </a:stretch>
                    </p:blipFill>
                    <p:spPr>
                      <a:xfrm>
                        <a:off x="4694830" y="3581594"/>
                        <a:ext cx="822158" cy="3810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538867686"/>
              </p:ext>
            </p:extLst>
          </p:nvPr>
        </p:nvGraphicFramePr>
        <p:xfrm>
          <a:off x="6390564" y="4035397"/>
          <a:ext cx="1054811" cy="435683"/>
        </p:xfrm>
        <a:graphic>
          <a:graphicData uri="http://schemas.openxmlformats.org/presentationml/2006/ole">
            <mc:AlternateContent xmlns:mc="http://schemas.openxmlformats.org/markup-compatibility/2006">
              <mc:Choice xmlns:v="urn:schemas-microsoft-com:vml" Requires="v">
                <p:oleObj spid="_x0000_s423998" name="Equation" r:id="rId7" imgW="583920" imgH="241200" progId="Equation.DSMT4">
                  <p:embed/>
                </p:oleObj>
              </mc:Choice>
              <mc:Fallback>
                <p:oleObj name="Equation" r:id="rId7" imgW="583920" imgH="241200" progId="Equation.DSMT4">
                  <p:embed/>
                  <p:pic>
                    <p:nvPicPr>
                      <p:cNvPr id="0" name=""/>
                      <p:cNvPicPr/>
                      <p:nvPr/>
                    </p:nvPicPr>
                    <p:blipFill>
                      <a:blip r:embed="rId8"/>
                      <a:stretch>
                        <a:fillRect/>
                      </a:stretch>
                    </p:blipFill>
                    <p:spPr>
                      <a:xfrm>
                        <a:off x="6390564" y="4035397"/>
                        <a:ext cx="1054811" cy="43568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836943622"/>
              </p:ext>
            </p:extLst>
          </p:nvPr>
        </p:nvGraphicFramePr>
        <p:xfrm>
          <a:off x="555009" y="4556078"/>
          <a:ext cx="1862667" cy="381000"/>
        </p:xfrm>
        <a:graphic>
          <a:graphicData uri="http://schemas.openxmlformats.org/presentationml/2006/ole">
            <mc:AlternateContent xmlns:mc="http://schemas.openxmlformats.org/markup-compatibility/2006">
              <mc:Choice xmlns:v="urn:schemas-microsoft-com:vml" Requires="v">
                <p:oleObj spid="_x0000_s423999" name="Equation" r:id="rId9" imgW="1117440" imgH="228600" progId="Equation.DSMT4">
                  <p:embed/>
                </p:oleObj>
              </mc:Choice>
              <mc:Fallback>
                <p:oleObj name="Equation" r:id="rId9" imgW="1117440" imgH="228600" progId="Equation.DSMT4">
                  <p:embed/>
                  <p:pic>
                    <p:nvPicPr>
                      <p:cNvPr id="0" name=""/>
                      <p:cNvPicPr/>
                      <p:nvPr/>
                    </p:nvPicPr>
                    <p:blipFill>
                      <a:blip r:embed="rId10"/>
                      <a:stretch>
                        <a:fillRect/>
                      </a:stretch>
                    </p:blipFill>
                    <p:spPr>
                      <a:xfrm>
                        <a:off x="555009" y="4556078"/>
                        <a:ext cx="1862667" cy="3810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938063255"/>
              </p:ext>
            </p:extLst>
          </p:nvPr>
        </p:nvGraphicFramePr>
        <p:xfrm>
          <a:off x="4511722" y="4543882"/>
          <a:ext cx="1875430" cy="400182"/>
        </p:xfrm>
        <a:graphic>
          <a:graphicData uri="http://schemas.openxmlformats.org/presentationml/2006/ole">
            <mc:AlternateContent xmlns:mc="http://schemas.openxmlformats.org/markup-compatibility/2006">
              <mc:Choice xmlns:v="urn:schemas-microsoft-com:vml" Requires="v">
                <p:oleObj spid="_x0000_s424000" name="Equation" r:id="rId11" imgW="1130040" imgH="241200" progId="Equation.DSMT4">
                  <p:embed/>
                </p:oleObj>
              </mc:Choice>
              <mc:Fallback>
                <p:oleObj name="Equation" r:id="rId11" imgW="1130040" imgH="241200" progId="Equation.DSMT4">
                  <p:embed/>
                  <p:pic>
                    <p:nvPicPr>
                      <p:cNvPr id="0" name=""/>
                      <p:cNvPicPr/>
                      <p:nvPr/>
                    </p:nvPicPr>
                    <p:blipFill>
                      <a:blip r:embed="rId12"/>
                      <a:stretch>
                        <a:fillRect/>
                      </a:stretch>
                    </p:blipFill>
                    <p:spPr>
                      <a:xfrm>
                        <a:off x="4511722" y="4543882"/>
                        <a:ext cx="1875430" cy="400182"/>
                      </a:xfrm>
                      <a:prstGeom prst="rect">
                        <a:avLst/>
                      </a:prstGeom>
                    </p:spPr>
                  </p:pic>
                </p:oleObj>
              </mc:Fallback>
            </mc:AlternateContent>
          </a:graphicData>
        </a:graphic>
      </p:graphicFrame>
    </p:spTree>
    <p:extLst>
      <p:ext uri="{BB962C8B-B14F-4D97-AF65-F5344CB8AC3E}">
        <p14:creationId xmlns:p14="http://schemas.microsoft.com/office/powerpoint/2010/main" val="34809358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57</a:t>
            </a:fld>
            <a:r>
              <a:rPr lang="en-US" altLang="zh-CN"/>
              <a:t> )</a:t>
            </a:r>
          </a:p>
        </p:txBody>
      </p:sp>
      <p:sp>
        <p:nvSpPr>
          <p:cNvPr id="44035" name="Rectangle 3"/>
          <p:cNvSpPr>
            <a:spLocks noGrp="1" noChangeArrowheads="1"/>
          </p:cNvSpPr>
          <p:nvPr>
            <p:ph type="body" idx="1"/>
          </p:nvPr>
        </p:nvSpPr>
        <p:spPr>
          <a:xfrm>
            <a:off x="533400" y="1676400"/>
            <a:ext cx="8229600" cy="4343400"/>
          </a:xfrm>
        </p:spPr>
        <p:txBody>
          <a:bodyPr/>
          <a:lstStyle/>
          <a:p>
            <a:pPr eaLnBrk="1" hangingPunct="1">
              <a:lnSpc>
                <a:spcPct val="140000"/>
              </a:lnSpc>
            </a:pPr>
            <a:r>
              <a:rPr lang="zh-CN" altLang="en-US" sz="2400" dirty="0" smtClean="0">
                <a:latin typeface="Times New Roman" pitchFamily="18" charset="0"/>
              </a:rPr>
              <a:t>上述假设可以简记为：</a:t>
            </a:r>
            <a:endParaRPr lang="en-US" altLang="zh-CN" sz="2400" dirty="0" smtClean="0">
              <a:latin typeface="Times New Roman" pitchFamily="18" charset="0"/>
            </a:endParaRPr>
          </a:p>
          <a:p>
            <a:pPr eaLnBrk="1" hangingPunct="1">
              <a:lnSpc>
                <a:spcPct val="140000"/>
              </a:lnSpc>
            </a:pPr>
            <a:endParaRPr lang="en-US" altLang="zh-CN" sz="2400" dirty="0">
              <a:latin typeface="Times New Roman" pitchFamily="18" charset="0"/>
            </a:endParaRPr>
          </a:p>
          <a:p>
            <a:pPr marL="0" indent="0" eaLnBrk="1" hangingPunct="1">
              <a:lnSpc>
                <a:spcPct val="140000"/>
              </a:lnSpc>
              <a:buNone/>
            </a:pPr>
            <a:r>
              <a:rPr lang="en-US" altLang="zh-CN" sz="2400" dirty="0" smtClean="0">
                <a:latin typeface="Times New Roman" pitchFamily="18" charset="0"/>
              </a:rPr>
              <a:t>                                                                                          </a:t>
            </a:r>
            <a:endParaRPr lang="en-US" altLang="zh-CN" sz="2000" dirty="0" smtClean="0">
              <a:latin typeface="Times New Roman"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934150159"/>
              </p:ext>
            </p:extLst>
          </p:nvPr>
        </p:nvGraphicFramePr>
        <p:xfrm>
          <a:off x="1905000" y="3048000"/>
          <a:ext cx="2257425" cy="1657350"/>
        </p:xfrm>
        <a:graphic>
          <a:graphicData uri="http://schemas.openxmlformats.org/presentationml/2006/ole">
            <mc:AlternateContent xmlns:mc="http://schemas.openxmlformats.org/markup-compatibility/2006">
              <mc:Choice xmlns:v="urn:schemas-microsoft-com:vml" Requires="v">
                <p:oleObj spid="_x0000_s294106" name="Equation" r:id="rId3" imgW="1002960" imgH="736560" progId="Equation.DSMT4">
                  <p:embed/>
                </p:oleObj>
              </mc:Choice>
              <mc:Fallback>
                <p:oleObj name="Equation" r:id="rId3" imgW="1002960" imgH="736560" progId="Equation.DSMT4">
                  <p:embed/>
                  <p:pic>
                    <p:nvPicPr>
                      <p:cNvPr id="0" name=""/>
                      <p:cNvPicPr/>
                      <p:nvPr/>
                    </p:nvPicPr>
                    <p:blipFill>
                      <a:blip r:embed="rId4"/>
                      <a:stretch>
                        <a:fillRect/>
                      </a:stretch>
                    </p:blipFill>
                    <p:spPr>
                      <a:xfrm>
                        <a:off x="1905000" y="3048000"/>
                        <a:ext cx="2257425" cy="1657350"/>
                      </a:xfrm>
                      <a:prstGeom prst="rect">
                        <a:avLst/>
                      </a:prstGeom>
                    </p:spPr>
                  </p:pic>
                </p:oleObj>
              </mc:Fallback>
            </mc:AlternateContent>
          </a:graphicData>
        </a:graphic>
      </p:graphicFrame>
    </p:spTree>
    <p:extLst>
      <p:ext uri="{BB962C8B-B14F-4D97-AF65-F5344CB8AC3E}">
        <p14:creationId xmlns:p14="http://schemas.microsoft.com/office/powerpoint/2010/main" val="347411471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58</a:t>
            </a:fld>
            <a:r>
              <a:rPr lang="en-US" altLang="zh-CN"/>
              <a:t> )</a:t>
            </a:r>
          </a:p>
        </p:txBody>
      </p:sp>
      <p:sp>
        <p:nvSpPr>
          <p:cNvPr id="16387" name="Rectangle 2"/>
          <p:cNvSpPr>
            <a:spLocks noGrp="1" noChangeArrowheads="1"/>
          </p:cNvSpPr>
          <p:nvPr>
            <p:ph type="title"/>
          </p:nvPr>
        </p:nvSpPr>
        <p:spPr>
          <a:xfrm>
            <a:off x="533400" y="609600"/>
            <a:ext cx="7543800" cy="685800"/>
          </a:xfrm>
        </p:spPr>
        <p:txBody>
          <a:bodyPr/>
          <a:lstStyle/>
          <a:p>
            <a:pPr eaLnBrk="1" hangingPunct="1"/>
            <a:r>
              <a:rPr lang="zh-CN" altLang="en-US" sz="2800" dirty="0" smtClean="0">
                <a:latin typeface="Times New Roman" pitchFamily="18" charset="0"/>
              </a:rPr>
              <a:t>线性回归的局限性</a:t>
            </a:r>
            <a:endParaRPr lang="en-US" altLang="zh-CN" sz="2800" dirty="0" smtClean="0">
              <a:latin typeface="Times New Roman" pitchFamily="18" charset="0"/>
            </a:endParaRPr>
          </a:p>
        </p:txBody>
      </p:sp>
      <p:sp>
        <p:nvSpPr>
          <p:cNvPr id="44035" name="Rectangle 3"/>
          <p:cNvSpPr>
            <a:spLocks noGrp="1" noChangeArrowheads="1"/>
          </p:cNvSpPr>
          <p:nvPr>
            <p:ph type="body" idx="1"/>
          </p:nvPr>
        </p:nvSpPr>
        <p:spPr>
          <a:xfrm>
            <a:off x="533400" y="1676400"/>
            <a:ext cx="8229600" cy="4343400"/>
          </a:xfrm>
        </p:spPr>
        <p:txBody>
          <a:bodyPr/>
          <a:lstStyle/>
          <a:p>
            <a:pPr eaLnBrk="1" hangingPunct="1">
              <a:lnSpc>
                <a:spcPct val="140000"/>
              </a:lnSpc>
            </a:pPr>
            <a:r>
              <a:rPr lang="zh-CN" altLang="en-US" sz="2400" dirty="0" smtClean="0">
                <a:latin typeface="Times New Roman" pitchFamily="18" charset="0"/>
              </a:rPr>
              <a:t>因变量的正态假设不能满足实际应用要求。</a:t>
            </a:r>
            <a:endParaRPr lang="en-US" altLang="zh-CN" sz="2400" dirty="0" smtClean="0">
              <a:latin typeface="Times New Roman" pitchFamily="18" charset="0"/>
            </a:endParaRPr>
          </a:p>
          <a:p>
            <a:pPr marL="0" indent="0" eaLnBrk="1" hangingPunct="1">
              <a:lnSpc>
                <a:spcPct val="140000"/>
              </a:lnSpc>
              <a:buNone/>
            </a:pPr>
            <a:r>
              <a:rPr lang="zh-CN" altLang="en-US" sz="2400" dirty="0" smtClean="0">
                <a:latin typeface="华文楷体" panose="02010600040101010101" pitchFamily="2" charset="-122"/>
                <a:ea typeface="华文楷体" panose="02010600040101010101" pitchFamily="2" charset="-122"/>
              </a:rPr>
              <a:t>实际应用中，因变量可能是二分类变量、多分类变量、计数型变量、大于零的右偏性变量等。</a:t>
            </a:r>
            <a:endParaRPr lang="en-US" altLang="zh-CN" sz="2400" dirty="0" smtClean="0">
              <a:latin typeface="华文楷体" panose="02010600040101010101" pitchFamily="2" charset="-122"/>
              <a:ea typeface="华文楷体" panose="02010600040101010101" pitchFamily="2" charset="-122"/>
            </a:endParaRPr>
          </a:p>
          <a:p>
            <a:pPr eaLnBrk="1" hangingPunct="1">
              <a:lnSpc>
                <a:spcPct val="140000"/>
              </a:lnSpc>
            </a:pPr>
            <a:r>
              <a:rPr lang="zh-CN" altLang="en-US" sz="2400" dirty="0" smtClean="0">
                <a:latin typeface="Times New Roman" pitchFamily="18" charset="0"/>
              </a:rPr>
              <a:t>因变量的方差常常随均值变化而变化，不是常数方差。</a:t>
            </a:r>
            <a:endParaRPr lang="en-US" altLang="zh-CN" sz="2400" dirty="0" smtClean="0">
              <a:latin typeface="Times New Roman" pitchFamily="18" charset="0"/>
            </a:endParaRPr>
          </a:p>
          <a:p>
            <a:pPr marL="0" indent="0" eaLnBrk="1" hangingPunct="1">
              <a:lnSpc>
                <a:spcPct val="140000"/>
              </a:lnSpc>
              <a:buNone/>
            </a:pPr>
            <a:r>
              <a:rPr lang="zh-CN" altLang="en-US" sz="2400" dirty="0" smtClean="0">
                <a:latin typeface="华文楷体" panose="02010600040101010101" pitchFamily="2" charset="-122"/>
                <a:ea typeface="华文楷体" panose="02010600040101010101" pitchFamily="2" charset="-122"/>
              </a:rPr>
              <a:t>     如指数分布，方差是均值的平方。</a:t>
            </a:r>
            <a:endParaRPr lang="en-US" altLang="zh-CN" sz="2400" dirty="0">
              <a:latin typeface="华文楷体" panose="02010600040101010101" pitchFamily="2" charset="-122"/>
              <a:ea typeface="华文楷体" panose="02010600040101010101" pitchFamily="2" charset="-122"/>
            </a:endParaRPr>
          </a:p>
          <a:p>
            <a:pPr eaLnBrk="1" hangingPunct="1">
              <a:lnSpc>
                <a:spcPct val="140000"/>
              </a:lnSpc>
            </a:pPr>
            <a:r>
              <a:rPr lang="zh-CN" altLang="en-US" sz="2400" dirty="0" smtClean="0">
                <a:latin typeface="Times New Roman" pitchFamily="18" charset="0"/>
              </a:rPr>
              <a:t>某些情况下自变量之间可能通过乘法关系对因变量产生影响。</a:t>
            </a:r>
            <a:endParaRPr lang="en-US" altLang="zh-CN" sz="2400" dirty="0" smtClean="0">
              <a:latin typeface="Times New Roman" pitchFamily="18" charset="0"/>
            </a:endParaRPr>
          </a:p>
        </p:txBody>
      </p:sp>
    </p:spTree>
    <p:extLst>
      <p:ext uri="{BB962C8B-B14F-4D97-AF65-F5344CB8AC3E}">
        <p14:creationId xmlns:p14="http://schemas.microsoft.com/office/powerpoint/2010/main" val="56353889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59</a:t>
            </a:fld>
            <a:r>
              <a:rPr lang="en-US" altLang="zh-CN"/>
              <a:t> )</a:t>
            </a:r>
          </a:p>
        </p:txBody>
      </p:sp>
      <p:sp>
        <p:nvSpPr>
          <p:cNvPr id="16387" name="Rectangle 2"/>
          <p:cNvSpPr>
            <a:spLocks noGrp="1" noChangeArrowheads="1"/>
          </p:cNvSpPr>
          <p:nvPr>
            <p:ph type="title"/>
          </p:nvPr>
        </p:nvSpPr>
        <p:spPr>
          <a:xfrm>
            <a:off x="533400" y="609600"/>
            <a:ext cx="7543800" cy="685800"/>
          </a:xfrm>
        </p:spPr>
        <p:txBody>
          <a:bodyPr/>
          <a:lstStyle/>
          <a:p>
            <a:pPr eaLnBrk="1" hangingPunct="1"/>
            <a:r>
              <a:rPr lang="zh-CN" altLang="en-US" sz="2800" dirty="0" smtClean="0">
                <a:latin typeface="Times New Roman" pitchFamily="18" charset="0"/>
              </a:rPr>
              <a:t>广义线性模型的三个基本构成部分</a:t>
            </a:r>
            <a:endParaRPr lang="en-US" altLang="zh-CN" sz="2800" dirty="0" smtClean="0">
              <a:latin typeface="Times New Roman" pitchFamily="18" charset="0"/>
            </a:endParaRPr>
          </a:p>
        </p:txBody>
      </p:sp>
      <p:sp>
        <p:nvSpPr>
          <p:cNvPr id="44035" name="Rectangle 3"/>
          <p:cNvSpPr>
            <a:spLocks noGrp="1" noChangeArrowheads="1"/>
          </p:cNvSpPr>
          <p:nvPr>
            <p:ph type="body" idx="1"/>
          </p:nvPr>
        </p:nvSpPr>
        <p:spPr>
          <a:xfrm>
            <a:off x="533400" y="1676400"/>
            <a:ext cx="8229600" cy="4343400"/>
          </a:xfrm>
        </p:spPr>
        <p:txBody>
          <a:bodyPr/>
          <a:lstStyle/>
          <a:p>
            <a:pPr eaLnBrk="1" hangingPunct="1">
              <a:lnSpc>
                <a:spcPct val="140000"/>
              </a:lnSpc>
            </a:pPr>
            <a:r>
              <a:rPr lang="zh-CN" altLang="en-US" sz="2400" b="1" dirty="0" smtClean="0">
                <a:latin typeface="Times New Roman" pitchFamily="18" charset="0"/>
              </a:rPr>
              <a:t>随机成分：观测值 </a:t>
            </a:r>
            <a:r>
              <a:rPr lang="en-US" altLang="zh-CN" sz="2400" b="1" i="1" dirty="0" err="1" smtClean="0">
                <a:latin typeface="Times New Roman" panose="02020603050405020304" pitchFamily="18" charset="0"/>
                <a:cs typeface="Times New Roman" panose="02020603050405020304" pitchFamily="18" charset="0"/>
              </a:rPr>
              <a:t>y</a:t>
            </a:r>
            <a:r>
              <a:rPr lang="en-US" altLang="zh-CN" sz="2400" b="1" i="1" baseline="-25000" dirty="0" err="1" smtClean="0">
                <a:latin typeface="Times New Roman" panose="02020603050405020304" pitchFamily="18" charset="0"/>
                <a:cs typeface="Times New Roman" panose="02020603050405020304" pitchFamily="18" charset="0"/>
              </a:rPr>
              <a:t>i</a:t>
            </a:r>
            <a:r>
              <a:rPr lang="en-US" altLang="zh-CN" sz="2400" b="1" i="1" baseline="-25000" dirty="0" smtClean="0">
                <a:latin typeface="Times New Roman" panose="02020603050405020304" pitchFamily="18" charset="0"/>
                <a:cs typeface="Times New Roman" panose="02020603050405020304" pitchFamily="18" charset="0"/>
              </a:rPr>
              <a:t> </a:t>
            </a:r>
            <a:r>
              <a:rPr lang="zh-CN" altLang="en-US" sz="2400" b="1" dirty="0" smtClean="0">
                <a:latin typeface="Times New Roman" pitchFamily="18" charset="0"/>
              </a:rPr>
              <a:t>是相互独立的随机变量，且服从指数分布族。</a:t>
            </a:r>
            <a:endParaRPr lang="en-US" altLang="zh-CN" sz="2400" b="1" dirty="0" smtClean="0">
              <a:latin typeface="Times New Roman" pitchFamily="18" charset="0"/>
            </a:endParaRPr>
          </a:p>
          <a:p>
            <a:pPr marL="0" indent="0" eaLnBrk="1" hangingPunct="1">
              <a:lnSpc>
                <a:spcPct val="140000"/>
              </a:lnSpc>
              <a:buNone/>
            </a:pPr>
            <a:r>
              <a:rPr lang="zh-CN" altLang="en-US" sz="2400" b="1" dirty="0" smtClean="0">
                <a:latin typeface="华文楷体" panose="02010600040101010101" pitchFamily="2" charset="-122"/>
                <a:ea typeface="华文楷体" panose="02010600040101010101" pitchFamily="2" charset="-122"/>
              </a:rPr>
              <a:t>     指数分布族的方差可随其均值的变化而变化。</a:t>
            </a:r>
            <a:endParaRPr lang="en-US" altLang="zh-CN" sz="2400" b="1" dirty="0" smtClean="0">
              <a:latin typeface="华文楷体" panose="02010600040101010101" pitchFamily="2" charset="-122"/>
              <a:ea typeface="华文楷体" panose="02010600040101010101" pitchFamily="2" charset="-122"/>
            </a:endParaRPr>
          </a:p>
          <a:p>
            <a:pPr eaLnBrk="1" hangingPunct="1">
              <a:lnSpc>
                <a:spcPct val="140000"/>
              </a:lnSpc>
            </a:pPr>
            <a:r>
              <a:rPr lang="zh-CN" altLang="en-US" sz="2400" b="1" dirty="0" smtClean="0">
                <a:latin typeface="Times New Roman" pitchFamily="18" charset="0"/>
              </a:rPr>
              <a:t>系统成分：广义线性模型的线性预测值仍然为               。</a:t>
            </a:r>
            <a:endParaRPr lang="en-US" altLang="zh-CN" sz="2400" b="1" dirty="0" smtClean="0">
              <a:latin typeface="Times New Roman" pitchFamily="18" charset="0"/>
            </a:endParaRPr>
          </a:p>
          <a:p>
            <a:pPr eaLnBrk="1" hangingPunct="1">
              <a:lnSpc>
                <a:spcPct val="140000"/>
              </a:lnSpc>
            </a:pPr>
            <a:r>
              <a:rPr lang="zh-CN" altLang="en-US" sz="2400" b="1" dirty="0">
                <a:latin typeface="Times New Roman" pitchFamily="18" charset="0"/>
              </a:rPr>
              <a:t>连接函数：因变量的拟合值</a:t>
            </a:r>
            <a:r>
              <a:rPr lang="zh-CN" altLang="en-US" sz="2400" b="1" dirty="0" smtClean="0">
                <a:latin typeface="Times New Roman" pitchFamily="18" charset="0"/>
              </a:rPr>
              <a:t>经过</a:t>
            </a:r>
            <a:r>
              <a:rPr lang="zh-CN" altLang="en-US" sz="2400" b="1" dirty="0">
                <a:latin typeface="Times New Roman" pitchFamily="18" charset="0"/>
              </a:rPr>
              <a:t>连接</a:t>
            </a:r>
            <a:r>
              <a:rPr lang="zh-CN" altLang="en-US" sz="2400" b="1" dirty="0" smtClean="0">
                <a:latin typeface="Times New Roman" pitchFamily="18" charset="0"/>
              </a:rPr>
              <a:t>函数</a:t>
            </a:r>
            <a:r>
              <a:rPr lang="en-US" altLang="zh-CN" sz="2400" b="1" i="1" dirty="0">
                <a:latin typeface="Times New Roman" pitchFamily="18" charset="0"/>
              </a:rPr>
              <a:t>g</a:t>
            </a:r>
            <a:r>
              <a:rPr lang="zh-CN" altLang="en-US" sz="2400" b="1" dirty="0">
                <a:latin typeface="Times New Roman" pitchFamily="18" charset="0"/>
              </a:rPr>
              <a:t>变换之后等于</a:t>
            </a:r>
            <a:r>
              <a:rPr lang="zh-CN" altLang="en-US" sz="2400" b="1" dirty="0" smtClean="0">
                <a:latin typeface="Times New Roman" pitchFamily="18" charset="0"/>
              </a:rPr>
              <a:t>线性预测，即                    。</a:t>
            </a:r>
            <a:endParaRPr lang="en-US" altLang="zh-CN" sz="2400" b="1" dirty="0" smtClean="0">
              <a:latin typeface="Times New Roman" pitchFamily="18" charset="0"/>
            </a:endParaRPr>
          </a:p>
          <a:p>
            <a:pPr marL="0" indent="0" eaLnBrk="1" hangingPunct="1">
              <a:lnSpc>
                <a:spcPct val="140000"/>
              </a:lnSpc>
              <a:buNone/>
            </a:pPr>
            <a:r>
              <a:rPr lang="en-US" altLang="zh-CN" sz="2400" b="1" dirty="0" smtClean="0">
                <a:latin typeface="华文楷体" panose="02010600040101010101" pitchFamily="2" charset="-122"/>
                <a:ea typeface="华文楷体" panose="02010600040101010101" pitchFamily="2" charset="-122"/>
              </a:rPr>
              <a:t>     </a:t>
            </a:r>
            <a:r>
              <a:rPr lang="en-US" altLang="zh-CN" sz="2400" b="1" i="1" dirty="0" smtClean="0">
                <a:latin typeface="华文楷体" panose="02010600040101010101" pitchFamily="2" charset="-122"/>
                <a:ea typeface="华文楷体" panose="02010600040101010101" pitchFamily="2" charset="-122"/>
              </a:rPr>
              <a:t>g</a:t>
            </a:r>
            <a:r>
              <a:rPr lang="zh-CN" altLang="en-US" sz="2400" b="1" dirty="0" smtClean="0">
                <a:latin typeface="华文楷体" panose="02010600040101010101" pitchFamily="2" charset="-122"/>
                <a:ea typeface="华文楷体" panose="02010600040101010101" pitchFamily="2" charset="-122"/>
              </a:rPr>
              <a:t>单调可导，                   ，</a:t>
            </a:r>
            <a:r>
              <a:rPr lang="en-US" altLang="zh-CN" sz="2400" b="1" i="1" dirty="0" smtClean="0">
                <a:latin typeface="Times New Roman" panose="02020603050405020304" pitchFamily="18" charset="0"/>
                <a:ea typeface="华文楷体" panose="02010600040101010101" pitchFamily="2" charset="-122"/>
                <a:cs typeface="Times New Roman" panose="02020603050405020304" pitchFamily="18" charset="0"/>
              </a:rPr>
              <a:t>h</a:t>
            </a:r>
            <a:r>
              <a:rPr lang="zh-CN" altLang="en-US" sz="2400" b="1" dirty="0" smtClean="0">
                <a:latin typeface="华文楷体" panose="02010600040101010101" pitchFamily="2" charset="-122"/>
                <a:ea typeface="华文楷体" panose="02010600040101010101" pitchFamily="2" charset="-122"/>
              </a:rPr>
              <a:t>表示连接函数 </a:t>
            </a:r>
            <a:r>
              <a:rPr lang="en-US" altLang="zh-CN" sz="2400" b="1" i="1" dirty="0" smtClean="0">
                <a:latin typeface="华文楷体" panose="02010600040101010101" pitchFamily="2" charset="-122"/>
                <a:ea typeface="华文楷体" panose="02010600040101010101" pitchFamily="2" charset="-122"/>
              </a:rPr>
              <a:t>g </a:t>
            </a:r>
            <a:r>
              <a:rPr lang="zh-CN" altLang="en-US" sz="2400" b="1" dirty="0" smtClean="0">
                <a:latin typeface="华文楷体" panose="02010600040101010101" pitchFamily="2" charset="-122"/>
                <a:ea typeface="华文楷体" panose="02010600040101010101" pitchFamily="2" charset="-122"/>
              </a:rPr>
              <a:t>的逆函数。</a:t>
            </a:r>
            <a:endParaRPr lang="en-US" altLang="zh-CN" sz="2400" b="1" dirty="0" smtClean="0">
              <a:latin typeface="华文楷体" panose="02010600040101010101" pitchFamily="2" charset="-122"/>
              <a:ea typeface="华文楷体" panose="02010600040101010101" pitchFamily="2"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496013761"/>
              </p:ext>
            </p:extLst>
          </p:nvPr>
        </p:nvGraphicFramePr>
        <p:xfrm>
          <a:off x="7104856" y="3441199"/>
          <a:ext cx="1030287" cy="434975"/>
        </p:xfrm>
        <a:graphic>
          <a:graphicData uri="http://schemas.openxmlformats.org/presentationml/2006/ole">
            <mc:AlternateContent xmlns:mc="http://schemas.openxmlformats.org/markup-compatibility/2006">
              <mc:Choice xmlns:v="urn:schemas-microsoft-com:vml" Requires="v">
                <p:oleObj spid="_x0000_s295560" name="Equation" r:id="rId4" imgW="571320" imgH="241200" progId="Equation.DSMT4">
                  <p:embed/>
                </p:oleObj>
              </mc:Choice>
              <mc:Fallback>
                <p:oleObj name="Equation" r:id="rId4" imgW="571320" imgH="241200" progId="Equation.DSMT4">
                  <p:embed/>
                  <p:pic>
                    <p:nvPicPr>
                      <p:cNvPr id="0" name=""/>
                      <p:cNvPicPr/>
                      <p:nvPr/>
                    </p:nvPicPr>
                    <p:blipFill>
                      <a:blip r:embed="rId5"/>
                      <a:stretch>
                        <a:fillRect/>
                      </a:stretch>
                    </p:blipFill>
                    <p:spPr>
                      <a:xfrm>
                        <a:off x="7104856" y="3441199"/>
                        <a:ext cx="1030287" cy="434975"/>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583766265"/>
              </p:ext>
            </p:extLst>
          </p:nvPr>
        </p:nvGraphicFramePr>
        <p:xfrm>
          <a:off x="2908300" y="4541838"/>
          <a:ext cx="1363663" cy="417512"/>
        </p:xfrm>
        <a:graphic>
          <a:graphicData uri="http://schemas.openxmlformats.org/presentationml/2006/ole">
            <mc:AlternateContent xmlns:mc="http://schemas.openxmlformats.org/markup-compatibility/2006">
              <mc:Choice xmlns:v="urn:schemas-microsoft-com:vml" Requires="v">
                <p:oleObj spid="_x0000_s295561" name="Equation" r:id="rId6" imgW="787320" imgH="241200" progId="Equation.DSMT4">
                  <p:embed/>
                </p:oleObj>
              </mc:Choice>
              <mc:Fallback>
                <p:oleObj name="Equation" r:id="rId6" imgW="787320" imgH="241200" progId="Equation.DSMT4">
                  <p:embed/>
                  <p:pic>
                    <p:nvPicPr>
                      <p:cNvPr id="0" name=""/>
                      <p:cNvPicPr/>
                      <p:nvPr/>
                    </p:nvPicPr>
                    <p:blipFill>
                      <a:blip r:embed="rId7"/>
                      <a:stretch>
                        <a:fillRect/>
                      </a:stretch>
                    </p:blipFill>
                    <p:spPr>
                      <a:xfrm>
                        <a:off x="2908300" y="4541838"/>
                        <a:ext cx="1363663" cy="41751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340359701"/>
              </p:ext>
            </p:extLst>
          </p:nvPr>
        </p:nvGraphicFramePr>
        <p:xfrm>
          <a:off x="2667000" y="5181600"/>
          <a:ext cx="1395704" cy="434727"/>
        </p:xfrm>
        <a:graphic>
          <a:graphicData uri="http://schemas.openxmlformats.org/presentationml/2006/ole">
            <mc:AlternateContent xmlns:mc="http://schemas.openxmlformats.org/markup-compatibility/2006">
              <mc:Choice xmlns:v="urn:schemas-microsoft-com:vml" Requires="v">
                <p:oleObj spid="_x0000_s295562" name="Equation" r:id="rId8" imgW="774360" imgH="241200" progId="Equation.DSMT4">
                  <p:embed/>
                </p:oleObj>
              </mc:Choice>
              <mc:Fallback>
                <p:oleObj name="Equation" r:id="rId8" imgW="774360" imgH="241200" progId="Equation.DSMT4">
                  <p:embed/>
                  <p:pic>
                    <p:nvPicPr>
                      <p:cNvPr id="0" name=""/>
                      <p:cNvPicPr/>
                      <p:nvPr/>
                    </p:nvPicPr>
                    <p:blipFill>
                      <a:blip r:embed="rId9"/>
                      <a:stretch>
                        <a:fillRect/>
                      </a:stretch>
                    </p:blipFill>
                    <p:spPr>
                      <a:xfrm>
                        <a:off x="2667000" y="5181600"/>
                        <a:ext cx="1395704" cy="434727"/>
                      </a:xfrm>
                      <a:prstGeom prst="rect">
                        <a:avLst/>
                      </a:prstGeom>
                    </p:spPr>
                  </p:pic>
                </p:oleObj>
              </mc:Fallback>
            </mc:AlternateContent>
          </a:graphicData>
        </a:graphic>
      </p:graphicFrame>
    </p:spTree>
    <p:extLst>
      <p:ext uri="{BB962C8B-B14F-4D97-AF65-F5344CB8AC3E}">
        <p14:creationId xmlns:p14="http://schemas.microsoft.com/office/powerpoint/2010/main" val="162359900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60</a:t>
            </a:fld>
            <a:r>
              <a:rPr lang="en-US" altLang="zh-CN"/>
              <a:t> )</a:t>
            </a:r>
          </a:p>
        </p:txBody>
      </p:sp>
      <p:sp>
        <p:nvSpPr>
          <p:cNvPr id="16387" name="Rectangle 2"/>
          <p:cNvSpPr>
            <a:spLocks noGrp="1" noChangeArrowheads="1"/>
          </p:cNvSpPr>
          <p:nvPr>
            <p:ph type="title"/>
          </p:nvPr>
        </p:nvSpPr>
        <p:spPr>
          <a:xfrm>
            <a:off x="533400" y="609600"/>
            <a:ext cx="7543800" cy="685800"/>
          </a:xfrm>
        </p:spPr>
        <p:txBody>
          <a:bodyPr/>
          <a:lstStyle/>
          <a:p>
            <a:pPr eaLnBrk="1" hangingPunct="1"/>
            <a:r>
              <a:rPr lang="zh-CN" altLang="en-US" sz="2800" dirty="0" smtClean="0">
                <a:latin typeface="Times New Roman" pitchFamily="18" charset="0"/>
              </a:rPr>
              <a:t>广义线性模型的一般形式</a:t>
            </a:r>
            <a:endParaRPr lang="en-US" altLang="zh-CN" sz="2800" dirty="0" smtClean="0">
              <a:latin typeface="Times New Roman" pitchFamily="18" charset="0"/>
            </a:endParaRPr>
          </a:p>
        </p:txBody>
      </p:sp>
      <p:sp>
        <p:nvSpPr>
          <p:cNvPr id="44035" name="Rectangle 3"/>
          <p:cNvSpPr>
            <a:spLocks noGrp="1" noChangeArrowheads="1"/>
          </p:cNvSpPr>
          <p:nvPr>
            <p:ph type="body" idx="1"/>
          </p:nvPr>
        </p:nvSpPr>
        <p:spPr>
          <a:xfrm>
            <a:off x="533400" y="1676400"/>
            <a:ext cx="8229600" cy="4343400"/>
          </a:xfrm>
        </p:spPr>
        <p:txBody>
          <a:bodyPr/>
          <a:lstStyle/>
          <a:p>
            <a:pPr eaLnBrk="1" hangingPunct="1">
              <a:lnSpc>
                <a:spcPct val="140000"/>
              </a:lnSpc>
            </a:pPr>
            <a:r>
              <a:rPr lang="zh-CN" altLang="en-US" sz="2400" dirty="0" smtClean="0">
                <a:latin typeface="Times New Roman" pitchFamily="18" charset="0"/>
              </a:rPr>
              <a:t>上述假设可以简记为：</a:t>
            </a:r>
            <a:endParaRPr lang="en-US" altLang="zh-CN" sz="2400" dirty="0" smtClean="0">
              <a:latin typeface="Times New Roman" pitchFamily="18" charset="0"/>
            </a:endParaRPr>
          </a:p>
          <a:p>
            <a:pPr eaLnBrk="1" hangingPunct="1">
              <a:lnSpc>
                <a:spcPct val="140000"/>
              </a:lnSpc>
            </a:pPr>
            <a:endParaRPr lang="en-US" altLang="zh-CN" sz="2400" dirty="0">
              <a:latin typeface="Times New Roman" pitchFamily="18" charset="0"/>
            </a:endParaRPr>
          </a:p>
          <a:p>
            <a:pPr marL="0" indent="0" eaLnBrk="1" hangingPunct="1">
              <a:lnSpc>
                <a:spcPct val="140000"/>
              </a:lnSpc>
              <a:buNone/>
            </a:pPr>
            <a:r>
              <a:rPr lang="en-US" altLang="zh-CN" sz="2400" dirty="0" smtClean="0">
                <a:latin typeface="Times New Roman" pitchFamily="18" charset="0"/>
              </a:rPr>
              <a:t>                                                                                          </a:t>
            </a:r>
          </a:p>
          <a:p>
            <a:pPr marL="0" indent="0" eaLnBrk="1" hangingPunct="1">
              <a:lnSpc>
                <a:spcPct val="140000"/>
              </a:lnSpc>
              <a:buNone/>
            </a:pPr>
            <a:endParaRPr lang="en-US" altLang="zh-CN" sz="2400" dirty="0">
              <a:latin typeface="Times New Roman" pitchFamily="18" charset="0"/>
            </a:endParaRPr>
          </a:p>
          <a:p>
            <a:pPr marL="0" indent="0" eaLnBrk="1" hangingPunct="1">
              <a:lnSpc>
                <a:spcPct val="140000"/>
              </a:lnSpc>
              <a:buNone/>
            </a:pPr>
            <a:endParaRPr lang="en-US" altLang="zh-CN" sz="2400" dirty="0" smtClean="0">
              <a:latin typeface="Times New Roman" pitchFamily="18" charset="0"/>
            </a:endParaRPr>
          </a:p>
          <a:p>
            <a:pPr marL="0" indent="0" eaLnBrk="1" hangingPunct="1">
              <a:lnSpc>
                <a:spcPct val="140000"/>
              </a:lnSpc>
              <a:buNone/>
            </a:pPr>
            <a:r>
              <a:rPr lang="zh-CN" altLang="en-US" sz="2400" dirty="0" smtClean="0">
                <a:latin typeface="Times New Roman" pitchFamily="18" charset="0"/>
              </a:rPr>
              <a:t>与线性回归的主要区别：</a:t>
            </a:r>
            <a:endParaRPr lang="en-US" altLang="zh-CN" sz="2400" dirty="0" smtClean="0">
              <a:latin typeface="Times New Roman" pitchFamily="18" charset="0"/>
            </a:endParaRPr>
          </a:p>
          <a:p>
            <a:pPr marL="0" indent="0" eaLnBrk="1" hangingPunct="1">
              <a:lnSpc>
                <a:spcPct val="140000"/>
              </a:lnSpc>
              <a:buNone/>
            </a:pPr>
            <a:r>
              <a:rPr lang="zh-CN" altLang="en-US" sz="2400" dirty="0" smtClean="0">
                <a:latin typeface="华文楷体" panose="02010600040101010101" pitchFamily="2" charset="-122"/>
                <a:ea typeface="华文楷体" panose="02010600040101010101" pitchFamily="2" charset="-122"/>
              </a:rPr>
              <a:t>把分布假设从正态分布推广到指数分布族，并引入连接函数。</a:t>
            </a:r>
            <a:endParaRPr lang="en-US" altLang="zh-CN" sz="2400" dirty="0" smtClean="0">
              <a:latin typeface="华文楷体" panose="02010600040101010101" pitchFamily="2" charset="-122"/>
              <a:ea typeface="华文楷体" panose="02010600040101010101" pitchFamily="2" charset="-122"/>
            </a:endParaRPr>
          </a:p>
          <a:p>
            <a:pPr marL="0" indent="0" eaLnBrk="1" hangingPunct="1">
              <a:lnSpc>
                <a:spcPct val="140000"/>
              </a:lnSpc>
              <a:buNone/>
            </a:pPr>
            <a:endParaRPr lang="en-US" altLang="zh-CN" sz="2000" dirty="0" smtClean="0">
              <a:latin typeface="Times New Roman"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719079925"/>
              </p:ext>
            </p:extLst>
          </p:nvPr>
        </p:nvGraphicFramePr>
        <p:xfrm>
          <a:off x="1133475" y="2590800"/>
          <a:ext cx="4400550" cy="1657350"/>
        </p:xfrm>
        <a:graphic>
          <a:graphicData uri="http://schemas.openxmlformats.org/presentationml/2006/ole">
            <mc:AlternateContent xmlns:mc="http://schemas.openxmlformats.org/markup-compatibility/2006">
              <mc:Choice xmlns:v="urn:schemas-microsoft-com:vml" Requires="v">
                <p:oleObj spid="_x0000_s296153" name="Equation" r:id="rId3" imgW="1955520" imgH="736560" progId="Equation.DSMT4">
                  <p:embed/>
                </p:oleObj>
              </mc:Choice>
              <mc:Fallback>
                <p:oleObj name="Equation" r:id="rId3" imgW="1955520" imgH="736560" progId="Equation.DSMT4">
                  <p:embed/>
                  <p:pic>
                    <p:nvPicPr>
                      <p:cNvPr id="0" name=""/>
                      <p:cNvPicPr/>
                      <p:nvPr/>
                    </p:nvPicPr>
                    <p:blipFill>
                      <a:blip r:embed="rId4"/>
                      <a:stretch>
                        <a:fillRect/>
                      </a:stretch>
                    </p:blipFill>
                    <p:spPr>
                      <a:xfrm>
                        <a:off x="1133475" y="2590800"/>
                        <a:ext cx="4400550" cy="1657350"/>
                      </a:xfrm>
                      <a:prstGeom prst="rect">
                        <a:avLst/>
                      </a:prstGeom>
                    </p:spPr>
                  </p:pic>
                </p:oleObj>
              </mc:Fallback>
            </mc:AlternateContent>
          </a:graphicData>
        </a:graphic>
      </p:graphicFrame>
    </p:spTree>
    <p:extLst>
      <p:ext uri="{BB962C8B-B14F-4D97-AF65-F5344CB8AC3E}">
        <p14:creationId xmlns:p14="http://schemas.microsoft.com/office/powerpoint/2010/main" val="220702695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61</a:t>
            </a:fld>
            <a:r>
              <a:rPr lang="en-US" altLang="zh-CN"/>
              <a:t> )</a:t>
            </a:r>
          </a:p>
        </p:txBody>
      </p:sp>
      <p:sp>
        <p:nvSpPr>
          <p:cNvPr id="16387" name="Rectangle 2"/>
          <p:cNvSpPr>
            <a:spLocks noGrp="1" noChangeArrowheads="1"/>
          </p:cNvSpPr>
          <p:nvPr>
            <p:ph type="title"/>
          </p:nvPr>
        </p:nvSpPr>
        <p:spPr>
          <a:xfrm>
            <a:off x="533400" y="609600"/>
            <a:ext cx="7543800" cy="685800"/>
          </a:xfrm>
        </p:spPr>
        <p:txBody>
          <a:bodyPr/>
          <a:lstStyle/>
          <a:p>
            <a:pPr eaLnBrk="1" hangingPunct="1"/>
            <a:r>
              <a:rPr lang="zh-CN" altLang="en-US" sz="2800" dirty="0" smtClean="0">
                <a:latin typeface="Times New Roman" pitchFamily="18" charset="0"/>
              </a:rPr>
              <a:t>指数分布族</a:t>
            </a:r>
            <a:endParaRPr lang="en-US" altLang="zh-CN" sz="2800" dirty="0" smtClean="0">
              <a:latin typeface="Times New Roman" pitchFamily="18" charset="0"/>
            </a:endParaRPr>
          </a:p>
        </p:txBody>
      </p:sp>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533400" y="1676400"/>
                <a:ext cx="8382000" cy="4343400"/>
              </a:xfrm>
            </p:spPr>
            <p:txBody>
              <a:bodyPr/>
              <a:lstStyle/>
              <a:p>
                <a:pPr eaLnBrk="1" hangingPunct="1">
                  <a:lnSpc>
                    <a:spcPct val="140000"/>
                  </a:lnSpc>
                </a:pPr>
                <a:r>
                  <a:rPr lang="zh-CN" altLang="en-US" sz="2400" dirty="0" smtClean="0">
                    <a:latin typeface="Times New Roman" pitchFamily="18" charset="0"/>
                  </a:rPr>
                  <a:t>假设随机变量</a:t>
                </a:r>
                <a:r>
                  <a:rPr lang="en-US" altLang="zh-CN" sz="2400" i="1" dirty="0" smtClean="0">
                    <a:latin typeface="Times New Roman" pitchFamily="18" charset="0"/>
                  </a:rPr>
                  <a:t>Y</a:t>
                </a:r>
                <a:r>
                  <a:rPr lang="zh-CN" altLang="en-US" sz="2400" dirty="0" smtClean="0">
                    <a:latin typeface="Times New Roman" pitchFamily="18" charset="0"/>
                  </a:rPr>
                  <a:t>服从指数分布族，则其密度函数表示为：</a:t>
                </a:r>
                <a:endParaRPr lang="en-US" altLang="zh-CN" sz="2400" dirty="0" smtClean="0">
                  <a:latin typeface="Times New Roman" pitchFamily="18" charset="0"/>
                </a:endParaRPr>
              </a:p>
              <a:p>
                <a:pPr eaLnBrk="1" hangingPunct="1">
                  <a:lnSpc>
                    <a:spcPct val="140000"/>
                  </a:lnSpc>
                </a:pPr>
                <a:endParaRPr lang="en-US" altLang="zh-CN" sz="2400" dirty="0" smtClean="0">
                  <a:latin typeface="Times New Roman" pitchFamily="18" charset="0"/>
                </a:endParaRPr>
              </a:p>
              <a:p>
                <a:pPr marL="0" indent="0" eaLnBrk="1" hangingPunct="1">
                  <a:lnSpc>
                    <a:spcPct val="140000"/>
                  </a:lnSpc>
                  <a:buNone/>
                </a:pPr>
                <a:r>
                  <a:rPr lang="en-US" altLang="zh-CN" sz="2400" dirty="0" smtClean="0">
                    <a:latin typeface="Times New Roman" pitchFamily="18" charset="0"/>
                  </a:rPr>
                  <a:t>                                                                                        </a:t>
                </a:r>
              </a:p>
              <a:p>
                <a:pPr marL="0" indent="0" eaLnBrk="1" hangingPunct="1">
                  <a:lnSpc>
                    <a:spcPct val="140000"/>
                  </a:lnSpc>
                  <a:buNone/>
                </a:pPr>
                <a:endParaRPr lang="en-US" altLang="zh-CN" sz="2400" dirty="0" smtClean="0">
                  <a:latin typeface="Times New Roman" pitchFamily="18" charset="0"/>
                </a:endParaRPr>
              </a:p>
              <a:p>
                <a:pPr marL="0" indent="0" eaLnBrk="1" hangingPunct="1">
                  <a:lnSpc>
                    <a:spcPct val="140000"/>
                  </a:lnSpc>
                  <a:buNone/>
                </a:pPr>
                <a:r>
                  <a:rPr lang="zh-CN" altLang="en-US" sz="2400" dirty="0" smtClean="0">
                    <a:latin typeface="Times New Roman" pitchFamily="18" charset="0"/>
                  </a:rPr>
                  <a:t> </a:t>
                </a:r>
                <a14:m>
                  <m:oMath xmlns:m="http://schemas.openxmlformats.org/officeDocument/2006/math">
                    <m:d>
                      <m:dPr>
                        <m:begChr m:val=""/>
                        <m:ctrlPr>
                          <a:rPr lang="zh-CN" altLang="en-US" sz="2400" i="1">
                            <a:latin typeface="Cambria Math" panose="02040503050406030204" pitchFamily="18" charset="0"/>
                          </a:rPr>
                        </m:ctrlPr>
                      </m:dPr>
                      <m:e>
                        <m:r>
                          <a:rPr lang="zh-CN" altLang="en-US" sz="2400" i="1">
                            <a:latin typeface="Cambria Math" panose="02040503050406030204" pitchFamily="18" charset="0"/>
                          </a:rPr>
                          <m:t>𝑏</m:t>
                        </m:r>
                        <m:r>
                          <a:rPr lang="zh-CN" altLang="en-US" sz="2400">
                            <a:latin typeface="Cambria Math" panose="02040503050406030204" pitchFamily="18" charset="0"/>
                          </a:rPr>
                          <m:t>(</m:t>
                        </m:r>
                        <m:r>
                          <a:rPr lang="zh-CN" altLang="en-US" sz="2400" i="1">
                            <a:latin typeface="Cambria Math" panose="02040503050406030204" pitchFamily="18" charset="0"/>
                          </a:rPr>
                          <m:t>𝜃</m:t>
                        </m:r>
                      </m:e>
                    </m:d>
                  </m:oMath>
                </a14:m>
                <a:r>
                  <a:rPr lang="zh-CN" altLang="en-US" sz="2400" dirty="0" smtClean="0">
                    <a:latin typeface="Times New Roman" pitchFamily="18" charset="0"/>
                  </a:rPr>
                  <a:t> 和</a:t>
                </a:r>
                <a14:m>
                  <m:oMath xmlns:m="http://schemas.openxmlformats.org/officeDocument/2006/math">
                    <m:d>
                      <m:dPr>
                        <m:begChr m:val=""/>
                        <m:ctrlPr>
                          <a:rPr lang="zh-CN" altLang="en-US" sz="2400" i="1">
                            <a:latin typeface="Cambria Math" panose="02040503050406030204" pitchFamily="18" charset="0"/>
                          </a:rPr>
                        </m:ctrlPr>
                      </m:dPr>
                      <m:e>
                        <m:r>
                          <a:rPr lang="zh-CN" altLang="en-US" sz="2400" i="1">
                            <a:latin typeface="Cambria Math" panose="02040503050406030204" pitchFamily="18" charset="0"/>
                          </a:rPr>
                          <m:t>𝑐</m:t>
                        </m:r>
                        <m:r>
                          <a:rPr lang="zh-CN" altLang="en-US" sz="2400">
                            <a:latin typeface="Cambria Math" panose="02040503050406030204" pitchFamily="18" charset="0"/>
                          </a:rPr>
                          <m:t>(</m:t>
                        </m:r>
                        <m:r>
                          <a:rPr lang="zh-CN" altLang="en-US" sz="2400" i="1">
                            <a:latin typeface="Cambria Math" panose="02040503050406030204" pitchFamily="18" charset="0"/>
                          </a:rPr>
                          <m:t>𝑦</m:t>
                        </m:r>
                        <m:r>
                          <a:rPr lang="zh-CN" altLang="en-US" sz="2400">
                            <a:latin typeface="Cambria Math" panose="02040503050406030204" pitchFamily="18" charset="0"/>
                          </a:rPr>
                          <m:t>,</m:t>
                        </m:r>
                        <m:r>
                          <a:rPr lang="zh-CN" altLang="en-US" sz="2400" i="1">
                            <a:latin typeface="Cambria Math" panose="02040503050406030204" pitchFamily="18" charset="0"/>
                          </a:rPr>
                          <m:t>𝜙</m:t>
                        </m:r>
                      </m:e>
                    </m:d>
                  </m:oMath>
                </a14:m>
                <a:r>
                  <a:rPr lang="zh-CN" altLang="en-US" sz="2400" dirty="0" smtClean="0">
                    <a:latin typeface="Times New Roman" pitchFamily="18" charset="0"/>
                  </a:rPr>
                  <a:t>是已知函数，</a:t>
                </a:r>
                <a:r>
                  <a:rPr lang="zh-CN" altLang="en-US" sz="2400" dirty="0"/>
                  <a:t> </a:t>
                </a:r>
                <a14:m>
                  <m:oMath xmlns:m="http://schemas.openxmlformats.org/officeDocument/2006/math">
                    <m:d>
                      <m:dPr>
                        <m:begChr m:val=""/>
                        <m:ctrlPr>
                          <a:rPr lang="zh-CN" altLang="en-US" sz="2400" i="1">
                            <a:latin typeface="Cambria Math" panose="02040503050406030204" pitchFamily="18" charset="0"/>
                          </a:rPr>
                        </m:ctrlPr>
                      </m:dPr>
                      <m:e>
                        <m:r>
                          <a:rPr lang="zh-CN" altLang="en-US" sz="2400" i="1">
                            <a:latin typeface="Cambria Math" panose="02040503050406030204" pitchFamily="18" charset="0"/>
                          </a:rPr>
                          <m:t>𝑏</m:t>
                        </m:r>
                        <m:r>
                          <a:rPr lang="zh-CN" altLang="en-US" sz="2400">
                            <a:latin typeface="Cambria Math" panose="02040503050406030204" pitchFamily="18" charset="0"/>
                          </a:rPr>
                          <m:t>(</m:t>
                        </m:r>
                        <m:r>
                          <a:rPr lang="zh-CN" altLang="en-US" sz="2400" i="1">
                            <a:latin typeface="Cambria Math" panose="02040503050406030204" pitchFamily="18" charset="0"/>
                          </a:rPr>
                          <m:t>𝜃</m:t>
                        </m:r>
                      </m:e>
                    </m:d>
                  </m:oMath>
                </a14:m>
                <a:r>
                  <a:rPr lang="zh-CN" altLang="en-US" sz="2400" dirty="0" smtClean="0">
                    <a:latin typeface="Times New Roman" pitchFamily="18" charset="0"/>
                  </a:rPr>
                  <a:t>唯一确定分布的具体形式，</a:t>
                </a:r>
                <a:r>
                  <a:rPr lang="zh-CN" altLang="en-US" sz="2400" dirty="0"/>
                  <a:t> </a:t>
                </a:r>
                <a14:m>
                  <m:oMath xmlns:m="http://schemas.openxmlformats.org/officeDocument/2006/math">
                    <m:d>
                      <m:dPr>
                        <m:begChr m:val=""/>
                        <m:ctrlPr>
                          <a:rPr lang="zh-CN" altLang="en-US" sz="2400" i="1">
                            <a:latin typeface="Cambria Math" panose="02040503050406030204" pitchFamily="18" charset="0"/>
                          </a:rPr>
                        </m:ctrlPr>
                      </m:dPr>
                      <m:e>
                        <m:r>
                          <a:rPr lang="zh-CN" altLang="en-US" sz="2400" i="1">
                            <a:latin typeface="Cambria Math" panose="02040503050406030204" pitchFamily="18" charset="0"/>
                          </a:rPr>
                          <m:t>𝑐</m:t>
                        </m:r>
                        <m:r>
                          <a:rPr lang="zh-CN" altLang="en-US" sz="2400">
                            <a:latin typeface="Cambria Math" panose="02040503050406030204" pitchFamily="18" charset="0"/>
                          </a:rPr>
                          <m:t>(</m:t>
                        </m:r>
                        <m:r>
                          <a:rPr lang="zh-CN" altLang="en-US" sz="2400" i="1">
                            <a:latin typeface="Cambria Math" panose="02040503050406030204" pitchFamily="18" charset="0"/>
                          </a:rPr>
                          <m:t>𝑦</m:t>
                        </m:r>
                        <m:r>
                          <a:rPr lang="zh-CN" altLang="en-US" sz="2400">
                            <a:latin typeface="Cambria Math" panose="02040503050406030204" pitchFamily="18" charset="0"/>
                          </a:rPr>
                          <m:t>,</m:t>
                        </m:r>
                        <m:r>
                          <a:rPr lang="zh-CN" altLang="en-US" sz="2400" i="1">
                            <a:latin typeface="Cambria Math" panose="02040503050406030204" pitchFamily="18" charset="0"/>
                          </a:rPr>
                          <m:t>𝜙</m:t>
                        </m:r>
                      </m:e>
                    </m:d>
                  </m:oMath>
                </a14:m>
                <a:r>
                  <a:rPr lang="zh-CN" altLang="en-US" sz="2400" dirty="0" smtClean="0">
                    <a:latin typeface="Times New Roman" pitchFamily="18" charset="0"/>
                  </a:rPr>
                  <a:t>起标准化作用。</a:t>
                </a:r>
                <a:endParaRPr lang="en-US" altLang="zh-CN" sz="2400" dirty="0" smtClean="0">
                  <a:latin typeface="Times New Roman" pitchFamily="18" charset="0"/>
                </a:endParaRPr>
              </a:p>
              <a:p>
                <a:pPr marL="0" indent="0" eaLnBrk="1" hangingPunct="1">
                  <a:lnSpc>
                    <a:spcPct val="140000"/>
                  </a:lnSpc>
                  <a:buNone/>
                </a:pPr>
                <a:endParaRPr lang="en-US" altLang="zh-CN" sz="2000" dirty="0" smtClean="0">
                  <a:latin typeface="Times New Roman" pitchFamily="18" charset="0"/>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533400" y="1676400"/>
                <a:ext cx="8382000" cy="4343400"/>
              </a:xfrm>
              <a:blipFill rotWithShape="1">
                <a:blip r:embed="rId3"/>
                <a:stretch>
                  <a:fillRect l="-364" r="-364"/>
                </a:stretch>
              </a:blipFill>
            </p:spPr>
            <p:txBody>
              <a:bodyPr/>
              <a:lstStyle/>
              <a:p>
                <a:r>
                  <a:rPr lang="zh-CN" altLang="en-US">
                    <a:noFill/>
                  </a:rPr>
                  <a:t> </a:t>
                </a:r>
              </a:p>
            </p:txBody>
          </p:sp>
        </mc:Fallback>
      </mc:AlternateContent>
      <p:graphicFrame>
        <p:nvGraphicFramePr>
          <p:cNvPr id="2" name="对象 1"/>
          <p:cNvGraphicFramePr>
            <a:graphicFrameLocks noChangeAspect="1"/>
          </p:cNvGraphicFramePr>
          <p:nvPr>
            <p:extLst>
              <p:ext uri="{D42A27DB-BD31-4B8C-83A1-F6EECF244321}">
                <p14:modId xmlns:p14="http://schemas.microsoft.com/office/powerpoint/2010/main" val="2590318004"/>
              </p:ext>
            </p:extLst>
          </p:nvPr>
        </p:nvGraphicFramePr>
        <p:xfrm>
          <a:off x="762000" y="2743200"/>
          <a:ext cx="4597400" cy="914400"/>
        </p:xfrm>
        <a:graphic>
          <a:graphicData uri="http://schemas.openxmlformats.org/presentationml/2006/ole">
            <mc:AlternateContent xmlns:mc="http://schemas.openxmlformats.org/markup-compatibility/2006">
              <mc:Choice xmlns:v="urn:schemas-microsoft-com:vml" Requires="v">
                <p:oleObj spid="_x0000_s297180" name="Equation" r:id="rId4" imgW="2425680" imgH="482400" progId="Equation.DSMT4">
                  <p:embed/>
                </p:oleObj>
              </mc:Choice>
              <mc:Fallback>
                <p:oleObj name="Equation" r:id="rId4" imgW="2425680" imgH="482400" progId="Equation.DSMT4">
                  <p:embed/>
                  <p:pic>
                    <p:nvPicPr>
                      <p:cNvPr id="0" name=""/>
                      <p:cNvPicPr/>
                      <p:nvPr/>
                    </p:nvPicPr>
                    <p:blipFill>
                      <a:blip r:embed="rId5"/>
                      <a:stretch>
                        <a:fillRect/>
                      </a:stretch>
                    </p:blipFill>
                    <p:spPr>
                      <a:xfrm>
                        <a:off x="762000" y="2743200"/>
                        <a:ext cx="4597400" cy="914400"/>
                      </a:xfrm>
                      <a:prstGeom prst="rect">
                        <a:avLst/>
                      </a:prstGeom>
                    </p:spPr>
                  </p:pic>
                </p:oleObj>
              </mc:Fallback>
            </mc:AlternateContent>
          </a:graphicData>
        </a:graphic>
      </p:graphicFrame>
    </p:spTree>
    <p:extLst>
      <p:ext uri="{BB962C8B-B14F-4D97-AF65-F5344CB8AC3E}">
        <p14:creationId xmlns:p14="http://schemas.microsoft.com/office/powerpoint/2010/main" val="345792886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62</a:t>
            </a:fld>
            <a:r>
              <a:rPr lang="en-US" altLang="zh-CN"/>
              <a:t> )</a:t>
            </a:r>
          </a:p>
        </p:txBody>
      </p:sp>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533400" y="1676400"/>
                <a:ext cx="8229600" cy="4343400"/>
              </a:xfrm>
            </p:spPr>
            <p:txBody>
              <a:bodyPr/>
              <a:lstStyle/>
              <a:p>
                <a:pPr eaLnBrk="1" hangingPunct="1">
                  <a:lnSpc>
                    <a:spcPct val="140000"/>
                  </a:lnSpc>
                </a:pPr>
                <a:r>
                  <a:rPr lang="zh-CN" altLang="en-US" sz="2400" dirty="0" smtClean="0">
                    <a:latin typeface="Times New Roman" pitchFamily="18" charset="0"/>
                  </a:rPr>
                  <a:t>指数分布族的密度函数：</a:t>
                </a:r>
                <a:endParaRPr lang="en-US" altLang="zh-CN" sz="2400" dirty="0" smtClean="0">
                  <a:latin typeface="Times New Roman" pitchFamily="18" charset="0"/>
                </a:endParaRPr>
              </a:p>
              <a:p>
                <a:pPr eaLnBrk="1" hangingPunct="1">
                  <a:lnSpc>
                    <a:spcPct val="140000"/>
                  </a:lnSpc>
                </a:pPr>
                <a:endParaRPr lang="en-US" altLang="zh-CN" sz="2400" dirty="0" smtClean="0">
                  <a:latin typeface="Times New Roman" pitchFamily="18" charset="0"/>
                </a:endParaRPr>
              </a:p>
              <a:p>
                <a:pPr marL="0" indent="0" eaLnBrk="1" hangingPunct="1">
                  <a:lnSpc>
                    <a:spcPct val="140000"/>
                  </a:lnSpc>
                  <a:buNone/>
                </a:pPr>
                <a:r>
                  <a:rPr lang="en-US" altLang="zh-CN" sz="2400" dirty="0" smtClean="0">
                    <a:latin typeface="Times New Roman" pitchFamily="18" charset="0"/>
                  </a:rPr>
                  <a:t>                                                                                        </a:t>
                </a:r>
              </a:p>
              <a:p>
                <a:pPr marL="0" indent="0" eaLnBrk="1" hangingPunct="1">
                  <a:lnSpc>
                    <a:spcPct val="140000"/>
                  </a:lnSpc>
                  <a:buNone/>
                </a:pPr>
                <a:r>
                  <a:rPr lang="zh-CN" altLang="en-US" sz="2400" dirty="0" smtClean="0"/>
                  <a:t>    </a:t>
                </a:r>
                <a:endParaRPr lang="en-US" altLang="zh-CN" sz="2400" dirty="0"/>
              </a:p>
              <a:p>
                <a:pPr marL="0" indent="0" eaLnBrk="1" hangingPunct="1">
                  <a:lnSpc>
                    <a:spcPct val="140000"/>
                  </a:lnSpc>
                  <a:buNone/>
                </a:pPr>
                <a:r>
                  <a:rPr lang="en-US" altLang="zh-CN" sz="2400" dirty="0"/>
                  <a:t>    </a:t>
                </a:r>
                <a14:m>
                  <m:oMath xmlns:m="http://schemas.openxmlformats.org/officeDocument/2006/math">
                    <m:r>
                      <a:rPr lang="zh-CN" altLang="en-US" sz="2400" i="1">
                        <a:latin typeface="Cambria Math" panose="02040503050406030204" pitchFamily="18" charset="0"/>
                      </a:rPr>
                      <m:t>𝜃</m:t>
                    </m:r>
                  </m:oMath>
                </a14:m>
                <a:r>
                  <a:rPr lang="zh-CN" altLang="en-US" sz="2400" dirty="0">
                    <a:latin typeface="Cambria Math" panose="02040503050406030204" pitchFamily="18" charset="0"/>
                  </a:rPr>
                  <a:t>为自然参数，与分布的均值</a:t>
                </a:r>
                <a14:m>
                  <m:oMath xmlns:m="http://schemas.openxmlformats.org/officeDocument/2006/math">
                    <m:r>
                      <a:rPr lang="zh-CN" altLang="en-US" sz="2400" i="1">
                        <a:latin typeface="Cambria Math" panose="02040503050406030204" pitchFamily="18" charset="0"/>
                      </a:rPr>
                      <m:t>𝜇</m:t>
                    </m:r>
                  </m:oMath>
                </a14:m>
                <a:r>
                  <a:rPr lang="zh-CN" altLang="en-US" sz="2400" dirty="0">
                    <a:latin typeface="Cambria Math" panose="02040503050406030204" pitchFamily="18" charset="0"/>
                  </a:rPr>
                  <a:t>有关。</a:t>
                </a:r>
                <a:endParaRPr lang="en-US" altLang="zh-CN" sz="2400" dirty="0">
                  <a:latin typeface="Cambria Math" panose="02040503050406030204" pitchFamily="18" charset="0"/>
                </a:endParaRPr>
              </a:p>
              <a:p>
                <a:pPr marL="0" indent="0" eaLnBrk="1" hangingPunct="1">
                  <a:lnSpc>
                    <a:spcPct val="140000"/>
                  </a:lnSpc>
                  <a:buNone/>
                </a:pPr>
                <a:r>
                  <a:rPr lang="zh-CN" altLang="en-US" sz="2400" dirty="0"/>
                  <a:t>    </a:t>
                </a:r>
                <a14:m>
                  <m:oMath xmlns:m="http://schemas.openxmlformats.org/officeDocument/2006/math">
                    <m:r>
                      <a:rPr lang="zh-CN" altLang="en-US" sz="2400" i="1">
                        <a:latin typeface="Cambria Math" panose="02040503050406030204" pitchFamily="18" charset="0"/>
                      </a:rPr>
                      <m:t>𝜙</m:t>
                    </m:r>
                  </m:oMath>
                </a14:m>
                <a:r>
                  <a:rPr lang="zh-CN" altLang="en-US" sz="2400" dirty="0">
                    <a:latin typeface="Cambria Math" panose="02040503050406030204" pitchFamily="18" charset="0"/>
                  </a:rPr>
                  <a:t>为离散参数，与分布的均值无关，仅与方差有关。</a:t>
                </a:r>
                <a:endParaRPr lang="en-US" altLang="zh-CN" sz="2400" dirty="0">
                  <a:latin typeface="Cambria Math" panose="02040503050406030204" pitchFamily="18" charset="0"/>
                </a:endParaRPr>
              </a:p>
              <a:p>
                <a:pPr marL="0" indent="0" eaLnBrk="1" hangingPunct="1">
                  <a:lnSpc>
                    <a:spcPct val="140000"/>
                  </a:lnSpc>
                  <a:buNone/>
                </a:pPr>
                <a:endParaRPr lang="en-US" altLang="zh-CN" sz="2400" dirty="0" smtClean="0">
                  <a:latin typeface="Times New Roman" pitchFamily="18" charset="0"/>
                </a:endParaRPr>
              </a:p>
              <a:p>
                <a:pPr marL="0" indent="0" eaLnBrk="1" hangingPunct="1">
                  <a:lnSpc>
                    <a:spcPct val="140000"/>
                  </a:lnSpc>
                  <a:buNone/>
                </a:pPr>
                <a:endParaRPr lang="en-US" altLang="zh-CN" sz="2000" dirty="0" smtClean="0">
                  <a:latin typeface="Times New Roman" pitchFamily="18" charset="0"/>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533400" y="1676400"/>
                <a:ext cx="8229600" cy="4343400"/>
              </a:xfrm>
              <a:blipFill rotWithShape="1">
                <a:blip r:embed="rId3"/>
                <a:stretch>
                  <a:fillRect l="-370"/>
                </a:stretch>
              </a:blipFill>
            </p:spPr>
            <p:txBody>
              <a:bodyPr/>
              <a:lstStyle/>
              <a:p>
                <a:r>
                  <a:rPr lang="zh-CN" altLang="en-US">
                    <a:noFill/>
                  </a:rPr>
                  <a:t> </a:t>
                </a:r>
              </a:p>
            </p:txBody>
          </p:sp>
        </mc:Fallback>
      </mc:AlternateContent>
      <p:graphicFrame>
        <p:nvGraphicFramePr>
          <p:cNvPr id="2" name="对象 1"/>
          <p:cNvGraphicFramePr>
            <a:graphicFrameLocks noChangeAspect="1"/>
          </p:cNvGraphicFramePr>
          <p:nvPr>
            <p:extLst>
              <p:ext uri="{D42A27DB-BD31-4B8C-83A1-F6EECF244321}">
                <p14:modId xmlns:p14="http://schemas.microsoft.com/office/powerpoint/2010/main" val="2733198177"/>
              </p:ext>
            </p:extLst>
          </p:nvPr>
        </p:nvGraphicFramePr>
        <p:xfrm>
          <a:off x="990600" y="2743200"/>
          <a:ext cx="4595813" cy="914400"/>
        </p:xfrm>
        <a:graphic>
          <a:graphicData uri="http://schemas.openxmlformats.org/presentationml/2006/ole">
            <mc:AlternateContent xmlns:mc="http://schemas.openxmlformats.org/markup-compatibility/2006">
              <mc:Choice xmlns:v="urn:schemas-microsoft-com:vml" Requires="v">
                <p:oleObj spid="_x0000_s298200" name="Equation" r:id="rId4" imgW="2425680" imgH="482400" progId="Equation.DSMT4">
                  <p:embed/>
                </p:oleObj>
              </mc:Choice>
              <mc:Fallback>
                <p:oleObj name="Equation" r:id="rId4" imgW="2425680" imgH="482400" progId="Equation.DSMT4">
                  <p:embed/>
                  <p:pic>
                    <p:nvPicPr>
                      <p:cNvPr id="0" name=""/>
                      <p:cNvPicPr/>
                      <p:nvPr/>
                    </p:nvPicPr>
                    <p:blipFill>
                      <a:blip r:embed="rId5"/>
                      <a:stretch>
                        <a:fillRect/>
                      </a:stretch>
                    </p:blipFill>
                    <p:spPr>
                      <a:xfrm>
                        <a:off x="990600" y="2743200"/>
                        <a:ext cx="4595813" cy="914400"/>
                      </a:xfrm>
                      <a:prstGeom prst="rect">
                        <a:avLst/>
                      </a:prstGeom>
                    </p:spPr>
                  </p:pic>
                </p:oleObj>
              </mc:Fallback>
            </mc:AlternateContent>
          </a:graphicData>
        </a:graphic>
      </p:graphicFrame>
    </p:spTree>
    <p:extLst>
      <p:ext uri="{BB962C8B-B14F-4D97-AF65-F5344CB8AC3E}">
        <p14:creationId xmlns:p14="http://schemas.microsoft.com/office/powerpoint/2010/main" val="427894899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63</a:t>
            </a:fld>
            <a:r>
              <a:rPr lang="en-US" altLang="zh-CN"/>
              <a:t> )</a:t>
            </a:r>
          </a:p>
        </p:txBody>
      </p:sp>
      <p:sp>
        <p:nvSpPr>
          <p:cNvPr id="44035" name="Rectangle 3"/>
          <p:cNvSpPr>
            <a:spLocks noGrp="1" noChangeArrowheads="1"/>
          </p:cNvSpPr>
          <p:nvPr>
            <p:ph type="body" idx="1"/>
          </p:nvPr>
        </p:nvSpPr>
        <p:spPr>
          <a:xfrm>
            <a:off x="609600" y="1447800"/>
            <a:ext cx="8229600" cy="4343400"/>
          </a:xfrm>
        </p:spPr>
        <p:txBody>
          <a:bodyPr/>
          <a:lstStyle/>
          <a:p>
            <a:pPr eaLnBrk="1" hangingPunct="1">
              <a:lnSpc>
                <a:spcPct val="140000"/>
              </a:lnSpc>
            </a:pPr>
            <a:r>
              <a:rPr lang="zh-CN" altLang="en-US" sz="2400" b="1" dirty="0" smtClean="0">
                <a:latin typeface="黑体" panose="02010609060101010101" pitchFamily="49" charset="-122"/>
                <a:ea typeface="黑体" panose="02010609060101010101" pitchFamily="49" charset="-122"/>
              </a:rPr>
              <a:t>指数分布族中的常用分布：</a:t>
            </a:r>
            <a:endParaRPr lang="en-US" altLang="zh-CN" sz="2400" b="1" dirty="0" smtClean="0">
              <a:latin typeface="黑体" panose="02010609060101010101" pitchFamily="49" charset="-122"/>
              <a:ea typeface="黑体" panose="02010609060101010101" pitchFamily="49" charset="-122"/>
            </a:endParaRPr>
          </a:p>
          <a:p>
            <a:pPr lvl="1" indent="-342900" eaLnBrk="1" hangingPunct="1">
              <a:lnSpc>
                <a:spcPct val="140000"/>
              </a:lnSpc>
            </a:pPr>
            <a:r>
              <a:rPr lang="zh-CN" altLang="en-US" sz="2400" b="1" dirty="0" smtClean="0">
                <a:latin typeface="黑体" panose="02010609060101010101" pitchFamily="49" charset="-122"/>
                <a:ea typeface="黑体" panose="02010609060101010101" pitchFamily="49" charset="-122"/>
              </a:rPr>
              <a:t>正态分布</a:t>
            </a:r>
            <a:endParaRPr lang="en-US" altLang="zh-CN" sz="2400" b="1" dirty="0" smtClean="0">
              <a:latin typeface="黑体" panose="02010609060101010101" pitchFamily="49" charset="-122"/>
              <a:ea typeface="黑体" panose="02010609060101010101" pitchFamily="49" charset="-122"/>
            </a:endParaRPr>
          </a:p>
          <a:p>
            <a:pPr lvl="1" indent="-342900" eaLnBrk="1" hangingPunct="1">
              <a:lnSpc>
                <a:spcPct val="140000"/>
              </a:lnSpc>
            </a:pPr>
            <a:r>
              <a:rPr lang="zh-CN" altLang="en-US" sz="2400" b="1" dirty="0" smtClean="0">
                <a:latin typeface="黑体" panose="02010609060101010101" pitchFamily="49" charset="-122"/>
                <a:ea typeface="黑体" panose="02010609060101010101" pitchFamily="49" charset="-122"/>
              </a:rPr>
              <a:t>泊松分布</a:t>
            </a:r>
            <a:endParaRPr lang="en-US" altLang="zh-CN" sz="2400" b="1" dirty="0" smtClean="0">
              <a:latin typeface="黑体" panose="02010609060101010101" pitchFamily="49" charset="-122"/>
              <a:ea typeface="黑体" panose="02010609060101010101" pitchFamily="49" charset="-122"/>
            </a:endParaRPr>
          </a:p>
          <a:p>
            <a:pPr lvl="1" indent="-342900" eaLnBrk="1" hangingPunct="1">
              <a:lnSpc>
                <a:spcPct val="140000"/>
              </a:lnSpc>
            </a:pPr>
            <a:r>
              <a:rPr lang="zh-CN" altLang="en-US" sz="2400" b="1" dirty="0" smtClean="0">
                <a:latin typeface="黑体" panose="02010609060101010101" pitchFamily="49" charset="-122"/>
                <a:ea typeface="黑体" panose="02010609060101010101" pitchFamily="49" charset="-122"/>
              </a:rPr>
              <a:t>二项分布</a:t>
            </a:r>
            <a:endParaRPr lang="en-US" altLang="zh-CN" sz="2400" b="1" dirty="0" smtClean="0">
              <a:latin typeface="黑体" panose="02010609060101010101" pitchFamily="49" charset="-122"/>
              <a:ea typeface="黑体" panose="02010609060101010101" pitchFamily="49" charset="-122"/>
            </a:endParaRPr>
          </a:p>
          <a:p>
            <a:pPr lvl="1" indent="-342900" eaLnBrk="1" hangingPunct="1">
              <a:lnSpc>
                <a:spcPct val="140000"/>
              </a:lnSpc>
            </a:pPr>
            <a:r>
              <a:rPr lang="zh-CN" altLang="en-US" sz="2400" b="1" dirty="0" smtClean="0">
                <a:latin typeface="黑体" panose="02010609060101010101" pitchFamily="49" charset="-122"/>
                <a:ea typeface="黑体" panose="02010609060101010101" pitchFamily="49" charset="-122"/>
              </a:rPr>
              <a:t>伽马分布</a:t>
            </a:r>
            <a:endParaRPr lang="en-US" altLang="zh-CN" sz="2400" b="1" dirty="0" smtClean="0">
              <a:latin typeface="黑体" panose="02010609060101010101" pitchFamily="49" charset="-122"/>
              <a:ea typeface="黑体" panose="02010609060101010101" pitchFamily="49" charset="-122"/>
            </a:endParaRPr>
          </a:p>
          <a:p>
            <a:pPr lvl="1" indent="-342900" eaLnBrk="1" hangingPunct="1">
              <a:lnSpc>
                <a:spcPct val="140000"/>
              </a:lnSpc>
            </a:pPr>
            <a:r>
              <a:rPr lang="zh-CN" altLang="en-US" sz="2400" b="1" dirty="0" smtClean="0">
                <a:latin typeface="黑体" panose="02010609060101010101" pitchFamily="49" charset="-122"/>
                <a:ea typeface="黑体" panose="02010609060101010101" pitchFamily="49" charset="-122"/>
              </a:rPr>
              <a:t>逆高斯分布</a:t>
            </a:r>
            <a:endParaRPr lang="en-US" altLang="zh-CN" sz="2400" b="1" dirty="0" smtClean="0">
              <a:latin typeface="黑体" panose="02010609060101010101" pitchFamily="49" charset="-122"/>
              <a:ea typeface="黑体" panose="02010609060101010101" pitchFamily="49" charset="-122"/>
            </a:endParaRPr>
          </a:p>
          <a:p>
            <a:pPr lvl="1" indent="-342900" eaLnBrk="1" hangingPunct="1">
              <a:lnSpc>
                <a:spcPct val="140000"/>
              </a:lnSpc>
            </a:pPr>
            <a:r>
              <a:rPr lang="en-US" altLang="zh-CN" sz="2400" b="1" dirty="0" smtClean="0">
                <a:latin typeface="黑体" panose="02010609060101010101" pitchFamily="49" charset="-122"/>
                <a:ea typeface="黑体" panose="02010609060101010101" pitchFamily="49" charset="-122"/>
              </a:rPr>
              <a:t>Tweedie</a:t>
            </a:r>
            <a:r>
              <a:rPr lang="zh-CN" altLang="en-US" sz="2400" b="1" dirty="0" smtClean="0">
                <a:latin typeface="黑体" panose="02010609060101010101" pitchFamily="49" charset="-122"/>
                <a:ea typeface="黑体" panose="02010609060101010101" pitchFamily="49" charset="-122"/>
              </a:rPr>
              <a:t>分布</a:t>
            </a:r>
            <a:endParaRPr lang="en-US" altLang="zh-CN"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72566251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64</a:t>
            </a:fld>
            <a:r>
              <a:rPr lang="en-US" altLang="zh-CN"/>
              <a:t> )</a:t>
            </a:r>
          </a:p>
        </p:txBody>
      </p:sp>
      <p:sp>
        <p:nvSpPr>
          <p:cNvPr id="44035" name="Rectangle 3"/>
          <p:cNvSpPr>
            <a:spLocks noGrp="1" noChangeArrowheads="1"/>
          </p:cNvSpPr>
          <p:nvPr>
            <p:ph type="body" idx="1"/>
          </p:nvPr>
        </p:nvSpPr>
        <p:spPr>
          <a:xfrm>
            <a:off x="381000" y="513556"/>
            <a:ext cx="8763000" cy="5181600"/>
          </a:xfrm>
        </p:spPr>
        <p:txBody>
          <a:bodyPr/>
          <a:lstStyle/>
          <a:p>
            <a:pPr eaLnBrk="1" hangingPunct="1">
              <a:lnSpc>
                <a:spcPct val="140000"/>
              </a:lnSpc>
            </a:pPr>
            <a:r>
              <a:rPr lang="zh-CN" altLang="en-US" sz="2400" b="1" dirty="0" smtClean="0">
                <a:latin typeface="+mn-ea"/>
              </a:rPr>
              <a:t>例</a:t>
            </a:r>
            <a:r>
              <a:rPr lang="zh-CN" altLang="en-US" sz="2400" dirty="0" smtClean="0">
                <a:latin typeface="+mn-ea"/>
              </a:rPr>
              <a:t>：证明泊松分布属于指数分布族。</a:t>
            </a:r>
            <a:endParaRPr lang="en-US" altLang="zh-CN" sz="2400" dirty="0" smtClean="0">
              <a:latin typeface="+mn-ea"/>
            </a:endParaRPr>
          </a:p>
          <a:p>
            <a:pPr marL="0" indent="0" eaLnBrk="1" hangingPunct="1">
              <a:lnSpc>
                <a:spcPct val="140000"/>
              </a:lnSpc>
              <a:buNone/>
            </a:pPr>
            <a:r>
              <a:rPr lang="zh-CN" altLang="en-US" sz="2400" dirty="0" smtClean="0">
                <a:latin typeface="+mn-ea"/>
              </a:rPr>
              <a:t>证明：                 </a:t>
            </a: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r>
              <a:rPr lang="zh-CN" altLang="en-US" sz="2400" dirty="0" smtClean="0">
                <a:latin typeface="+mn-ea"/>
              </a:rPr>
              <a:t>泊松分布可以表示为指数分布族的形式，其中</a:t>
            </a: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r>
              <a:rPr lang="en-US" altLang="zh-CN" sz="2400" dirty="0" smtClean="0">
                <a:latin typeface="+mn-ea"/>
              </a:rPr>
              <a:t>                            </a:t>
            </a: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000" dirty="0" smtClean="0">
              <a:latin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556588842"/>
              </p:ext>
            </p:extLst>
          </p:nvPr>
        </p:nvGraphicFramePr>
        <p:xfrm>
          <a:off x="1357313" y="1371600"/>
          <a:ext cx="4219575" cy="2398712"/>
        </p:xfrm>
        <a:graphic>
          <a:graphicData uri="http://schemas.openxmlformats.org/presentationml/2006/ole">
            <mc:AlternateContent xmlns:mc="http://schemas.openxmlformats.org/markup-compatibility/2006">
              <mc:Choice xmlns:v="urn:schemas-microsoft-com:vml" Requires="v">
                <p:oleObj spid="_x0000_s300688" name="Equation" r:id="rId3" imgW="1854000" imgH="1180800" progId="Equation.DSMT4">
                  <p:embed/>
                </p:oleObj>
              </mc:Choice>
              <mc:Fallback>
                <p:oleObj name="Equation" r:id="rId3" imgW="1854000" imgH="1180800" progId="Equation.DSMT4">
                  <p:embed/>
                  <p:pic>
                    <p:nvPicPr>
                      <p:cNvPr id="0" name=""/>
                      <p:cNvPicPr/>
                      <p:nvPr/>
                    </p:nvPicPr>
                    <p:blipFill>
                      <a:blip r:embed="rId4"/>
                      <a:stretch>
                        <a:fillRect/>
                      </a:stretch>
                    </p:blipFill>
                    <p:spPr>
                      <a:xfrm>
                        <a:off x="1357313" y="1371600"/>
                        <a:ext cx="4219575" cy="239871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35106887"/>
              </p:ext>
            </p:extLst>
          </p:nvPr>
        </p:nvGraphicFramePr>
        <p:xfrm>
          <a:off x="6524625" y="2885281"/>
          <a:ext cx="1095375" cy="438150"/>
        </p:xfrm>
        <a:graphic>
          <a:graphicData uri="http://schemas.openxmlformats.org/presentationml/2006/ole">
            <mc:AlternateContent xmlns:mc="http://schemas.openxmlformats.org/markup-compatibility/2006">
              <mc:Choice xmlns:v="urn:schemas-microsoft-com:vml" Requires="v">
                <p:oleObj spid="_x0000_s300689" name="Equation" r:id="rId5" imgW="571320" imgH="228600" progId="Equation.DSMT4">
                  <p:embed/>
                </p:oleObj>
              </mc:Choice>
              <mc:Fallback>
                <p:oleObj name="Equation" r:id="rId5" imgW="571320" imgH="228600" progId="Equation.DSMT4">
                  <p:embed/>
                  <p:pic>
                    <p:nvPicPr>
                      <p:cNvPr id="0" name=""/>
                      <p:cNvPicPr/>
                      <p:nvPr/>
                    </p:nvPicPr>
                    <p:blipFill>
                      <a:blip r:embed="rId6"/>
                      <a:stretch>
                        <a:fillRect/>
                      </a:stretch>
                    </p:blipFill>
                    <p:spPr>
                      <a:xfrm>
                        <a:off x="6524625" y="2885281"/>
                        <a:ext cx="1095375" cy="43815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42679173"/>
              </p:ext>
            </p:extLst>
          </p:nvPr>
        </p:nvGraphicFramePr>
        <p:xfrm>
          <a:off x="1392147" y="4979409"/>
          <a:ext cx="2449513" cy="1114425"/>
        </p:xfrm>
        <a:graphic>
          <a:graphicData uri="http://schemas.openxmlformats.org/presentationml/2006/ole">
            <mc:AlternateContent xmlns:mc="http://schemas.openxmlformats.org/markup-compatibility/2006">
              <mc:Choice xmlns:v="urn:schemas-microsoft-com:vml" Requires="v">
                <p:oleObj spid="_x0000_s300690" name="Equation" r:id="rId7" imgW="1117440" imgH="507960" progId="Equation.DSMT4">
                  <p:embed/>
                </p:oleObj>
              </mc:Choice>
              <mc:Fallback>
                <p:oleObj name="Equation" r:id="rId7" imgW="1117440" imgH="507960" progId="Equation.DSMT4">
                  <p:embed/>
                  <p:pic>
                    <p:nvPicPr>
                      <p:cNvPr id="0" name=""/>
                      <p:cNvPicPr/>
                      <p:nvPr/>
                    </p:nvPicPr>
                    <p:blipFill>
                      <a:blip r:embed="rId8"/>
                      <a:stretch>
                        <a:fillRect/>
                      </a:stretch>
                    </p:blipFill>
                    <p:spPr>
                      <a:xfrm>
                        <a:off x="1392147" y="4979409"/>
                        <a:ext cx="2449513" cy="1114425"/>
                      </a:xfrm>
                      <a:prstGeom prst="rect">
                        <a:avLst/>
                      </a:prstGeom>
                    </p:spPr>
                  </p:pic>
                </p:oleObj>
              </mc:Fallback>
            </mc:AlternateContent>
          </a:graphicData>
        </a:graphic>
      </p:graphicFrame>
    </p:spTree>
    <p:extLst>
      <p:ext uri="{BB962C8B-B14F-4D97-AF65-F5344CB8AC3E}">
        <p14:creationId xmlns:p14="http://schemas.microsoft.com/office/powerpoint/2010/main" val="20080707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65</a:t>
            </a:fld>
            <a:r>
              <a:rPr lang="en-US" altLang="zh-CN"/>
              <a:t> )</a:t>
            </a:r>
          </a:p>
        </p:txBody>
      </p:sp>
      <p:sp>
        <p:nvSpPr>
          <p:cNvPr id="44035" name="Rectangle 3"/>
          <p:cNvSpPr>
            <a:spLocks noGrp="1" noChangeArrowheads="1"/>
          </p:cNvSpPr>
          <p:nvPr>
            <p:ph type="body" idx="1"/>
          </p:nvPr>
        </p:nvSpPr>
        <p:spPr>
          <a:xfrm>
            <a:off x="449179" y="946939"/>
            <a:ext cx="8229600" cy="5181600"/>
          </a:xfrm>
        </p:spPr>
        <p:txBody>
          <a:bodyPr/>
          <a:lstStyle/>
          <a:p>
            <a:pPr eaLnBrk="1" hangingPunct="1">
              <a:lnSpc>
                <a:spcPct val="140000"/>
              </a:lnSpc>
            </a:pPr>
            <a:r>
              <a:rPr lang="zh-CN" altLang="en-US" sz="2400" b="1" dirty="0" smtClean="0">
                <a:latin typeface="+mn-ea"/>
              </a:rPr>
              <a:t>例</a:t>
            </a:r>
            <a:r>
              <a:rPr lang="zh-CN" altLang="en-US" sz="2400" dirty="0" smtClean="0">
                <a:latin typeface="+mn-ea"/>
              </a:rPr>
              <a:t>：证明</a:t>
            </a:r>
            <a:r>
              <a:rPr lang="zh-CN" altLang="en-US" sz="2400" dirty="0">
                <a:latin typeface="+mn-ea"/>
              </a:rPr>
              <a:t>正态</a:t>
            </a:r>
            <a:r>
              <a:rPr lang="zh-CN" altLang="en-US" sz="2400" dirty="0" smtClean="0">
                <a:latin typeface="+mn-ea"/>
              </a:rPr>
              <a:t>分布属于指数分布族。</a:t>
            </a:r>
            <a:endParaRPr lang="en-US" altLang="zh-CN" sz="2400" dirty="0" smtClean="0">
              <a:latin typeface="+mn-ea"/>
            </a:endParaRPr>
          </a:p>
          <a:p>
            <a:pPr marL="0" indent="0" eaLnBrk="1" hangingPunct="1">
              <a:lnSpc>
                <a:spcPct val="140000"/>
              </a:lnSpc>
              <a:buNone/>
            </a:pPr>
            <a:r>
              <a:rPr lang="zh-CN" altLang="en-US" sz="2400" dirty="0" smtClean="0">
                <a:latin typeface="+mn-ea"/>
              </a:rPr>
              <a:t>证明：</a:t>
            </a: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1200" dirty="0">
              <a:latin typeface="+mn-ea"/>
            </a:endParaRPr>
          </a:p>
          <a:p>
            <a:pPr marL="0" indent="0" eaLnBrk="1" hangingPunct="1">
              <a:lnSpc>
                <a:spcPct val="140000"/>
              </a:lnSpc>
              <a:buNone/>
            </a:pPr>
            <a:r>
              <a:rPr lang="zh-CN" altLang="en-US" sz="2400" dirty="0" smtClean="0">
                <a:latin typeface="+mn-ea"/>
              </a:rPr>
              <a:t>正态分布可以表示为指数分布族的形式，其中</a:t>
            </a: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r>
              <a:rPr lang="en-US" altLang="zh-CN" sz="2400" dirty="0" smtClean="0">
                <a:latin typeface="+mn-ea"/>
              </a:rPr>
              <a:t>                            </a:t>
            </a: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000" dirty="0" smtClean="0">
              <a:latin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772971617"/>
              </p:ext>
            </p:extLst>
          </p:nvPr>
        </p:nvGraphicFramePr>
        <p:xfrm>
          <a:off x="1447800" y="1371600"/>
          <a:ext cx="4967287" cy="3928489"/>
        </p:xfrm>
        <a:graphic>
          <a:graphicData uri="http://schemas.openxmlformats.org/presentationml/2006/ole">
            <mc:AlternateContent xmlns:mc="http://schemas.openxmlformats.org/markup-compatibility/2006">
              <mc:Choice xmlns:v="urn:schemas-microsoft-com:vml" Requires="v">
                <p:oleObj spid="_x0000_s301706" name="Equation" r:id="rId3" imgW="2463480" imgH="2184120" progId="Equation.DSMT4">
                  <p:embed/>
                </p:oleObj>
              </mc:Choice>
              <mc:Fallback>
                <p:oleObj name="Equation" r:id="rId3" imgW="2463480" imgH="2184120" progId="Equation.DSMT4">
                  <p:embed/>
                  <p:pic>
                    <p:nvPicPr>
                      <p:cNvPr id="0" name=""/>
                      <p:cNvPicPr/>
                      <p:nvPr/>
                    </p:nvPicPr>
                    <p:blipFill>
                      <a:blip r:embed="rId4"/>
                      <a:stretch>
                        <a:fillRect/>
                      </a:stretch>
                    </p:blipFill>
                    <p:spPr>
                      <a:xfrm>
                        <a:off x="1447800" y="1371600"/>
                        <a:ext cx="4967287" cy="3928489"/>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05061974"/>
              </p:ext>
            </p:extLst>
          </p:nvPr>
        </p:nvGraphicFramePr>
        <p:xfrm>
          <a:off x="7162800" y="3657600"/>
          <a:ext cx="1898754" cy="438174"/>
        </p:xfrm>
        <a:graphic>
          <a:graphicData uri="http://schemas.openxmlformats.org/presentationml/2006/ole">
            <mc:AlternateContent xmlns:mc="http://schemas.openxmlformats.org/markup-compatibility/2006">
              <mc:Choice xmlns:v="urn:schemas-microsoft-com:vml" Requires="v">
                <p:oleObj spid="_x0000_s301707" name="Equation" r:id="rId5" imgW="990360" imgH="228600" progId="Equation.DSMT4">
                  <p:embed/>
                </p:oleObj>
              </mc:Choice>
              <mc:Fallback>
                <p:oleObj name="Equation" r:id="rId5" imgW="990360" imgH="228600" progId="Equation.DSMT4">
                  <p:embed/>
                  <p:pic>
                    <p:nvPicPr>
                      <p:cNvPr id="0" name=""/>
                      <p:cNvPicPr/>
                      <p:nvPr/>
                    </p:nvPicPr>
                    <p:blipFill>
                      <a:blip r:embed="rId6"/>
                      <a:stretch>
                        <a:fillRect/>
                      </a:stretch>
                    </p:blipFill>
                    <p:spPr>
                      <a:xfrm>
                        <a:off x="7162800" y="3657600"/>
                        <a:ext cx="1898754" cy="438174"/>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041138905"/>
              </p:ext>
            </p:extLst>
          </p:nvPr>
        </p:nvGraphicFramePr>
        <p:xfrm>
          <a:off x="2362200" y="5867400"/>
          <a:ext cx="4591050" cy="754323"/>
        </p:xfrm>
        <a:graphic>
          <a:graphicData uri="http://schemas.openxmlformats.org/presentationml/2006/ole">
            <mc:AlternateContent xmlns:mc="http://schemas.openxmlformats.org/markup-compatibility/2006">
              <mc:Choice xmlns:v="urn:schemas-microsoft-com:vml" Requires="v">
                <p:oleObj spid="_x0000_s301708" name="Equation" r:id="rId7" imgW="2705040" imgH="444240" progId="Equation.DSMT4">
                  <p:embed/>
                </p:oleObj>
              </mc:Choice>
              <mc:Fallback>
                <p:oleObj name="Equation" r:id="rId7" imgW="2705040" imgH="444240" progId="Equation.DSMT4">
                  <p:embed/>
                  <p:pic>
                    <p:nvPicPr>
                      <p:cNvPr id="0" name=""/>
                      <p:cNvPicPr/>
                      <p:nvPr/>
                    </p:nvPicPr>
                    <p:blipFill>
                      <a:blip r:embed="rId8"/>
                      <a:stretch>
                        <a:fillRect/>
                      </a:stretch>
                    </p:blipFill>
                    <p:spPr>
                      <a:xfrm>
                        <a:off x="2362200" y="5867400"/>
                        <a:ext cx="4591050" cy="754323"/>
                      </a:xfrm>
                      <a:prstGeom prst="rect">
                        <a:avLst/>
                      </a:prstGeom>
                    </p:spPr>
                  </p:pic>
                </p:oleObj>
              </mc:Fallback>
            </mc:AlternateContent>
          </a:graphicData>
        </a:graphic>
      </p:graphicFrame>
    </p:spTree>
    <p:extLst>
      <p:ext uri="{BB962C8B-B14F-4D97-AF65-F5344CB8AC3E}">
        <p14:creationId xmlns:p14="http://schemas.microsoft.com/office/powerpoint/2010/main" val="28436730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66</a:t>
            </a:fld>
            <a:r>
              <a:rPr lang="en-US" altLang="zh-CN"/>
              <a:t> )</a:t>
            </a:r>
          </a:p>
        </p:txBody>
      </p:sp>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457200" y="1417638"/>
                <a:ext cx="8229600" cy="4343400"/>
              </a:xfrm>
            </p:spPr>
            <p:txBody>
              <a:bodyPr/>
              <a:lstStyle/>
              <a:p>
                <a:pPr eaLnBrk="1" hangingPunct="1">
                  <a:lnSpc>
                    <a:spcPct val="150000"/>
                  </a:lnSpc>
                  <a:spcBef>
                    <a:spcPts val="0"/>
                  </a:spcBef>
                </a:pPr>
                <a:r>
                  <a:rPr lang="zh-CN" altLang="en-US" sz="2400" dirty="0" smtClean="0">
                    <a:latin typeface="+mn-ea"/>
                  </a:rPr>
                  <a:t>二项分布的概率为：</a:t>
                </a:r>
                <a:endParaRPr lang="en-US" altLang="zh-CN" sz="2400" dirty="0" smtClean="0">
                  <a:latin typeface="+mn-ea"/>
                </a:endParaRPr>
              </a:p>
              <a:p>
                <a:pPr marL="0" indent="0" eaLnBrk="1" hangingPunct="1">
                  <a:lnSpc>
                    <a:spcPct val="150000"/>
                  </a:lnSpc>
                  <a:spcBef>
                    <a:spcPts val="0"/>
                  </a:spcBef>
                  <a:buNone/>
                </a:pPr>
                <a:endParaRPr lang="en-US" altLang="zh-CN" sz="2400" dirty="0" smtClean="0">
                  <a:latin typeface="+mn-ea"/>
                </a:endParaRPr>
              </a:p>
              <a:p>
                <a:pPr marL="0" indent="0" eaLnBrk="1" hangingPunct="1">
                  <a:lnSpc>
                    <a:spcPct val="150000"/>
                  </a:lnSpc>
                  <a:spcBef>
                    <a:spcPts val="0"/>
                  </a:spcBef>
                  <a:buNone/>
                </a:pPr>
                <a:r>
                  <a:rPr lang="zh-CN" altLang="en-US" sz="2400" dirty="0" smtClean="0">
                    <a:latin typeface="+mn-ea"/>
                  </a:rPr>
                  <a:t>可表示为指数分布族的形式：</a:t>
                </a:r>
                <a:endParaRPr lang="en-US" altLang="zh-CN" sz="2400" dirty="0" smtClean="0">
                  <a:latin typeface="+mn-ea"/>
                </a:endParaRPr>
              </a:p>
              <a:p>
                <a:pPr marL="0" indent="0" eaLnBrk="1" hangingPunct="1">
                  <a:lnSpc>
                    <a:spcPct val="150000"/>
                  </a:lnSpc>
                  <a:spcBef>
                    <a:spcPts val="0"/>
                  </a:spcBef>
                  <a:buNone/>
                </a:pPr>
                <a:endParaRPr lang="en-US" altLang="zh-CN" sz="2400" dirty="0">
                  <a:latin typeface="+mn-ea"/>
                </a:endParaRPr>
              </a:p>
              <a:p>
                <a:pPr marL="0" indent="0" eaLnBrk="1" hangingPunct="1">
                  <a:lnSpc>
                    <a:spcPct val="150000"/>
                  </a:lnSpc>
                  <a:spcBef>
                    <a:spcPts val="0"/>
                  </a:spcBef>
                  <a:buNone/>
                </a:pPr>
                <a:endParaRPr lang="en-US" altLang="zh-CN" sz="2400" dirty="0" smtClean="0">
                  <a:latin typeface="+mn-ea"/>
                </a:endParaRPr>
              </a:p>
              <a:p>
                <a:pPr marL="0" indent="0" eaLnBrk="1" hangingPunct="1">
                  <a:lnSpc>
                    <a:spcPct val="150000"/>
                  </a:lnSpc>
                  <a:spcBef>
                    <a:spcPts val="0"/>
                  </a:spcBef>
                  <a:buNone/>
                </a:pPr>
                <a:r>
                  <a:rPr lang="zh-CN" altLang="en-US" sz="2400" dirty="0" smtClean="0">
                    <a:latin typeface="+mn-ea"/>
                  </a:rPr>
                  <a:t>式中，</a:t>
                </a:r>
                <a:endParaRPr lang="en-US" altLang="zh-CN" sz="2400" dirty="0" smtClean="0">
                  <a:latin typeface="+mn-ea"/>
                </a:endParaRPr>
              </a:p>
              <a:p>
                <a:pPr marL="0" indent="0" eaLnBrk="1" hangingPunct="1">
                  <a:lnSpc>
                    <a:spcPct val="150000"/>
                  </a:lnSpc>
                  <a:spcBef>
                    <a:spcPts val="0"/>
                  </a:spcBef>
                  <a:buNone/>
                </a:pPr>
                <a:endParaRPr lang="en-US" altLang="zh-CN" sz="2400" dirty="0" smtClean="0">
                  <a:latin typeface="+mn-ea"/>
                </a:endParaRPr>
              </a:p>
              <a:p>
                <a:pPr marL="0" indent="0" eaLnBrk="1" hangingPunct="1">
                  <a:lnSpc>
                    <a:spcPct val="150000"/>
                  </a:lnSpc>
                  <a:spcBef>
                    <a:spcPts val="0"/>
                  </a:spcBef>
                  <a:buNone/>
                </a:pPr>
                <a:endParaRPr lang="en-US" altLang="zh-CN" sz="2400" dirty="0" smtClean="0">
                  <a:latin typeface="+mn-ea"/>
                </a:endParaRPr>
              </a:p>
              <a:p>
                <a:pPr marL="0" indent="0" eaLnBrk="1" hangingPunct="1">
                  <a:lnSpc>
                    <a:spcPct val="150000"/>
                  </a:lnSpc>
                  <a:spcBef>
                    <a:spcPts val="0"/>
                  </a:spcBef>
                  <a:buNone/>
                </a:pPr>
                <a:r>
                  <a:rPr lang="zh-CN" altLang="en-US" sz="2400" dirty="0" smtClean="0">
                    <a:latin typeface="+mn-ea"/>
                  </a:rPr>
                  <a:t>二项分布的均值为</a:t>
                </a:r>
                <a14:m>
                  <m:oMath xmlns:m="http://schemas.openxmlformats.org/officeDocument/2006/math">
                    <m:r>
                      <a:rPr lang="en-US" altLang="zh-CN" sz="2400" b="0" i="1" smtClean="0">
                        <a:latin typeface="Cambria Math" panose="02040503050406030204" pitchFamily="18" charset="0"/>
                      </a:rPr>
                      <m:t>𝑘</m:t>
                    </m:r>
                    <m:r>
                      <a:rPr lang="zh-CN" altLang="en-US" sz="2400" b="0" i="1" smtClean="0">
                        <a:latin typeface="Cambria Math" panose="02040503050406030204" pitchFamily="18" charset="0"/>
                      </a:rPr>
                      <m:t>𝜋</m:t>
                    </m:r>
                  </m:oMath>
                </a14:m>
                <a:r>
                  <a:rPr lang="zh-CN" altLang="en-US" sz="2400" dirty="0" smtClean="0">
                    <a:latin typeface="+mn-ea"/>
                  </a:rPr>
                  <a:t>，方差为</a:t>
                </a:r>
                <a14:m>
                  <m:oMath xmlns:m="http://schemas.openxmlformats.org/officeDocument/2006/math">
                    <m:r>
                      <a:rPr lang="en-US" altLang="zh-CN" sz="2400" i="1">
                        <a:latin typeface="Cambria Math" panose="02040503050406030204" pitchFamily="18" charset="0"/>
                      </a:rPr>
                      <m:t>𝑘</m:t>
                    </m:r>
                    <m:r>
                      <a:rPr lang="zh-CN" altLang="en-US" sz="2400" i="1">
                        <a:latin typeface="Cambria Math" panose="02040503050406030204" pitchFamily="18" charset="0"/>
                      </a:rPr>
                      <m:t>𝜋</m:t>
                    </m:r>
                    <m:d>
                      <m:dPr>
                        <m:ctrlPr>
                          <a:rPr lang="en-US" altLang="zh-CN" sz="2400" b="0" i="1" smtClean="0">
                            <a:latin typeface="Cambria Math" panose="02040503050406030204" pitchFamily="18" charset="0"/>
                          </a:rPr>
                        </m:ctrlPr>
                      </m:dPr>
                      <m:e>
                        <m:r>
                          <a:rPr lang="en-US" altLang="zh-CN" sz="2400" b="0" i="0" smtClean="0">
                            <a:latin typeface="Cambria Math" panose="02040503050406030204" pitchFamily="18" charset="0"/>
                          </a:rPr>
                          <m:t>1−</m:t>
                        </m:r>
                        <m:r>
                          <m:rPr>
                            <m:sty m:val="p"/>
                          </m:rPr>
                          <a:rPr lang="el-GR" altLang="zh-CN" sz="2400" b="0" i="1" smtClean="0">
                            <a:latin typeface="Cambria Math" panose="02040503050406030204" pitchFamily="18" charset="0"/>
                            <a:ea typeface="Cambria Math" panose="02040503050406030204" pitchFamily="18" charset="0"/>
                          </a:rPr>
                          <m:t>π</m:t>
                        </m:r>
                      </m:e>
                    </m:d>
                    <m:r>
                      <a:rPr lang="zh-CN" altLang="en-US" sz="2400" b="0" i="1" smtClean="0">
                        <a:latin typeface="Cambria Math" panose="02040503050406030204" pitchFamily="18" charset="0"/>
                      </a:rPr>
                      <m:t>。</m:t>
                    </m:r>
                  </m:oMath>
                </a14:m>
                <a:endParaRPr lang="en-US" altLang="zh-CN" sz="2400" dirty="0" smtClean="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457200" y="1417638"/>
                <a:ext cx="8229600" cy="4343400"/>
              </a:xfrm>
              <a:blipFill rotWithShape="1">
                <a:blip r:embed="rId3"/>
                <a:stretch>
                  <a:fillRect l="-1111" b="-17135"/>
                </a:stretch>
              </a:blipFill>
            </p:spPr>
            <p:txBody>
              <a:bodyPr/>
              <a:lstStyle/>
              <a:p>
                <a:r>
                  <a:rPr lang="zh-CN" altLang="en-US">
                    <a:noFill/>
                  </a:rPr>
                  <a:t> </a:t>
                </a:r>
              </a:p>
            </p:txBody>
          </p:sp>
        </mc:Fallback>
      </mc:AlternateContent>
      <p:graphicFrame>
        <p:nvGraphicFramePr>
          <p:cNvPr id="2" name="对象 1"/>
          <p:cNvGraphicFramePr>
            <a:graphicFrameLocks noChangeAspect="1"/>
          </p:cNvGraphicFramePr>
          <p:nvPr>
            <p:extLst>
              <p:ext uri="{D42A27DB-BD31-4B8C-83A1-F6EECF244321}">
                <p14:modId xmlns:p14="http://schemas.microsoft.com/office/powerpoint/2010/main" val="1826635664"/>
              </p:ext>
            </p:extLst>
          </p:nvPr>
        </p:nvGraphicFramePr>
        <p:xfrm>
          <a:off x="4114800" y="1371600"/>
          <a:ext cx="3146425" cy="792162"/>
        </p:xfrm>
        <a:graphic>
          <a:graphicData uri="http://schemas.openxmlformats.org/presentationml/2006/ole">
            <mc:AlternateContent xmlns:mc="http://schemas.openxmlformats.org/markup-compatibility/2006">
              <mc:Choice xmlns:v="urn:schemas-microsoft-com:vml" Requires="v">
                <p:oleObj spid="_x0000_s302723" name="Equation" r:id="rId4" imgW="1815840" imgH="457200" progId="Equation.DSMT4">
                  <p:embed/>
                </p:oleObj>
              </mc:Choice>
              <mc:Fallback>
                <p:oleObj name="Equation" r:id="rId4" imgW="1815840" imgH="457200" progId="Equation.DSMT4">
                  <p:embed/>
                  <p:pic>
                    <p:nvPicPr>
                      <p:cNvPr id="0" name=""/>
                      <p:cNvPicPr/>
                      <p:nvPr/>
                    </p:nvPicPr>
                    <p:blipFill>
                      <a:blip r:embed="rId5"/>
                      <a:stretch>
                        <a:fillRect/>
                      </a:stretch>
                    </p:blipFill>
                    <p:spPr>
                      <a:xfrm>
                        <a:off x="4114800" y="1371600"/>
                        <a:ext cx="3146425" cy="79216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612170184"/>
              </p:ext>
            </p:extLst>
          </p:nvPr>
        </p:nvGraphicFramePr>
        <p:xfrm>
          <a:off x="1447800" y="3276600"/>
          <a:ext cx="5513387" cy="838200"/>
        </p:xfrm>
        <a:graphic>
          <a:graphicData uri="http://schemas.openxmlformats.org/presentationml/2006/ole">
            <mc:AlternateContent xmlns:mc="http://schemas.openxmlformats.org/markup-compatibility/2006">
              <mc:Choice xmlns:v="urn:schemas-microsoft-com:vml" Requires="v">
                <p:oleObj spid="_x0000_s302724" name="Equation" r:id="rId6" imgW="3174840" imgH="482400" progId="Equation.DSMT4">
                  <p:embed/>
                </p:oleObj>
              </mc:Choice>
              <mc:Fallback>
                <p:oleObj name="Equation" r:id="rId6" imgW="3174840" imgH="482400" progId="Equation.DSMT4">
                  <p:embed/>
                  <p:pic>
                    <p:nvPicPr>
                      <p:cNvPr id="0" name=""/>
                      <p:cNvPicPr/>
                      <p:nvPr/>
                    </p:nvPicPr>
                    <p:blipFill>
                      <a:blip r:embed="rId7"/>
                      <a:stretch>
                        <a:fillRect/>
                      </a:stretch>
                    </p:blipFill>
                    <p:spPr>
                      <a:xfrm>
                        <a:off x="1447800" y="3276600"/>
                        <a:ext cx="5513387" cy="83820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07658791"/>
              </p:ext>
            </p:extLst>
          </p:nvPr>
        </p:nvGraphicFramePr>
        <p:xfrm>
          <a:off x="1465263" y="4495800"/>
          <a:ext cx="5849937" cy="814388"/>
        </p:xfrm>
        <a:graphic>
          <a:graphicData uri="http://schemas.openxmlformats.org/presentationml/2006/ole">
            <mc:AlternateContent xmlns:mc="http://schemas.openxmlformats.org/markup-compatibility/2006">
              <mc:Choice xmlns:v="urn:schemas-microsoft-com:vml" Requires="v">
                <p:oleObj spid="_x0000_s302725" name="Equation" r:id="rId8" imgW="3098520" imgH="431640" progId="Equation.DSMT4">
                  <p:embed/>
                </p:oleObj>
              </mc:Choice>
              <mc:Fallback>
                <p:oleObj name="Equation" r:id="rId8" imgW="3098520" imgH="431640" progId="Equation.DSMT4">
                  <p:embed/>
                  <p:pic>
                    <p:nvPicPr>
                      <p:cNvPr id="0" name=""/>
                      <p:cNvPicPr/>
                      <p:nvPr/>
                    </p:nvPicPr>
                    <p:blipFill>
                      <a:blip r:embed="rId9"/>
                      <a:stretch>
                        <a:fillRect/>
                      </a:stretch>
                    </p:blipFill>
                    <p:spPr>
                      <a:xfrm>
                        <a:off x="1465263" y="4495800"/>
                        <a:ext cx="5849937" cy="814388"/>
                      </a:xfrm>
                      <a:prstGeom prst="rect">
                        <a:avLst/>
                      </a:prstGeom>
                    </p:spPr>
                  </p:pic>
                </p:oleObj>
              </mc:Fallback>
            </mc:AlternateContent>
          </a:graphicData>
        </a:graphic>
      </p:graphicFrame>
    </p:spTree>
    <p:extLst>
      <p:ext uri="{BB962C8B-B14F-4D97-AF65-F5344CB8AC3E}">
        <p14:creationId xmlns:p14="http://schemas.microsoft.com/office/powerpoint/2010/main" val="370982342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67</a:t>
            </a:fld>
            <a:r>
              <a:rPr lang="en-US" altLang="zh-CN"/>
              <a:t> )</a:t>
            </a:r>
          </a:p>
        </p:txBody>
      </p:sp>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533400" y="1303421"/>
                <a:ext cx="8229600" cy="4343400"/>
              </a:xfrm>
            </p:spPr>
            <p:txBody>
              <a:bodyPr/>
              <a:lstStyle/>
              <a:p>
                <a:pPr eaLnBrk="1" hangingPunct="1">
                  <a:lnSpc>
                    <a:spcPct val="140000"/>
                  </a:lnSpc>
                </a:pPr>
                <a:r>
                  <a:rPr lang="zh-CN" altLang="en-US" sz="2400" dirty="0" smtClean="0">
                    <a:latin typeface="+mn-ea"/>
                  </a:rPr>
                  <a:t>伽马分布可表示为指数分布族的形式：</a:t>
                </a: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b="0" dirty="0" smtClean="0"/>
              </a:p>
              <a:p>
                <a:pPr marL="0" indent="0" eaLnBrk="1" hangingPunct="1">
                  <a:lnSpc>
                    <a:spcPct val="140000"/>
                  </a:lnSpc>
                  <a:buNone/>
                </a:pPr>
                <a:endParaRPr lang="en-US" altLang="zh-CN" sz="2400" dirty="0"/>
              </a:p>
              <a:p>
                <a:pPr marL="0" indent="0" eaLnBrk="1" hangingPunct="1">
                  <a:lnSpc>
                    <a:spcPct val="140000"/>
                  </a:lnSpc>
                  <a:buNone/>
                </a:pPr>
                <a:r>
                  <a:rPr lang="zh-CN" altLang="en-US" sz="2400" b="0" dirty="0" smtClean="0"/>
                  <a:t>        式中</a:t>
                </a:r>
                <a14:m>
                  <m:oMath xmlns:m="http://schemas.openxmlformats.org/officeDocument/2006/math">
                    <m:r>
                      <a:rPr lang="zh-CN" altLang="en-US" sz="2400" b="0" i="1" smtClean="0">
                        <a:latin typeface="Cambria Math" panose="02040503050406030204" pitchFamily="18" charset="0"/>
                      </a:rPr>
                      <m:t>，</m:t>
                    </m:r>
                  </m:oMath>
                </a14:m>
                <a:r>
                  <a:rPr lang="en-US" altLang="zh-CN" sz="2400" dirty="0" smtClean="0">
                    <a:latin typeface="+mn-ea"/>
                  </a:rPr>
                  <a:t>                    </a:t>
                </a:r>
              </a:p>
              <a:p>
                <a:pPr marL="0" indent="0" eaLnBrk="1" hangingPunct="1">
                  <a:lnSpc>
                    <a:spcPct val="140000"/>
                  </a:lnSpc>
                  <a:buNone/>
                </a:pPr>
                <a:endParaRPr lang="en-US" altLang="zh-CN" sz="2400" dirty="0">
                  <a:latin typeface="+mn-ea"/>
                </a:endParaRPr>
              </a:p>
              <a:p>
                <a:pPr marL="0" indent="0" eaLnBrk="1" hangingPunct="1">
                  <a:lnSpc>
                    <a:spcPct val="140000"/>
                  </a:lnSpc>
                  <a:buNone/>
                </a:pPr>
                <a:r>
                  <a:rPr lang="zh-CN" altLang="en-US" sz="2400" dirty="0" smtClean="0">
                    <a:latin typeface="+mn-ea"/>
                  </a:rPr>
                  <a:t>    均值为</a:t>
                </a:r>
                <a14:m>
                  <m:oMath xmlns:m="http://schemas.openxmlformats.org/officeDocument/2006/math">
                    <m:r>
                      <a:rPr lang="zh-CN" altLang="en-US" sz="2400" i="1" smtClean="0">
                        <a:latin typeface="Cambria Math" panose="02040503050406030204" pitchFamily="18" charset="0"/>
                      </a:rPr>
                      <m:t>𝜇</m:t>
                    </m:r>
                  </m:oMath>
                </a14:m>
                <a:r>
                  <a:rPr lang="zh-CN" altLang="en-US" sz="2400" dirty="0" smtClean="0">
                    <a:latin typeface="+mn-ea"/>
                  </a:rPr>
                  <a:t>，方差为</a:t>
                </a:r>
                <a14:m>
                  <m:oMath xmlns:m="http://schemas.openxmlformats.org/officeDocument/2006/math">
                    <m:r>
                      <a:rPr lang="zh-CN" altLang="en-US" sz="2400" i="1" smtClean="0">
                        <a:latin typeface="Cambria Math" panose="02040503050406030204" pitchFamily="18" charset="0"/>
                      </a:rPr>
                      <m:t>𝜙</m:t>
                    </m:r>
                    <m:sSup>
                      <m:sSupPr>
                        <m:ctrlPr>
                          <a:rPr lang="en-US" altLang="zh-CN" sz="2400" i="1" smtClean="0">
                            <a:latin typeface="Cambria Math" panose="02040503050406030204" pitchFamily="18" charset="0"/>
                          </a:rPr>
                        </m:ctrlPr>
                      </m:sSupPr>
                      <m:e>
                        <m:r>
                          <a:rPr lang="zh-CN" altLang="en-US" sz="2400" i="1" smtClean="0">
                            <a:latin typeface="Cambria Math" panose="02040503050406030204" pitchFamily="18" charset="0"/>
                          </a:rPr>
                          <m:t>𝜇</m:t>
                        </m:r>
                      </m:e>
                      <m:sup>
                        <m:r>
                          <a:rPr lang="en-US" altLang="zh-CN" sz="2400" b="0" i="1" smtClean="0">
                            <a:latin typeface="Cambria Math" panose="02040503050406030204" pitchFamily="18" charset="0"/>
                          </a:rPr>
                          <m:t>2</m:t>
                        </m:r>
                      </m:sup>
                    </m:sSup>
                  </m:oMath>
                </a14:m>
                <a:endParaRPr lang="en-US" altLang="zh-CN" sz="2400" dirty="0" smtClean="0">
                  <a:latin typeface="+mn-ea"/>
                </a:endParaRPr>
              </a:p>
              <a:p>
                <a:pPr eaLnBrk="1" hangingPunct="1">
                  <a:lnSpc>
                    <a:spcPct val="140000"/>
                  </a:lnSpc>
                </a:pPr>
                <a:endParaRPr lang="en-US" altLang="zh-CN" sz="2400" dirty="0" smtClean="0">
                  <a:latin typeface="+mn-ea"/>
                </a:endParaRPr>
              </a:p>
              <a:p>
                <a:pPr eaLnBrk="1" hangingPunct="1">
                  <a:lnSpc>
                    <a:spcPct val="140000"/>
                  </a:lnSpc>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533400" y="1303421"/>
                <a:ext cx="8229600" cy="4343400"/>
              </a:xfrm>
              <a:blipFill rotWithShape="1">
                <a:blip r:embed="rId3"/>
                <a:stretch>
                  <a:fillRect l="-370" b="-9691"/>
                </a:stretch>
              </a:blipFill>
            </p:spPr>
            <p:txBody>
              <a:bodyPr/>
              <a:lstStyle/>
              <a:p>
                <a:r>
                  <a:rPr lang="zh-CN" altLang="en-US">
                    <a:noFill/>
                  </a:rPr>
                  <a:t> </a:t>
                </a:r>
              </a:p>
            </p:txBody>
          </p:sp>
        </mc:Fallback>
      </mc:AlternateContent>
      <p:graphicFrame>
        <p:nvGraphicFramePr>
          <p:cNvPr id="6" name="对象 5"/>
          <p:cNvGraphicFramePr>
            <a:graphicFrameLocks noChangeAspect="1"/>
          </p:cNvGraphicFramePr>
          <p:nvPr>
            <p:extLst>
              <p:ext uri="{D42A27DB-BD31-4B8C-83A1-F6EECF244321}">
                <p14:modId xmlns:p14="http://schemas.microsoft.com/office/powerpoint/2010/main" val="2952605053"/>
              </p:ext>
            </p:extLst>
          </p:nvPr>
        </p:nvGraphicFramePr>
        <p:xfrm>
          <a:off x="1152525" y="2667000"/>
          <a:ext cx="6505575" cy="838200"/>
        </p:xfrm>
        <a:graphic>
          <a:graphicData uri="http://schemas.openxmlformats.org/presentationml/2006/ole">
            <mc:AlternateContent xmlns:mc="http://schemas.openxmlformats.org/markup-compatibility/2006">
              <mc:Choice xmlns:v="urn:schemas-microsoft-com:vml" Requires="v">
                <p:oleObj spid="_x0000_s303925" name="Equation" r:id="rId4" imgW="3746160" imgH="482400" progId="Equation.DSMT4">
                  <p:embed/>
                </p:oleObj>
              </mc:Choice>
              <mc:Fallback>
                <p:oleObj name="Equation" r:id="rId4" imgW="3746160" imgH="482400" progId="Equation.DSMT4">
                  <p:embed/>
                  <p:pic>
                    <p:nvPicPr>
                      <p:cNvPr id="0" name=""/>
                      <p:cNvPicPr/>
                      <p:nvPr/>
                    </p:nvPicPr>
                    <p:blipFill>
                      <a:blip r:embed="rId5"/>
                      <a:stretch>
                        <a:fillRect/>
                      </a:stretch>
                    </p:blipFill>
                    <p:spPr>
                      <a:xfrm>
                        <a:off x="1152525" y="2667000"/>
                        <a:ext cx="6505575" cy="83820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112983032"/>
              </p:ext>
            </p:extLst>
          </p:nvPr>
        </p:nvGraphicFramePr>
        <p:xfrm>
          <a:off x="2182812" y="4343400"/>
          <a:ext cx="2922588" cy="479425"/>
        </p:xfrm>
        <a:graphic>
          <a:graphicData uri="http://schemas.openxmlformats.org/presentationml/2006/ole">
            <mc:AlternateContent xmlns:mc="http://schemas.openxmlformats.org/markup-compatibility/2006">
              <mc:Choice xmlns:v="urn:schemas-microsoft-com:vml" Requires="v">
                <p:oleObj spid="_x0000_s303926" name="Equation" r:id="rId6" imgW="1549080" imgH="253800" progId="Equation.DSMT4">
                  <p:embed/>
                </p:oleObj>
              </mc:Choice>
              <mc:Fallback>
                <p:oleObj name="Equation" r:id="rId6" imgW="1549080" imgH="253800" progId="Equation.DSMT4">
                  <p:embed/>
                  <p:pic>
                    <p:nvPicPr>
                      <p:cNvPr id="0" name=""/>
                      <p:cNvPicPr/>
                      <p:nvPr/>
                    </p:nvPicPr>
                    <p:blipFill>
                      <a:blip r:embed="rId7"/>
                      <a:stretch>
                        <a:fillRect/>
                      </a:stretch>
                    </p:blipFill>
                    <p:spPr>
                      <a:xfrm>
                        <a:off x="2182812" y="4343400"/>
                        <a:ext cx="2922588" cy="479425"/>
                      </a:xfrm>
                      <a:prstGeom prst="rect">
                        <a:avLst/>
                      </a:prstGeom>
                    </p:spPr>
                  </p:pic>
                </p:oleObj>
              </mc:Fallback>
            </mc:AlternateContent>
          </a:graphicData>
        </a:graphic>
      </p:graphicFrame>
    </p:spTree>
    <p:extLst>
      <p:ext uri="{BB962C8B-B14F-4D97-AF65-F5344CB8AC3E}">
        <p14:creationId xmlns:p14="http://schemas.microsoft.com/office/powerpoint/2010/main" val="159542458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53200" y="6308678"/>
            <a:ext cx="2133600" cy="457200"/>
          </a:xfrm>
        </p:spPr>
        <p:txBody>
          <a:bodyPr/>
          <a:lstStyle/>
          <a:p>
            <a:pPr>
              <a:defRPr/>
            </a:pPr>
            <a:r>
              <a:rPr lang="en-US" altLang="zh-CN"/>
              <a:t>( </a:t>
            </a:r>
            <a:fld id="{FB5D8D59-65B3-4384-896F-EE249C929C52}" type="slidenum">
              <a:rPr lang="en-US" altLang="zh-CN"/>
              <a:pPr>
                <a:defRPr/>
              </a:pPr>
              <a:t>68</a:t>
            </a:fld>
            <a:r>
              <a:rPr lang="en-US" altLang="zh-CN"/>
              <a:t> )</a:t>
            </a:r>
          </a:p>
        </p:txBody>
      </p:sp>
      <p:sp>
        <p:nvSpPr>
          <p:cNvPr id="44035" name="Rectangle 3"/>
          <p:cNvSpPr>
            <a:spLocks noGrp="1" noChangeArrowheads="1"/>
          </p:cNvSpPr>
          <p:nvPr>
            <p:ph type="body" idx="1"/>
          </p:nvPr>
        </p:nvSpPr>
        <p:spPr>
          <a:xfrm>
            <a:off x="533400" y="1303421"/>
            <a:ext cx="8229600" cy="4343400"/>
          </a:xfrm>
        </p:spPr>
        <p:txBody>
          <a:bodyPr/>
          <a:lstStyle/>
          <a:p>
            <a:pPr eaLnBrk="1" hangingPunct="1">
              <a:lnSpc>
                <a:spcPct val="140000"/>
              </a:lnSpc>
            </a:pPr>
            <a:r>
              <a:rPr lang="zh-CN" altLang="en-US" sz="2400" dirty="0" smtClean="0">
                <a:latin typeface="+mn-ea"/>
              </a:rPr>
              <a:t>逆高斯分布可表示为指数分布族的形式：</a:t>
            </a:r>
            <a:endParaRPr lang="en-US" altLang="zh-CN" sz="2400" dirty="0" smtClean="0">
              <a:latin typeface="+mn-ea"/>
            </a:endParaRPr>
          </a:p>
          <a:p>
            <a:pPr eaLnBrk="1" hangingPunct="1">
              <a:lnSpc>
                <a:spcPct val="140000"/>
              </a:lnSpc>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a:latin typeface="+mn-ea"/>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957999415"/>
              </p:ext>
            </p:extLst>
          </p:nvPr>
        </p:nvGraphicFramePr>
        <p:xfrm>
          <a:off x="1055688" y="2514600"/>
          <a:ext cx="7077075" cy="969963"/>
        </p:xfrm>
        <a:graphic>
          <a:graphicData uri="http://schemas.openxmlformats.org/presentationml/2006/ole">
            <mc:AlternateContent xmlns:mc="http://schemas.openxmlformats.org/markup-compatibility/2006">
              <mc:Choice xmlns:v="urn:schemas-microsoft-com:vml" Requires="v">
                <p:oleObj spid="_x0000_s391404" name="Equation" r:id="rId3" imgW="4076640" imgH="558720" progId="Equation.DSMT4">
                  <p:embed/>
                </p:oleObj>
              </mc:Choice>
              <mc:Fallback>
                <p:oleObj name="Equation" r:id="rId3" imgW="4076640" imgH="558720" progId="Equation.DSMT4">
                  <p:embed/>
                  <p:pic>
                    <p:nvPicPr>
                      <p:cNvPr id="0" name=""/>
                      <p:cNvPicPr/>
                      <p:nvPr/>
                    </p:nvPicPr>
                    <p:blipFill>
                      <a:blip r:embed="rId4"/>
                      <a:stretch>
                        <a:fillRect/>
                      </a:stretch>
                    </p:blipFill>
                    <p:spPr>
                      <a:xfrm>
                        <a:off x="1055688" y="2514600"/>
                        <a:ext cx="7077075" cy="96996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03211466"/>
              </p:ext>
            </p:extLst>
          </p:nvPr>
        </p:nvGraphicFramePr>
        <p:xfrm>
          <a:off x="1066800" y="3886200"/>
          <a:ext cx="5105400" cy="792163"/>
        </p:xfrm>
        <a:graphic>
          <a:graphicData uri="http://schemas.openxmlformats.org/presentationml/2006/ole">
            <mc:AlternateContent xmlns:mc="http://schemas.openxmlformats.org/markup-compatibility/2006">
              <mc:Choice xmlns:v="urn:schemas-microsoft-com:vml" Requires="v">
                <p:oleObj spid="_x0000_s391405" name="Equation" r:id="rId5" imgW="2705040" imgH="419040" progId="Equation.DSMT4">
                  <p:embed/>
                </p:oleObj>
              </mc:Choice>
              <mc:Fallback>
                <p:oleObj name="Equation" r:id="rId5" imgW="2705040" imgH="419040" progId="Equation.DSMT4">
                  <p:embed/>
                  <p:pic>
                    <p:nvPicPr>
                      <p:cNvPr id="0" name=""/>
                      <p:cNvPicPr/>
                      <p:nvPr/>
                    </p:nvPicPr>
                    <p:blipFill>
                      <a:blip r:embed="rId6"/>
                      <a:stretch>
                        <a:fillRect/>
                      </a:stretch>
                    </p:blipFill>
                    <p:spPr>
                      <a:xfrm>
                        <a:off x="1066800" y="3886200"/>
                        <a:ext cx="5105400" cy="79216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144795445"/>
              </p:ext>
            </p:extLst>
          </p:nvPr>
        </p:nvGraphicFramePr>
        <p:xfrm>
          <a:off x="1219200" y="5334000"/>
          <a:ext cx="2947988" cy="431800"/>
        </p:xfrm>
        <a:graphic>
          <a:graphicData uri="http://schemas.openxmlformats.org/presentationml/2006/ole">
            <mc:AlternateContent xmlns:mc="http://schemas.openxmlformats.org/markup-compatibility/2006">
              <mc:Choice xmlns:v="urn:schemas-microsoft-com:vml" Requires="v">
                <p:oleObj spid="_x0000_s391406" name="Equation" r:id="rId7" imgW="1562040" imgH="228600" progId="Equation.DSMT4">
                  <p:embed/>
                </p:oleObj>
              </mc:Choice>
              <mc:Fallback>
                <p:oleObj name="Equation" r:id="rId7" imgW="1562040" imgH="228600" progId="Equation.DSMT4">
                  <p:embed/>
                  <p:pic>
                    <p:nvPicPr>
                      <p:cNvPr id="0" name=""/>
                      <p:cNvPicPr/>
                      <p:nvPr/>
                    </p:nvPicPr>
                    <p:blipFill>
                      <a:blip r:embed="rId8"/>
                      <a:stretch>
                        <a:fillRect/>
                      </a:stretch>
                    </p:blipFill>
                    <p:spPr>
                      <a:xfrm>
                        <a:off x="1219200" y="5334000"/>
                        <a:ext cx="2947988" cy="431800"/>
                      </a:xfrm>
                      <a:prstGeom prst="rect">
                        <a:avLst/>
                      </a:prstGeom>
                    </p:spPr>
                  </p:pic>
                </p:oleObj>
              </mc:Fallback>
            </mc:AlternateContent>
          </a:graphicData>
        </a:graphic>
      </p:graphicFrame>
    </p:spTree>
    <p:extLst>
      <p:ext uri="{BB962C8B-B14F-4D97-AF65-F5344CB8AC3E}">
        <p14:creationId xmlns:p14="http://schemas.microsoft.com/office/powerpoint/2010/main" val="171101380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381000" y="1143000"/>
                <a:ext cx="7543800" cy="4343400"/>
              </a:xfrm>
            </p:spPr>
            <p:txBody>
              <a:bodyPr/>
              <a:lstStyle/>
              <a:p>
                <a:pPr eaLnBrk="1" hangingPunct="1">
                  <a:lnSpc>
                    <a:spcPct val="200000"/>
                  </a:lnSpc>
                  <a:spcBef>
                    <a:spcPts val="0"/>
                  </a:spcBef>
                </a:pPr>
                <a:r>
                  <a:rPr lang="zh-CN" altLang="en-US" sz="2400" b="1" dirty="0" smtClean="0">
                    <a:latin typeface="Times New Roman" panose="02020603050405020304" pitchFamily="18" charset="0"/>
                    <a:cs typeface="Times New Roman" panose="02020603050405020304" pitchFamily="18" charset="0"/>
                  </a:rPr>
                  <a:t>定理</a:t>
                </a:r>
                <a:r>
                  <a:rPr lang="zh-CN" altLang="en-US" sz="2400" dirty="0" smtClean="0">
                    <a:latin typeface="Times New Roman" panose="02020603050405020304" pitchFamily="18" charset="0"/>
                    <a:cs typeface="Times New Roman" panose="02020603050405020304" pitchFamily="18" charset="0"/>
                  </a:rPr>
                  <a:t>：假设随机变量 </a:t>
                </a:r>
                <a:r>
                  <a:rPr lang="en-US" altLang="zh-CN" sz="2400" i="1" dirty="0" smtClean="0">
                    <a:latin typeface="Times New Roman" panose="02020603050405020304" pitchFamily="18" charset="0"/>
                    <a:cs typeface="Times New Roman" panose="02020603050405020304" pitchFamily="18" charset="0"/>
                  </a:rPr>
                  <a:t>Y </a:t>
                </a:r>
                <a:r>
                  <a:rPr lang="zh-CN" altLang="en-US" sz="2400" dirty="0" smtClean="0">
                    <a:latin typeface="Times New Roman" panose="02020603050405020304" pitchFamily="18" charset="0"/>
                    <a:cs typeface="Times New Roman" panose="02020603050405020304" pitchFamily="18" charset="0"/>
                  </a:rPr>
                  <a:t>的密度函数为</a:t>
                </a:r>
                <a14:m>
                  <m:oMath xmlns:m="http://schemas.openxmlformats.org/officeDocument/2006/math">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r>
                      <a:rPr lang="en-US" altLang="zh-CN" sz="2400" b="0" i="1" smtClean="0">
                        <a:latin typeface="Cambria Math" panose="02040503050406030204" pitchFamily="18" charset="0"/>
                      </a:rPr>
                      <m:t>)</m:t>
                    </m:r>
                  </m:oMath>
                </a14:m>
                <a:r>
                  <a:rPr lang="en-US" altLang="zh-CN" sz="2400" dirty="0" smtClean="0">
                    <a:latin typeface="Times New Roman" panose="02020603050405020304" pitchFamily="18" charset="0"/>
                    <a:cs typeface="Times New Roman" panose="02020603050405020304" pitchFamily="18" charset="0"/>
                  </a:rPr>
                  <a:t>,</a:t>
                </a:r>
                <a:r>
                  <a:rPr lang="zh-CN" altLang="en-US" sz="2400" dirty="0" smtClean="0">
                    <a:latin typeface="Times New Roman" panose="02020603050405020304" pitchFamily="18" charset="0"/>
                    <a:cs typeface="Times New Roman" panose="02020603050405020304" pitchFamily="18" charset="0"/>
                  </a:rPr>
                  <a:t>简记为</a:t>
                </a:r>
                <a14:m>
                  <m:oMath xmlns:m="http://schemas.openxmlformats.org/officeDocument/2006/math">
                    <m:r>
                      <a:rPr lang="en-US" altLang="zh-CN" sz="2400" i="1">
                        <a:latin typeface="Cambria Math" panose="02040503050406030204" pitchFamily="18" charset="0"/>
                      </a:rPr>
                      <m:t>𝑓</m:t>
                    </m:r>
                  </m:oMath>
                </a14:m>
                <a:r>
                  <a:rPr lang="zh-CN" altLang="en-US" sz="2400" dirty="0" smtClean="0">
                    <a:latin typeface="Times New Roman" panose="02020603050405020304" pitchFamily="18" charset="0"/>
                    <a:cs typeface="Times New Roman" panose="02020603050405020304" pitchFamily="18" charset="0"/>
                  </a:rPr>
                  <a:t>，对数似然函数为</a:t>
                </a:r>
                <a14:m>
                  <m:oMath xmlns:m="http://schemas.openxmlformats.org/officeDocument/2006/math">
                    <m:r>
                      <a:rPr lang="zh-CN" altLang="en-US" sz="2400">
                        <a:latin typeface="Cambria Math" panose="02040503050406030204" pitchFamily="18" charset="0"/>
                      </a:rPr>
                      <m:t>ℓ</m:t>
                    </m:r>
                    <m:d>
                      <m:dPr>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𝜃</m:t>
                        </m:r>
                      </m:e>
                    </m:d>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ln</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r>
                          <a:rPr lang="en-US" altLang="zh-CN" sz="2400" i="1">
                            <a:latin typeface="Cambria Math" panose="02040503050406030204" pitchFamily="18" charset="0"/>
                          </a:rPr>
                          <m:t>;</m:t>
                        </m:r>
                        <m:r>
                          <a:rPr lang="zh-CN" altLang="en-US" sz="2400" i="1">
                            <a:latin typeface="Cambria Math" panose="02040503050406030204" pitchFamily="18" charset="0"/>
                          </a:rPr>
                          <m:t>𝜃</m:t>
                        </m:r>
                      </m:e>
                    </m:d>
                  </m:oMath>
                </a14:m>
                <a:r>
                  <a:rPr lang="zh-CN" altLang="en-US" sz="2400" dirty="0" smtClean="0">
                    <a:latin typeface="Times New Roman" panose="02020603050405020304" pitchFamily="18" charset="0"/>
                    <a:cs typeface="Times New Roman" panose="02020603050405020304" pitchFamily="18" charset="0"/>
                  </a:rPr>
                  <a:t>，记为</a:t>
                </a:r>
                <a14:m>
                  <m:oMath xmlns:m="http://schemas.openxmlformats.org/officeDocument/2006/math">
                    <m:r>
                      <a:rPr lang="en-US" altLang="zh-CN" sz="2400" i="1">
                        <a:latin typeface="Cambria Math" panose="02040503050406030204" pitchFamily="18" charset="0"/>
                        <a:ea typeface="Cambria Math" panose="02040503050406030204" pitchFamily="18" charset="0"/>
                      </a:rPr>
                      <m:t>ℓ</m:t>
                    </m:r>
                  </m:oMath>
                </a14:m>
                <a:r>
                  <a:rPr lang="zh-CN" altLang="en-US" sz="2400" dirty="0" smtClean="0">
                    <a:latin typeface="Times New Roman" panose="02020603050405020304" pitchFamily="18" charset="0"/>
                    <a:cs typeface="Times New Roman" panose="02020603050405020304" pitchFamily="18" charset="0"/>
                  </a:rPr>
                  <a:t>，则基于某些正则化条件，有</a:t>
                </a:r>
                <a:endParaRPr lang="en-US" altLang="zh-CN" sz="2400" dirty="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smtClean="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smtClean="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smtClean="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smtClean="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smtClean="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a:latin typeface="Times New Roman" panose="02020603050405020304" pitchFamily="18" charset="0"/>
                  <a:cs typeface="Times New Roman" panose="02020603050405020304" pitchFamily="18" charset="0"/>
                </a:endParaRPr>
              </a:p>
              <a:p>
                <a:pPr marL="0" indent="0" eaLnBrk="1" hangingPunct="1">
                  <a:lnSpc>
                    <a:spcPct val="200000"/>
                  </a:lnSpc>
                  <a:spcBef>
                    <a:spcPts val="0"/>
                  </a:spcBef>
                  <a:buNone/>
                </a:pPr>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381000" y="1143000"/>
                <a:ext cx="7543800" cy="4343400"/>
              </a:xfrm>
              <a:blipFill rotWithShape="1">
                <a:blip r:embed="rId4"/>
                <a:stretch>
                  <a:fillRect l="-404" r="-525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69</a:t>
            </a:fld>
            <a:r>
              <a:rPr lang="en-US" altLang="zh-CN" smtClean="0"/>
              <a:t> )</a:t>
            </a:r>
            <a:endParaRPr lang="en-US" altLang="zh-CN"/>
          </a:p>
        </p:txBody>
      </p:sp>
      <p:graphicFrame>
        <p:nvGraphicFramePr>
          <p:cNvPr id="2" name="对象 1"/>
          <p:cNvGraphicFramePr>
            <a:graphicFrameLocks noChangeAspect="1"/>
          </p:cNvGraphicFramePr>
          <p:nvPr>
            <p:extLst>
              <p:ext uri="{D42A27DB-BD31-4B8C-83A1-F6EECF244321}">
                <p14:modId xmlns:p14="http://schemas.microsoft.com/office/powerpoint/2010/main" val="2045115674"/>
              </p:ext>
            </p:extLst>
          </p:nvPr>
        </p:nvGraphicFramePr>
        <p:xfrm>
          <a:off x="2960688" y="3962400"/>
          <a:ext cx="2830512" cy="1814513"/>
        </p:xfrm>
        <a:graphic>
          <a:graphicData uri="http://schemas.openxmlformats.org/presentationml/2006/ole">
            <mc:AlternateContent xmlns:mc="http://schemas.openxmlformats.org/markup-compatibility/2006">
              <mc:Choice xmlns:v="urn:schemas-microsoft-com:vml" Requires="v">
                <p:oleObj spid="_x0000_s304342" name="Equation" r:id="rId5" imgW="1625400" imgH="1041120" progId="Equation.DSMT4">
                  <p:embed/>
                </p:oleObj>
              </mc:Choice>
              <mc:Fallback>
                <p:oleObj name="Equation" r:id="rId5" imgW="1625400" imgH="1041120" progId="Equation.DSMT4">
                  <p:embed/>
                  <p:pic>
                    <p:nvPicPr>
                      <p:cNvPr id="0" name=""/>
                      <p:cNvPicPr/>
                      <p:nvPr/>
                    </p:nvPicPr>
                    <p:blipFill>
                      <a:blip r:embed="rId6"/>
                      <a:stretch>
                        <a:fillRect/>
                      </a:stretch>
                    </p:blipFill>
                    <p:spPr>
                      <a:xfrm>
                        <a:off x="2960688" y="3962400"/>
                        <a:ext cx="2830512" cy="1814513"/>
                      </a:xfrm>
                      <a:prstGeom prst="rect">
                        <a:avLst/>
                      </a:prstGeom>
                    </p:spPr>
                  </p:pic>
                </p:oleObj>
              </mc:Fallback>
            </mc:AlternateContent>
          </a:graphicData>
        </a:graphic>
      </p:graphicFrame>
    </p:spTree>
    <p:extLst>
      <p:ext uri="{BB962C8B-B14F-4D97-AF65-F5344CB8AC3E}">
        <p14:creationId xmlns:p14="http://schemas.microsoft.com/office/powerpoint/2010/main" val="32644911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485274" y="1295400"/>
            <a:ext cx="8229600" cy="4343400"/>
          </a:xfrm>
        </p:spPr>
        <p:txBody>
          <a:bodyPr/>
          <a:lstStyle/>
          <a:p>
            <a:pPr eaLnBrk="1" hangingPunct="1">
              <a:lnSpc>
                <a:spcPct val="140000"/>
              </a:lnSpc>
            </a:pPr>
            <a:r>
              <a:rPr lang="zh-CN" altLang="en-US" sz="2400" b="1" dirty="0" smtClean="0">
                <a:latin typeface="+mn-ea"/>
              </a:rPr>
              <a:t>证明</a:t>
            </a:r>
            <a:r>
              <a:rPr lang="zh-CN" altLang="en-US" sz="2400" dirty="0">
                <a:latin typeface="+mn-ea"/>
                <a:sym typeface="Wingdings" panose="05000000000000000000" pitchFamily="2" charset="2"/>
              </a:rPr>
              <a:t>：</a:t>
            </a: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a:latin typeface="+mn-ea"/>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483499491"/>
              </p:ext>
            </p:extLst>
          </p:nvPr>
        </p:nvGraphicFramePr>
        <p:xfrm>
          <a:off x="1295400" y="2512821"/>
          <a:ext cx="4886325" cy="1970088"/>
        </p:xfrm>
        <a:graphic>
          <a:graphicData uri="http://schemas.openxmlformats.org/presentationml/2006/ole">
            <mc:AlternateContent xmlns:mc="http://schemas.openxmlformats.org/markup-compatibility/2006">
              <mc:Choice xmlns:v="urn:schemas-microsoft-com:vml" Requires="v">
                <p:oleObj spid="_x0000_s305359" name="Equation" r:id="rId4" imgW="2806560" imgH="1130040" progId="Equation.DSMT4">
                  <p:embed/>
                </p:oleObj>
              </mc:Choice>
              <mc:Fallback>
                <p:oleObj name="Equation" r:id="rId4" imgW="2806560" imgH="1130040" progId="Equation.DSMT4">
                  <p:embed/>
                  <p:pic>
                    <p:nvPicPr>
                      <p:cNvPr id="0" name=""/>
                      <p:cNvPicPr/>
                      <p:nvPr/>
                    </p:nvPicPr>
                    <p:blipFill>
                      <a:blip r:embed="rId5"/>
                      <a:stretch>
                        <a:fillRect/>
                      </a:stretch>
                    </p:blipFill>
                    <p:spPr>
                      <a:xfrm>
                        <a:off x="1295400" y="2512821"/>
                        <a:ext cx="4886325" cy="1970088"/>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70</a:t>
            </a:fld>
            <a:r>
              <a:rPr lang="en-US" altLang="zh-CN" smtClean="0"/>
              <a:t> )</a:t>
            </a:r>
            <a:endParaRPr lang="en-US" altLang="zh-CN"/>
          </a:p>
        </p:txBody>
      </p:sp>
    </p:spTree>
    <p:extLst>
      <p:ext uri="{BB962C8B-B14F-4D97-AF65-F5344CB8AC3E}">
        <p14:creationId xmlns:p14="http://schemas.microsoft.com/office/powerpoint/2010/main" val="386200234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533400" y="533400"/>
            <a:ext cx="8229600" cy="4343400"/>
          </a:xfrm>
        </p:spPr>
        <p:txBody>
          <a:bodyPr/>
          <a:lstStyle/>
          <a:p>
            <a:pPr eaLnBrk="1" hangingPunct="1">
              <a:lnSpc>
                <a:spcPct val="140000"/>
              </a:lnSpc>
            </a:pPr>
            <a:r>
              <a:rPr lang="zh-CN" altLang="en-US" sz="2400" b="1" dirty="0">
                <a:latin typeface="+mn-ea"/>
              </a:rPr>
              <a:t>证明</a:t>
            </a:r>
            <a:r>
              <a:rPr lang="zh-CN" altLang="en-US" sz="2400" dirty="0" smtClean="0">
                <a:latin typeface="+mn-ea"/>
              </a:rPr>
              <a:t>：</a:t>
            </a: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a:latin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686761640"/>
              </p:ext>
            </p:extLst>
          </p:nvPr>
        </p:nvGraphicFramePr>
        <p:xfrm>
          <a:off x="533401" y="1752600"/>
          <a:ext cx="8153400" cy="4079796"/>
        </p:xfrm>
        <a:graphic>
          <a:graphicData uri="http://schemas.openxmlformats.org/presentationml/2006/ole">
            <mc:AlternateContent xmlns:mc="http://schemas.openxmlformats.org/markup-compatibility/2006">
              <mc:Choice xmlns:v="urn:schemas-microsoft-com:vml" Requires="v">
                <p:oleObj spid="_x0000_s306384" name="Equation" r:id="rId4" imgW="4012920" imgH="2006280" progId="Equation.DSMT4">
                  <p:embed/>
                </p:oleObj>
              </mc:Choice>
              <mc:Fallback>
                <p:oleObj name="Equation" r:id="rId4" imgW="4012920" imgH="2006280" progId="Equation.DSMT4">
                  <p:embed/>
                  <p:pic>
                    <p:nvPicPr>
                      <p:cNvPr id="0" name=""/>
                      <p:cNvPicPr/>
                      <p:nvPr/>
                    </p:nvPicPr>
                    <p:blipFill>
                      <a:blip r:embed="rId5"/>
                      <a:stretch>
                        <a:fillRect/>
                      </a:stretch>
                    </p:blipFill>
                    <p:spPr>
                      <a:xfrm>
                        <a:off x="533401" y="1752600"/>
                        <a:ext cx="8153400" cy="4079796"/>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71</a:t>
            </a:fld>
            <a:r>
              <a:rPr lang="en-US" altLang="zh-CN" smtClean="0"/>
              <a:t> )</a:t>
            </a:r>
            <a:endParaRPr lang="en-US" altLang="zh-CN"/>
          </a:p>
        </p:txBody>
      </p:sp>
    </p:spTree>
    <p:extLst>
      <p:ext uri="{BB962C8B-B14F-4D97-AF65-F5344CB8AC3E}">
        <p14:creationId xmlns:p14="http://schemas.microsoft.com/office/powerpoint/2010/main" val="103558666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33400" y="609600"/>
            <a:ext cx="7543800" cy="685800"/>
          </a:xfrm>
        </p:spPr>
        <p:txBody>
          <a:bodyPr/>
          <a:lstStyle/>
          <a:p>
            <a:pPr eaLnBrk="1" hangingPunct="1"/>
            <a:r>
              <a:rPr lang="zh-CN" altLang="en-US" sz="2800" dirty="0" smtClean="0">
                <a:latin typeface="Times New Roman" pitchFamily="18" charset="0"/>
              </a:rPr>
              <a:t>信息</a:t>
            </a:r>
            <a:endParaRPr lang="en-US" altLang="zh-CN" sz="2800" dirty="0" smtClean="0">
              <a:latin typeface="Times New Roman" pitchFamily="18" charset="0"/>
            </a:endParaRPr>
          </a:p>
        </p:txBody>
      </p:sp>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533400" y="1447800"/>
                <a:ext cx="8229600" cy="4343400"/>
              </a:xfrm>
            </p:spPr>
            <p:txBody>
              <a:bodyPr/>
              <a:lstStyle/>
              <a:p>
                <a:pPr eaLnBrk="1" hangingPunct="1">
                  <a:lnSpc>
                    <a:spcPct val="200000"/>
                  </a:lnSpc>
                  <a:spcBef>
                    <a:spcPts val="0"/>
                  </a:spcBef>
                </a:pPr>
                <a:r>
                  <a:rPr lang="zh-CN" altLang="en-US" sz="2400" b="1" dirty="0" smtClean="0">
                    <a:latin typeface="+mn-ea"/>
                  </a:rPr>
                  <a:t>得分</a:t>
                </a:r>
                <a:r>
                  <a:rPr lang="zh-CN" altLang="en-US" sz="2400" dirty="0" smtClean="0">
                    <a:latin typeface="+mn-ea"/>
                  </a:rPr>
                  <a:t>：对数似然函数</a:t>
                </a:r>
                <a14:m>
                  <m:oMath xmlns:m="http://schemas.openxmlformats.org/officeDocument/2006/math">
                    <m:r>
                      <a:rPr lang="en-US" altLang="zh-CN" sz="2400" i="1">
                        <a:latin typeface="Cambria Math" panose="02040503050406030204" pitchFamily="18" charset="0"/>
                        <a:ea typeface="Cambria Math" panose="02040503050406030204" pitchFamily="18" charset="0"/>
                      </a:rPr>
                      <m:t>ℓ</m:t>
                    </m:r>
                  </m:oMath>
                </a14:m>
                <a:r>
                  <a:rPr lang="zh-CN" altLang="en-US" sz="2400" dirty="0" smtClean="0">
                    <a:latin typeface="+mn-ea"/>
                  </a:rPr>
                  <a:t>关于参数</a:t>
                </a:r>
                <a14:m>
                  <m:oMath xmlns:m="http://schemas.openxmlformats.org/officeDocument/2006/math">
                    <m:r>
                      <a:rPr lang="zh-CN" altLang="en-US" sz="2400" i="1" smtClean="0">
                        <a:latin typeface="Cambria Math" panose="02040503050406030204" pitchFamily="18" charset="0"/>
                      </a:rPr>
                      <m:t>𝜃</m:t>
                    </m:r>
                  </m:oMath>
                </a14:m>
                <a:r>
                  <a:rPr lang="zh-CN" altLang="en-US" sz="2400" dirty="0" smtClean="0">
                    <a:latin typeface="+mn-ea"/>
                  </a:rPr>
                  <a:t>的一阶导数，即</a:t>
                </a:r>
                <a14:m>
                  <m:oMath xmlns:m="http://schemas.openxmlformats.org/officeDocument/2006/math">
                    <m:f>
                      <m:fPr>
                        <m:ctrlPr>
                          <a:rPr lang="en-US" altLang="zh-CN" sz="2400" i="1" smtClean="0">
                            <a:latin typeface="Cambria Math" panose="02040503050406030204" pitchFamily="18" charset="0"/>
                          </a:rPr>
                        </m:ctrlPr>
                      </m:fPr>
                      <m:num>
                        <m:r>
                          <a:rPr lang="en-US" altLang="zh-CN" sz="2400" i="1" smtClean="0">
                            <a:latin typeface="Cambria Math" panose="02040503050406030204" pitchFamily="18" charset="0"/>
                          </a:rPr>
                          <m:t>𝑑</m:t>
                        </m:r>
                        <m:r>
                          <a:rPr lang="en-US" altLang="zh-CN" sz="2400" i="1">
                            <a:latin typeface="Cambria Math" panose="02040503050406030204" pitchFamily="18" charset="0"/>
                            <a:ea typeface="Cambria Math" panose="02040503050406030204" pitchFamily="18" charset="0"/>
                          </a:rPr>
                          <m:t>ℓ</m:t>
                        </m:r>
                      </m:num>
                      <m:den>
                        <m:r>
                          <a:rPr lang="en-US" altLang="zh-CN" sz="2400" i="1" smtClean="0">
                            <a:latin typeface="Cambria Math" panose="02040503050406030204" pitchFamily="18" charset="0"/>
                          </a:rPr>
                          <m:t>𝑑</m:t>
                        </m:r>
                        <m:r>
                          <a:rPr lang="zh-CN" altLang="en-US" sz="2400" i="1" smtClean="0">
                            <a:latin typeface="Cambria Math" panose="02040503050406030204" pitchFamily="18" charset="0"/>
                          </a:rPr>
                          <m:t>𝜃</m:t>
                        </m:r>
                      </m:den>
                    </m:f>
                  </m:oMath>
                </a14:m>
                <a:r>
                  <a:rPr lang="zh-CN" altLang="en-US" sz="2400" dirty="0" smtClean="0">
                    <a:latin typeface="+mn-ea"/>
                  </a:rPr>
                  <a:t>。</a:t>
                </a:r>
                <a:endParaRPr lang="en-US" altLang="zh-CN" sz="2400" dirty="0" smtClean="0">
                  <a:latin typeface="+mn-ea"/>
                </a:endParaRPr>
              </a:p>
              <a:p>
                <a:pPr eaLnBrk="1" hangingPunct="1">
                  <a:lnSpc>
                    <a:spcPct val="200000"/>
                  </a:lnSpc>
                  <a:spcBef>
                    <a:spcPts val="0"/>
                  </a:spcBef>
                </a:pPr>
                <a:r>
                  <a:rPr lang="zh-CN" altLang="en-US" sz="2400" b="1" dirty="0" smtClean="0">
                    <a:latin typeface="+mn-ea"/>
                  </a:rPr>
                  <a:t>信息</a:t>
                </a:r>
                <a:r>
                  <a:rPr lang="zh-CN" altLang="en-US" sz="2400" dirty="0" smtClean="0">
                    <a:latin typeface="+mn-ea"/>
                  </a:rPr>
                  <a:t>（</a:t>
                </a:r>
                <a:r>
                  <a:rPr lang="en-US" altLang="zh-CN" sz="2400" dirty="0" smtClean="0">
                    <a:latin typeface="+mn-ea"/>
                  </a:rPr>
                  <a:t>Fisher</a:t>
                </a:r>
                <a:r>
                  <a:rPr lang="zh-CN" altLang="en-US" sz="2400" dirty="0" smtClean="0">
                    <a:latin typeface="+mn-ea"/>
                  </a:rPr>
                  <a:t>信息）：得分的二阶矩</a:t>
                </a:r>
                <a:endParaRPr lang="en-US" altLang="zh-CN" sz="2400" dirty="0" smtClean="0">
                  <a:latin typeface="+mn-ea"/>
                </a:endParaRPr>
              </a:p>
              <a:p>
                <a:pPr marL="0" indent="0" eaLnBrk="1" hangingPunct="1">
                  <a:lnSpc>
                    <a:spcPct val="200000"/>
                  </a:lnSpc>
                  <a:spcBef>
                    <a:spcPts val="0"/>
                  </a:spcBef>
                  <a:buNone/>
                </a:pPr>
                <a:r>
                  <a:rPr lang="zh-CN" altLang="en-US" sz="2400" dirty="0" smtClean="0">
                    <a:latin typeface="+mn-ea"/>
                  </a:rPr>
                  <a:t>由于得分的期望为零，所以</a:t>
                </a:r>
                <a:r>
                  <a:rPr lang="en-US" altLang="zh-CN" sz="2400" dirty="0" smtClean="0">
                    <a:latin typeface="+mn-ea"/>
                  </a:rPr>
                  <a:t>Fisher</a:t>
                </a:r>
                <a:r>
                  <a:rPr lang="zh-CN" altLang="en-US" sz="2400" dirty="0" smtClean="0">
                    <a:latin typeface="+mn-ea"/>
                  </a:rPr>
                  <a:t>信息就是得分的方差，即</a:t>
                </a:r>
                <a:endParaRPr lang="en-US" altLang="zh-CN" sz="2400" dirty="0" smtClean="0">
                  <a:latin typeface="+mn-ea"/>
                </a:endParaRPr>
              </a:p>
              <a:p>
                <a:pPr marL="0" indent="0" eaLnBrk="1" hangingPunct="1">
                  <a:lnSpc>
                    <a:spcPct val="200000"/>
                  </a:lnSpc>
                  <a:spcBef>
                    <a:spcPts val="0"/>
                  </a:spcBef>
                  <a:buNone/>
                </a:pPr>
                <a:endParaRPr lang="en-US" altLang="zh-CN" sz="2400" dirty="0" smtClean="0">
                  <a:latin typeface="+mn-ea"/>
                </a:endParaRPr>
              </a:p>
              <a:p>
                <a:pPr marL="0" indent="0" eaLnBrk="1" hangingPunct="1">
                  <a:lnSpc>
                    <a:spcPct val="200000"/>
                  </a:lnSpc>
                  <a:spcBef>
                    <a:spcPts val="0"/>
                  </a:spcBef>
                  <a:buNone/>
                </a:pPr>
                <a:r>
                  <a:rPr lang="zh-CN" altLang="en-US" sz="2400" dirty="0" smtClean="0">
                    <a:latin typeface="+mn-ea"/>
                  </a:rPr>
                  <a:t>如果对数似然函数关于未知参数</a:t>
                </a:r>
                <a14:m>
                  <m:oMath xmlns:m="http://schemas.openxmlformats.org/officeDocument/2006/math">
                    <m:r>
                      <a:rPr lang="zh-CN" altLang="en-US" sz="2400" i="1" smtClean="0">
                        <a:latin typeface="Cambria Math" panose="02040503050406030204" pitchFamily="18" charset="0"/>
                      </a:rPr>
                      <m:t>𝜃</m:t>
                    </m:r>
                  </m:oMath>
                </a14:m>
                <a:r>
                  <a:rPr lang="zh-CN" altLang="en-US" sz="2400" dirty="0" smtClean="0">
                    <a:latin typeface="+mn-ea"/>
                  </a:rPr>
                  <a:t>二阶可导，则</a:t>
                </a:r>
                <a:r>
                  <a:rPr lang="en-US" altLang="zh-CN" sz="2400" dirty="0" smtClean="0">
                    <a:latin typeface="+mn-ea"/>
                  </a:rPr>
                  <a:t>Fisher</a:t>
                </a:r>
                <a:r>
                  <a:rPr lang="zh-CN" altLang="en-US" sz="2400" dirty="0" smtClean="0">
                    <a:latin typeface="+mn-ea"/>
                  </a:rPr>
                  <a:t>信息也可以表示为</a:t>
                </a:r>
                <a:endParaRPr lang="en-US" altLang="zh-CN" sz="2400" dirty="0" smtClean="0">
                  <a:latin typeface="+mn-ea"/>
                </a:endParaRPr>
              </a:p>
              <a:p>
                <a:pPr marL="0" indent="0" eaLnBrk="1" hangingPunct="1">
                  <a:lnSpc>
                    <a:spcPct val="200000"/>
                  </a:lnSpc>
                  <a:spcBef>
                    <a:spcPts val="0"/>
                  </a:spcBef>
                  <a:buNone/>
                </a:pPr>
                <a:endParaRPr lang="en-US" altLang="zh-CN" sz="2400" dirty="0">
                  <a:latin typeface="+mn-ea"/>
                </a:endParaRPr>
              </a:p>
              <a:p>
                <a:pPr marL="0" indent="0" eaLnBrk="1" hangingPunct="1">
                  <a:lnSpc>
                    <a:spcPct val="200000"/>
                  </a:lnSpc>
                  <a:spcBef>
                    <a:spcPts val="0"/>
                  </a:spcBef>
                  <a:buNone/>
                </a:pPr>
                <a:endParaRPr lang="en-US" altLang="zh-CN" sz="2400" dirty="0" smtClean="0">
                  <a:latin typeface="+mn-ea"/>
                </a:endParaRPr>
              </a:p>
              <a:p>
                <a:pPr marL="0" indent="0" eaLnBrk="1" hangingPunct="1">
                  <a:lnSpc>
                    <a:spcPct val="200000"/>
                  </a:lnSpc>
                  <a:spcBef>
                    <a:spcPts val="0"/>
                  </a:spcBef>
                  <a:buNone/>
                </a:pPr>
                <a:endParaRPr lang="en-US" altLang="zh-CN" sz="2400" dirty="0" smtClean="0">
                  <a:latin typeface="+mn-ea"/>
                </a:endParaRPr>
              </a:p>
              <a:p>
                <a:pPr marL="0" indent="0" eaLnBrk="1" hangingPunct="1">
                  <a:lnSpc>
                    <a:spcPct val="200000"/>
                  </a:lnSpc>
                  <a:spcBef>
                    <a:spcPts val="0"/>
                  </a:spcBef>
                  <a:buNone/>
                </a:pPr>
                <a:endParaRPr lang="en-US" altLang="zh-CN" sz="2400" dirty="0" smtClean="0">
                  <a:latin typeface="+mn-ea"/>
                </a:endParaRPr>
              </a:p>
              <a:p>
                <a:pPr marL="0" indent="0" eaLnBrk="1" hangingPunct="1">
                  <a:lnSpc>
                    <a:spcPct val="200000"/>
                  </a:lnSpc>
                  <a:spcBef>
                    <a:spcPts val="0"/>
                  </a:spcBef>
                  <a:buNone/>
                </a:pPr>
                <a:endParaRPr lang="en-US" altLang="zh-CN" sz="2400" dirty="0">
                  <a:latin typeface="+mn-ea"/>
                </a:endParaRPr>
              </a:p>
              <a:p>
                <a:pPr marL="0" indent="0" eaLnBrk="1" hangingPunct="1">
                  <a:lnSpc>
                    <a:spcPct val="200000"/>
                  </a:lnSpc>
                  <a:spcBef>
                    <a:spcPts val="0"/>
                  </a:spcBef>
                  <a:buNone/>
                </a:pPr>
                <a:endParaRPr lang="en-US" altLang="zh-CN" sz="2400" dirty="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533400" y="1447800"/>
                <a:ext cx="8229600" cy="4343400"/>
              </a:xfrm>
              <a:blipFill rotWithShape="1">
                <a:blip r:embed="rId4"/>
                <a:stretch>
                  <a:fillRect l="-1185" b="-10955"/>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72</a:t>
            </a:fld>
            <a:r>
              <a:rPr lang="en-US" altLang="zh-CN" smtClean="0"/>
              <a:t> )</a:t>
            </a:r>
            <a:endParaRPr lang="en-US" altLang="zh-CN"/>
          </a:p>
        </p:txBody>
      </p:sp>
      <p:graphicFrame>
        <p:nvGraphicFramePr>
          <p:cNvPr id="5" name="对象 4"/>
          <p:cNvGraphicFramePr>
            <a:graphicFrameLocks noChangeAspect="1"/>
          </p:cNvGraphicFramePr>
          <p:nvPr>
            <p:extLst>
              <p:ext uri="{D42A27DB-BD31-4B8C-83A1-F6EECF244321}">
                <p14:modId xmlns:p14="http://schemas.microsoft.com/office/powerpoint/2010/main" val="2470114778"/>
              </p:ext>
            </p:extLst>
          </p:nvPr>
        </p:nvGraphicFramePr>
        <p:xfrm>
          <a:off x="5943600" y="2590800"/>
          <a:ext cx="1836738" cy="825500"/>
        </p:xfrm>
        <a:graphic>
          <a:graphicData uri="http://schemas.openxmlformats.org/presentationml/2006/ole">
            <mc:AlternateContent xmlns:mc="http://schemas.openxmlformats.org/markup-compatibility/2006">
              <mc:Choice xmlns:v="urn:schemas-microsoft-com:vml" Requires="v">
                <p:oleObj spid="_x0000_s308025" name="Equation" r:id="rId5" imgW="1130040" imgH="507960" progId="Equation.DSMT4">
                  <p:embed/>
                </p:oleObj>
              </mc:Choice>
              <mc:Fallback>
                <p:oleObj name="Equation" r:id="rId5" imgW="1130040" imgH="507960" progId="Equation.DSMT4">
                  <p:embed/>
                  <p:pic>
                    <p:nvPicPr>
                      <p:cNvPr id="0" name=""/>
                      <p:cNvPicPr/>
                      <p:nvPr/>
                    </p:nvPicPr>
                    <p:blipFill>
                      <a:blip r:embed="rId6"/>
                      <a:stretch>
                        <a:fillRect/>
                      </a:stretch>
                    </p:blipFill>
                    <p:spPr>
                      <a:xfrm>
                        <a:off x="5943600" y="2590800"/>
                        <a:ext cx="1836738" cy="825500"/>
                      </a:xfrm>
                      <a:prstGeom prst="rect">
                        <a:avLst/>
                      </a:prstGeom>
                      <a:solidFill>
                        <a:schemeClr val="bg2">
                          <a:lumMod val="20000"/>
                          <a:lumOff val="80000"/>
                        </a:schemeClr>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08026" name="Equation" r:id="rId7" imgW="114120" imgH="177480" progId="Equation.DSMT4">
                  <p:embed/>
                </p:oleObj>
              </mc:Choice>
              <mc:Fallback>
                <p:oleObj name="Equation" r:id="rId7" imgW="114120" imgH="177480" progId="Equation.DSMT4">
                  <p:embed/>
                  <p:pic>
                    <p:nvPicPr>
                      <p:cNvPr id="0" name=""/>
                      <p:cNvPicPr/>
                      <p:nvPr/>
                    </p:nvPicPr>
                    <p:blipFill>
                      <a:blip r:embed="rId8"/>
                      <a:stretch>
                        <a:fillRect/>
                      </a:stretch>
                    </p:blipFill>
                    <p:spPr>
                      <a:xfrm>
                        <a:off x="4794250" y="2371725"/>
                        <a:ext cx="114300" cy="1778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964519725"/>
              </p:ext>
            </p:extLst>
          </p:nvPr>
        </p:nvGraphicFramePr>
        <p:xfrm>
          <a:off x="2743200" y="4114800"/>
          <a:ext cx="1694329" cy="685800"/>
        </p:xfrm>
        <a:graphic>
          <a:graphicData uri="http://schemas.openxmlformats.org/presentationml/2006/ole">
            <mc:AlternateContent xmlns:mc="http://schemas.openxmlformats.org/markup-compatibility/2006">
              <mc:Choice xmlns:v="urn:schemas-microsoft-com:vml" Requires="v">
                <p:oleObj spid="_x0000_s308027" name="Equation" r:id="rId9" imgW="1066680" imgH="431640" progId="Equation.DSMT4">
                  <p:embed/>
                </p:oleObj>
              </mc:Choice>
              <mc:Fallback>
                <p:oleObj name="Equation" r:id="rId9" imgW="1066680" imgH="431640" progId="Equation.DSMT4">
                  <p:embed/>
                  <p:pic>
                    <p:nvPicPr>
                      <p:cNvPr id="0" name=""/>
                      <p:cNvPicPr/>
                      <p:nvPr/>
                    </p:nvPicPr>
                    <p:blipFill>
                      <a:blip r:embed="rId10"/>
                      <a:stretch>
                        <a:fillRect/>
                      </a:stretch>
                    </p:blipFill>
                    <p:spPr>
                      <a:xfrm>
                        <a:off x="2743200" y="4114800"/>
                        <a:ext cx="1694329" cy="685800"/>
                      </a:xfrm>
                      <a:prstGeom prst="rect">
                        <a:avLst/>
                      </a:prstGeom>
                      <a:solidFill>
                        <a:schemeClr val="bg2">
                          <a:lumMod val="20000"/>
                          <a:lumOff val="80000"/>
                        </a:schemeClr>
                      </a:solid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1153218"/>
              </p:ext>
            </p:extLst>
          </p:nvPr>
        </p:nvGraphicFramePr>
        <p:xfrm>
          <a:off x="2743200" y="5638800"/>
          <a:ext cx="1712913" cy="766762"/>
        </p:xfrm>
        <a:graphic>
          <a:graphicData uri="http://schemas.openxmlformats.org/presentationml/2006/ole">
            <mc:AlternateContent xmlns:mc="http://schemas.openxmlformats.org/markup-compatibility/2006">
              <mc:Choice xmlns:v="urn:schemas-microsoft-com:vml" Requires="v">
                <p:oleObj spid="_x0000_s308028" name="Equation" r:id="rId11" imgW="1079280" imgH="482400" progId="Equation.DSMT4">
                  <p:embed/>
                </p:oleObj>
              </mc:Choice>
              <mc:Fallback>
                <p:oleObj name="Equation" r:id="rId11" imgW="1079280" imgH="482400" progId="Equation.DSMT4">
                  <p:embed/>
                  <p:pic>
                    <p:nvPicPr>
                      <p:cNvPr id="0" name=""/>
                      <p:cNvPicPr/>
                      <p:nvPr/>
                    </p:nvPicPr>
                    <p:blipFill>
                      <a:blip r:embed="rId12"/>
                      <a:stretch>
                        <a:fillRect/>
                      </a:stretch>
                    </p:blipFill>
                    <p:spPr>
                      <a:xfrm>
                        <a:off x="2743200" y="5638800"/>
                        <a:ext cx="1712913" cy="766762"/>
                      </a:xfrm>
                      <a:prstGeom prst="rect">
                        <a:avLst/>
                      </a:prstGeom>
                      <a:solidFill>
                        <a:schemeClr val="bg2">
                          <a:lumMod val="20000"/>
                          <a:lumOff val="80000"/>
                        </a:schemeClr>
                      </a:solidFill>
                    </p:spPr>
                  </p:pic>
                </p:oleObj>
              </mc:Fallback>
            </mc:AlternateContent>
          </a:graphicData>
        </a:graphic>
      </p:graphicFrame>
    </p:spTree>
    <p:extLst>
      <p:ext uri="{BB962C8B-B14F-4D97-AF65-F5344CB8AC3E}">
        <p14:creationId xmlns:p14="http://schemas.microsoft.com/office/powerpoint/2010/main" val="72773049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533400" y="1447800"/>
                <a:ext cx="8229600" cy="4343400"/>
              </a:xfrm>
            </p:spPr>
            <p:txBody>
              <a:bodyPr/>
              <a:lstStyle/>
              <a:p>
                <a:pPr eaLnBrk="1" hangingPunct="1">
                  <a:lnSpc>
                    <a:spcPct val="140000"/>
                  </a:lnSpc>
                </a:pPr>
                <a:r>
                  <a:rPr lang="zh-CN" altLang="en-US" sz="2400" dirty="0" smtClean="0">
                    <a:latin typeface="+mn-ea"/>
                  </a:rPr>
                  <a:t>如果随机变量</a:t>
                </a:r>
                <a14:m>
                  <m:oMath xmlns:m="http://schemas.openxmlformats.org/officeDocument/2006/math">
                    <m:r>
                      <a:rPr lang="en-US" altLang="zh-CN" sz="2400" i="1" dirty="0" smtClean="0">
                        <a:latin typeface="Cambria Math" panose="02040503050406030204" pitchFamily="18" charset="0"/>
                      </a:rPr>
                      <m:t>𝑦</m:t>
                    </m:r>
                  </m:oMath>
                </a14:m>
                <a:r>
                  <a:rPr lang="zh-CN" altLang="en-US" sz="2400" dirty="0" smtClean="0">
                    <a:latin typeface="+mn-ea"/>
                  </a:rPr>
                  <a:t>的密度函数中包含</a:t>
                </a:r>
                <a14:m>
                  <m:oMath xmlns:m="http://schemas.openxmlformats.org/officeDocument/2006/math">
                    <m:r>
                      <a:rPr lang="en-US" altLang="zh-CN" sz="2400" i="1" dirty="0" smtClean="0">
                        <a:latin typeface="Cambria Math" panose="02040503050406030204" pitchFamily="18" charset="0"/>
                      </a:rPr>
                      <m:t>𝑘</m:t>
                    </m:r>
                  </m:oMath>
                </a14:m>
                <a:r>
                  <a:rPr lang="zh-CN" altLang="en-US" sz="2400" dirty="0" smtClean="0">
                    <a:latin typeface="+mn-ea"/>
                  </a:rPr>
                  <a:t>个参数，记为</a:t>
                </a:r>
                <a14:m>
                  <m:oMath xmlns:m="http://schemas.openxmlformats.org/officeDocument/2006/math">
                    <m:r>
                      <a:rPr lang="zh-CN" altLang="en-US" sz="2400" i="1" smtClean="0">
                        <a:latin typeface="Cambria Math" panose="02040503050406030204" pitchFamily="18" charset="0"/>
                      </a:rPr>
                      <m:t>𝜃</m:t>
                    </m:r>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1</m:t>
                        </m:r>
                      </m:sub>
                    </m:sSub>
                    <m:r>
                      <a:rPr lang="zh-CN" altLang="en-US"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2</m:t>
                        </m:r>
                      </m:sub>
                    </m:sSub>
                    <m:r>
                      <a:rPr lang="zh-CN" altLang="en-US" sz="2400" b="0" i="1" smtClean="0">
                        <a:latin typeface="Cambria Math" panose="02040503050406030204" pitchFamily="18" charset="0"/>
                      </a:rPr>
                      <m:t>，</m:t>
                    </m:r>
                    <m:r>
                      <a:rPr lang="en-US" altLang="zh-CN" sz="2400" i="1">
                        <a:latin typeface="Cambria Math" panose="02040503050406030204" pitchFamily="18" charset="0"/>
                      </a:rPr>
                      <m:t>…</m:t>
                    </m:r>
                    <m:r>
                      <a:rPr lang="zh-CN" altLang="en-US"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𝜃</m:t>
                        </m:r>
                      </m:e>
                      <m:sub>
                        <m:r>
                          <a:rPr lang="en-US" altLang="zh-CN" sz="2400" b="0" i="1" smtClean="0">
                            <a:latin typeface="Cambria Math" panose="02040503050406030204" pitchFamily="18" charset="0"/>
                          </a:rPr>
                          <m:t>𝑘</m:t>
                        </m:r>
                      </m:sub>
                    </m:sSub>
                    <m:r>
                      <a:rPr lang="zh-CN" altLang="en-US" sz="2400" b="0" i="1" smtClean="0">
                        <a:latin typeface="Cambria Math" panose="02040503050406030204" pitchFamily="18" charset="0"/>
                      </a:rPr>
                      <m:t>）</m:t>
                    </m:r>
                  </m:oMath>
                </a14:m>
                <a:r>
                  <a:rPr lang="en-US" altLang="zh-CN" sz="2400" dirty="0" smtClean="0">
                    <a:latin typeface="+mn-ea"/>
                  </a:rPr>
                  <a:t>,</a:t>
                </a:r>
                <a:r>
                  <a:rPr lang="zh-CN" altLang="en-US" sz="2400" dirty="0" smtClean="0">
                    <a:latin typeface="+mn-ea"/>
                  </a:rPr>
                  <a:t>则</a:t>
                </a:r>
                <a:r>
                  <a:rPr lang="en-US" altLang="zh-CN" sz="2400" dirty="0">
                    <a:latin typeface="+mn-ea"/>
                  </a:rPr>
                  <a:t>F</a:t>
                </a:r>
                <a:r>
                  <a:rPr lang="en-US" altLang="zh-CN" sz="2400" dirty="0" smtClean="0">
                    <a:latin typeface="+mn-ea"/>
                  </a:rPr>
                  <a:t>isher</a:t>
                </a:r>
                <a:r>
                  <a:rPr lang="zh-CN" altLang="en-US" sz="2400" dirty="0" smtClean="0">
                    <a:latin typeface="+mn-ea"/>
                  </a:rPr>
                  <a:t>信息表现为</a:t>
                </a:r>
                <a14:m>
                  <m:oMath xmlns:m="http://schemas.openxmlformats.org/officeDocument/2006/math">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oMath>
                </a14:m>
                <a:r>
                  <a:rPr lang="zh-CN" altLang="en-US" sz="2400" dirty="0" smtClean="0">
                    <a:latin typeface="+mn-ea"/>
                  </a:rPr>
                  <a:t>的矩阵，其中元素为：</a:t>
                </a:r>
                <a:endParaRPr lang="en-US" altLang="zh-CN" sz="2400" dirty="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533400" y="1447800"/>
                <a:ext cx="8229600" cy="4343400"/>
              </a:xfrm>
              <a:blipFill rotWithShape="0">
                <a:blip r:embed="rId4"/>
                <a:stretch>
                  <a:fillRect l="-370"/>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73</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08636"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794250" y="2371725"/>
                        <a:ext cx="114300" cy="177800"/>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100300343"/>
              </p:ext>
            </p:extLst>
          </p:nvPr>
        </p:nvGraphicFramePr>
        <p:xfrm>
          <a:off x="1981200" y="3798033"/>
          <a:ext cx="4115868" cy="919747"/>
        </p:xfrm>
        <a:graphic>
          <a:graphicData uri="http://schemas.openxmlformats.org/presentationml/2006/ole">
            <mc:AlternateContent xmlns:mc="http://schemas.openxmlformats.org/markup-compatibility/2006">
              <mc:Choice xmlns:v="urn:schemas-microsoft-com:vml" Requires="v">
                <p:oleObj spid="_x0000_s308637" name="Equation" r:id="rId7" imgW="2273040" imgH="507960" progId="Equation.DSMT4">
                  <p:embed/>
                </p:oleObj>
              </mc:Choice>
              <mc:Fallback>
                <p:oleObj name="Equation" r:id="rId7" imgW="2273040" imgH="507960" progId="Equation.DSMT4">
                  <p:embed/>
                  <p:pic>
                    <p:nvPicPr>
                      <p:cNvPr id="0" name=""/>
                      <p:cNvPicPr/>
                      <p:nvPr/>
                    </p:nvPicPr>
                    <p:blipFill>
                      <a:blip r:embed="rId8"/>
                      <a:stretch>
                        <a:fillRect/>
                      </a:stretch>
                    </p:blipFill>
                    <p:spPr>
                      <a:xfrm>
                        <a:off x="1981200" y="3798033"/>
                        <a:ext cx="4115868" cy="919747"/>
                      </a:xfrm>
                      <a:prstGeom prst="rect">
                        <a:avLst/>
                      </a:prstGeom>
                    </p:spPr>
                  </p:pic>
                </p:oleObj>
              </mc:Fallback>
            </mc:AlternateContent>
          </a:graphicData>
        </a:graphic>
      </p:graphicFrame>
    </p:spTree>
    <p:extLst>
      <p:ext uri="{BB962C8B-B14F-4D97-AF65-F5344CB8AC3E}">
        <p14:creationId xmlns:p14="http://schemas.microsoft.com/office/powerpoint/2010/main" val="282985049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445168" y="1103729"/>
                <a:ext cx="7936832" cy="4343400"/>
              </a:xfrm>
            </p:spPr>
            <p:txBody>
              <a:bodyPr/>
              <a:lstStyle/>
              <a:p>
                <a:pPr eaLnBrk="1" hangingPunct="1">
                  <a:lnSpc>
                    <a:spcPct val="140000"/>
                  </a:lnSpc>
                </a:pPr>
                <a:r>
                  <a:rPr lang="zh-CN" altLang="en-US" sz="2400" b="1" dirty="0" smtClean="0">
                    <a:latin typeface="+mn-ea"/>
                  </a:rPr>
                  <a:t>定理</a:t>
                </a:r>
                <a:r>
                  <a:rPr lang="zh-CN" altLang="en-US" sz="2400" dirty="0" smtClean="0">
                    <a:latin typeface="+mn-ea"/>
                  </a:rPr>
                  <a:t>：如果</a:t>
                </a:r>
                <a14:m>
                  <m:oMath xmlns:m="http://schemas.openxmlformats.org/officeDocument/2006/math">
                    <m:r>
                      <a:rPr lang="en-US" altLang="zh-CN" sz="2400" i="1" dirty="0" smtClean="0">
                        <a:latin typeface="Cambria Math" panose="02040503050406030204" pitchFamily="18" charset="0"/>
                      </a:rPr>
                      <m:t>𝑦</m:t>
                    </m:r>
                  </m:oMath>
                </a14:m>
                <a:r>
                  <a:rPr lang="zh-CN" altLang="en-US" sz="2400" dirty="0" smtClean="0">
                    <a:latin typeface="+mn-ea"/>
                  </a:rPr>
                  <a:t>服从指数分布族，则其均值和方差分别为：</a:t>
                </a: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r>
                  <a:rPr lang="zh-CN" altLang="en-US" sz="2400" b="1" dirty="0" smtClean="0">
                    <a:latin typeface="+mn-ea"/>
                  </a:rPr>
                  <a:t>  证明</a:t>
                </a:r>
                <a:r>
                  <a:rPr lang="zh-CN" altLang="en-US" sz="2400" dirty="0" smtClean="0">
                    <a:latin typeface="+mn-ea"/>
                  </a:rPr>
                  <a:t>：</a:t>
                </a: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445168" y="1103729"/>
                <a:ext cx="7936832" cy="4343400"/>
              </a:xfrm>
              <a:blipFill rotWithShape="1">
                <a:blip r:embed="rId4"/>
                <a:stretch>
                  <a:fillRect l="-307" r="-5069"/>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74</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10069"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794250" y="2371725"/>
                        <a:ext cx="114300" cy="1778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12283912"/>
              </p:ext>
            </p:extLst>
          </p:nvPr>
        </p:nvGraphicFramePr>
        <p:xfrm>
          <a:off x="1774825" y="2057400"/>
          <a:ext cx="4487863" cy="458788"/>
        </p:xfrm>
        <a:graphic>
          <a:graphicData uri="http://schemas.openxmlformats.org/presentationml/2006/ole">
            <mc:AlternateContent xmlns:mc="http://schemas.openxmlformats.org/markup-compatibility/2006">
              <mc:Choice xmlns:v="urn:schemas-microsoft-com:vml" Requires="v">
                <p:oleObj spid="_x0000_s310070" name="Equation" r:id="rId7" imgW="2489040" imgH="253800" progId="Equation.DSMT4">
                  <p:embed/>
                </p:oleObj>
              </mc:Choice>
              <mc:Fallback>
                <p:oleObj name="Equation" r:id="rId7" imgW="2489040" imgH="253800" progId="Equation.DSMT4">
                  <p:embed/>
                  <p:pic>
                    <p:nvPicPr>
                      <p:cNvPr id="0" name=""/>
                      <p:cNvPicPr/>
                      <p:nvPr/>
                    </p:nvPicPr>
                    <p:blipFill>
                      <a:blip r:embed="rId8"/>
                      <a:stretch>
                        <a:fillRect/>
                      </a:stretch>
                    </p:blipFill>
                    <p:spPr>
                      <a:xfrm>
                        <a:off x="1774825" y="2057400"/>
                        <a:ext cx="4487863" cy="45878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241216359"/>
              </p:ext>
            </p:extLst>
          </p:nvPr>
        </p:nvGraphicFramePr>
        <p:xfrm>
          <a:off x="4394200" y="2362200"/>
          <a:ext cx="914400" cy="198438"/>
        </p:xfrm>
        <a:graphic>
          <a:graphicData uri="http://schemas.openxmlformats.org/presentationml/2006/ole">
            <mc:AlternateContent xmlns:mc="http://schemas.openxmlformats.org/markup-compatibility/2006">
              <mc:Choice xmlns:v="urn:schemas-microsoft-com:vml" Requires="v">
                <p:oleObj spid="_x0000_s310071" name="Equation" r:id="rId9" imgW="914400" imgH="198720" progId="Equation.DSMT4">
                  <p:embed/>
                </p:oleObj>
              </mc:Choice>
              <mc:Fallback>
                <p:oleObj name="Equation" r:id="rId9" imgW="914400" imgH="198720" progId="Equation.DSMT4">
                  <p:embed/>
                  <p:pic>
                    <p:nvPicPr>
                      <p:cNvPr id="0" name=""/>
                      <p:cNvPicPr/>
                      <p:nvPr/>
                    </p:nvPicPr>
                    <p:blipFill>
                      <a:blip r:embed="rId6"/>
                      <a:stretch>
                        <a:fillRect/>
                      </a:stretch>
                    </p:blipFill>
                    <p:spPr>
                      <a:xfrm>
                        <a:off x="4394200" y="2362200"/>
                        <a:ext cx="914400" cy="19843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262785200"/>
              </p:ext>
            </p:extLst>
          </p:nvPr>
        </p:nvGraphicFramePr>
        <p:xfrm>
          <a:off x="1905000" y="3429000"/>
          <a:ext cx="5235575" cy="2662238"/>
        </p:xfrm>
        <a:graphic>
          <a:graphicData uri="http://schemas.openxmlformats.org/presentationml/2006/ole">
            <mc:AlternateContent xmlns:mc="http://schemas.openxmlformats.org/markup-compatibility/2006">
              <mc:Choice xmlns:v="urn:schemas-microsoft-com:vml" Requires="v">
                <p:oleObj spid="_x0000_s310072" name="Equation" r:id="rId10" imgW="2920680" imgH="1485720" progId="Equation.DSMT4">
                  <p:embed/>
                </p:oleObj>
              </mc:Choice>
              <mc:Fallback>
                <p:oleObj name="Equation" r:id="rId10" imgW="2920680" imgH="1485720" progId="Equation.DSMT4">
                  <p:embed/>
                  <p:pic>
                    <p:nvPicPr>
                      <p:cNvPr id="0" name=""/>
                      <p:cNvPicPr/>
                      <p:nvPr/>
                    </p:nvPicPr>
                    <p:blipFill>
                      <a:blip r:embed="rId11"/>
                      <a:stretch>
                        <a:fillRect/>
                      </a:stretch>
                    </p:blipFill>
                    <p:spPr>
                      <a:xfrm>
                        <a:off x="1905000" y="3429000"/>
                        <a:ext cx="5235575" cy="2662238"/>
                      </a:xfrm>
                      <a:prstGeom prst="rect">
                        <a:avLst/>
                      </a:prstGeom>
                    </p:spPr>
                  </p:pic>
                </p:oleObj>
              </mc:Fallback>
            </mc:AlternateContent>
          </a:graphicData>
        </a:graphic>
      </p:graphicFrame>
    </p:spTree>
    <p:extLst>
      <p:ext uri="{BB962C8B-B14F-4D97-AF65-F5344CB8AC3E}">
        <p14:creationId xmlns:p14="http://schemas.microsoft.com/office/powerpoint/2010/main" val="63428119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445168" y="1103729"/>
            <a:ext cx="8229600" cy="4343400"/>
          </a:xfrm>
        </p:spPr>
        <p:txBody>
          <a:bodyPr/>
          <a:lstStyle/>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smtClean="0">
              <a:latin typeface="+mn-ea"/>
            </a:endParaRPr>
          </a:p>
          <a:p>
            <a:pPr marL="0" indent="0" eaLnBrk="1" hangingPunct="1">
              <a:lnSpc>
                <a:spcPct val="140000"/>
              </a:lnSpc>
              <a:buNone/>
            </a:pPr>
            <a:endParaRPr lang="en-US" altLang="zh-CN" sz="2400" dirty="0">
              <a:latin typeface="+mn-ea"/>
            </a:endParaRPr>
          </a:p>
          <a:p>
            <a:pPr marL="0" indent="0" eaLnBrk="1" hangingPunct="1">
              <a:lnSpc>
                <a:spcPct val="140000"/>
              </a:lnSpc>
              <a:buNone/>
            </a:pPr>
            <a:endParaRPr lang="en-US" altLang="zh-CN" sz="2400" dirty="0">
              <a:latin typeface="+mn-ea"/>
            </a:endParaRPr>
          </a:p>
        </p:txBody>
      </p:sp>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75</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12058"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4794250" y="2371725"/>
                        <a:ext cx="114300" cy="1778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241216359"/>
              </p:ext>
            </p:extLst>
          </p:nvPr>
        </p:nvGraphicFramePr>
        <p:xfrm>
          <a:off x="4394200" y="2362200"/>
          <a:ext cx="914400" cy="198438"/>
        </p:xfrm>
        <a:graphic>
          <a:graphicData uri="http://schemas.openxmlformats.org/presentationml/2006/ole">
            <mc:AlternateContent xmlns:mc="http://schemas.openxmlformats.org/markup-compatibility/2006">
              <mc:Choice xmlns:v="urn:schemas-microsoft-com:vml" Requires="v">
                <p:oleObj spid="_x0000_s312059" name="Equation" r:id="rId6" imgW="914400" imgH="198720" progId="Equation.DSMT4">
                  <p:embed/>
                </p:oleObj>
              </mc:Choice>
              <mc:Fallback>
                <p:oleObj name="Equation" r:id="rId6" imgW="914400" imgH="198720" progId="Equation.DSMT4">
                  <p:embed/>
                  <p:pic>
                    <p:nvPicPr>
                      <p:cNvPr id="0" name=""/>
                      <p:cNvPicPr/>
                      <p:nvPr/>
                    </p:nvPicPr>
                    <p:blipFill>
                      <a:blip r:embed="rId5"/>
                      <a:stretch>
                        <a:fillRect/>
                      </a:stretch>
                    </p:blipFill>
                    <p:spPr>
                      <a:xfrm>
                        <a:off x="4394200" y="2362200"/>
                        <a:ext cx="914400" cy="198438"/>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379462717"/>
              </p:ext>
            </p:extLst>
          </p:nvPr>
        </p:nvGraphicFramePr>
        <p:xfrm>
          <a:off x="990600" y="914400"/>
          <a:ext cx="6464300" cy="808038"/>
        </p:xfrm>
        <a:graphic>
          <a:graphicData uri="http://schemas.openxmlformats.org/presentationml/2006/ole">
            <mc:AlternateContent xmlns:mc="http://schemas.openxmlformats.org/markup-compatibility/2006">
              <mc:Choice xmlns:v="urn:schemas-microsoft-com:vml" Requires="v">
                <p:oleObj spid="_x0000_s312060" name="Equation" r:id="rId7" imgW="3555720" imgH="444240" progId="Equation.DSMT4">
                  <p:embed/>
                </p:oleObj>
              </mc:Choice>
              <mc:Fallback>
                <p:oleObj name="Equation" r:id="rId7" imgW="3555720" imgH="444240" progId="Equation.DSMT4">
                  <p:embed/>
                  <p:pic>
                    <p:nvPicPr>
                      <p:cNvPr id="0" name=""/>
                      <p:cNvPicPr/>
                      <p:nvPr/>
                    </p:nvPicPr>
                    <p:blipFill>
                      <a:blip r:embed="rId8"/>
                      <a:stretch>
                        <a:fillRect/>
                      </a:stretch>
                    </p:blipFill>
                    <p:spPr>
                      <a:xfrm>
                        <a:off x="990600" y="914400"/>
                        <a:ext cx="6464300" cy="808038"/>
                      </a:xfrm>
                      <a:prstGeom prst="rect">
                        <a:avLst/>
                      </a:prstGeom>
                    </p:spPr>
                  </p:pic>
                </p:oleObj>
              </mc:Fallback>
            </mc:AlternateContent>
          </a:graphicData>
        </a:graphic>
      </p:graphicFrame>
      <p:sp>
        <p:nvSpPr>
          <p:cNvPr id="14" name="文本框 13"/>
          <p:cNvSpPr txBox="1"/>
          <p:nvPr/>
        </p:nvSpPr>
        <p:spPr>
          <a:xfrm>
            <a:off x="609600" y="5500985"/>
            <a:ext cx="8382000" cy="461665"/>
          </a:xfrm>
          <a:prstGeom prst="rect">
            <a:avLst/>
          </a:prstGeom>
          <a:noFill/>
        </p:spPr>
        <p:txBody>
          <a:bodyPr wrap="square" rtlCol="0">
            <a:spAutoFit/>
          </a:bodyPr>
          <a:lstStyle/>
          <a:p>
            <a:r>
              <a:rPr lang="zh-CN" altLang="en-US" dirty="0" smtClean="0">
                <a:latin typeface="+mn-ea"/>
                <a:ea typeface="+mn-ea"/>
              </a:rPr>
              <a:t>            称作</a:t>
            </a:r>
            <a:r>
              <a:rPr lang="zh-CN" altLang="en-US" dirty="0">
                <a:latin typeface="+mn-ea"/>
                <a:ea typeface="+mn-ea"/>
              </a:rPr>
              <a:t>方差</a:t>
            </a:r>
            <a:r>
              <a:rPr lang="zh-CN" altLang="en-US" dirty="0" smtClean="0">
                <a:latin typeface="+mn-ea"/>
                <a:ea typeface="+mn-ea"/>
              </a:rPr>
              <a:t>函数。指数分布族的方差与均值有关。</a:t>
            </a:r>
            <a:endParaRPr lang="zh-CN" altLang="en-US" dirty="0">
              <a:latin typeface="+mn-ea"/>
              <a:ea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655101880"/>
              </p:ext>
            </p:extLst>
          </p:nvPr>
        </p:nvGraphicFramePr>
        <p:xfrm>
          <a:off x="990600" y="5552340"/>
          <a:ext cx="1609725" cy="415925"/>
        </p:xfrm>
        <a:graphic>
          <a:graphicData uri="http://schemas.openxmlformats.org/presentationml/2006/ole">
            <mc:AlternateContent xmlns:mc="http://schemas.openxmlformats.org/markup-compatibility/2006">
              <mc:Choice xmlns:v="urn:schemas-microsoft-com:vml" Requires="v">
                <p:oleObj spid="_x0000_s312061" name="Equation" r:id="rId9" imgW="787320" imgH="203040" progId="Equation.DSMT4">
                  <p:embed/>
                </p:oleObj>
              </mc:Choice>
              <mc:Fallback>
                <p:oleObj name="Equation" r:id="rId9" imgW="787320" imgH="203040" progId="Equation.DSMT4">
                  <p:embed/>
                  <p:pic>
                    <p:nvPicPr>
                      <p:cNvPr id="0" name="对象 8"/>
                      <p:cNvPicPr>
                        <a:picLocks noChangeAspect="1" noChangeArrowheads="1"/>
                      </p:cNvPicPr>
                      <p:nvPr/>
                    </p:nvPicPr>
                    <p:blipFill>
                      <a:blip r:embed="rId10"/>
                      <a:srcRect/>
                      <a:stretch>
                        <a:fillRect/>
                      </a:stretch>
                    </p:blipFill>
                    <p:spPr bwMode="auto">
                      <a:xfrm>
                        <a:off x="990600" y="5552340"/>
                        <a:ext cx="16097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04574426"/>
              </p:ext>
            </p:extLst>
          </p:nvPr>
        </p:nvGraphicFramePr>
        <p:xfrm>
          <a:off x="990600" y="2286000"/>
          <a:ext cx="6464300" cy="2908300"/>
        </p:xfrm>
        <a:graphic>
          <a:graphicData uri="http://schemas.openxmlformats.org/presentationml/2006/ole">
            <mc:AlternateContent xmlns:mc="http://schemas.openxmlformats.org/markup-compatibility/2006">
              <mc:Choice xmlns:v="urn:schemas-microsoft-com:vml" Requires="v">
                <p:oleObj spid="_x0000_s312062" name="Equation" r:id="rId11" imgW="3555720" imgH="1600200" progId="Equation.DSMT4">
                  <p:embed/>
                </p:oleObj>
              </mc:Choice>
              <mc:Fallback>
                <p:oleObj name="Equation" r:id="rId11" imgW="3555720" imgH="1600200" progId="Equation.DSMT4">
                  <p:embed/>
                  <p:pic>
                    <p:nvPicPr>
                      <p:cNvPr id="0" name="对象 11"/>
                      <p:cNvPicPr>
                        <a:picLocks noChangeAspect="1" noChangeArrowheads="1"/>
                      </p:cNvPicPr>
                      <p:nvPr/>
                    </p:nvPicPr>
                    <p:blipFill>
                      <a:blip r:embed="rId12"/>
                      <a:srcRect/>
                      <a:stretch>
                        <a:fillRect/>
                      </a:stretch>
                    </p:blipFill>
                    <p:spPr bwMode="auto">
                      <a:xfrm>
                        <a:off x="990600" y="2286000"/>
                        <a:ext cx="6464300"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3977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533400" y="1447800"/>
            <a:ext cx="8229600" cy="4343400"/>
          </a:xfrm>
        </p:spPr>
        <p:txBody>
          <a:bodyPr/>
          <a:lstStyle/>
          <a:p>
            <a:pPr eaLnBrk="1" hangingPunct="1">
              <a:lnSpc>
                <a:spcPct val="140000"/>
              </a:lnSpc>
            </a:pPr>
            <a:r>
              <a:rPr lang="zh-CN" altLang="en-US" sz="2400" b="1" dirty="0" smtClean="0">
                <a:latin typeface="+mn-ea"/>
              </a:rPr>
              <a:t>例</a:t>
            </a:r>
            <a:r>
              <a:rPr lang="zh-CN" altLang="en-US" sz="2400" dirty="0" smtClean="0">
                <a:latin typeface="+mn-ea"/>
              </a:rPr>
              <a:t>：证明泊松分布的方差函数为          </a:t>
            </a:r>
            <a:endParaRPr lang="en-US" altLang="zh-CN" sz="2400" dirty="0" smtClean="0">
              <a:latin typeface="+mn-ea"/>
            </a:endParaRPr>
          </a:p>
          <a:p>
            <a:pPr marL="0" indent="0" eaLnBrk="1" hangingPunct="1">
              <a:lnSpc>
                <a:spcPct val="140000"/>
              </a:lnSpc>
              <a:buNone/>
            </a:pPr>
            <a:r>
              <a:rPr lang="zh-CN" altLang="en-US" sz="2400" dirty="0" smtClean="0">
                <a:latin typeface="+mn-ea"/>
              </a:rPr>
              <a:t>  </a:t>
            </a:r>
            <a:r>
              <a:rPr lang="zh-CN" altLang="en-US" sz="2400" b="1" dirty="0" smtClean="0">
                <a:latin typeface="+mn-ea"/>
              </a:rPr>
              <a:t>证明</a:t>
            </a:r>
            <a:r>
              <a:rPr lang="zh-CN" altLang="en-US" sz="2400" dirty="0" smtClean="0">
                <a:latin typeface="+mn-ea"/>
              </a:rPr>
              <a:t>：</a:t>
            </a:r>
            <a:endParaRPr lang="en-US" altLang="zh-CN" sz="2400" dirty="0">
              <a:latin typeface="+mn-ea"/>
            </a:endParaRPr>
          </a:p>
        </p:txBody>
      </p:sp>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76</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10764"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4794250" y="2371725"/>
                        <a:ext cx="114300" cy="1778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05213821"/>
              </p:ext>
            </p:extLst>
          </p:nvPr>
        </p:nvGraphicFramePr>
        <p:xfrm>
          <a:off x="1676400" y="3048000"/>
          <a:ext cx="4438650" cy="2274888"/>
        </p:xfrm>
        <a:graphic>
          <a:graphicData uri="http://schemas.openxmlformats.org/presentationml/2006/ole">
            <mc:AlternateContent xmlns:mc="http://schemas.openxmlformats.org/markup-compatibility/2006">
              <mc:Choice xmlns:v="urn:schemas-microsoft-com:vml" Requires="v">
                <p:oleObj spid="_x0000_s310765" name="Equation" r:id="rId6" imgW="2108160" imgH="1079280" progId="Equation.DSMT4">
                  <p:embed/>
                </p:oleObj>
              </mc:Choice>
              <mc:Fallback>
                <p:oleObj name="Equation" r:id="rId6" imgW="2108160" imgH="1079280" progId="Equation.DSMT4">
                  <p:embed/>
                  <p:pic>
                    <p:nvPicPr>
                      <p:cNvPr id="0" name=""/>
                      <p:cNvPicPr/>
                      <p:nvPr/>
                    </p:nvPicPr>
                    <p:blipFill>
                      <a:blip r:embed="rId7"/>
                      <a:stretch>
                        <a:fillRect/>
                      </a:stretch>
                    </p:blipFill>
                    <p:spPr>
                      <a:xfrm>
                        <a:off x="1676400" y="3048000"/>
                        <a:ext cx="4438650" cy="227488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59083315"/>
              </p:ext>
            </p:extLst>
          </p:nvPr>
        </p:nvGraphicFramePr>
        <p:xfrm>
          <a:off x="5410200" y="1518445"/>
          <a:ext cx="1284287" cy="534987"/>
        </p:xfrm>
        <a:graphic>
          <a:graphicData uri="http://schemas.openxmlformats.org/presentationml/2006/ole">
            <mc:AlternateContent xmlns:mc="http://schemas.openxmlformats.org/markup-compatibility/2006">
              <mc:Choice xmlns:v="urn:schemas-microsoft-com:vml" Requires="v">
                <p:oleObj spid="_x0000_s310766" name="Equation" r:id="rId8" imgW="609480" imgH="253800" progId="Equation.DSMT4">
                  <p:embed/>
                </p:oleObj>
              </mc:Choice>
              <mc:Fallback>
                <p:oleObj name="Equation" r:id="rId8" imgW="609480" imgH="253800" progId="Equation.DSMT4">
                  <p:embed/>
                  <p:pic>
                    <p:nvPicPr>
                      <p:cNvPr id="0" name=""/>
                      <p:cNvPicPr/>
                      <p:nvPr/>
                    </p:nvPicPr>
                    <p:blipFill>
                      <a:blip r:embed="rId9"/>
                      <a:stretch>
                        <a:fillRect/>
                      </a:stretch>
                    </p:blipFill>
                    <p:spPr>
                      <a:xfrm>
                        <a:off x="5410200" y="1518445"/>
                        <a:ext cx="1284287" cy="534987"/>
                      </a:xfrm>
                      <a:prstGeom prst="rect">
                        <a:avLst/>
                      </a:prstGeom>
                    </p:spPr>
                  </p:pic>
                </p:oleObj>
              </mc:Fallback>
            </mc:AlternateContent>
          </a:graphicData>
        </a:graphic>
      </p:graphicFrame>
    </p:spTree>
    <p:extLst>
      <p:ext uri="{BB962C8B-B14F-4D97-AF65-F5344CB8AC3E}">
        <p14:creationId xmlns:p14="http://schemas.microsoft.com/office/powerpoint/2010/main" val="47346201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77</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12524"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4794250" y="2371725"/>
                        <a:ext cx="114300" cy="177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1578890935"/>
                  </p:ext>
                </p:extLst>
              </p:nvPr>
            </p:nvGraphicFramePr>
            <p:xfrm>
              <a:off x="609600" y="1371600"/>
              <a:ext cx="7772400" cy="5029200"/>
            </p:xfrm>
            <a:graphic>
              <a:graphicData uri="http://schemas.openxmlformats.org/drawingml/2006/table">
                <a:tbl>
                  <a:tblPr firstRow="1" bandRow="1">
                    <a:tableStyleId>{21E4AEA4-8DFA-4A89-87EB-49C32662AFE0}</a:tableStyleId>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838200">
                    <a:tc>
                      <a:txBody>
                        <a:bodyPr/>
                        <a:lstStyle/>
                        <a:p>
                          <a:pPr algn="ctr"/>
                          <a:r>
                            <a:rPr lang="zh-CN" altLang="en-US" sz="2400" b="0" dirty="0" smtClean="0"/>
                            <a:t>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b="0" dirty="0" smtClean="0"/>
                            <a:t>方差函数</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pPr algn="ctr"/>
                          <a:r>
                            <a:rPr lang="zh-CN" altLang="en-US" sz="2400" b="0" dirty="0" smtClean="0"/>
                            <a:t>正态分布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𝑣</m:t>
                                </m:r>
                                <m:d>
                                  <m:dPr>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𝜇</m:t>
                                    </m:r>
                                  </m:e>
                                </m:d>
                                <m:r>
                                  <a:rPr lang="en-US" altLang="zh-CN" sz="2400" b="0" smtClean="0">
                                    <a:latin typeface="Cambria Math" panose="02040503050406030204" pitchFamily="18" charset="0"/>
                                  </a:rPr>
                                  <m:t>=</m:t>
                                </m:r>
                                <m:r>
                                  <a:rPr lang="en-US" altLang="zh-CN" sz="2400" b="0" i="1" smtClean="0">
                                    <a:latin typeface="Cambria Math" panose="02040503050406030204" pitchFamily="18" charset="0"/>
                                  </a:rPr>
                                  <m:t>1</m:t>
                                </m:r>
                              </m:oMath>
                            </m:oMathPara>
                          </a14:m>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pPr algn="ctr"/>
                          <a:r>
                            <a:rPr lang="zh-CN" altLang="en-US" sz="2400" b="0" dirty="0" smtClean="0"/>
                            <a:t>二项分布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𝑣</m:t>
                                </m:r>
                                <m:d>
                                  <m:dPr>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𝜇</m:t>
                                    </m:r>
                                  </m:e>
                                </m:d>
                                <m:r>
                                  <a:rPr lang="en-US" altLang="zh-CN" sz="2400" b="0" smtClean="0">
                                    <a:latin typeface="Cambria Math" panose="02040503050406030204" pitchFamily="18" charset="0"/>
                                  </a:rPr>
                                  <m:t>=</m:t>
                                </m:r>
                                <m:r>
                                  <a:rPr lang="zh-CN" altLang="en-US" sz="2400" b="0" i="1" smtClean="0">
                                    <a:latin typeface="Cambria Math" panose="02040503050406030204" pitchFamily="18" charset="0"/>
                                  </a:rPr>
                                  <m:t>𝜇</m:t>
                                </m:r>
                                <m:r>
                                  <a:rPr lang="en-US" altLang="zh-CN" sz="2400" b="0"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smtClean="0">
                                    <a:latin typeface="Cambria Math" panose="02040503050406030204" pitchFamily="18" charset="0"/>
                                  </a:rPr>
                                  <m:t>−</m:t>
                                </m:r>
                                <m:r>
                                  <a:rPr lang="zh-CN" altLang="en-US" sz="2400" b="0" i="1" smtClean="0">
                                    <a:latin typeface="Cambria Math" panose="02040503050406030204" pitchFamily="18" charset="0"/>
                                  </a:rPr>
                                  <m:t>𝜇</m:t>
                                </m:r>
                                <m:r>
                                  <a:rPr lang="en-US" altLang="zh-CN" sz="2400" b="0" smtClean="0">
                                    <a:latin typeface="Cambria Math" panose="02040503050406030204" pitchFamily="18" charset="0"/>
                                  </a:rPr>
                                  <m:t>)</m:t>
                                </m:r>
                              </m:oMath>
                            </m:oMathPara>
                          </a14:m>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pPr algn="ctr"/>
                          <a:r>
                            <a:rPr lang="zh-CN" altLang="en-US" sz="2400" b="0" dirty="0" smtClean="0"/>
                            <a:t>泊松分布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𝑣</m:t>
                                </m:r>
                                <m:d>
                                  <m:dPr>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𝜇</m:t>
                                    </m:r>
                                  </m:e>
                                </m:d>
                                <m:r>
                                  <a:rPr lang="en-US" altLang="zh-CN" sz="2400" b="0" smtClean="0">
                                    <a:latin typeface="Cambria Math" panose="02040503050406030204" pitchFamily="18" charset="0"/>
                                  </a:rPr>
                                  <m:t>=</m:t>
                                </m:r>
                                <m:r>
                                  <a:rPr lang="zh-CN" altLang="en-US" sz="2400" b="0" i="1" smtClean="0">
                                    <a:latin typeface="Cambria Math" panose="02040503050406030204" pitchFamily="18" charset="0"/>
                                  </a:rPr>
                                  <m:t>𝜇</m:t>
                                </m:r>
                              </m:oMath>
                            </m:oMathPara>
                          </a14:m>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38200">
                    <a:tc>
                      <a:txBody>
                        <a:bodyPr/>
                        <a:lstStyle/>
                        <a:p>
                          <a:pPr algn="ctr"/>
                          <a:r>
                            <a:rPr lang="zh-CN" altLang="en-US" sz="2400" b="0" dirty="0" smtClean="0"/>
                            <a:t>伽马分布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𝑣</m:t>
                                </m:r>
                                <m:d>
                                  <m:dPr>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𝜇</m:t>
                                    </m:r>
                                  </m:e>
                                </m:d>
                                <m:r>
                                  <a:rPr lang="en-US" altLang="zh-CN" sz="2400" b="0"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𝜇</m:t>
                                    </m:r>
                                  </m:e>
                                  <m:sup>
                                    <m:r>
                                      <a:rPr lang="en-US" altLang="zh-CN" sz="2400" b="0" i="1" smtClean="0">
                                        <a:latin typeface="Cambria Math" panose="02040503050406030204" pitchFamily="18" charset="0"/>
                                      </a:rPr>
                                      <m:t>2</m:t>
                                    </m:r>
                                  </m:sup>
                                </m:sSup>
                              </m:oMath>
                            </m:oMathPara>
                          </a14:m>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38200">
                    <a:tc>
                      <a:txBody>
                        <a:bodyPr/>
                        <a:lstStyle/>
                        <a:p>
                          <a:pPr algn="ctr"/>
                          <a:r>
                            <a:rPr lang="zh-CN" altLang="en-US" sz="2400" b="0" dirty="0" smtClean="0"/>
                            <a:t>逆高斯分布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𝑣</m:t>
                                </m:r>
                                <m:d>
                                  <m:dPr>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𝜇</m:t>
                                    </m:r>
                                  </m:e>
                                </m:d>
                                <m:r>
                                  <a:rPr lang="en-US" altLang="zh-CN" sz="2400" b="0"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𝜇</m:t>
                                    </m:r>
                                  </m:e>
                                  <m:sup>
                                    <m:r>
                                      <a:rPr lang="en-US" altLang="zh-CN" sz="2400" b="0" i="1" smtClean="0">
                                        <a:latin typeface="Cambria Math" panose="02040503050406030204" pitchFamily="18" charset="0"/>
                                      </a:rPr>
                                      <m:t>3</m:t>
                                    </m:r>
                                  </m:sup>
                                </m:sSup>
                              </m:oMath>
                            </m:oMathPara>
                          </a14:m>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1578890935"/>
                  </p:ext>
                </p:extLst>
              </p:nvPr>
            </p:nvGraphicFramePr>
            <p:xfrm>
              <a:off x="609600" y="1371600"/>
              <a:ext cx="7772400" cy="5029200"/>
            </p:xfrm>
            <a:graphic>
              <a:graphicData uri="http://schemas.openxmlformats.org/drawingml/2006/table">
                <a:tbl>
                  <a:tblPr firstRow="1" bandRow="1">
                    <a:tableStyleId>{21E4AEA4-8DFA-4A89-87EB-49C32662AFE0}</a:tableStyleId>
                  </a:tblPr>
                  <a:tblGrid>
                    <a:gridCol w="3886200"/>
                    <a:gridCol w="3886200"/>
                  </a:tblGrid>
                  <a:tr h="838200">
                    <a:tc>
                      <a:txBody>
                        <a:bodyPr/>
                        <a:lstStyle/>
                        <a:p>
                          <a:pPr algn="ctr"/>
                          <a:r>
                            <a:rPr lang="zh-CN" altLang="en-US" sz="2400" b="0" dirty="0" smtClean="0"/>
                            <a:t>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b="0" dirty="0" smtClean="0"/>
                            <a:t>方差函数</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38200">
                    <a:tc>
                      <a:txBody>
                        <a:bodyPr/>
                        <a:lstStyle/>
                        <a:p>
                          <a:pPr algn="ctr"/>
                          <a:r>
                            <a:rPr lang="zh-CN" altLang="en-US" sz="2400" b="0" dirty="0" smtClean="0"/>
                            <a:t>正态分布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100157" t="-108759" b="-401460"/>
                          </a:stretch>
                        </a:blipFill>
                      </a:tcPr>
                    </a:tc>
                  </a:tr>
                  <a:tr h="838200">
                    <a:tc>
                      <a:txBody>
                        <a:bodyPr/>
                        <a:lstStyle/>
                        <a:p>
                          <a:pPr algn="ctr"/>
                          <a:r>
                            <a:rPr lang="zh-CN" altLang="en-US" sz="2400" b="0" dirty="0" smtClean="0"/>
                            <a:t>二项分布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100157" t="-207246" b="-298551"/>
                          </a:stretch>
                        </a:blipFill>
                      </a:tcPr>
                    </a:tc>
                  </a:tr>
                  <a:tr h="838200">
                    <a:tc>
                      <a:txBody>
                        <a:bodyPr/>
                        <a:lstStyle/>
                        <a:p>
                          <a:pPr algn="ctr"/>
                          <a:r>
                            <a:rPr lang="zh-CN" altLang="en-US" sz="2400" b="0" dirty="0" smtClean="0"/>
                            <a:t>泊松分布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100157" t="-309489" b="-200730"/>
                          </a:stretch>
                        </a:blipFill>
                      </a:tcPr>
                    </a:tc>
                  </a:tr>
                  <a:tr h="838200">
                    <a:tc>
                      <a:txBody>
                        <a:bodyPr/>
                        <a:lstStyle/>
                        <a:p>
                          <a:pPr algn="ctr"/>
                          <a:r>
                            <a:rPr lang="zh-CN" altLang="en-US" sz="2400" b="0" dirty="0" smtClean="0"/>
                            <a:t>伽马分布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100157" t="-406522" b="-99275"/>
                          </a:stretch>
                        </a:blipFill>
                      </a:tcPr>
                    </a:tc>
                  </a:tr>
                  <a:tr h="838200">
                    <a:tc>
                      <a:txBody>
                        <a:bodyPr/>
                        <a:lstStyle/>
                        <a:p>
                          <a:pPr algn="ctr"/>
                          <a:r>
                            <a:rPr lang="zh-CN" altLang="en-US" sz="2400" b="0" dirty="0" smtClean="0"/>
                            <a:t>逆高斯分布</a:t>
                          </a:r>
                          <a:endParaRPr lang="zh-CN" altLang="en-US" sz="2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100157" t="-510219"/>
                          </a:stretch>
                        </a:blipFill>
                      </a:tcPr>
                    </a:tc>
                  </a:tr>
                </a:tbl>
              </a:graphicData>
            </a:graphic>
          </p:graphicFrame>
        </mc:Fallback>
      </mc:AlternateContent>
      <p:sp>
        <p:nvSpPr>
          <p:cNvPr id="7" name="文本框 6"/>
          <p:cNvSpPr txBox="1"/>
          <p:nvPr/>
        </p:nvSpPr>
        <p:spPr>
          <a:xfrm>
            <a:off x="2913113" y="711187"/>
            <a:ext cx="3886200" cy="461665"/>
          </a:xfrm>
          <a:prstGeom prst="rect">
            <a:avLst/>
          </a:prstGeom>
          <a:noFill/>
        </p:spPr>
        <p:txBody>
          <a:bodyPr wrap="square" rtlCol="0">
            <a:spAutoFit/>
          </a:bodyPr>
          <a:lstStyle/>
          <a:p>
            <a:r>
              <a:rPr lang="zh-CN" altLang="en-US" b="1" dirty="0" smtClean="0"/>
              <a:t>指数分布族的方差函数</a:t>
            </a:r>
            <a:endParaRPr lang="zh-CN" altLang="en-US" b="1" dirty="0"/>
          </a:p>
        </p:txBody>
      </p:sp>
    </p:spTree>
    <p:extLst>
      <p:ext uri="{BB962C8B-B14F-4D97-AF65-F5344CB8AC3E}">
        <p14:creationId xmlns:p14="http://schemas.microsoft.com/office/powerpoint/2010/main" val="61476292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610854" y="990600"/>
            <a:ext cx="8229600" cy="4343400"/>
          </a:xfrm>
        </p:spPr>
        <p:txBody>
          <a:bodyPr/>
          <a:lstStyle/>
          <a:p>
            <a:pPr eaLnBrk="1" hangingPunct="1">
              <a:lnSpc>
                <a:spcPct val="140000"/>
              </a:lnSpc>
            </a:pPr>
            <a:r>
              <a:rPr lang="zh-CN" altLang="en-US" sz="2400" b="1" dirty="0" smtClean="0">
                <a:latin typeface="+mn-ea"/>
              </a:rPr>
              <a:t>定理</a:t>
            </a:r>
            <a:r>
              <a:rPr lang="zh-CN" altLang="en-US" sz="2400" dirty="0" smtClean="0">
                <a:latin typeface="+mn-ea"/>
              </a:rPr>
              <a:t>：指数分布</a:t>
            </a:r>
            <a:r>
              <a:rPr lang="zh-CN" altLang="en-US" sz="2400" dirty="0">
                <a:latin typeface="+mn-ea"/>
              </a:rPr>
              <a:t>族</a:t>
            </a:r>
            <a:r>
              <a:rPr lang="zh-CN" altLang="en-US" sz="2400" dirty="0" smtClean="0">
                <a:latin typeface="+mn-ea"/>
              </a:rPr>
              <a:t>的矩母函数可以表示为：</a:t>
            </a:r>
            <a:endParaRPr lang="en-US" altLang="zh-CN" sz="2400" dirty="0" smtClean="0">
              <a:latin typeface="+mn-ea"/>
            </a:endParaRPr>
          </a:p>
          <a:p>
            <a:pPr eaLnBrk="1" hangingPunct="1">
              <a:lnSpc>
                <a:spcPct val="140000"/>
              </a:lnSpc>
            </a:pPr>
            <a:endParaRPr lang="en-US" altLang="zh-CN" sz="2400" dirty="0">
              <a:latin typeface="+mn-ea"/>
            </a:endParaRPr>
          </a:p>
          <a:p>
            <a:pPr eaLnBrk="1" hangingPunct="1">
              <a:lnSpc>
                <a:spcPct val="140000"/>
              </a:lnSpc>
            </a:pPr>
            <a:endParaRPr lang="en-US" altLang="zh-CN" sz="2400" dirty="0" smtClean="0">
              <a:latin typeface="+mn-ea"/>
            </a:endParaRPr>
          </a:p>
        </p:txBody>
      </p:sp>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78</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3411043146"/>
              </p:ext>
            </p:extLst>
          </p:nvPr>
        </p:nvGraphicFramePr>
        <p:xfrm>
          <a:off x="4871704" y="1914525"/>
          <a:ext cx="114300" cy="177800"/>
        </p:xfrm>
        <a:graphic>
          <a:graphicData uri="http://schemas.openxmlformats.org/presentationml/2006/ole">
            <mc:AlternateContent xmlns:mc="http://schemas.openxmlformats.org/markup-compatibility/2006">
              <mc:Choice xmlns:v="urn:schemas-microsoft-com:vml" Requires="v">
                <p:oleObj spid="_x0000_s314907"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4871704" y="1914525"/>
                        <a:ext cx="114300" cy="177800"/>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638074005"/>
              </p:ext>
            </p:extLst>
          </p:nvPr>
        </p:nvGraphicFramePr>
        <p:xfrm>
          <a:off x="2209800" y="3048000"/>
          <a:ext cx="4135700" cy="966787"/>
        </p:xfrm>
        <a:graphic>
          <a:graphicData uri="http://schemas.openxmlformats.org/presentationml/2006/ole">
            <mc:AlternateContent xmlns:mc="http://schemas.openxmlformats.org/markup-compatibility/2006">
              <mc:Choice xmlns:v="urn:schemas-microsoft-com:vml" Requires="v">
                <p:oleObj spid="_x0000_s314908" name="Equation" r:id="rId6" imgW="1955520" imgH="457200" progId="Equation.DSMT4">
                  <p:embed/>
                </p:oleObj>
              </mc:Choice>
              <mc:Fallback>
                <p:oleObj name="Equation" r:id="rId6" imgW="1955520" imgH="457200" progId="Equation.DSMT4">
                  <p:embed/>
                  <p:pic>
                    <p:nvPicPr>
                      <p:cNvPr id="0" name=""/>
                      <p:cNvPicPr/>
                      <p:nvPr/>
                    </p:nvPicPr>
                    <p:blipFill>
                      <a:blip r:embed="rId7"/>
                      <a:stretch>
                        <a:fillRect/>
                      </a:stretch>
                    </p:blipFill>
                    <p:spPr>
                      <a:xfrm>
                        <a:off x="2209800" y="3048000"/>
                        <a:ext cx="4135700" cy="966787"/>
                      </a:xfrm>
                      <a:prstGeom prst="rect">
                        <a:avLst/>
                      </a:prstGeom>
                    </p:spPr>
                  </p:pic>
                </p:oleObj>
              </mc:Fallback>
            </mc:AlternateContent>
          </a:graphicData>
        </a:graphic>
      </p:graphicFrame>
    </p:spTree>
    <p:extLst>
      <p:ext uri="{BB962C8B-B14F-4D97-AF65-F5344CB8AC3E}">
        <p14:creationId xmlns:p14="http://schemas.microsoft.com/office/powerpoint/2010/main" val="211977044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79</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49291718"/>
              </p:ext>
            </p:extLst>
          </p:nvPr>
        </p:nvGraphicFramePr>
        <p:xfrm>
          <a:off x="4871704" y="1914525"/>
          <a:ext cx="114300" cy="177800"/>
        </p:xfrm>
        <a:graphic>
          <a:graphicData uri="http://schemas.openxmlformats.org/presentationml/2006/ole">
            <mc:AlternateContent xmlns:mc="http://schemas.openxmlformats.org/markup-compatibility/2006">
              <mc:Choice xmlns:v="urn:schemas-microsoft-com:vml" Requires="v">
                <p:oleObj spid="_x0000_s393362"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4871704" y="1914525"/>
                        <a:ext cx="114300" cy="1778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952477483"/>
              </p:ext>
            </p:extLst>
          </p:nvPr>
        </p:nvGraphicFramePr>
        <p:xfrm>
          <a:off x="304800" y="1295400"/>
          <a:ext cx="8578615" cy="4953000"/>
        </p:xfrm>
        <a:graphic>
          <a:graphicData uri="http://schemas.openxmlformats.org/presentationml/2006/ole">
            <mc:AlternateContent xmlns:mc="http://schemas.openxmlformats.org/markup-compatibility/2006">
              <mc:Choice xmlns:v="urn:schemas-microsoft-com:vml" Requires="v">
                <p:oleObj spid="_x0000_s393363" name="Equation" r:id="rId6" imgW="4483080" imgH="2590560" progId="Equation.DSMT4">
                  <p:embed/>
                </p:oleObj>
              </mc:Choice>
              <mc:Fallback>
                <p:oleObj name="Equation" r:id="rId6" imgW="4483080" imgH="2590560" progId="Equation.DSMT4">
                  <p:embed/>
                  <p:pic>
                    <p:nvPicPr>
                      <p:cNvPr id="0" name=""/>
                      <p:cNvPicPr/>
                      <p:nvPr/>
                    </p:nvPicPr>
                    <p:blipFill>
                      <a:blip r:embed="rId7"/>
                      <a:stretch>
                        <a:fillRect/>
                      </a:stretch>
                    </p:blipFill>
                    <p:spPr>
                      <a:xfrm>
                        <a:off x="304800" y="1295400"/>
                        <a:ext cx="8578615" cy="4953000"/>
                      </a:xfrm>
                      <a:prstGeom prst="rect">
                        <a:avLst/>
                      </a:prstGeom>
                    </p:spPr>
                  </p:pic>
                </p:oleObj>
              </mc:Fallback>
            </mc:AlternateContent>
          </a:graphicData>
        </a:graphic>
      </p:graphicFrame>
    </p:spTree>
    <p:extLst>
      <p:ext uri="{BB962C8B-B14F-4D97-AF65-F5344CB8AC3E}">
        <p14:creationId xmlns:p14="http://schemas.microsoft.com/office/powerpoint/2010/main" val="196848965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413971" y="914400"/>
            <a:ext cx="8229600" cy="4343400"/>
          </a:xfrm>
        </p:spPr>
        <p:txBody>
          <a:bodyPr/>
          <a:lstStyle/>
          <a:p>
            <a:pPr eaLnBrk="1" hangingPunct="1">
              <a:lnSpc>
                <a:spcPct val="140000"/>
              </a:lnSpc>
            </a:pPr>
            <a:r>
              <a:rPr lang="zh-CN" altLang="en-US" sz="2400" b="1" dirty="0" smtClean="0">
                <a:latin typeface="+mn-ea"/>
              </a:rPr>
              <a:t>例</a:t>
            </a:r>
            <a:r>
              <a:rPr lang="zh-CN" altLang="en-US" sz="2400" dirty="0" smtClean="0">
                <a:latin typeface="+mn-ea"/>
              </a:rPr>
              <a:t>：应用累计矩母函数计算指数分布族的均值和方差。</a:t>
            </a:r>
            <a:endParaRPr lang="en-US" altLang="zh-CN" sz="2400" dirty="0" smtClean="0">
              <a:latin typeface="+mn-ea"/>
            </a:endParaRPr>
          </a:p>
          <a:p>
            <a:pPr eaLnBrk="1" hangingPunct="1">
              <a:lnSpc>
                <a:spcPct val="140000"/>
              </a:lnSpc>
            </a:pPr>
            <a:endParaRPr lang="en-US" altLang="zh-CN" sz="2400" dirty="0">
              <a:latin typeface="+mn-ea"/>
            </a:endParaRPr>
          </a:p>
          <a:p>
            <a:pPr eaLnBrk="1" hangingPunct="1">
              <a:lnSpc>
                <a:spcPct val="140000"/>
              </a:lnSpc>
            </a:pPr>
            <a:endParaRPr lang="en-US" altLang="zh-CN" sz="2400" dirty="0" smtClean="0">
              <a:latin typeface="+mn-ea"/>
            </a:endParaRPr>
          </a:p>
        </p:txBody>
      </p:sp>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80</a:t>
            </a:fld>
            <a:r>
              <a:rPr lang="en-US" altLang="zh-CN" smtClean="0"/>
              <a:t> )</a:t>
            </a:r>
            <a:endParaRPr lang="en-US" altLang="zh-CN"/>
          </a:p>
        </p:txBody>
      </p:sp>
      <p:graphicFrame>
        <p:nvGraphicFramePr>
          <p:cNvPr id="4" name="对象 3"/>
          <p:cNvGraphicFramePr>
            <a:graphicFrameLocks noChangeAspect="1"/>
          </p:cNvGraphicFramePr>
          <p:nvPr>
            <p:extLst>
              <p:ext uri="{D42A27DB-BD31-4B8C-83A1-F6EECF244321}">
                <p14:modId xmlns:p14="http://schemas.microsoft.com/office/powerpoint/2010/main" val="85125872"/>
              </p:ext>
            </p:extLst>
          </p:nvPr>
        </p:nvGraphicFramePr>
        <p:xfrm>
          <a:off x="1524000" y="1600200"/>
          <a:ext cx="5181600" cy="4718120"/>
        </p:xfrm>
        <a:graphic>
          <a:graphicData uri="http://schemas.openxmlformats.org/presentationml/2006/ole">
            <mc:AlternateContent xmlns:mc="http://schemas.openxmlformats.org/markup-compatibility/2006">
              <mc:Choice xmlns:v="urn:schemas-microsoft-com:vml" Requires="v">
                <p:oleObj spid="_x0000_s315605" name="Equation" r:id="rId4" imgW="2286000" imgH="2082600" progId="Equation.DSMT4">
                  <p:embed/>
                </p:oleObj>
              </mc:Choice>
              <mc:Fallback>
                <p:oleObj name="Equation" r:id="rId4" imgW="2286000" imgH="2082600" progId="Equation.DSMT4">
                  <p:embed/>
                  <p:pic>
                    <p:nvPicPr>
                      <p:cNvPr id="0" name=""/>
                      <p:cNvPicPr/>
                      <p:nvPr/>
                    </p:nvPicPr>
                    <p:blipFill>
                      <a:blip r:embed="rId5"/>
                      <a:stretch>
                        <a:fillRect/>
                      </a:stretch>
                    </p:blipFill>
                    <p:spPr>
                      <a:xfrm>
                        <a:off x="1524000" y="1600200"/>
                        <a:ext cx="5181600" cy="4718120"/>
                      </a:xfrm>
                      <a:prstGeom prst="rect">
                        <a:avLst/>
                      </a:prstGeom>
                    </p:spPr>
                  </p:pic>
                </p:oleObj>
              </mc:Fallback>
            </mc:AlternateContent>
          </a:graphicData>
        </a:graphic>
      </p:graphicFrame>
    </p:spTree>
    <p:extLst>
      <p:ext uri="{BB962C8B-B14F-4D97-AF65-F5344CB8AC3E}">
        <p14:creationId xmlns:p14="http://schemas.microsoft.com/office/powerpoint/2010/main" val="49224065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457200" y="1524000"/>
                <a:ext cx="7315200" cy="4343400"/>
              </a:xfrm>
            </p:spPr>
            <p:txBody>
              <a:bodyPr/>
              <a:lstStyle/>
              <a:p>
                <a:pPr eaLnBrk="1" hangingPunct="1">
                  <a:lnSpc>
                    <a:spcPct val="140000"/>
                  </a:lnSpc>
                </a:pPr>
                <a:r>
                  <a:rPr lang="zh-CN" altLang="en-US" sz="2400" b="1" dirty="0" smtClean="0">
                    <a:latin typeface="+mn-ea"/>
                  </a:rPr>
                  <a:t>例</a:t>
                </a:r>
                <a:r>
                  <a:rPr lang="zh-CN" altLang="en-US" sz="2400" dirty="0" smtClean="0">
                    <a:latin typeface="+mn-ea"/>
                  </a:rPr>
                  <a:t>：假设</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b="0" i="1" smtClean="0">
                            <a:latin typeface="Cambria Math" panose="02040503050406030204" pitchFamily="18" charset="0"/>
                          </a:rPr>
                          <m:t>𝑛</m:t>
                        </m:r>
                      </m:sub>
                    </m:sSub>
                  </m:oMath>
                </a14:m>
                <a:r>
                  <a:rPr lang="zh-CN" altLang="en-US" sz="2400" dirty="0" smtClean="0">
                    <a:latin typeface="+mn-ea"/>
                  </a:rPr>
                  <a:t>独立同分布，且服从指数分布族</a:t>
                </a:r>
                <a:r>
                  <a:rPr lang="en-US" altLang="zh-CN" sz="2400" dirty="0" smtClean="0">
                    <a:latin typeface="+mn-ea"/>
                  </a:rPr>
                  <a:t>,</a:t>
                </a:r>
                <a:r>
                  <a:rPr lang="zh-CN" altLang="en-US" sz="2400" dirty="0" smtClean="0">
                    <a:latin typeface="+mn-ea"/>
                  </a:rPr>
                  <a:t>则其均值参数的极大似然估计等于样本均值，即</a:t>
                </a:r>
                <a:endParaRPr lang="en-US" altLang="zh-CN" sz="2400" dirty="0" smtClean="0">
                  <a:latin typeface="+mn-ea"/>
                </a:endParaRPr>
              </a:p>
              <a:p>
                <a:pPr eaLnBrk="1" hangingPunct="1">
                  <a:lnSpc>
                    <a:spcPct val="140000"/>
                  </a:lnSpc>
                </a:pPr>
                <a:endParaRPr lang="en-US" altLang="zh-CN" sz="2400" dirty="0">
                  <a:latin typeface="+mn-ea"/>
                </a:endParaRPr>
              </a:p>
              <a:p>
                <a:pPr eaLnBrk="1" hangingPunct="1">
                  <a:lnSpc>
                    <a:spcPct val="140000"/>
                  </a:lnSpc>
                </a:pPr>
                <a:endParaRPr lang="en-US" altLang="zh-CN" sz="2400" dirty="0" smtClean="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457200" y="1524000"/>
                <a:ext cx="7315200" cy="4343400"/>
              </a:xfrm>
              <a:blipFill rotWithShape="1">
                <a:blip r:embed="rId4"/>
                <a:stretch>
                  <a:fillRect l="-333"/>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81</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16951"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794250" y="2371725"/>
                        <a:ext cx="114300" cy="177800"/>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197560685"/>
              </p:ext>
            </p:extLst>
          </p:nvPr>
        </p:nvGraphicFramePr>
        <p:xfrm>
          <a:off x="3200400" y="3429000"/>
          <a:ext cx="2019378" cy="914400"/>
        </p:xfrm>
        <a:graphic>
          <a:graphicData uri="http://schemas.openxmlformats.org/presentationml/2006/ole">
            <mc:AlternateContent xmlns:mc="http://schemas.openxmlformats.org/markup-compatibility/2006">
              <mc:Choice xmlns:v="urn:schemas-microsoft-com:vml" Requires="v">
                <p:oleObj spid="_x0000_s316952" name="Equation" r:id="rId7" imgW="952200" imgH="431640" progId="Equation.DSMT4">
                  <p:embed/>
                </p:oleObj>
              </mc:Choice>
              <mc:Fallback>
                <p:oleObj name="Equation" r:id="rId7" imgW="952200" imgH="431640" progId="Equation.DSMT4">
                  <p:embed/>
                  <p:pic>
                    <p:nvPicPr>
                      <p:cNvPr id="0" name=""/>
                      <p:cNvPicPr/>
                      <p:nvPr/>
                    </p:nvPicPr>
                    <p:blipFill>
                      <a:blip r:embed="rId8"/>
                      <a:stretch>
                        <a:fillRect/>
                      </a:stretch>
                    </p:blipFill>
                    <p:spPr>
                      <a:xfrm>
                        <a:off x="3200400" y="3429000"/>
                        <a:ext cx="2019378" cy="914400"/>
                      </a:xfrm>
                      <a:prstGeom prst="rect">
                        <a:avLst/>
                      </a:prstGeom>
                    </p:spPr>
                  </p:pic>
                </p:oleObj>
              </mc:Fallback>
            </mc:AlternateContent>
          </a:graphicData>
        </a:graphic>
      </p:graphicFrame>
    </p:spTree>
    <p:extLst>
      <p:ext uri="{BB962C8B-B14F-4D97-AF65-F5344CB8AC3E}">
        <p14:creationId xmlns:p14="http://schemas.microsoft.com/office/powerpoint/2010/main" val="379797076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457200" y="838200"/>
            <a:ext cx="7315200" cy="4343400"/>
          </a:xfrm>
        </p:spPr>
        <p:txBody>
          <a:bodyPr/>
          <a:lstStyle/>
          <a:p>
            <a:pPr eaLnBrk="1" hangingPunct="1">
              <a:lnSpc>
                <a:spcPct val="140000"/>
              </a:lnSpc>
            </a:pPr>
            <a:r>
              <a:rPr lang="zh-CN" altLang="en-US" sz="2400" dirty="0" smtClean="0">
                <a:latin typeface="+mn-ea"/>
              </a:rPr>
              <a:t>证明：</a:t>
            </a:r>
            <a:endParaRPr lang="en-US" altLang="zh-CN" sz="2400" dirty="0">
              <a:latin typeface="+mn-ea"/>
            </a:endParaRPr>
          </a:p>
          <a:p>
            <a:pPr eaLnBrk="1" hangingPunct="1">
              <a:lnSpc>
                <a:spcPct val="140000"/>
              </a:lnSpc>
            </a:pPr>
            <a:endParaRPr lang="en-US" altLang="zh-CN" sz="2400" dirty="0" smtClean="0">
              <a:latin typeface="+mn-ea"/>
            </a:endParaRPr>
          </a:p>
        </p:txBody>
      </p:sp>
      <p:sp>
        <p:nvSpPr>
          <p:cNvPr id="3" name="灯片编号占位符 2"/>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82</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204387355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94394"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4794250" y="2371725"/>
                        <a:ext cx="114300" cy="1778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12864094"/>
              </p:ext>
            </p:extLst>
          </p:nvPr>
        </p:nvGraphicFramePr>
        <p:xfrm>
          <a:off x="2209800" y="1371600"/>
          <a:ext cx="4383087" cy="5045075"/>
        </p:xfrm>
        <a:graphic>
          <a:graphicData uri="http://schemas.openxmlformats.org/presentationml/2006/ole">
            <mc:AlternateContent xmlns:mc="http://schemas.openxmlformats.org/markup-compatibility/2006">
              <mc:Choice xmlns:v="urn:schemas-microsoft-com:vml" Requires="v">
                <p:oleObj spid="_x0000_s394395" name="Equation" r:id="rId6" imgW="2273040" imgH="2616120" progId="Equation.DSMT4">
                  <p:embed/>
                </p:oleObj>
              </mc:Choice>
              <mc:Fallback>
                <p:oleObj name="Equation" r:id="rId6" imgW="2273040" imgH="2616120" progId="Equation.DSMT4">
                  <p:embed/>
                  <p:pic>
                    <p:nvPicPr>
                      <p:cNvPr id="0" name=""/>
                      <p:cNvPicPr/>
                      <p:nvPr/>
                    </p:nvPicPr>
                    <p:blipFill>
                      <a:blip r:embed="rId7"/>
                      <a:stretch>
                        <a:fillRect/>
                      </a:stretch>
                    </p:blipFill>
                    <p:spPr>
                      <a:xfrm>
                        <a:off x="2209800" y="1371600"/>
                        <a:ext cx="4383087" cy="5045075"/>
                      </a:xfrm>
                      <a:prstGeom prst="rect">
                        <a:avLst/>
                      </a:prstGeom>
                    </p:spPr>
                  </p:pic>
                </p:oleObj>
              </mc:Fallback>
            </mc:AlternateContent>
          </a:graphicData>
        </a:graphic>
      </p:graphicFrame>
    </p:spTree>
    <p:extLst>
      <p:ext uri="{BB962C8B-B14F-4D97-AF65-F5344CB8AC3E}">
        <p14:creationId xmlns:p14="http://schemas.microsoft.com/office/powerpoint/2010/main" val="108264570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457200" y="1676400"/>
                <a:ext cx="7696200" cy="4876800"/>
              </a:xfrm>
            </p:spPr>
            <p:txBody>
              <a:bodyPr/>
              <a:lstStyle/>
              <a:p>
                <a:pPr eaLnBrk="1" hangingPunct="1">
                  <a:lnSpc>
                    <a:spcPct val="200000"/>
                  </a:lnSpc>
                </a:pPr>
                <a:r>
                  <a:rPr lang="zh-CN" altLang="en-US" sz="2400" b="1" dirty="0" smtClean="0">
                    <a:latin typeface="+mn-ea"/>
                  </a:rPr>
                  <a:t>例</a:t>
                </a:r>
                <a:r>
                  <a:rPr lang="zh-CN" altLang="en-US" sz="2400" dirty="0" smtClean="0">
                    <a:latin typeface="+mn-ea"/>
                  </a:rPr>
                  <a:t>：假设</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b="0" i="1" smtClean="0">
                            <a:latin typeface="Cambria Math" panose="02040503050406030204" pitchFamily="18" charset="0"/>
                          </a:rPr>
                          <m:t>𝑛</m:t>
                        </m:r>
                      </m:sub>
                    </m:sSub>
                  </m:oMath>
                </a14:m>
                <a:r>
                  <a:rPr lang="zh-CN" altLang="en-US" sz="2400" dirty="0" smtClean="0">
                    <a:latin typeface="+mn-ea"/>
                  </a:rPr>
                  <a:t>独立同分布，且服从指数分布族，则样本均值   </a:t>
                </a:r>
                <a14:m>
                  <m:oMath xmlns:m="http://schemas.openxmlformats.org/officeDocument/2006/math">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𝑦</m:t>
                        </m:r>
                      </m:e>
                    </m:acc>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zh-CN" altLang="en-US" sz="2400" i="1">
                            <a:latin typeface="Cambria Math" panose="02040503050406030204" pitchFamily="18" charset="0"/>
                          </a:rPr>
                          <m:t>𝑛</m:t>
                        </m:r>
                      </m:den>
                    </m:f>
                    <m:nary>
                      <m:naryPr>
                        <m:chr m:val="∑"/>
                        <m:limLoc m:val="undOvr"/>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a:latin typeface="Cambria Math" panose="02040503050406030204" pitchFamily="18" charset="0"/>
                          </a:rPr>
                          <m:t>=1</m:t>
                        </m:r>
                      </m:sub>
                      <m:sup>
                        <m:r>
                          <a:rPr lang="zh-CN" altLang="en-US" sz="2400" i="1">
                            <a:latin typeface="Cambria Math" panose="02040503050406030204" pitchFamily="18" charset="0"/>
                          </a:rPr>
                          <m:t>𝑛</m:t>
                        </m:r>
                      </m:sup>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𝑖</m:t>
                            </m:r>
                          </m:sub>
                        </m:sSub>
                      </m:e>
                    </m:nary>
                  </m:oMath>
                </a14:m>
                <a:r>
                  <a:rPr lang="zh-CN" altLang="en-US" sz="2400" dirty="0" smtClean="0">
                    <a:latin typeface="+mn-ea"/>
                  </a:rPr>
                  <a:t>  仍然属于指数分布族。</a:t>
                </a:r>
                <a:endParaRPr lang="en-US" altLang="zh-CN" sz="2400" dirty="0">
                  <a:latin typeface="+mn-ea"/>
                </a:endParaRPr>
              </a:p>
              <a:p>
                <a:pPr eaLnBrk="1" hangingPunct="1">
                  <a:lnSpc>
                    <a:spcPct val="200000"/>
                  </a:lnSpc>
                </a:pPr>
                <a:endParaRPr lang="en-US" altLang="zh-CN" sz="2400" dirty="0" smtClean="0">
                  <a:latin typeface="+mn-ea"/>
                </a:endParaRPr>
              </a:p>
              <a:p>
                <a:pPr eaLnBrk="1" hangingPunct="1">
                  <a:lnSpc>
                    <a:spcPct val="200000"/>
                  </a:lnSpc>
                </a:pPr>
                <a:endParaRPr lang="en-US" altLang="zh-CN" sz="2400" dirty="0">
                  <a:latin typeface="+mn-ea"/>
                </a:endParaRPr>
              </a:p>
              <a:p>
                <a:pPr eaLnBrk="1" hangingPunct="1">
                  <a:lnSpc>
                    <a:spcPct val="200000"/>
                  </a:lnSpc>
                </a:pPr>
                <a:endParaRPr lang="en-US" altLang="zh-CN" sz="2400" dirty="0" smtClean="0">
                  <a:latin typeface="+mn-ea"/>
                </a:endParaRPr>
              </a:p>
              <a:p>
                <a:pPr marL="0" indent="0" eaLnBrk="1" hangingPunct="1">
                  <a:lnSpc>
                    <a:spcPct val="200000"/>
                  </a:lnSpc>
                  <a:buNone/>
                </a:pPr>
                <a:r>
                  <a:rPr lang="zh-CN" altLang="en-US" sz="2400" dirty="0" smtClean="0">
                    <a:latin typeface="华文楷体" panose="02010600040101010101" pitchFamily="2" charset="-122"/>
                    <a:ea typeface="华文楷体" panose="02010600040101010101" pitchFamily="2" charset="-122"/>
                  </a:rPr>
                  <a:t>    </a:t>
                </a:r>
                <a:endParaRPr lang="en-US" altLang="zh-CN" sz="2400" dirty="0" smtClean="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457200" y="1676400"/>
                <a:ext cx="7696200" cy="4876800"/>
              </a:xfrm>
              <a:blipFill rotWithShape="1">
                <a:blip r:embed="rId4"/>
                <a:stretch>
                  <a:fillRect l="-317" r="-5067"/>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6553200" y="5943600"/>
            <a:ext cx="2133600" cy="457200"/>
          </a:xfrm>
        </p:spPr>
        <p:txBody>
          <a:bodyPr/>
          <a:lstStyle/>
          <a:p>
            <a:pPr>
              <a:defRPr/>
            </a:pPr>
            <a:r>
              <a:rPr lang="en-US" altLang="zh-CN" smtClean="0"/>
              <a:t>( </a:t>
            </a:r>
            <a:fld id="{6F4965D5-0B8C-4940-A118-ACA2133EA7E7}" type="slidenum">
              <a:rPr lang="en-US" altLang="zh-CN" smtClean="0"/>
              <a:pPr>
                <a:defRPr/>
              </a:pPr>
              <a:t>83</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147529634"/>
              </p:ext>
            </p:extLst>
          </p:nvPr>
        </p:nvGraphicFramePr>
        <p:xfrm>
          <a:off x="4794250" y="2066925"/>
          <a:ext cx="114300" cy="177800"/>
        </p:xfrm>
        <a:graphic>
          <a:graphicData uri="http://schemas.openxmlformats.org/presentationml/2006/ole">
            <mc:AlternateContent xmlns:mc="http://schemas.openxmlformats.org/markup-compatibility/2006">
              <mc:Choice xmlns:v="urn:schemas-microsoft-com:vml" Requires="v">
                <p:oleObj spid="_x0000_s317775"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794250" y="2066925"/>
                        <a:ext cx="114300" cy="177800"/>
                      </a:xfrm>
                      <a:prstGeom prst="rect">
                        <a:avLst/>
                      </a:prstGeom>
                    </p:spPr>
                  </p:pic>
                </p:oleObj>
              </mc:Fallback>
            </mc:AlternateContent>
          </a:graphicData>
        </a:graphic>
      </p:graphicFrame>
    </p:spTree>
    <p:extLst>
      <p:ext uri="{BB962C8B-B14F-4D97-AF65-F5344CB8AC3E}">
        <p14:creationId xmlns:p14="http://schemas.microsoft.com/office/powerpoint/2010/main" val="80723356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304800" y="5334000"/>
                <a:ext cx="8610600" cy="762000"/>
              </a:xfrm>
            </p:spPr>
            <p:txBody>
              <a:bodyPr/>
              <a:lstStyle/>
              <a:p>
                <a:pPr marL="0" indent="0" eaLnBrk="1" hangingPunct="1">
                  <a:lnSpc>
                    <a:spcPct val="140000"/>
                  </a:lnSpc>
                  <a:buNone/>
                </a:pPr>
                <a:r>
                  <a:rPr lang="zh-CN" altLang="en-US" sz="2400" dirty="0" smtClean="0">
                    <a:latin typeface="华文楷体" panose="02010600040101010101" pitchFamily="2" charset="-122"/>
                    <a:ea typeface="华文楷体" panose="02010600040101010101" pitchFamily="2" charset="-122"/>
                  </a:rPr>
                  <a:t> 与指数分布</a:t>
                </a:r>
                <a:r>
                  <a:rPr lang="zh-CN" altLang="en-US" sz="2400" dirty="0">
                    <a:latin typeface="华文楷体" panose="02010600040101010101" pitchFamily="2" charset="-122"/>
                    <a:ea typeface="华文楷体" panose="02010600040101010101" pitchFamily="2" charset="-122"/>
                  </a:rPr>
                  <a:t>族的矩母函数形式</a:t>
                </a:r>
                <a:r>
                  <a:rPr lang="zh-CN" altLang="en-US" sz="2400" dirty="0" smtClean="0">
                    <a:latin typeface="华文楷体" panose="02010600040101010101" pitchFamily="2" charset="-122"/>
                    <a:ea typeface="华文楷体" panose="02010600040101010101" pitchFamily="2" charset="-122"/>
                  </a:rPr>
                  <a:t>相同，</a:t>
                </a:r>
                <a:r>
                  <a:rPr lang="en-US" altLang="zh-CN" sz="2400" dirty="0" smtClean="0">
                    <a:latin typeface="华文楷体" panose="02010600040101010101" pitchFamily="2" charset="-122"/>
                    <a:ea typeface="华文楷体" panose="02010600040101010101" pitchFamily="2" charset="-122"/>
                  </a:rPr>
                  <a:t> </a:t>
                </a:r>
                <a:r>
                  <a:rPr lang="zh-CN" altLang="en-US" sz="2400" dirty="0" smtClean="0">
                    <a:latin typeface="华文楷体" panose="02010600040101010101" pitchFamily="2" charset="-122"/>
                    <a:ea typeface="华文楷体" panose="02010600040101010101" pitchFamily="2" charset="-122"/>
                  </a:rPr>
                  <a:t>只是将参数</a:t>
                </a:r>
                <a14:m>
                  <m:oMath xmlns:m="http://schemas.openxmlformats.org/officeDocument/2006/math">
                    <m:r>
                      <a:rPr lang="zh-CN" altLang="en-US" sz="2400" i="1">
                        <a:latin typeface="Cambria Math" panose="02040503050406030204" pitchFamily="18" charset="0"/>
                      </a:rPr>
                      <m:t>𝜙</m:t>
                    </m:r>
                  </m:oMath>
                </a14:m>
                <a:r>
                  <a:rPr lang="zh-CN" altLang="en-US" sz="2400" dirty="0" smtClean="0">
                    <a:latin typeface="华文楷体" panose="02010600040101010101" pitchFamily="2" charset="-122"/>
                    <a:ea typeface="华文楷体" panose="02010600040101010101" pitchFamily="2" charset="-122"/>
                  </a:rPr>
                  <a:t>调整为</a:t>
                </a:r>
                <a14:m>
                  <m:oMath xmlns:m="http://schemas.openxmlformats.org/officeDocument/2006/math">
                    <m:f>
                      <m:fPr>
                        <m:type m:val="lin"/>
                        <m:ctrlPr>
                          <a:rPr lang="zh-CN" altLang="en-US" sz="2400" i="1">
                            <a:latin typeface="Cambria Math" panose="02040503050406030204" pitchFamily="18" charset="0"/>
                          </a:rPr>
                        </m:ctrlPr>
                      </m:fPr>
                      <m:num>
                        <m:r>
                          <a:rPr lang="zh-CN" altLang="en-US" sz="2400" i="1">
                            <a:latin typeface="Cambria Math" panose="02040503050406030204" pitchFamily="18" charset="0"/>
                          </a:rPr>
                          <m:t>𝜙</m:t>
                        </m:r>
                      </m:num>
                      <m:den>
                        <m:r>
                          <a:rPr lang="en-US" altLang="zh-CN" sz="2400" b="0" i="1" smtClean="0">
                            <a:latin typeface="Cambria Math" panose="02040503050406030204" pitchFamily="18" charset="0"/>
                          </a:rPr>
                          <m:t>𝑛</m:t>
                        </m:r>
                      </m:den>
                    </m:f>
                  </m:oMath>
                </a14:m>
                <a:r>
                  <a:rPr lang="zh-CN" altLang="en-US" sz="2400" dirty="0" smtClean="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eaLnBrk="1" hangingPunct="1">
                  <a:lnSpc>
                    <a:spcPct val="140000"/>
                  </a:lnSpc>
                </a:pPr>
                <a:endParaRPr lang="en-US" altLang="zh-CN" sz="2400" dirty="0" smtClean="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304800" y="5334000"/>
                <a:ext cx="8610600" cy="762000"/>
              </a:xfrm>
              <a:blipFill rotWithShape="1">
                <a:blip r:embed="rId4"/>
                <a:stretch>
                  <a:fillRect l="-142" t="-63200" r="-7431" b="-89600"/>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6553200" y="5943600"/>
            <a:ext cx="2133600" cy="457200"/>
          </a:xfrm>
        </p:spPr>
        <p:txBody>
          <a:bodyPr/>
          <a:lstStyle/>
          <a:p>
            <a:pPr>
              <a:defRPr/>
            </a:pPr>
            <a:r>
              <a:rPr lang="en-US" altLang="zh-CN" smtClean="0"/>
              <a:t>( </a:t>
            </a:r>
            <a:fld id="{6F4965D5-0B8C-4940-A118-ACA2133EA7E7}" type="slidenum">
              <a:rPr lang="en-US" altLang="zh-CN" smtClean="0"/>
              <a:pPr>
                <a:defRPr/>
              </a:pPr>
              <a:t>84</a:t>
            </a:fld>
            <a:r>
              <a:rPr lang="en-US" altLang="zh-CN" smtClean="0"/>
              <a:t> )</a:t>
            </a:r>
            <a:endParaRPr lang="en-US" altLang="zh-CN"/>
          </a:p>
        </p:txBody>
      </p:sp>
      <p:graphicFrame>
        <p:nvGraphicFramePr>
          <p:cNvPr id="6" name="对象 5"/>
          <p:cNvGraphicFramePr>
            <a:graphicFrameLocks noChangeAspect="1"/>
          </p:cNvGraphicFramePr>
          <p:nvPr>
            <p:extLst>
              <p:ext uri="{D42A27DB-BD31-4B8C-83A1-F6EECF244321}">
                <p14:modId xmlns:p14="http://schemas.microsoft.com/office/powerpoint/2010/main" val="3699071156"/>
              </p:ext>
            </p:extLst>
          </p:nvPr>
        </p:nvGraphicFramePr>
        <p:xfrm>
          <a:off x="4794250" y="2066925"/>
          <a:ext cx="114300" cy="177800"/>
        </p:xfrm>
        <a:graphic>
          <a:graphicData uri="http://schemas.openxmlformats.org/presentationml/2006/ole">
            <mc:AlternateContent xmlns:mc="http://schemas.openxmlformats.org/markup-compatibility/2006">
              <mc:Choice xmlns:v="urn:schemas-microsoft-com:vml" Requires="v">
                <p:oleObj spid="_x0000_s395404"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794250" y="2066925"/>
                        <a:ext cx="114300" cy="1778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135432258"/>
              </p:ext>
            </p:extLst>
          </p:nvPr>
        </p:nvGraphicFramePr>
        <p:xfrm>
          <a:off x="609600" y="1219200"/>
          <a:ext cx="7639050" cy="3913188"/>
        </p:xfrm>
        <a:graphic>
          <a:graphicData uri="http://schemas.openxmlformats.org/presentationml/2006/ole">
            <mc:AlternateContent xmlns:mc="http://schemas.openxmlformats.org/markup-compatibility/2006">
              <mc:Choice xmlns:v="urn:schemas-microsoft-com:vml" Requires="v">
                <p:oleObj spid="_x0000_s395405" name="Equation" r:id="rId7" imgW="3720960" imgH="1904760" progId="Equation.DSMT4">
                  <p:embed/>
                </p:oleObj>
              </mc:Choice>
              <mc:Fallback>
                <p:oleObj name="Equation" r:id="rId7" imgW="3720960" imgH="1904760" progId="Equation.DSMT4">
                  <p:embed/>
                  <p:pic>
                    <p:nvPicPr>
                      <p:cNvPr id="0" name=""/>
                      <p:cNvPicPr/>
                      <p:nvPr/>
                    </p:nvPicPr>
                    <p:blipFill>
                      <a:blip r:embed="rId8"/>
                      <a:stretch>
                        <a:fillRect/>
                      </a:stretch>
                    </p:blipFill>
                    <p:spPr>
                      <a:xfrm>
                        <a:off x="609600" y="1219200"/>
                        <a:ext cx="7639050" cy="3913188"/>
                      </a:xfrm>
                      <a:prstGeom prst="rect">
                        <a:avLst/>
                      </a:prstGeom>
                    </p:spPr>
                  </p:pic>
                </p:oleObj>
              </mc:Fallback>
            </mc:AlternateContent>
          </a:graphicData>
        </a:graphic>
      </p:graphicFrame>
      <p:sp>
        <p:nvSpPr>
          <p:cNvPr id="2" name="TextBox 1"/>
          <p:cNvSpPr txBox="1"/>
          <p:nvPr/>
        </p:nvSpPr>
        <p:spPr>
          <a:xfrm>
            <a:off x="609600" y="542396"/>
            <a:ext cx="1107996" cy="461665"/>
          </a:xfrm>
          <a:prstGeom prst="rect">
            <a:avLst/>
          </a:prstGeom>
          <a:noFill/>
        </p:spPr>
        <p:txBody>
          <a:bodyPr wrap="none" rtlCol="0">
            <a:spAutoFit/>
          </a:bodyPr>
          <a:lstStyle/>
          <a:p>
            <a:r>
              <a:rPr lang="zh-CN" altLang="en-US" b="1" dirty="0" smtClean="0">
                <a:solidFill>
                  <a:srgbClr val="0033CC"/>
                </a:solidFill>
              </a:rPr>
              <a:t>证明：</a:t>
            </a:r>
            <a:endParaRPr lang="zh-CN" altLang="en-US" b="1" dirty="0">
              <a:solidFill>
                <a:srgbClr val="0033CC"/>
              </a:solidFill>
            </a:endParaRPr>
          </a:p>
        </p:txBody>
      </p:sp>
    </p:spTree>
    <p:extLst>
      <p:ext uri="{BB962C8B-B14F-4D97-AF65-F5344CB8AC3E}">
        <p14:creationId xmlns:p14="http://schemas.microsoft.com/office/powerpoint/2010/main" val="122010032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457200" y="1676400"/>
                <a:ext cx="7620000" cy="4343400"/>
              </a:xfrm>
            </p:spPr>
            <p:txBody>
              <a:bodyPr/>
              <a:lstStyle/>
              <a:p>
                <a:pPr eaLnBrk="1" hangingPunct="1">
                  <a:lnSpc>
                    <a:spcPct val="200000"/>
                  </a:lnSpc>
                </a:pPr>
                <a:r>
                  <a:rPr lang="zh-CN" altLang="en-US" sz="2400" b="1" dirty="0" smtClean="0">
                    <a:latin typeface="+mn-ea"/>
                  </a:rPr>
                  <a:t>例</a:t>
                </a:r>
                <a:r>
                  <a:rPr lang="zh-CN" altLang="en-US" sz="2400" dirty="0" smtClean="0">
                    <a:latin typeface="+mn-ea"/>
                  </a:rPr>
                  <a:t>：泊松分布乘以正常数以后，仍然属于指数分布族，即若  </a:t>
                </a:r>
                <a14:m>
                  <m:oMath xmlns:m="http://schemas.openxmlformats.org/officeDocument/2006/math">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Poisson</m:t>
                    </m:r>
                    <m:r>
                      <a:rPr lang="en-US" altLang="zh-CN" sz="2400" b="0" i="1" smtClean="0">
                        <a:latin typeface="Cambria Math" panose="02040503050406030204" pitchFamily="18" charset="0"/>
                      </a:rPr>
                      <m:t>(</m:t>
                    </m:r>
                    <m:f>
                      <m:fPr>
                        <m:type m:val="lin"/>
                        <m:ctrlPr>
                          <a:rPr lang="zh-CN" altLang="en-US" sz="2400" b="0" i="1" smtClean="0">
                            <a:latin typeface="Cambria Math" panose="02040503050406030204" pitchFamily="18" charset="0"/>
                          </a:rPr>
                        </m:ctrlPr>
                      </m:fPr>
                      <m:num>
                        <m:r>
                          <a:rPr lang="zh-CN" altLang="en-US" sz="2400" b="0" i="1" smtClean="0">
                            <a:latin typeface="Cambria Math" panose="02040503050406030204" pitchFamily="18" charset="0"/>
                          </a:rPr>
                          <m:t>𝜇</m:t>
                        </m:r>
                      </m:num>
                      <m:den>
                        <m:r>
                          <a:rPr lang="zh-CN" altLang="en-US" sz="2400" b="0" i="1" smtClean="0">
                            <a:latin typeface="Cambria Math" panose="02040503050406030204" pitchFamily="18" charset="0"/>
                          </a:rPr>
                          <m:t>𝜙</m:t>
                        </m:r>
                      </m:den>
                    </m:f>
                    <m:r>
                      <a:rPr lang="en-US" altLang="zh-CN" sz="2400" b="0" i="1" smtClean="0">
                        <a:latin typeface="Cambria Math" panose="02040503050406030204" pitchFamily="18" charset="0"/>
                      </a:rPr>
                      <m:t>)</m:t>
                    </m:r>
                  </m:oMath>
                </a14:m>
                <a:r>
                  <a:rPr lang="zh-CN" altLang="en-US" sz="2400" dirty="0" smtClean="0">
                    <a:latin typeface="+mn-ea"/>
                  </a:rPr>
                  <a:t>，且</a:t>
                </a:r>
                <a14:m>
                  <m:oMath xmlns:m="http://schemas.openxmlformats.org/officeDocument/2006/math">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𝜙</m:t>
                    </m:r>
                    <m:r>
                      <a:rPr lang="en-US" altLang="zh-CN" sz="2400" b="0" i="1" smtClean="0">
                        <a:latin typeface="Cambria Math" panose="02040503050406030204" pitchFamily="18" charset="0"/>
                      </a:rPr>
                      <m:t>𝑥</m:t>
                    </m:r>
                  </m:oMath>
                </a14:m>
                <a:r>
                  <a:rPr lang="zh-CN" altLang="en-US" sz="2400" dirty="0" smtClean="0">
                    <a:latin typeface="+mn-ea"/>
                  </a:rPr>
                  <a:t>，则</a:t>
                </a:r>
                <a14:m>
                  <m:oMath xmlns:m="http://schemas.openxmlformats.org/officeDocument/2006/math">
                    <m:r>
                      <a:rPr lang="en-US" altLang="zh-CN" sz="2400" i="1">
                        <a:latin typeface="Cambria Math" panose="02040503050406030204" pitchFamily="18" charset="0"/>
                      </a:rPr>
                      <m:t>𝑦</m:t>
                    </m:r>
                  </m:oMath>
                </a14:m>
                <a:r>
                  <a:rPr lang="zh-CN" altLang="en-US" sz="2400" dirty="0" smtClean="0">
                    <a:latin typeface="+mn-ea"/>
                  </a:rPr>
                  <a:t>属于指数分布族。</a:t>
                </a:r>
                <a:endParaRPr lang="en-US" altLang="zh-CN" sz="2400" dirty="0">
                  <a:latin typeface="华文楷体" panose="02010600040101010101" pitchFamily="2" charset="-122"/>
                  <a:ea typeface="华文楷体" panose="02010600040101010101" pitchFamily="2" charset="-122"/>
                </a:endParaRPr>
              </a:p>
              <a:p>
                <a:pPr eaLnBrk="1" hangingPunct="1">
                  <a:lnSpc>
                    <a:spcPct val="200000"/>
                  </a:lnSpc>
                </a:pPr>
                <a:endParaRPr lang="en-US" altLang="zh-CN" sz="2400" dirty="0" smtClean="0">
                  <a:latin typeface="+mn-ea"/>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457200" y="1676400"/>
                <a:ext cx="7620000" cy="4343400"/>
              </a:xfrm>
              <a:blipFill rotWithShape="1">
                <a:blip r:embed="rId4"/>
                <a:stretch>
                  <a:fillRect l="-320" r="-4080"/>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6553200" y="5715000"/>
            <a:ext cx="2133600" cy="457200"/>
          </a:xfrm>
        </p:spPr>
        <p:txBody>
          <a:bodyPr/>
          <a:lstStyle/>
          <a:p>
            <a:pPr>
              <a:defRPr/>
            </a:pPr>
            <a:r>
              <a:rPr lang="en-US" altLang="zh-CN" dirty="0" smtClean="0"/>
              <a:t>( </a:t>
            </a:r>
            <a:fld id="{6F4965D5-0B8C-4940-A118-ACA2133EA7E7}" type="slidenum">
              <a:rPr lang="en-US" altLang="zh-CN" smtClean="0"/>
              <a:pPr>
                <a:defRPr/>
              </a:pPr>
              <a:t>85</a:t>
            </a:fld>
            <a:r>
              <a:rPr lang="en-US" altLang="zh-CN" dirty="0" smtClean="0"/>
              <a:t> )</a:t>
            </a:r>
            <a:endParaRPr lang="en-US" altLang="zh-CN" dirty="0"/>
          </a:p>
        </p:txBody>
      </p:sp>
      <p:graphicFrame>
        <p:nvGraphicFramePr>
          <p:cNvPr id="6" name="对象 5"/>
          <p:cNvGraphicFramePr>
            <a:graphicFrameLocks noChangeAspect="1"/>
          </p:cNvGraphicFramePr>
          <p:nvPr>
            <p:extLst>
              <p:ext uri="{D42A27DB-BD31-4B8C-83A1-F6EECF244321}">
                <p14:modId xmlns:p14="http://schemas.microsoft.com/office/powerpoint/2010/main" val="2436599930"/>
              </p:ext>
            </p:extLst>
          </p:nvPr>
        </p:nvGraphicFramePr>
        <p:xfrm>
          <a:off x="4794250" y="1838325"/>
          <a:ext cx="114300" cy="177800"/>
        </p:xfrm>
        <a:graphic>
          <a:graphicData uri="http://schemas.openxmlformats.org/presentationml/2006/ole">
            <mc:AlternateContent xmlns:mc="http://schemas.openxmlformats.org/markup-compatibility/2006">
              <mc:Choice xmlns:v="urn:schemas-microsoft-com:vml" Requires="v">
                <p:oleObj spid="_x0000_s318795"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794250" y="1838325"/>
                        <a:ext cx="114300" cy="177800"/>
                      </a:xfrm>
                      <a:prstGeom prst="rect">
                        <a:avLst/>
                      </a:prstGeom>
                    </p:spPr>
                  </p:pic>
                </p:oleObj>
              </mc:Fallback>
            </mc:AlternateContent>
          </a:graphicData>
        </a:graphic>
      </p:graphicFrame>
    </p:spTree>
    <p:extLst>
      <p:ext uri="{BB962C8B-B14F-4D97-AF65-F5344CB8AC3E}">
        <p14:creationId xmlns:p14="http://schemas.microsoft.com/office/powerpoint/2010/main" val="402235814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35" name="Rectangle 3"/>
              <p:cNvSpPr>
                <a:spLocks noGrp="1" noChangeArrowheads="1"/>
              </p:cNvSpPr>
              <p:nvPr>
                <p:ph type="body" idx="1"/>
              </p:nvPr>
            </p:nvSpPr>
            <p:spPr>
              <a:xfrm>
                <a:off x="762000" y="5638800"/>
                <a:ext cx="7620000" cy="685800"/>
              </a:xfrm>
            </p:spPr>
            <p:txBody>
              <a:bodyPr/>
              <a:lstStyle/>
              <a:p>
                <a:pPr marL="0" indent="0" eaLnBrk="1" hangingPunct="1">
                  <a:lnSpc>
                    <a:spcPct val="140000"/>
                  </a:lnSpc>
                  <a:buNone/>
                </a:pPr>
                <a:r>
                  <a:rPr lang="zh-CN" altLang="en-US" sz="2400" dirty="0" smtClean="0">
                    <a:latin typeface="华文楷体" panose="02010600040101010101" pitchFamily="2" charset="-122"/>
                    <a:ea typeface="华文楷体" panose="02010600040101010101" pitchFamily="2" charset="-122"/>
                  </a:rPr>
                  <a:t>   与指数分布族的矩母函数</a:t>
                </a:r>
                <a:r>
                  <a:rPr lang="zh-CN" altLang="en-US" sz="2400" dirty="0">
                    <a:latin typeface="华文楷体" panose="02010600040101010101" pitchFamily="2" charset="-122"/>
                    <a:ea typeface="华文楷体" panose="02010600040101010101" pitchFamily="2" charset="-122"/>
                  </a:rPr>
                  <a:t>形式</a:t>
                </a:r>
                <a:r>
                  <a:rPr lang="zh-CN" altLang="en-US" sz="2400" dirty="0" smtClean="0">
                    <a:latin typeface="华文楷体" panose="02010600040101010101" pitchFamily="2" charset="-122"/>
                    <a:ea typeface="华文楷体" panose="02010600040101010101" pitchFamily="2" charset="-122"/>
                  </a:rPr>
                  <a:t>相同（令</a:t>
                </a:r>
                <a14:m>
                  <m:oMath xmlns:m="http://schemas.openxmlformats.org/officeDocument/2006/math">
                    <m:sSup>
                      <m:sSupPr>
                        <m:ctrlPr>
                          <a:rPr lang="zh-CN" altLang="en-US" sz="2400" i="1">
                            <a:latin typeface="Cambria Math" panose="02040503050406030204" pitchFamily="18" charset="0"/>
                          </a:rPr>
                        </m:ctrlPr>
                      </m:sSupPr>
                      <m:e>
                        <m:r>
                          <a:rPr lang="en-US" altLang="zh-CN" sz="2400" i="1">
                            <a:latin typeface="Cambria Math" panose="02040503050406030204" pitchFamily="18" charset="0"/>
                          </a:rPr>
                          <m:t>𝑏</m:t>
                        </m:r>
                        <m:d>
                          <m:dPr>
                            <m:ctrlPr>
                              <a:rPr lang="en-US" altLang="zh-CN" sz="2400" i="1">
                                <a:latin typeface="Cambria Math" panose="02040503050406030204" pitchFamily="18" charset="0"/>
                              </a:rPr>
                            </m:ctrlPr>
                          </m:dPr>
                          <m:e>
                            <m:r>
                              <a:rPr lang="zh-CN" altLang="en-US" sz="2400" i="1">
                                <a:latin typeface="Cambria Math" panose="02040503050406030204" pitchFamily="18" charset="0"/>
                              </a:rPr>
                              <m:t>𝜃</m:t>
                            </m:r>
                          </m:e>
                        </m:d>
                        <m:r>
                          <a:rPr lang="en-US" altLang="zh-CN" sz="2400" i="1">
                            <a:latin typeface="Cambria Math" panose="02040503050406030204" pitchFamily="18" charset="0"/>
                          </a:rPr>
                          <m:t>=</m:t>
                        </m:r>
                        <m:r>
                          <a:rPr lang="zh-CN" altLang="en-US" sz="2400" i="1">
                            <a:latin typeface="Cambria Math" panose="02040503050406030204" pitchFamily="18" charset="0"/>
                          </a:rPr>
                          <m:t>𝑒</m:t>
                        </m:r>
                      </m:e>
                      <m:sup>
                        <m:r>
                          <a:rPr lang="zh-CN" altLang="en-US" sz="2400" i="1">
                            <a:latin typeface="Cambria Math" panose="02040503050406030204" pitchFamily="18" charset="0"/>
                          </a:rPr>
                          <m:t>𝜃</m:t>
                        </m:r>
                      </m:sup>
                    </m:sSup>
                    <m:r>
                      <a:rPr lang="zh-CN" altLang="en-US" sz="2400" i="1">
                        <a:latin typeface="Cambria Math" panose="02040503050406030204" pitchFamily="18" charset="0"/>
                      </a:rPr>
                      <m:t> </m:t>
                    </m:r>
                  </m:oMath>
                </a14:m>
                <a:r>
                  <a:rPr lang="zh-CN" altLang="en-US" sz="2400" dirty="0" smtClean="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p:txBody>
          </p:sp>
        </mc:Choice>
        <mc:Fallback xmlns="">
          <p:sp>
            <p:nvSpPr>
              <p:cNvPr id="44035" name="Rectangle 3"/>
              <p:cNvSpPr>
                <a:spLocks noGrp="1" noRot="1" noChangeAspect="1" noMove="1" noResize="1" noEditPoints="1" noAdjustHandles="1" noChangeArrowheads="1" noChangeShapeType="1" noTextEdit="1"/>
              </p:cNvSpPr>
              <p:nvPr>
                <p:ph type="body" idx="1"/>
              </p:nvPr>
            </p:nvSpPr>
            <p:spPr>
              <a:xfrm>
                <a:off x="762000" y="5638800"/>
                <a:ext cx="7620000" cy="685800"/>
              </a:xfrm>
              <a:blipFill rotWithShape="1">
                <a:blip r:embed="rId4"/>
                <a:stretch>
                  <a:fillRect r="-880" b="-4425"/>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a:xfrm>
            <a:off x="6553200" y="5715000"/>
            <a:ext cx="2133600" cy="457200"/>
          </a:xfrm>
        </p:spPr>
        <p:txBody>
          <a:bodyPr/>
          <a:lstStyle/>
          <a:p>
            <a:pPr>
              <a:defRPr/>
            </a:pPr>
            <a:r>
              <a:rPr lang="en-US" altLang="zh-CN" dirty="0" smtClean="0"/>
              <a:t>( </a:t>
            </a:r>
            <a:fld id="{6F4965D5-0B8C-4940-A118-ACA2133EA7E7}" type="slidenum">
              <a:rPr lang="en-US" altLang="zh-CN" smtClean="0"/>
              <a:pPr>
                <a:defRPr/>
              </a:pPr>
              <a:t>86</a:t>
            </a:fld>
            <a:r>
              <a:rPr lang="en-US" altLang="zh-CN" dirty="0" smtClean="0"/>
              <a:t> )</a:t>
            </a:r>
            <a:endParaRPr lang="en-US" altLang="zh-CN" dirty="0"/>
          </a:p>
        </p:txBody>
      </p:sp>
      <p:graphicFrame>
        <p:nvGraphicFramePr>
          <p:cNvPr id="6" name="对象 5"/>
          <p:cNvGraphicFramePr>
            <a:graphicFrameLocks noChangeAspect="1"/>
          </p:cNvGraphicFramePr>
          <p:nvPr>
            <p:extLst>
              <p:ext uri="{D42A27DB-BD31-4B8C-83A1-F6EECF244321}">
                <p14:modId xmlns:p14="http://schemas.microsoft.com/office/powerpoint/2010/main" val="1642426832"/>
              </p:ext>
            </p:extLst>
          </p:nvPr>
        </p:nvGraphicFramePr>
        <p:xfrm>
          <a:off x="4794250" y="1838325"/>
          <a:ext cx="114300" cy="177800"/>
        </p:xfrm>
        <a:graphic>
          <a:graphicData uri="http://schemas.openxmlformats.org/presentationml/2006/ole">
            <mc:AlternateContent xmlns:mc="http://schemas.openxmlformats.org/markup-compatibility/2006">
              <mc:Choice xmlns:v="urn:schemas-microsoft-com:vml" Requires="v">
                <p:oleObj spid="_x0000_s396430"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4794250" y="1838325"/>
                        <a:ext cx="114300" cy="17780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235266675"/>
              </p:ext>
            </p:extLst>
          </p:nvPr>
        </p:nvGraphicFramePr>
        <p:xfrm>
          <a:off x="990600" y="1066800"/>
          <a:ext cx="6773863" cy="4498975"/>
        </p:xfrm>
        <a:graphic>
          <a:graphicData uri="http://schemas.openxmlformats.org/presentationml/2006/ole">
            <mc:AlternateContent xmlns:mc="http://schemas.openxmlformats.org/markup-compatibility/2006">
              <mc:Choice xmlns:v="urn:schemas-microsoft-com:vml" Requires="v">
                <p:oleObj spid="_x0000_s396431" name="Equation" r:id="rId7" imgW="3340080" imgH="2209680" progId="Equation.DSMT4">
                  <p:embed/>
                </p:oleObj>
              </mc:Choice>
              <mc:Fallback>
                <p:oleObj name="Equation" r:id="rId7" imgW="3340080" imgH="2209680" progId="Equation.DSMT4">
                  <p:embed/>
                  <p:pic>
                    <p:nvPicPr>
                      <p:cNvPr id="0" name=""/>
                      <p:cNvPicPr/>
                      <p:nvPr/>
                    </p:nvPicPr>
                    <p:blipFill>
                      <a:blip r:embed="rId8"/>
                      <a:stretch>
                        <a:fillRect/>
                      </a:stretch>
                    </p:blipFill>
                    <p:spPr>
                      <a:xfrm>
                        <a:off x="990600" y="1066800"/>
                        <a:ext cx="6773863" cy="4498975"/>
                      </a:xfrm>
                      <a:prstGeom prst="rect">
                        <a:avLst/>
                      </a:prstGeom>
                    </p:spPr>
                  </p:pic>
                </p:oleObj>
              </mc:Fallback>
            </mc:AlternateContent>
          </a:graphicData>
        </a:graphic>
      </p:graphicFrame>
      <p:sp>
        <p:nvSpPr>
          <p:cNvPr id="2" name="TextBox 1"/>
          <p:cNvSpPr txBox="1"/>
          <p:nvPr/>
        </p:nvSpPr>
        <p:spPr>
          <a:xfrm>
            <a:off x="914400" y="420476"/>
            <a:ext cx="1107996" cy="461665"/>
          </a:xfrm>
          <a:prstGeom prst="rect">
            <a:avLst/>
          </a:prstGeom>
          <a:noFill/>
        </p:spPr>
        <p:txBody>
          <a:bodyPr wrap="none" rtlCol="0">
            <a:spAutoFit/>
          </a:bodyPr>
          <a:lstStyle/>
          <a:p>
            <a:r>
              <a:rPr lang="zh-CN" altLang="en-US" b="1" dirty="0" smtClean="0">
                <a:solidFill>
                  <a:srgbClr val="0033CC"/>
                </a:solidFill>
              </a:rPr>
              <a:t>证明：</a:t>
            </a:r>
            <a:endParaRPr lang="zh-CN" altLang="en-US" b="1" dirty="0">
              <a:solidFill>
                <a:srgbClr val="0033CC"/>
              </a:solidFill>
            </a:endParaRPr>
          </a:p>
        </p:txBody>
      </p:sp>
    </p:spTree>
    <p:extLst>
      <p:ext uri="{BB962C8B-B14F-4D97-AF65-F5344CB8AC3E}">
        <p14:creationId xmlns:p14="http://schemas.microsoft.com/office/powerpoint/2010/main" val="291666869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3295" y="-24063"/>
            <a:ext cx="7543800" cy="1295400"/>
          </a:xfrm>
        </p:spPr>
        <p:txBody>
          <a:bodyPr/>
          <a:lstStyle/>
          <a:p>
            <a:r>
              <a:rPr lang="en-US" altLang="zh-CN" sz="2800" dirty="0" smtClean="0"/>
              <a:t> </a:t>
            </a:r>
            <a:r>
              <a:rPr lang="zh-CN" altLang="en-US" sz="2800" dirty="0" smtClean="0"/>
              <a:t>连接函数</a:t>
            </a:r>
            <a:endParaRPr lang="zh-CN" altLang="en-US" sz="2800" dirty="0"/>
          </a:p>
        </p:txBody>
      </p:sp>
      <p:sp>
        <p:nvSpPr>
          <p:cNvPr id="4" name="灯片编号占位符 3"/>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87</a:t>
            </a:fld>
            <a:r>
              <a:rPr lang="en-US" altLang="zh-CN" smtClean="0"/>
              <a:t> )</a:t>
            </a:r>
            <a:endParaRPr lang="en-US" altLang="zh-CN"/>
          </a:p>
        </p:txBody>
      </p:sp>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3331587600"/>
                  </p:ext>
                </p:extLst>
              </p:nvPr>
            </p:nvGraphicFramePr>
            <p:xfrm>
              <a:off x="685800" y="1447797"/>
              <a:ext cx="7696200" cy="5105403"/>
            </p:xfrm>
            <a:graphic>
              <a:graphicData uri="http://schemas.openxmlformats.org/drawingml/2006/table">
                <a:tbl>
                  <a:tblPr firstRow="1" bandRow="1">
                    <a:tableStyleId>{21E4AEA4-8DFA-4A89-87EB-49C32662AFE0}</a:tableStyleId>
                  </a:tblPr>
                  <a:tblGrid>
                    <a:gridCol w="3848100">
                      <a:extLst>
                        <a:ext uri="{9D8B030D-6E8A-4147-A177-3AD203B41FA5}">
                          <a16:colId xmlns:a16="http://schemas.microsoft.com/office/drawing/2014/main" val="20000"/>
                        </a:ext>
                      </a:extLst>
                    </a:gridCol>
                    <a:gridCol w="3848100">
                      <a:extLst>
                        <a:ext uri="{9D8B030D-6E8A-4147-A177-3AD203B41FA5}">
                          <a16:colId xmlns:a16="http://schemas.microsoft.com/office/drawing/2014/main" val="20001"/>
                        </a:ext>
                      </a:extLst>
                    </a:gridCol>
                  </a:tblGrid>
                  <a:tr h="567267">
                    <a:tc>
                      <a:txBody>
                        <a:bodyPr/>
                        <a:lstStyle/>
                        <a:p>
                          <a:pPr algn="ctr"/>
                          <a:r>
                            <a:rPr lang="zh-CN" altLang="en-US" dirty="0" smtClean="0"/>
                            <a:t>名称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smtClean="0"/>
                            <a:t>连接函数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67267">
                    <a:tc>
                      <a:txBody>
                        <a:bodyPr/>
                        <a:lstStyle/>
                        <a:p>
                          <a:pPr algn="ctr"/>
                          <a:r>
                            <a:rPr lang="zh-CN" altLang="en-US" dirty="0" smtClean="0"/>
                            <a:t>恒等</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𝜇</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7267">
                    <a:tc>
                      <a:txBody>
                        <a:bodyPr/>
                        <a:lstStyle/>
                        <a:p>
                          <a:pPr algn="ctr"/>
                          <a:r>
                            <a:rPr lang="zh-CN" altLang="en-US" dirty="0" smtClean="0"/>
                            <a:t>对数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ln</m:t>
                                </m:r>
                                <m:r>
                                  <a:rPr lang="en-US" altLang="zh-CN" b="0" i="0" smtClean="0">
                                    <a:latin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μ</m:t>
                                </m:r>
                                <m:r>
                                  <a:rPr lang="en-US" altLang="zh-CN" b="0" i="0"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7267">
                    <a:tc>
                      <a:txBody>
                        <a:bodyPr/>
                        <a:lstStyle/>
                        <a:p>
                          <a:pPr algn="ctr"/>
                          <a:r>
                            <a:rPr lang="zh-CN" altLang="en-US" dirty="0" smtClean="0"/>
                            <a:t>平方根</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zh-CN" altLang="en-US" b="0" i="1" smtClean="0">
                                        <a:latin typeface="Cambria Math" panose="02040503050406030204" pitchFamily="18" charset="0"/>
                                      </a:rPr>
                                      <m:t>𝜇</m:t>
                                    </m:r>
                                  </m:e>
                                </m:rad>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67267">
                    <a:tc>
                      <a:txBody>
                        <a:bodyPr/>
                        <a:lstStyle/>
                        <a:p>
                          <a:pPr algn="ctr"/>
                          <a:r>
                            <a:rPr lang="zh-CN" altLang="en-US" dirty="0" smtClean="0"/>
                            <a:t>幂函数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zh-CN" altLang="en-US" b="0" i="1" smtClean="0">
                                        <a:latin typeface="Cambria Math" panose="02040503050406030204" pitchFamily="18" charset="0"/>
                                      </a:rPr>
                                      <m:t>𝜇</m:t>
                                    </m:r>
                                  </m:e>
                                  <m:sup>
                                    <m:r>
                                      <a:rPr lang="en-US" altLang="zh-CN" b="0" i="1" smtClean="0">
                                        <a:latin typeface="Cambria Math" panose="02040503050406030204" pitchFamily="18" charset="0"/>
                                      </a:rPr>
                                      <m:t>𝑝</m:t>
                                    </m:r>
                                  </m:sup>
                                </m:sSup>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67267">
                    <a:tc>
                      <a:txBody>
                        <a:bodyPr/>
                        <a:lstStyle/>
                        <a:p>
                          <a:pPr algn="ctr"/>
                          <a:r>
                            <a:rPr lang="en-US" altLang="zh-CN" dirty="0" smtClean="0"/>
                            <a:t>logit</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ln</m:t>
                                </m:r>
                                <m:r>
                                  <a:rPr lang="en-US" altLang="zh-CN" b="0" i="1" smtClean="0">
                                    <a:latin typeface="Cambria Math" panose="02040503050406030204" pitchFamily="18" charset="0"/>
                                  </a:rPr>
                                  <m:t>⁡[</m:t>
                                </m:r>
                                <m:f>
                                  <m:fPr>
                                    <m:type m:val="lin"/>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𝜇</m:t>
                                    </m:r>
                                  </m:num>
                                  <m:den>
                                    <m:r>
                                      <a:rPr lang="en-US" altLang="zh-CN" b="0" i="1" smtClean="0">
                                        <a:latin typeface="Cambria Math" panose="02040503050406030204" pitchFamily="18" charset="0"/>
                                      </a:rPr>
                                      <m:t>(1−</m:t>
                                    </m:r>
                                    <m:r>
                                      <a:rPr lang="zh-CN" altLang="en-US" b="0" i="1" smtClean="0">
                                        <a:latin typeface="Cambria Math" panose="02040503050406030204" pitchFamily="18" charset="0"/>
                                      </a:rPr>
                                      <m:t>𝜇</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67267">
                    <a:tc>
                      <a:txBody>
                        <a:bodyPr/>
                        <a:lstStyle/>
                        <a:p>
                          <a:pPr algn="ctr"/>
                          <a:r>
                            <a:rPr lang="en-US" altLang="zh-CN" dirty="0" err="1" smtClean="0"/>
                            <a:t>Probit</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m:rPr>
                                        <m:sty m:val="p"/>
                                      </m:rPr>
                                      <a:rPr lang="el-GR" altLang="zh-CN" b="0" i="1" smtClean="0">
                                        <a:latin typeface="Cambria Math" panose="02040503050406030204" pitchFamily="18" charset="0"/>
                                        <a:ea typeface="Cambria Math" panose="02040503050406030204" pitchFamily="18" charset="0"/>
                                      </a:rPr>
                                      <m:t>Φ</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r>
                                  <a:rPr lang="zh-CN" altLang="en-US" b="0" i="1" smtClean="0">
                                    <a:latin typeface="Cambria Math" panose="02040503050406030204" pitchFamily="18" charset="0"/>
                                  </a:rPr>
                                  <m:t>𝜇</m:t>
                                </m:r>
                                <m:r>
                                  <a:rPr lang="en-US" altLang="zh-CN" b="0"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67267">
                    <a:tc>
                      <a:txBody>
                        <a:bodyPr/>
                        <a:lstStyle/>
                        <a:p>
                          <a:pPr algn="ctr"/>
                          <a:r>
                            <a:rPr lang="en-US" altLang="zh-CN" dirty="0" smtClean="0"/>
                            <a:t>log-log</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ln</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ln</m:t>
                                </m:r>
                                <m:r>
                                  <a:rPr lang="en-US" altLang="zh-CN" b="0" i="1" smtClean="0">
                                    <a:latin typeface="Cambria Math" panose="02040503050406030204" pitchFamily="18" charset="0"/>
                                  </a:rPr>
                                  <m:t>⁡(</m:t>
                                </m:r>
                                <m:r>
                                  <a:rPr lang="zh-CN" altLang="en-US" b="0" i="1" smtClean="0">
                                    <a:latin typeface="Cambria Math" panose="02040503050406030204" pitchFamily="18" charset="0"/>
                                  </a:rPr>
                                  <m:t>𝜇</m:t>
                                </m:r>
                                <m:r>
                                  <a:rPr lang="en-US" altLang="zh-CN" b="0"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67267">
                    <a:tc>
                      <a:txBody>
                        <a:bodyPr/>
                        <a:lstStyle/>
                        <a:p>
                          <a:pPr algn="ctr"/>
                          <a:r>
                            <a:rPr lang="en-US" altLang="zh-CN" dirty="0" smtClean="0"/>
                            <a:t>Complementary</a:t>
                          </a:r>
                          <a:r>
                            <a:rPr lang="en-US" altLang="zh-CN" baseline="0" dirty="0" smtClean="0"/>
                            <a:t> log-log</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zh-CN" altLang="en-US" b="0" i="1" smtClean="0">
                                        <a:latin typeface="Cambria Math" panose="02040503050406030204" pitchFamily="18" charset="0"/>
                                      </a:rPr>
                                      <m:t>𝜇</m:t>
                                    </m:r>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ln</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ln</m:t>
                                </m:r>
                                <m:r>
                                  <a:rPr lang="en-US" altLang="zh-CN" b="0" i="1" smtClean="0">
                                    <a:latin typeface="Cambria Math" panose="02040503050406030204" pitchFamily="18" charset="0"/>
                                  </a:rPr>
                                  <m:t>⁡(1−</m:t>
                                </m:r>
                                <m:r>
                                  <a:rPr lang="zh-CN" altLang="en-US" b="0" i="1" smtClean="0">
                                    <a:latin typeface="Cambria Math" panose="02040503050406030204" pitchFamily="18" charset="0"/>
                                  </a:rPr>
                                  <m:t>𝜇</m:t>
                                </m:r>
                                <m:r>
                                  <a:rPr lang="en-US" altLang="zh-CN" b="0"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3331587600"/>
                  </p:ext>
                </p:extLst>
              </p:nvPr>
            </p:nvGraphicFramePr>
            <p:xfrm>
              <a:off x="685800" y="1447797"/>
              <a:ext cx="7696200" cy="5105403"/>
            </p:xfrm>
            <a:graphic>
              <a:graphicData uri="http://schemas.openxmlformats.org/drawingml/2006/table">
                <a:tbl>
                  <a:tblPr firstRow="1" bandRow="1">
                    <a:tableStyleId>{21E4AEA4-8DFA-4A89-87EB-49C32662AFE0}</a:tableStyleId>
                  </a:tblPr>
                  <a:tblGrid>
                    <a:gridCol w="3848100"/>
                    <a:gridCol w="3848100"/>
                  </a:tblGrid>
                  <a:tr h="567267">
                    <a:tc>
                      <a:txBody>
                        <a:bodyPr/>
                        <a:lstStyle/>
                        <a:p>
                          <a:pPr algn="ctr"/>
                          <a:r>
                            <a:rPr lang="zh-CN" altLang="en-US" dirty="0" smtClean="0"/>
                            <a:t>名称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smtClean="0"/>
                            <a:t>连接函数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7267">
                    <a:tc>
                      <a:txBody>
                        <a:bodyPr/>
                        <a:lstStyle/>
                        <a:p>
                          <a:pPr algn="ctr"/>
                          <a:r>
                            <a:rPr lang="zh-CN" altLang="en-US" dirty="0" smtClean="0"/>
                            <a:t>恒等</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106452" b="-701075"/>
                          </a:stretch>
                        </a:blipFill>
                      </a:tcPr>
                    </a:tc>
                  </a:tr>
                  <a:tr h="567267">
                    <a:tc>
                      <a:txBody>
                        <a:bodyPr/>
                        <a:lstStyle/>
                        <a:p>
                          <a:pPr algn="ctr"/>
                          <a:r>
                            <a:rPr lang="zh-CN" altLang="en-US" dirty="0" smtClean="0"/>
                            <a:t>对数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206452" b="-601075"/>
                          </a:stretch>
                        </a:blipFill>
                      </a:tcPr>
                    </a:tc>
                  </a:tr>
                  <a:tr h="567267">
                    <a:tc>
                      <a:txBody>
                        <a:bodyPr/>
                        <a:lstStyle/>
                        <a:p>
                          <a:pPr algn="ctr"/>
                          <a:r>
                            <a:rPr lang="zh-CN" altLang="en-US" dirty="0" smtClean="0"/>
                            <a:t>平方根</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306452" b="-501075"/>
                          </a:stretch>
                        </a:blipFill>
                      </a:tcPr>
                    </a:tc>
                  </a:tr>
                  <a:tr h="567267">
                    <a:tc>
                      <a:txBody>
                        <a:bodyPr/>
                        <a:lstStyle/>
                        <a:p>
                          <a:pPr algn="ctr"/>
                          <a:r>
                            <a:rPr lang="zh-CN" altLang="en-US" dirty="0" smtClean="0"/>
                            <a:t>幂函数</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402128" b="-395745"/>
                          </a:stretch>
                        </a:blipFill>
                      </a:tcPr>
                    </a:tc>
                  </a:tr>
                  <a:tr h="567267">
                    <a:tc>
                      <a:txBody>
                        <a:bodyPr/>
                        <a:lstStyle/>
                        <a:p>
                          <a:pPr algn="ctr"/>
                          <a:r>
                            <a:rPr lang="en-US" altLang="zh-CN" dirty="0" smtClean="0"/>
                            <a:t>logit</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507527" b="-300000"/>
                          </a:stretch>
                        </a:blipFill>
                      </a:tcPr>
                    </a:tc>
                  </a:tr>
                  <a:tr h="567267">
                    <a:tc>
                      <a:txBody>
                        <a:bodyPr/>
                        <a:lstStyle/>
                        <a:p>
                          <a:pPr algn="ctr"/>
                          <a:r>
                            <a:rPr lang="en-US" altLang="zh-CN" dirty="0" err="1" smtClean="0"/>
                            <a:t>Probit</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607527" b="-200000"/>
                          </a:stretch>
                        </a:blipFill>
                      </a:tcPr>
                    </a:tc>
                  </a:tr>
                  <a:tr h="567267">
                    <a:tc>
                      <a:txBody>
                        <a:bodyPr/>
                        <a:lstStyle/>
                        <a:p>
                          <a:pPr algn="ctr"/>
                          <a:r>
                            <a:rPr lang="en-US" altLang="zh-CN" dirty="0" smtClean="0"/>
                            <a:t>log-log</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707527" b="-100000"/>
                          </a:stretch>
                        </a:blipFill>
                      </a:tcPr>
                    </a:tc>
                  </a:tr>
                  <a:tr h="567267">
                    <a:tc>
                      <a:txBody>
                        <a:bodyPr/>
                        <a:lstStyle/>
                        <a:p>
                          <a:pPr algn="ctr"/>
                          <a:r>
                            <a:rPr lang="en-US" altLang="zh-CN" dirty="0" smtClean="0"/>
                            <a:t>Complementary</a:t>
                          </a:r>
                          <a:r>
                            <a:rPr lang="en-US" altLang="zh-CN" baseline="0" dirty="0" smtClean="0"/>
                            <a:t> log-log</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158" t="-807527"/>
                          </a:stretch>
                        </a:blipFill>
                      </a:tcPr>
                    </a:tc>
                  </a:tr>
                </a:tbl>
              </a:graphicData>
            </a:graphic>
          </p:graphicFrame>
        </mc:Fallback>
      </mc:AlternateContent>
    </p:spTree>
    <p:extLst>
      <p:ext uri="{BB962C8B-B14F-4D97-AF65-F5344CB8AC3E}">
        <p14:creationId xmlns:p14="http://schemas.microsoft.com/office/powerpoint/2010/main" val="357301848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93295" y="1417638"/>
                <a:ext cx="8229600" cy="4411662"/>
              </a:xfrm>
            </p:spPr>
            <p:txBody>
              <a:bodyPr/>
              <a:lstStyle/>
              <a:p>
                <a:pPr marL="0" indent="0">
                  <a:buNone/>
                </a:pPr>
                <a:r>
                  <a:rPr lang="zh-CN" altLang="en-US" sz="2400" b="1" dirty="0"/>
                  <a:t>正则</a:t>
                </a:r>
                <a:r>
                  <a:rPr lang="zh-CN" altLang="en-US" sz="2400" b="1" dirty="0" smtClean="0"/>
                  <a:t>连接函数</a:t>
                </a:r>
                <a:r>
                  <a:rPr lang="zh-CN" altLang="en-US" sz="2400" dirty="0" smtClean="0"/>
                  <a:t>：</a:t>
                </a:r>
                <a:endParaRPr lang="en-US" altLang="zh-CN" sz="2400" dirty="0" smtClean="0"/>
              </a:p>
              <a:p>
                <a:pPr marL="0" indent="0">
                  <a:buNone/>
                </a:pPr>
                <a:endParaRPr lang="en-US" altLang="zh-CN" sz="2400" dirty="0"/>
              </a:p>
              <a:p>
                <a:pPr marL="0" indent="0">
                  <a:buNone/>
                </a:pPr>
                <a:r>
                  <a:rPr lang="zh-CN" altLang="en-US" sz="2400" dirty="0" smtClean="0"/>
                  <a:t>如果连接函数使得</a:t>
                </a:r>
                <a14:m>
                  <m:oMath xmlns:m="http://schemas.openxmlformats.org/officeDocument/2006/math">
                    <m:r>
                      <a:rPr lang="en-US" altLang="zh-CN" sz="2400" b="0" i="1" smtClean="0">
                        <a:latin typeface="Cambria Math" panose="02040503050406030204" pitchFamily="18" charset="0"/>
                      </a:rPr>
                      <m:t>𝑔</m:t>
                    </m:r>
                    <m:d>
                      <m:dPr>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𝜇</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oMath>
                </a14:m>
                <a:r>
                  <a:rPr lang="zh-CN" altLang="en-US" sz="2400" dirty="0" smtClean="0"/>
                  <a:t>，则</a:t>
                </a:r>
                <a14:m>
                  <m:oMath xmlns:m="http://schemas.openxmlformats.org/officeDocument/2006/math">
                    <m:r>
                      <a:rPr lang="en-US" altLang="zh-CN" sz="2400" i="1">
                        <a:latin typeface="Cambria Math" panose="02040503050406030204" pitchFamily="18" charset="0"/>
                      </a:rPr>
                      <m:t>𝑔</m:t>
                    </m:r>
                  </m:oMath>
                </a14:m>
                <a:r>
                  <a:rPr lang="zh-CN" altLang="en-US" sz="2400" dirty="0"/>
                  <a:t>称作正则</a:t>
                </a:r>
                <a:r>
                  <a:rPr lang="zh-CN" altLang="en-US" sz="2400" dirty="0" smtClean="0"/>
                  <a:t>连接函数。</a:t>
                </a:r>
                <a:endParaRPr lang="en-US" altLang="zh-CN" sz="2400" dirty="0" smtClean="0"/>
              </a:p>
              <a:p>
                <a:pPr marL="0" indent="0">
                  <a:buNone/>
                </a:pPr>
                <a:endParaRPr lang="en-US" altLang="zh-CN" sz="2400" dirty="0"/>
              </a:p>
              <a:p>
                <a:pPr marL="0" indent="0">
                  <a:buNone/>
                </a:pPr>
                <a:r>
                  <a:rPr lang="zh-CN" altLang="en-US" sz="2400" dirty="0" smtClean="0"/>
                  <a:t>对于指数分布族中的分布，有</a:t>
                </a:r>
                <a:endParaRPr lang="en-US" altLang="zh-CN" sz="2400" dirty="0" smtClean="0"/>
              </a:p>
              <a:p>
                <a:pPr marL="0" indent="0">
                  <a:buNone/>
                </a:pPr>
                <a:endParaRPr lang="en-US" altLang="zh-CN" sz="2400" dirty="0" smtClean="0"/>
              </a:p>
              <a:p>
                <a:pPr marL="0" indent="0">
                  <a:buNone/>
                </a:pPr>
                <a:endParaRPr lang="en-US" altLang="zh-CN" sz="2400" i="1" dirty="0" smtClean="0">
                  <a:latin typeface="Cambria Math" panose="02040503050406030204" pitchFamily="18" charset="0"/>
                </a:endParaRPr>
              </a:p>
              <a:p>
                <a:pPr marL="0" indent="0">
                  <a:buNone/>
                </a:pPr>
                <a:endParaRPr lang="en-US" altLang="zh-CN" sz="2400" i="1" dirty="0">
                  <a:latin typeface="Cambria Math" panose="02040503050406030204" pitchFamily="18" charset="0"/>
                </a:endParaRPr>
              </a:p>
              <a:p>
                <a:pPr marL="0" indent="0">
                  <a:buNone/>
                </a:pPr>
                <a:endParaRPr lang="en-US" altLang="zh-CN" sz="2400" dirty="0" smtClean="0"/>
              </a:p>
              <a:p>
                <a:pPr marL="0" indent="0">
                  <a:buNone/>
                </a:pPr>
                <a:r>
                  <a:rPr lang="zh-CN" altLang="en-US" sz="2400" dirty="0"/>
                  <a:t>正</a:t>
                </a:r>
                <a:r>
                  <a:rPr lang="zh-CN" altLang="en-US" sz="2400" dirty="0" smtClean="0"/>
                  <a:t>则连接函数是函数</a:t>
                </a:r>
                <a14:m>
                  <m:oMath xmlns:m="http://schemas.openxmlformats.org/officeDocument/2006/math">
                    <m:r>
                      <a:rPr lang="en-US" altLang="zh-CN" sz="2400" b="0" i="1" smtClean="0">
                        <a:latin typeface="Cambria Math" panose="02040503050406030204" pitchFamily="18" charset="0"/>
                      </a:rPr>
                      <m:t>𝑏</m:t>
                    </m:r>
                    <m:r>
                      <a:rPr lang="en-US" altLang="zh-CN" sz="2400" b="0" i="0" smtClean="0">
                        <a:latin typeface="Cambria Math" panose="02040503050406030204" pitchFamily="18" charset="0"/>
                      </a:rPr>
                      <m:t>′</m:t>
                    </m:r>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m:t>
                        </m:r>
                      </m:e>
                    </m:d>
                  </m:oMath>
                </a14:m>
                <a:r>
                  <a:rPr lang="zh-CN" altLang="en-US" sz="2400" dirty="0" smtClean="0"/>
                  <a:t>的反函数，可以表示为</a:t>
                </a:r>
                <a14:m>
                  <m:oMath xmlns:m="http://schemas.openxmlformats.org/officeDocument/2006/math">
                    <m:sSup>
                      <m:sSupPr>
                        <m:ctrlPr>
                          <a:rPr lang="en-US" altLang="zh-CN" sz="2400" i="1">
                            <a:latin typeface="Cambria Math" panose="02040503050406030204" pitchFamily="18" charset="0"/>
                          </a:rPr>
                        </m:ctrlPr>
                      </m:sSup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𝑏</m:t>
                            </m:r>
                          </m:e>
                          <m:sup>
                            <m:r>
                              <a:rPr lang="en-US" altLang="zh-CN" sz="2400" i="1">
                                <a:latin typeface="Cambria Math" panose="02040503050406030204" pitchFamily="18" charset="0"/>
                              </a:rPr>
                              <m:t>′</m:t>
                            </m:r>
                          </m:sup>
                        </m:sSup>
                      </m:e>
                      <m:sup>
                        <m:r>
                          <a:rPr lang="en-US" altLang="zh-CN" sz="2400" i="1">
                            <a:latin typeface="Cambria Math" panose="02040503050406030204" pitchFamily="18" charset="0"/>
                          </a:rPr>
                          <m:t>−1</m:t>
                        </m:r>
                      </m:sup>
                    </m:sSup>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m:t>
                        </m:r>
                      </m:e>
                    </m:d>
                  </m:oMath>
                </a14:m>
                <a:r>
                  <a:rPr lang="zh-CN" altLang="en-US" sz="2400" dirty="0" smtClean="0"/>
                  <a:t>。</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93295" y="1417638"/>
                <a:ext cx="8229600" cy="4411662"/>
              </a:xfrm>
              <a:blipFill rotWithShape="1">
                <a:blip r:embed="rId3"/>
                <a:stretch>
                  <a:fillRect l="-1185" t="-1521" b="-401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88</a:t>
            </a:fld>
            <a:r>
              <a:rPr lang="en-US" altLang="zh-CN" smtClean="0"/>
              <a:t> )</a:t>
            </a:r>
            <a:endParaRPr lang="en-US" altLang="zh-CN"/>
          </a:p>
        </p:txBody>
      </p:sp>
      <p:graphicFrame>
        <p:nvGraphicFramePr>
          <p:cNvPr id="2" name="对象 1"/>
          <p:cNvGraphicFramePr>
            <a:graphicFrameLocks noChangeAspect="1"/>
          </p:cNvGraphicFramePr>
          <p:nvPr>
            <p:extLst>
              <p:ext uri="{D42A27DB-BD31-4B8C-83A1-F6EECF244321}">
                <p14:modId xmlns:p14="http://schemas.microsoft.com/office/powerpoint/2010/main" val="1846836162"/>
              </p:ext>
            </p:extLst>
          </p:nvPr>
        </p:nvGraphicFramePr>
        <p:xfrm>
          <a:off x="2273300" y="3810000"/>
          <a:ext cx="3817938" cy="1235075"/>
        </p:xfrm>
        <a:graphic>
          <a:graphicData uri="http://schemas.openxmlformats.org/presentationml/2006/ole">
            <mc:AlternateContent xmlns:mc="http://schemas.openxmlformats.org/markup-compatibility/2006">
              <mc:Choice xmlns:v="urn:schemas-microsoft-com:vml" Requires="v">
                <p:oleObj spid="_x0000_s372825" name="Equation" r:id="rId4" imgW="1726920" imgH="558720" progId="Equation.DSMT4">
                  <p:embed/>
                </p:oleObj>
              </mc:Choice>
              <mc:Fallback>
                <p:oleObj name="Equation" r:id="rId4" imgW="1726920" imgH="558720" progId="Equation.DSMT4">
                  <p:embed/>
                  <p:pic>
                    <p:nvPicPr>
                      <p:cNvPr id="0" name=""/>
                      <p:cNvPicPr/>
                      <p:nvPr/>
                    </p:nvPicPr>
                    <p:blipFill>
                      <a:blip r:embed="rId5"/>
                      <a:stretch>
                        <a:fillRect/>
                      </a:stretch>
                    </p:blipFill>
                    <p:spPr>
                      <a:xfrm>
                        <a:off x="2273300" y="3810000"/>
                        <a:ext cx="3817938" cy="1235075"/>
                      </a:xfrm>
                      <a:prstGeom prst="rect">
                        <a:avLst/>
                      </a:prstGeom>
                    </p:spPr>
                  </p:pic>
                </p:oleObj>
              </mc:Fallback>
            </mc:AlternateContent>
          </a:graphicData>
        </a:graphic>
      </p:graphicFrame>
    </p:spTree>
    <p:extLst>
      <p:ext uri="{BB962C8B-B14F-4D97-AF65-F5344CB8AC3E}">
        <p14:creationId xmlns:p14="http://schemas.microsoft.com/office/powerpoint/2010/main" val="402542748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304800" y="802333"/>
            <a:ext cx="7696200" cy="5715000"/>
          </a:xfrm>
        </p:spPr>
        <p:txBody>
          <a:bodyPr/>
          <a:lstStyle/>
          <a:p>
            <a:pPr eaLnBrk="1" hangingPunct="1">
              <a:lnSpc>
                <a:spcPct val="140000"/>
              </a:lnSpc>
            </a:pPr>
            <a:r>
              <a:rPr lang="zh-CN" altLang="en-US" sz="2400" b="1" dirty="0" smtClean="0">
                <a:latin typeface="+mn-ea"/>
              </a:rPr>
              <a:t>例</a:t>
            </a:r>
            <a:r>
              <a:rPr lang="zh-CN" altLang="en-US" sz="2400" dirty="0" smtClean="0">
                <a:latin typeface="+mn-ea"/>
              </a:rPr>
              <a:t>：泊松和伽马分布假设下</a:t>
            </a:r>
            <a:r>
              <a:rPr lang="en-US" altLang="zh-CN" sz="2400" dirty="0" err="1" smtClean="0">
                <a:latin typeface="+mn-ea"/>
              </a:rPr>
              <a:t>GLM</a:t>
            </a:r>
            <a:r>
              <a:rPr lang="zh-CN" altLang="en-US" sz="2400" dirty="0" smtClean="0">
                <a:latin typeface="+mn-ea"/>
              </a:rPr>
              <a:t>的正则连接函数。</a:t>
            </a:r>
            <a:endParaRPr lang="en-US" altLang="zh-CN" sz="2400" dirty="0" smtClean="0">
              <a:latin typeface="+mn-ea"/>
            </a:endParaRPr>
          </a:p>
          <a:p>
            <a:pPr eaLnBrk="1" hangingPunct="1">
              <a:lnSpc>
                <a:spcPct val="140000"/>
              </a:lnSpc>
            </a:pPr>
            <a:r>
              <a:rPr lang="zh-CN" altLang="en-US" sz="2400" b="1" dirty="0" smtClean="0">
                <a:latin typeface="+mn-ea"/>
              </a:rPr>
              <a:t>解</a:t>
            </a:r>
            <a:r>
              <a:rPr lang="zh-CN" altLang="en-US" sz="2400" dirty="0" smtClean="0">
                <a:latin typeface="+mn-ea"/>
              </a:rPr>
              <a:t>：</a:t>
            </a:r>
            <a:endParaRPr lang="en-US" altLang="zh-CN" sz="2400" dirty="0">
              <a:latin typeface="+mn-ea"/>
            </a:endParaRPr>
          </a:p>
          <a:p>
            <a:pPr eaLnBrk="1" hangingPunct="1">
              <a:lnSpc>
                <a:spcPct val="140000"/>
              </a:lnSpc>
            </a:pPr>
            <a:endParaRPr lang="en-US" altLang="zh-CN" sz="2400" dirty="0" smtClean="0">
              <a:latin typeface="+mn-ea"/>
            </a:endParaRPr>
          </a:p>
          <a:p>
            <a:pPr marL="0" indent="0" eaLnBrk="1" hangingPunct="1">
              <a:lnSpc>
                <a:spcPct val="140000"/>
              </a:lnSpc>
              <a:buNone/>
            </a:pPr>
            <a:endParaRPr lang="en-US" altLang="zh-CN" sz="2400" dirty="0" smtClean="0">
              <a:latin typeface="华文楷体" panose="02010600040101010101" pitchFamily="2" charset="-122"/>
              <a:ea typeface="华文楷体" panose="02010600040101010101" pitchFamily="2" charset="-122"/>
            </a:endParaRPr>
          </a:p>
          <a:p>
            <a:pPr marL="0" indent="0" eaLnBrk="1" hangingPunct="1">
              <a:lnSpc>
                <a:spcPct val="140000"/>
              </a:lnSpc>
              <a:buNone/>
            </a:pPr>
            <a:endParaRPr lang="en-US" altLang="zh-CN" sz="2400" dirty="0">
              <a:latin typeface="华文楷体" panose="02010600040101010101" pitchFamily="2" charset="-122"/>
              <a:ea typeface="华文楷体" panose="02010600040101010101" pitchFamily="2" charset="-122"/>
            </a:endParaRPr>
          </a:p>
          <a:p>
            <a:pPr marL="0" indent="0" eaLnBrk="1" hangingPunct="1">
              <a:lnSpc>
                <a:spcPct val="140000"/>
              </a:lnSpc>
              <a:buNone/>
            </a:pPr>
            <a:endParaRPr lang="en-US" altLang="zh-CN" sz="2400" dirty="0" smtClean="0">
              <a:latin typeface="华文楷体" panose="02010600040101010101" pitchFamily="2" charset="-122"/>
              <a:ea typeface="华文楷体" panose="02010600040101010101" pitchFamily="2" charset="-122"/>
            </a:endParaRPr>
          </a:p>
          <a:p>
            <a:pPr marL="0" indent="0" eaLnBrk="1" hangingPunct="1">
              <a:lnSpc>
                <a:spcPct val="140000"/>
              </a:lnSpc>
              <a:buNone/>
            </a:pPr>
            <a:endParaRPr lang="en-US" altLang="zh-CN" sz="2400" dirty="0">
              <a:latin typeface="华文楷体" panose="02010600040101010101" pitchFamily="2" charset="-122"/>
              <a:ea typeface="华文楷体" panose="02010600040101010101" pitchFamily="2" charset="-122"/>
            </a:endParaRPr>
          </a:p>
          <a:p>
            <a:pPr marL="0" indent="0" eaLnBrk="1" hangingPunct="1">
              <a:lnSpc>
                <a:spcPct val="140000"/>
              </a:lnSpc>
              <a:buNone/>
            </a:pPr>
            <a:endParaRPr lang="en-US" altLang="zh-CN" sz="2400" dirty="0" smtClean="0">
              <a:latin typeface="华文楷体" panose="02010600040101010101" pitchFamily="2" charset="-122"/>
              <a:ea typeface="华文楷体" panose="02010600040101010101" pitchFamily="2" charset="-122"/>
            </a:endParaRPr>
          </a:p>
          <a:p>
            <a:pPr marL="0" indent="0" eaLnBrk="1" hangingPunct="1">
              <a:lnSpc>
                <a:spcPct val="140000"/>
              </a:lnSpc>
              <a:buNone/>
            </a:pPr>
            <a:endParaRPr lang="en-US" altLang="zh-CN" sz="2400" dirty="0">
              <a:latin typeface="华文楷体" panose="02010600040101010101" pitchFamily="2" charset="-122"/>
              <a:ea typeface="华文楷体" panose="02010600040101010101" pitchFamily="2" charset="-122"/>
            </a:endParaRPr>
          </a:p>
          <a:p>
            <a:pPr marL="0" indent="0" eaLnBrk="1" hangingPunct="1">
              <a:lnSpc>
                <a:spcPct val="140000"/>
              </a:lnSpc>
              <a:buNone/>
            </a:pPr>
            <a:endParaRPr lang="en-US" altLang="zh-CN" sz="2400" dirty="0">
              <a:latin typeface="华文楷体" panose="02010600040101010101" pitchFamily="2" charset="-122"/>
              <a:ea typeface="华文楷体" panose="02010600040101010101" pitchFamily="2" charset="-122"/>
            </a:endParaRPr>
          </a:p>
          <a:p>
            <a:pPr eaLnBrk="1" hangingPunct="1">
              <a:lnSpc>
                <a:spcPct val="140000"/>
              </a:lnSpc>
            </a:pPr>
            <a:endParaRPr lang="en-US" altLang="zh-CN" sz="2400" dirty="0" smtClean="0">
              <a:latin typeface="+mn-ea"/>
            </a:endParaRPr>
          </a:p>
        </p:txBody>
      </p:sp>
      <p:sp>
        <p:nvSpPr>
          <p:cNvPr id="3" name="灯片编号占位符 2"/>
          <p:cNvSpPr>
            <a:spLocks noGrp="1"/>
          </p:cNvSpPr>
          <p:nvPr>
            <p:ph type="sldNum" sz="quarter" idx="12"/>
          </p:nvPr>
        </p:nvSpPr>
        <p:spPr/>
        <p:txBody>
          <a:bodyPr/>
          <a:lstStyle/>
          <a:p>
            <a:pPr>
              <a:defRPr/>
            </a:pPr>
            <a:r>
              <a:rPr lang="en-US" altLang="zh-CN" dirty="0" smtClean="0"/>
              <a:t>( </a:t>
            </a:r>
            <a:fld id="{6F4965D5-0B8C-4940-A118-ACA2133EA7E7}" type="slidenum">
              <a:rPr lang="en-US" altLang="zh-CN" smtClean="0"/>
              <a:pPr>
                <a:defRPr/>
              </a:pPr>
              <a:t>89</a:t>
            </a:fld>
            <a:r>
              <a:rPr lang="en-US" altLang="zh-CN" dirty="0" smtClean="0"/>
              <a:t> )</a:t>
            </a:r>
            <a:endParaRPr lang="en-US" altLang="zh-CN" dirty="0"/>
          </a:p>
        </p:txBody>
      </p:sp>
      <p:graphicFrame>
        <p:nvGraphicFramePr>
          <p:cNvPr id="6" name="对象 5"/>
          <p:cNvGraphicFramePr>
            <a:graphicFrameLocks noChangeAspect="1"/>
          </p:cNvGraphicFramePr>
          <p:nvPr>
            <p:extLst>
              <p:ext uri="{D42A27DB-BD31-4B8C-83A1-F6EECF244321}">
                <p14:modId xmlns:p14="http://schemas.microsoft.com/office/powerpoint/2010/main" val="2357546824"/>
              </p:ext>
            </p:extLst>
          </p:nvPr>
        </p:nvGraphicFramePr>
        <p:xfrm>
          <a:off x="4794250" y="2371725"/>
          <a:ext cx="114300" cy="177800"/>
        </p:xfrm>
        <a:graphic>
          <a:graphicData uri="http://schemas.openxmlformats.org/presentationml/2006/ole">
            <mc:AlternateContent xmlns:mc="http://schemas.openxmlformats.org/markup-compatibility/2006">
              <mc:Choice xmlns:v="urn:schemas-microsoft-com:vml" Requires="v">
                <p:oleObj spid="_x0000_s319872" name="Equation" r:id="rId4" imgW="114120" imgH="177480" progId="Equation.DSMT4">
                  <p:embed/>
                </p:oleObj>
              </mc:Choice>
              <mc:Fallback>
                <p:oleObj name="Equation" r:id="rId4" imgW="114120" imgH="177480" progId="Equation.DSMT4">
                  <p:embed/>
                  <p:pic>
                    <p:nvPicPr>
                      <p:cNvPr id="0" name=""/>
                      <p:cNvPicPr/>
                      <p:nvPr/>
                    </p:nvPicPr>
                    <p:blipFill>
                      <a:blip r:embed="rId5"/>
                      <a:stretch>
                        <a:fillRect/>
                      </a:stretch>
                    </p:blipFill>
                    <p:spPr>
                      <a:xfrm>
                        <a:off x="4794250" y="2371725"/>
                        <a:ext cx="114300" cy="1778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20785837"/>
              </p:ext>
            </p:extLst>
          </p:nvPr>
        </p:nvGraphicFramePr>
        <p:xfrm>
          <a:off x="1066800" y="2362200"/>
          <a:ext cx="6794500" cy="3673475"/>
        </p:xfrm>
        <a:graphic>
          <a:graphicData uri="http://schemas.openxmlformats.org/presentationml/2006/ole">
            <mc:AlternateContent xmlns:mc="http://schemas.openxmlformats.org/markup-compatibility/2006">
              <mc:Choice xmlns:v="urn:schemas-microsoft-com:vml" Requires="v">
                <p:oleObj spid="_x0000_s319873" name="Equation" r:id="rId6" imgW="3429000" imgH="1854000" progId="Equation.DSMT4">
                  <p:embed/>
                </p:oleObj>
              </mc:Choice>
              <mc:Fallback>
                <p:oleObj name="Equation" r:id="rId6" imgW="3429000" imgH="1854000" progId="Equation.DSMT4">
                  <p:embed/>
                  <p:pic>
                    <p:nvPicPr>
                      <p:cNvPr id="0" name=""/>
                      <p:cNvPicPr/>
                      <p:nvPr/>
                    </p:nvPicPr>
                    <p:blipFill>
                      <a:blip r:embed="rId7"/>
                      <a:stretch>
                        <a:fillRect/>
                      </a:stretch>
                    </p:blipFill>
                    <p:spPr>
                      <a:xfrm>
                        <a:off x="1066800" y="2362200"/>
                        <a:ext cx="6794500" cy="3673475"/>
                      </a:xfrm>
                      <a:prstGeom prst="rect">
                        <a:avLst/>
                      </a:prstGeom>
                    </p:spPr>
                  </p:pic>
                </p:oleObj>
              </mc:Fallback>
            </mc:AlternateContent>
          </a:graphicData>
        </a:graphic>
      </p:graphicFrame>
    </p:spTree>
    <p:extLst>
      <p:ext uri="{BB962C8B-B14F-4D97-AF65-F5344CB8AC3E}">
        <p14:creationId xmlns:p14="http://schemas.microsoft.com/office/powerpoint/2010/main" val="277501798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90</a:t>
            </a:fld>
            <a:r>
              <a:rPr lang="en-US" altLang="zh-CN" smtClean="0"/>
              <a:t> )</a:t>
            </a:r>
            <a:endParaRPr lang="en-US" altLang="zh-CN"/>
          </a:p>
        </p:txBody>
      </p:sp>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2590030942"/>
                  </p:ext>
                </p:extLst>
              </p:nvPr>
            </p:nvGraphicFramePr>
            <p:xfrm>
              <a:off x="762000" y="1905000"/>
              <a:ext cx="7010400" cy="4343400"/>
            </p:xfrm>
            <a:graphic>
              <a:graphicData uri="http://schemas.openxmlformats.org/drawingml/2006/table">
                <a:tbl>
                  <a:tblPr firstRow="1" bandRow="1">
                    <a:tableStyleId>{21E4AEA4-8DFA-4A89-87EB-49C32662AFE0}</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723900">
                    <a:tc>
                      <a:txBody>
                        <a:bodyPr/>
                        <a:lstStyle/>
                        <a:p>
                          <a:pPr algn="ctr"/>
                          <a:r>
                            <a:rPr lang="zh-CN" altLang="en-US" sz="2000" dirty="0" smtClean="0"/>
                            <a:t>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000" dirty="0" smtClean="0"/>
                            <a:t>正则连接函数</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23900">
                    <a:tc>
                      <a:txBody>
                        <a:bodyPr/>
                        <a:lstStyle/>
                        <a:p>
                          <a:pPr algn="ctr"/>
                          <a:r>
                            <a:rPr lang="zh-CN" altLang="en-US" sz="2000" dirty="0" smtClean="0"/>
                            <a:t>正态分布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𝑔</m:t>
                                </m:r>
                                <m:d>
                                  <m:dPr>
                                    <m:ctrlPr>
                                      <a:rPr lang="en-US" altLang="zh-CN" sz="2000" b="0" i="1" smtClean="0">
                                        <a:latin typeface="Cambria Math" panose="02040503050406030204" pitchFamily="18" charset="0"/>
                                      </a:rPr>
                                    </m:ctrlPr>
                                  </m:dPr>
                                  <m:e>
                                    <m:r>
                                      <a:rPr lang="zh-CN" altLang="en-US" sz="2000" b="0" i="1" smtClean="0">
                                        <a:latin typeface="Cambria Math" panose="02040503050406030204" pitchFamily="18" charset="0"/>
                                      </a:rPr>
                                      <m:t>𝜇</m:t>
                                    </m:r>
                                  </m:e>
                                </m:d>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𝜇</m:t>
                                </m:r>
                              </m:oMath>
                            </m:oMathPara>
                          </a14:m>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3900">
                    <a:tc>
                      <a:txBody>
                        <a:bodyPr/>
                        <a:lstStyle/>
                        <a:p>
                          <a:pPr algn="ctr"/>
                          <a:r>
                            <a:rPr lang="zh-CN" altLang="en-US" sz="2000" dirty="0" smtClean="0"/>
                            <a:t>二项分布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𝑔</m:t>
                                </m:r>
                                <m:d>
                                  <m:dPr>
                                    <m:ctrlPr>
                                      <a:rPr lang="en-US" altLang="zh-CN" sz="2000" b="0" i="1" smtClean="0">
                                        <a:latin typeface="Cambria Math" panose="02040503050406030204" pitchFamily="18" charset="0"/>
                                      </a:rPr>
                                    </m:ctrlPr>
                                  </m:dPr>
                                  <m:e>
                                    <m:r>
                                      <a:rPr lang="zh-CN" altLang="en-US" sz="2000" b="0" i="1" smtClean="0">
                                        <a:latin typeface="Cambria Math" panose="02040503050406030204" pitchFamily="18" charset="0"/>
                                      </a:rPr>
                                      <m:t>𝜇</m:t>
                                    </m:r>
                                  </m:e>
                                </m:d>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ln</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𝜇</m:t>
                                </m:r>
                                <m:r>
                                  <a:rPr lang="en-US" altLang="zh-CN" sz="2000" b="0" i="1" smtClean="0">
                                    <a:latin typeface="Cambria Math" panose="02040503050406030204" pitchFamily="18" charset="0"/>
                                  </a:rPr>
                                  <m:t>/(1−</m:t>
                                </m:r>
                                <m:r>
                                  <a:rPr lang="zh-CN" altLang="en-US" sz="2000" b="0" i="1" smtClean="0">
                                    <a:latin typeface="Cambria Math" panose="02040503050406030204" pitchFamily="18" charset="0"/>
                                  </a:rPr>
                                  <m:t>𝜇</m:t>
                                </m:r>
                                <m:r>
                                  <a:rPr lang="en-US" altLang="zh-CN" sz="2000" b="0" i="1" smtClean="0">
                                    <a:latin typeface="Cambria Math" panose="02040503050406030204" pitchFamily="18" charset="0"/>
                                  </a:rPr>
                                  <m:t>)]</m:t>
                                </m:r>
                              </m:oMath>
                            </m:oMathPara>
                          </a14:m>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3900">
                    <a:tc>
                      <a:txBody>
                        <a:bodyPr/>
                        <a:lstStyle/>
                        <a:p>
                          <a:pPr algn="ctr"/>
                          <a:r>
                            <a:rPr lang="zh-CN" altLang="en-US" sz="2000" dirty="0" smtClean="0"/>
                            <a:t>泊松分布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𝑔</m:t>
                                </m:r>
                                <m:d>
                                  <m:dPr>
                                    <m:ctrlPr>
                                      <a:rPr lang="en-US" altLang="zh-CN" sz="2000" b="0" i="1" smtClean="0">
                                        <a:latin typeface="Cambria Math" panose="02040503050406030204" pitchFamily="18" charset="0"/>
                                      </a:rPr>
                                    </m:ctrlPr>
                                  </m:dPr>
                                  <m:e>
                                    <m:r>
                                      <a:rPr lang="zh-CN" altLang="en-US" sz="2000" b="0" i="1" smtClean="0">
                                        <a:latin typeface="Cambria Math" panose="02040503050406030204" pitchFamily="18" charset="0"/>
                                      </a:rPr>
                                      <m:t>𝜇</m:t>
                                    </m:r>
                                  </m:e>
                                </m:d>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ln</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𝜇</m:t>
                                </m:r>
                                <m:r>
                                  <a:rPr lang="en-US" altLang="zh-CN" sz="2000" b="0" i="1" smtClean="0">
                                    <a:latin typeface="Cambria Math" panose="02040503050406030204" pitchFamily="18" charset="0"/>
                                  </a:rPr>
                                  <m:t>)</m:t>
                                </m:r>
                              </m:oMath>
                            </m:oMathPara>
                          </a14:m>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3900">
                    <a:tc>
                      <a:txBody>
                        <a:bodyPr/>
                        <a:lstStyle/>
                        <a:p>
                          <a:pPr algn="ctr"/>
                          <a:r>
                            <a:rPr lang="zh-CN" altLang="en-US" sz="2000" dirty="0" smtClean="0"/>
                            <a:t>伽马分布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𝑔</m:t>
                                </m:r>
                                <m:d>
                                  <m:dPr>
                                    <m:ctrlPr>
                                      <a:rPr lang="en-US" altLang="zh-CN" sz="2000" b="0" i="1" smtClean="0">
                                        <a:latin typeface="Cambria Math" panose="02040503050406030204" pitchFamily="18" charset="0"/>
                                      </a:rPr>
                                    </m:ctrlPr>
                                  </m:dPr>
                                  <m:e>
                                    <m:r>
                                      <a:rPr lang="zh-CN" altLang="en-US" sz="2000" b="0" i="1" smtClean="0">
                                        <a:latin typeface="Cambria Math" panose="02040503050406030204" pitchFamily="18" charset="0"/>
                                      </a:rPr>
                                      <m:t>𝜇</m:t>
                                    </m:r>
                                  </m:e>
                                </m:d>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𝜇</m:t>
                                    </m:r>
                                  </m:e>
                                  <m:sup>
                                    <m:r>
                                      <a:rPr lang="en-US" altLang="zh-CN" sz="2000" b="0" i="1" smtClean="0">
                                        <a:latin typeface="Cambria Math" panose="02040503050406030204" pitchFamily="18" charset="0"/>
                                      </a:rPr>
                                      <m:t>−1</m:t>
                                    </m:r>
                                  </m:sup>
                                </m:sSup>
                              </m:oMath>
                            </m:oMathPara>
                          </a14:m>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23900">
                    <a:tc>
                      <a:txBody>
                        <a:bodyPr/>
                        <a:lstStyle/>
                        <a:p>
                          <a:pPr algn="ctr"/>
                          <a:r>
                            <a:rPr lang="zh-CN" altLang="en-US" sz="2000" dirty="0" smtClean="0"/>
                            <a:t>逆高斯分布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𝑔</m:t>
                                </m:r>
                                <m:d>
                                  <m:dPr>
                                    <m:ctrlPr>
                                      <a:rPr lang="en-US" altLang="zh-CN" sz="2000" b="0" i="1" smtClean="0">
                                        <a:latin typeface="Cambria Math" panose="02040503050406030204" pitchFamily="18" charset="0"/>
                                      </a:rPr>
                                    </m:ctrlPr>
                                  </m:dPr>
                                  <m:e>
                                    <m:r>
                                      <a:rPr lang="zh-CN" altLang="en-US" sz="2000" b="0" i="1" smtClean="0">
                                        <a:latin typeface="Cambria Math" panose="02040503050406030204" pitchFamily="18" charset="0"/>
                                      </a:rPr>
                                      <m:t>𝜇</m:t>
                                    </m:r>
                                  </m:e>
                                </m:d>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𝜇</m:t>
                                    </m:r>
                                  </m:e>
                                  <m:sup>
                                    <m:r>
                                      <a:rPr lang="en-US" altLang="zh-CN" sz="2000" b="0" i="1" smtClean="0">
                                        <a:latin typeface="Cambria Math" panose="02040503050406030204" pitchFamily="18" charset="0"/>
                                      </a:rPr>
                                      <m:t>−2</m:t>
                                    </m:r>
                                  </m:sup>
                                </m:sSup>
                              </m:oMath>
                            </m:oMathPara>
                          </a14:m>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2590030942"/>
                  </p:ext>
                </p:extLst>
              </p:nvPr>
            </p:nvGraphicFramePr>
            <p:xfrm>
              <a:off x="762000" y="1905000"/>
              <a:ext cx="7010400" cy="4343400"/>
            </p:xfrm>
            <a:graphic>
              <a:graphicData uri="http://schemas.openxmlformats.org/drawingml/2006/table">
                <a:tbl>
                  <a:tblPr firstRow="1" bandRow="1">
                    <a:tableStyleId>{21E4AEA4-8DFA-4A89-87EB-49C32662AFE0}</a:tableStyleId>
                  </a:tblPr>
                  <a:tblGrid>
                    <a:gridCol w="3505200"/>
                    <a:gridCol w="3505200"/>
                  </a:tblGrid>
                  <a:tr h="723900">
                    <a:tc>
                      <a:txBody>
                        <a:bodyPr/>
                        <a:lstStyle/>
                        <a:p>
                          <a:pPr algn="ctr"/>
                          <a:r>
                            <a:rPr lang="zh-CN" altLang="en-US" sz="2000" dirty="0" smtClean="0"/>
                            <a:t>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000" dirty="0" smtClean="0"/>
                            <a:t>正则连接函数</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23900">
                    <a:tc>
                      <a:txBody>
                        <a:bodyPr/>
                        <a:lstStyle/>
                        <a:p>
                          <a:pPr algn="ctr"/>
                          <a:r>
                            <a:rPr lang="zh-CN" altLang="en-US" sz="2000" dirty="0" smtClean="0"/>
                            <a:t>正态分布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000" t="-106780" b="-402542"/>
                          </a:stretch>
                        </a:blipFill>
                      </a:tcPr>
                    </a:tc>
                  </a:tr>
                  <a:tr h="723900">
                    <a:tc>
                      <a:txBody>
                        <a:bodyPr/>
                        <a:lstStyle/>
                        <a:p>
                          <a:pPr algn="ctr"/>
                          <a:r>
                            <a:rPr lang="zh-CN" altLang="en-US" sz="2000" dirty="0" smtClean="0"/>
                            <a:t>二项分布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000" t="-205042" b="-299160"/>
                          </a:stretch>
                        </a:blipFill>
                      </a:tcPr>
                    </a:tc>
                  </a:tr>
                  <a:tr h="723900">
                    <a:tc>
                      <a:txBody>
                        <a:bodyPr/>
                        <a:lstStyle/>
                        <a:p>
                          <a:pPr algn="ctr"/>
                          <a:r>
                            <a:rPr lang="zh-CN" altLang="en-US" sz="2000" dirty="0" smtClean="0"/>
                            <a:t>泊松分布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000" t="-305042" b="-199160"/>
                          </a:stretch>
                        </a:blipFill>
                      </a:tcPr>
                    </a:tc>
                  </a:tr>
                  <a:tr h="723900">
                    <a:tc>
                      <a:txBody>
                        <a:bodyPr/>
                        <a:lstStyle/>
                        <a:p>
                          <a:pPr algn="ctr"/>
                          <a:r>
                            <a:rPr lang="zh-CN" altLang="en-US" sz="2000" dirty="0" smtClean="0"/>
                            <a:t>伽马分布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000" t="-408475" b="-100847"/>
                          </a:stretch>
                        </a:blipFill>
                      </a:tcPr>
                    </a:tc>
                  </a:tr>
                  <a:tr h="723900">
                    <a:tc>
                      <a:txBody>
                        <a:bodyPr/>
                        <a:lstStyle/>
                        <a:p>
                          <a:pPr algn="ctr"/>
                          <a:r>
                            <a:rPr lang="zh-CN" altLang="en-US" sz="2000" dirty="0" smtClean="0"/>
                            <a:t>逆高斯分布</a:t>
                          </a:r>
                          <a:endParaRPr lang="zh-CN"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000" t="-504202"/>
                          </a:stretch>
                        </a:blipFill>
                      </a:tcPr>
                    </a:tc>
                  </a:tr>
                </a:tbl>
              </a:graphicData>
            </a:graphic>
          </p:graphicFrame>
        </mc:Fallback>
      </mc:AlternateContent>
      <p:sp>
        <p:nvSpPr>
          <p:cNvPr id="7" name="文本框 6"/>
          <p:cNvSpPr txBox="1"/>
          <p:nvPr/>
        </p:nvSpPr>
        <p:spPr>
          <a:xfrm>
            <a:off x="1905000" y="1295400"/>
            <a:ext cx="4724400" cy="461665"/>
          </a:xfrm>
          <a:prstGeom prst="rect">
            <a:avLst/>
          </a:prstGeom>
          <a:noFill/>
        </p:spPr>
        <p:txBody>
          <a:bodyPr wrap="square" rtlCol="0">
            <a:spAutoFit/>
          </a:bodyPr>
          <a:lstStyle/>
          <a:p>
            <a:r>
              <a:rPr lang="zh-CN" altLang="en-US" b="1" dirty="0" smtClean="0"/>
              <a:t>常见分布假设下的正</a:t>
            </a:r>
            <a:r>
              <a:rPr lang="zh-CN" altLang="en-US" b="1" dirty="0"/>
              <a:t>则</a:t>
            </a:r>
            <a:r>
              <a:rPr lang="zh-CN" altLang="en-US" b="1" dirty="0" smtClean="0"/>
              <a:t>连接函数</a:t>
            </a:r>
            <a:endParaRPr lang="zh-CN" altLang="en-US" b="1" dirty="0"/>
          </a:p>
        </p:txBody>
      </p:sp>
    </p:spTree>
    <p:extLst>
      <p:ext uri="{BB962C8B-B14F-4D97-AF65-F5344CB8AC3E}">
        <p14:creationId xmlns:p14="http://schemas.microsoft.com/office/powerpoint/2010/main" val="177394202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5"/>
          <p:cNvSpPr>
            <a:spLocks noGrp="1"/>
          </p:cNvSpPr>
          <p:nvPr>
            <p:ph type="sldNum" sz="quarter" idx="12"/>
          </p:nvPr>
        </p:nvSpPr>
        <p:spPr>
          <a:ln>
            <a:miter lim="800000"/>
            <a:headEnd/>
            <a:tailEnd/>
          </a:ln>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en-US" altLang="zh-CN" sz="1000">
                <a:solidFill>
                  <a:srgbClr val="669999"/>
                </a:solidFill>
                <a:latin typeface="Arial" panose="020B0604020202020204" pitchFamily="34" charset="0"/>
              </a:rPr>
              <a:t>( </a:t>
            </a:r>
            <a:fld id="{CEFAB80C-8EC8-419D-A425-8F938FA6ADD8}" type="slidenum">
              <a:rPr lang="en-US" altLang="zh-CN" sz="1000">
                <a:solidFill>
                  <a:srgbClr val="669999"/>
                </a:solidFill>
                <a:latin typeface="Arial" panose="020B0604020202020204" pitchFamily="34" charset="0"/>
              </a:rPr>
              <a:pPr/>
              <a:t>91</a:t>
            </a:fld>
            <a:r>
              <a:rPr lang="en-US" altLang="zh-CN" sz="1000">
                <a:solidFill>
                  <a:srgbClr val="669999"/>
                </a:solidFill>
                <a:latin typeface="Arial" panose="020B0604020202020204" pitchFamily="34" charset="0"/>
              </a:rPr>
              <a:t> )</a:t>
            </a:r>
          </a:p>
        </p:txBody>
      </p:sp>
      <p:sp>
        <p:nvSpPr>
          <p:cNvPr id="48130" name="Rectangle 2"/>
          <p:cNvSpPr>
            <a:spLocks noGrp="1" noChangeArrowheads="1"/>
          </p:cNvSpPr>
          <p:nvPr>
            <p:ph type="title"/>
          </p:nvPr>
        </p:nvSpPr>
        <p:spPr>
          <a:xfrm>
            <a:off x="395288" y="692150"/>
            <a:ext cx="7543800" cy="685800"/>
          </a:xfrm>
        </p:spPr>
        <p:txBody>
          <a:bodyPr/>
          <a:lstStyle/>
          <a:p>
            <a:pPr eaLnBrk="1" hangingPunct="1"/>
            <a:r>
              <a:rPr lang="en-US" altLang="zh-CN" sz="3600" dirty="0" err="1" smtClean="0">
                <a:latin typeface="Times New Roman" panose="02020603050405020304" pitchFamily="18" charset="0"/>
              </a:rPr>
              <a:t>GLM</a:t>
            </a:r>
            <a:r>
              <a:rPr lang="zh-CN" altLang="en-US" sz="3600" dirty="0" smtClean="0">
                <a:latin typeface="Times New Roman" panose="02020603050405020304" pitchFamily="18" charset="0"/>
              </a:rPr>
              <a:t>的参数估计</a:t>
            </a:r>
          </a:p>
        </p:txBody>
      </p:sp>
      <p:sp>
        <p:nvSpPr>
          <p:cNvPr id="44035" name="Rectangle 3"/>
          <p:cNvSpPr>
            <a:spLocks noGrp="1" noChangeArrowheads="1"/>
          </p:cNvSpPr>
          <p:nvPr>
            <p:ph type="body" idx="1"/>
          </p:nvPr>
        </p:nvSpPr>
        <p:spPr>
          <a:xfrm>
            <a:off x="914400" y="1628775"/>
            <a:ext cx="8229600" cy="4343400"/>
          </a:xfrm>
        </p:spPr>
        <p:txBody>
          <a:bodyPr/>
          <a:lstStyle/>
          <a:p>
            <a:pPr eaLnBrk="1" hangingPunct="1">
              <a:lnSpc>
                <a:spcPct val="140000"/>
              </a:lnSpc>
            </a:pPr>
            <a:r>
              <a:rPr lang="zh-CN" altLang="en-US" sz="2400" b="1" dirty="0" smtClean="0">
                <a:solidFill>
                  <a:srgbClr val="FF0000"/>
                </a:solidFill>
                <a:latin typeface="Times New Roman" panose="02020603050405020304" pitchFamily="18" charset="0"/>
              </a:rPr>
              <a:t>极大似然估计</a:t>
            </a:r>
          </a:p>
          <a:p>
            <a:pPr eaLnBrk="1" hangingPunct="1">
              <a:lnSpc>
                <a:spcPct val="140000"/>
              </a:lnSpc>
            </a:pPr>
            <a:r>
              <a:rPr lang="en-US" altLang="zh-CN" sz="2400" dirty="0" smtClean="0">
                <a:latin typeface="Times New Roman" panose="02020603050405020304" pitchFamily="18" charset="0"/>
              </a:rPr>
              <a:t>Newton</a:t>
            </a:r>
            <a:r>
              <a:rPr lang="zh-CN" altLang="en-US" sz="2400" dirty="0" smtClean="0">
                <a:latin typeface="Times New Roman" panose="02020603050405020304" pitchFamily="18" charset="0"/>
              </a:rPr>
              <a:t>迭代法</a:t>
            </a:r>
          </a:p>
          <a:p>
            <a:pPr eaLnBrk="1" hangingPunct="1">
              <a:lnSpc>
                <a:spcPct val="140000"/>
              </a:lnSpc>
            </a:pPr>
            <a:r>
              <a:rPr lang="zh-CN" altLang="en-US" sz="2400" dirty="0" smtClean="0">
                <a:latin typeface="Times New Roman" panose="02020603050405020304" pitchFamily="18" charset="0"/>
              </a:rPr>
              <a:t>迭代加权最小二乘法</a:t>
            </a:r>
          </a:p>
          <a:p>
            <a:pPr eaLnBrk="1" hangingPunct="1">
              <a:lnSpc>
                <a:spcPct val="140000"/>
              </a:lnSpc>
            </a:pPr>
            <a:r>
              <a:rPr lang="en-US" altLang="zh-CN" sz="2400" dirty="0" smtClean="0">
                <a:latin typeface="Times New Roman" panose="02020603050405020304" pitchFamily="18" charset="0"/>
              </a:rPr>
              <a:t>Newton</a:t>
            </a:r>
            <a:r>
              <a:rPr lang="zh-CN" altLang="en-US" sz="2400" dirty="0" smtClean="0">
                <a:latin typeface="Times New Roman" panose="02020603050405020304" pitchFamily="18" charset="0"/>
              </a:rPr>
              <a:t>迭代法与迭代加权最小二乘法的比较</a:t>
            </a:r>
          </a:p>
          <a:p>
            <a:pPr eaLnBrk="1" hangingPunct="1">
              <a:lnSpc>
                <a:spcPct val="140000"/>
              </a:lnSpc>
            </a:pPr>
            <a:r>
              <a:rPr lang="zh-CN" altLang="en-US" sz="2400" dirty="0" smtClean="0">
                <a:latin typeface="Times New Roman" panose="02020603050405020304" pitchFamily="18" charset="0"/>
              </a:rPr>
              <a:t>离散参数的估计</a:t>
            </a:r>
          </a:p>
          <a:p>
            <a:pPr eaLnBrk="1" hangingPunct="1">
              <a:lnSpc>
                <a:spcPct val="140000"/>
              </a:lnSpc>
            </a:pPr>
            <a:r>
              <a:rPr lang="zh-CN" altLang="en-US" sz="2400" dirty="0" smtClean="0">
                <a:latin typeface="Times New Roman" panose="02020603050405020304" pitchFamily="18" charset="0"/>
              </a:rPr>
              <a:t>参数估计的标准差</a:t>
            </a:r>
          </a:p>
        </p:txBody>
      </p:sp>
    </p:spTree>
    <p:extLst>
      <p:ext uri="{BB962C8B-B14F-4D97-AF65-F5344CB8AC3E}">
        <p14:creationId xmlns:p14="http://schemas.microsoft.com/office/powerpoint/2010/main" val="30244728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 calcmode="lin" valueType="num">
                                      <p:cBhvr additive="base">
                                        <p:cTn id="12"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 calcmode="lin" valueType="num">
                                      <p:cBhvr additive="base">
                                        <p:cTn id="17"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44035">
                                            <p:txEl>
                                              <p:pRg st="3" end="3"/>
                                            </p:txEl>
                                          </p:spTgt>
                                        </p:tgtEl>
                                        <p:attrNameLst>
                                          <p:attrName>style.visibility</p:attrName>
                                        </p:attrNameLst>
                                      </p:cBhvr>
                                      <p:to>
                                        <p:strVal val="visible"/>
                                      </p:to>
                                    </p:set>
                                    <p:anim calcmode="lin" valueType="num">
                                      <p:cBhvr additive="base">
                                        <p:cTn id="22"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4035">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44035">
                                            <p:txEl>
                                              <p:pRg st="4" end="4"/>
                                            </p:txEl>
                                          </p:spTgt>
                                        </p:tgtEl>
                                        <p:attrNameLst>
                                          <p:attrName>style.visibility</p:attrName>
                                        </p:attrNameLst>
                                      </p:cBhvr>
                                      <p:to>
                                        <p:strVal val="visible"/>
                                      </p:to>
                                    </p:set>
                                    <p:anim calcmode="lin" valueType="num">
                                      <p:cBhvr additive="base">
                                        <p:cTn id="27" dur="500" fill="hold"/>
                                        <p:tgtEl>
                                          <p:spTgt spid="4403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4035">
                                            <p:txEl>
                                              <p:pRg st="4" end="4"/>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44035">
                                            <p:txEl>
                                              <p:pRg st="5" end="5"/>
                                            </p:txEl>
                                          </p:spTgt>
                                        </p:tgtEl>
                                        <p:attrNameLst>
                                          <p:attrName>style.visibility</p:attrName>
                                        </p:attrNameLst>
                                      </p:cBhvr>
                                      <p:to>
                                        <p:strVal val="visible"/>
                                      </p:to>
                                    </p:set>
                                    <p:anim calcmode="lin" valueType="num">
                                      <p:cBhvr additive="base">
                                        <p:cTn id="32" dur="500" fill="hold"/>
                                        <p:tgtEl>
                                          <p:spTgt spid="44035">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40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68313" y="333375"/>
            <a:ext cx="7543800" cy="1295400"/>
          </a:xfrm>
        </p:spPr>
        <p:txBody>
          <a:bodyPr/>
          <a:lstStyle/>
          <a:p>
            <a:r>
              <a:rPr lang="zh-CN" altLang="en-US" sz="3200" dirty="0" smtClean="0">
                <a:latin typeface="Times New Roman" panose="02020603050405020304" pitchFamily="18" charset="0"/>
              </a:rPr>
              <a:t>极大似然估计</a:t>
            </a:r>
            <a:r>
              <a:rPr lang="zh-CN" altLang="en-US" sz="3600" dirty="0" smtClean="0">
                <a:latin typeface="Times New Roman" panose="02020603050405020304" pitchFamily="18" charset="0"/>
              </a:rPr>
              <a:t/>
            </a:r>
            <a:br>
              <a:rPr lang="zh-CN" altLang="en-US" sz="3600" dirty="0" smtClean="0">
                <a:latin typeface="Times New Roman" panose="02020603050405020304" pitchFamily="18" charset="0"/>
              </a:rPr>
            </a:br>
            <a:endParaRPr lang="zh-CN" altLang="en-US" sz="3600" dirty="0" smtClean="0">
              <a:latin typeface="Times New Roman" panose="02020603050405020304" pitchFamily="18" charset="0"/>
            </a:endParaRPr>
          </a:p>
        </p:txBody>
      </p:sp>
      <p:sp>
        <p:nvSpPr>
          <p:cNvPr id="63491" name="Rectangle 3"/>
          <p:cNvSpPr>
            <a:spLocks noGrp="1" noChangeArrowheads="1"/>
          </p:cNvSpPr>
          <p:nvPr>
            <p:ph type="body" sz="half" idx="1"/>
          </p:nvPr>
        </p:nvSpPr>
        <p:spPr>
          <a:xfrm>
            <a:off x="323850" y="1412875"/>
            <a:ext cx="7643813" cy="989013"/>
          </a:xfrm>
        </p:spPr>
        <p:txBody>
          <a:bodyPr/>
          <a:lstStyle/>
          <a:p>
            <a:pPr fontAlgn="b">
              <a:lnSpc>
                <a:spcPct val="150000"/>
              </a:lnSpc>
              <a:buFont typeface="Wingdings" panose="05000000000000000000" pitchFamily="2" charset="2"/>
              <a:buNone/>
            </a:pPr>
            <a:r>
              <a:rPr lang="zh-CN" altLang="en-US" sz="2000" dirty="0" smtClean="0"/>
              <a:t>          </a:t>
            </a:r>
            <a:r>
              <a:rPr lang="en-US" altLang="zh-CN" sz="2000" dirty="0" err="1" smtClean="0"/>
              <a:t>GLM</a:t>
            </a:r>
            <a:r>
              <a:rPr lang="zh-CN" altLang="en-US" sz="2000" dirty="0" smtClean="0"/>
              <a:t>的回归参数和离散参数，都可以用极大似然法估计。</a:t>
            </a:r>
          </a:p>
        </p:txBody>
      </p:sp>
      <p:graphicFrame>
        <p:nvGraphicFramePr>
          <p:cNvPr id="63505" name="Object 17"/>
          <p:cNvGraphicFramePr>
            <a:graphicFrameLocks noGrp="1" noChangeAspect="1"/>
          </p:cNvGraphicFramePr>
          <p:nvPr>
            <p:ph sz="quarter" idx="2"/>
          </p:nvPr>
        </p:nvGraphicFramePr>
        <p:xfrm>
          <a:off x="5073650" y="1719263"/>
          <a:ext cx="3187700" cy="2128837"/>
        </p:xfrm>
        <a:graphic>
          <a:graphicData uri="http://schemas.openxmlformats.org/presentationml/2006/ole">
            <mc:AlternateContent xmlns:mc="http://schemas.openxmlformats.org/markup-compatibility/2006">
              <mc:Choice xmlns:v="urn:schemas-microsoft-com:vml" Requires="v">
                <p:oleObj spid="_x0000_s374086" name="文档" r:id="rId3" imgW="6090933" imgH="4068426" progId="Word.Document.8">
                  <p:embed/>
                </p:oleObj>
              </mc:Choice>
              <mc:Fallback>
                <p:oleObj name="文档" r:id="rId3" imgW="6090933" imgH="4068426"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3650" y="1719263"/>
                        <a:ext cx="3187700" cy="212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9" name="Object 21"/>
          <p:cNvGraphicFramePr>
            <a:graphicFrameLocks noChangeAspect="1"/>
          </p:cNvGraphicFramePr>
          <p:nvPr>
            <p:extLst>
              <p:ext uri="{D42A27DB-BD31-4B8C-83A1-F6EECF244321}">
                <p14:modId xmlns:p14="http://schemas.microsoft.com/office/powerpoint/2010/main" val="2122433070"/>
              </p:ext>
            </p:extLst>
          </p:nvPr>
        </p:nvGraphicFramePr>
        <p:xfrm>
          <a:off x="1524000" y="3200400"/>
          <a:ext cx="4176713" cy="755650"/>
        </p:xfrm>
        <a:graphic>
          <a:graphicData uri="http://schemas.openxmlformats.org/presentationml/2006/ole">
            <mc:AlternateContent xmlns:mc="http://schemas.openxmlformats.org/markup-compatibility/2006">
              <mc:Choice xmlns:v="urn:schemas-microsoft-com:vml" Requires="v">
                <p:oleObj spid="_x0000_s374087" name="Equation" r:id="rId5" imgW="2666880" imgH="482400" progId="Equation.DSMT4">
                  <p:embed/>
                </p:oleObj>
              </mc:Choice>
              <mc:Fallback>
                <p:oleObj name="Equation" r:id="rId5" imgW="2666880" imgH="4824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3200400"/>
                        <a:ext cx="4176713"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11" name="Object 23"/>
          <p:cNvGraphicFramePr>
            <a:graphicFrameLocks noGrp="1" noChangeAspect="1"/>
          </p:cNvGraphicFramePr>
          <p:nvPr>
            <p:ph sz="quarter" idx="3"/>
            <p:extLst>
              <p:ext uri="{D42A27DB-BD31-4B8C-83A1-F6EECF244321}">
                <p14:modId xmlns:p14="http://schemas.microsoft.com/office/powerpoint/2010/main" val="288970956"/>
              </p:ext>
            </p:extLst>
          </p:nvPr>
        </p:nvGraphicFramePr>
        <p:xfrm>
          <a:off x="1600200" y="5181600"/>
          <a:ext cx="2808287" cy="722312"/>
        </p:xfrm>
        <a:graphic>
          <a:graphicData uri="http://schemas.openxmlformats.org/presentationml/2006/ole">
            <mc:AlternateContent xmlns:mc="http://schemas.openxmlformats.org/markup-compatibility/2006">
              <mc:Choice xmlns:v="urn:schemas-microsoft-com:vml" Requires="v">
                <p:oleObj spid="_x0000_s374088" name="Equation" r:id="rId7" imgW="1726920" imgH="444240" progId="Equation.DSMT4">
                  <p:embed/>
                </p:oleObj>
              </mc:Choice>
              <mc:Fallback>
                <p:oleObj name="Equation" r:id="rId7" imgW="1726920" imgH="4442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5181600"/>
                        <a:ext cx="2808287" cy="72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513" name="Rectangle 25"/>
          <p:cNvSpPr>
            <a:spLocks noChangeArrowheads="1"/>
          </p:cNvSpPr>
          <p:nvPr/>
        </p:nvSpPr>
        <p:spPr bwMode="auto">
          <a:xfrm>
            <a:off x="304800" y="2348707"/>
            <a:ext cx="764381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1pPr>
            <a:lvl2pPr marL="692150" indent="-347663" eaLnBrk="0" hangingPunct="0">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2pPr>
            <a:lvl3pPr marL="987425" indent="-293688" eaLnBrk="0" hangingPunct="0">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281113" indent="-292100" eaLnBrk="0" hangingPunct="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1598613" indent="-315913" eaLnBrk="0" hangingPunct="0">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fontAlgn="b">
              <a:lnSpc>
                <a:spcPct val="150000"/>
              </a:lnSpc>
              <a:buFont typeface="Wingdings" panose="05000000000000000000" pitchFamily="2" charset="2"/>
              <a:buNone/>
            </a:pPr>
            <a:r>
              <a:rPr lang="zh-CN" altLang="en-US" sz="2000" dirty="0"/>
              <a:t>         在广义线性模型中， 服从指数分布族，其概率密度函数为：</a:t>
            </a:r>
            <a:endParaRPr lang="en-US" altLang="zh-CN" sz="2000" dirty="0"/>
          </a:p>
        </p:txBody>
      </p:sp>
      <p:graphicFrame>
        <p:nvGraphicFramePr>
          <p:cNvPr id="63514" name="Object 26"/>
          <p:cNvGraphicFramePr>
            <a:graphicFrameLocks noChangeAspect="1"/>
          </p:cNvGraphicFramePr>
          <p:nvPr>
            <p:extLst>
              <p:ext uri="{D42A27DB-BD31-4B8C-83A1-F6EECF244321}">
                <p14:modId xmlns:p14="http://schemas.microsoft.com/office/powerpoint/2010/main" val="3644768773"/>
              </p:ext>
            </p:extLst>
          </p:nvPr>
        </p:nvGraphicFramePr>
        <p:xfrm>
          <a:off x="3124200" y="2417762"/>
          <a:ext cx="268288" cy="401638"/>
        </p:xfrm>
        <a:graphic>
          <a:graphicData uri="http://schemas.openxmlformats.org/presentationml/2006/ole">
            <mc:AlternateContent xmlns:mc="http://schemas.openxmlformats.org/markup-compatibility/2006">
              <mc:Choice xmlns:v="urn:schemas-microsoft-com:vml" Requires="v">
                <p:oleObj spid="_x0000_s374089" name="Equation" r:id="rId9" imgW="152280" imgH="228600" progId="Equation.DSMT4">
                  <p:embed/>
                </p:oleObj>
              </mc:Choice>
              <mc:Fallback>
                <p:oleObj name="Equation" r:id="rId9" imgW="15228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2417762"/>
                        <a:ext cx="268288"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515" name="Rectangle 27"/>
          <p:cNvSpPr>
            <a:spLocks noChangeArrowheads="1"/>
          </p:cNvSpPr>
          <p:nvPr/>
        </p:nvSpPr>
        <p:spPr bwMode="auto">
          <a:xfrm>
            <a:off x="457200" y="4221163"/>
            <a:ext cx="764381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tx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1pPr>
            <a:lvl2pPr marL="692150" indent="-347663" eaLnBrk="0" hangingPunct="0">
              <a:spcBef>
                <a:spcPct val="20000"/>
              </a:spcBef>
              <a:buClr>
                <a:schemeClr val="accent2"/>
              </a:buClr>
              <a:buSzPct val="7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2pPr>
            <a:lvl3pPr marL="987425" indent="-293688" eaLnBrk="0" hangingPunct="0">
              <a:spcBef>
                <a:spcPct val="20000"/>
              </a:spcBef>
              <a:buClr>
                <a:schemeClr val="accent1"/>
              </a:buClr>
              <a:buSzPct val="70000"/>
              <a:buFont typeface="Wingdings" panose="05000000000000000000" pitchFamily="2" charset="2"/>
              <a:buChar char="l"/>
              <a:defRPr sz="2100">
                <a:solidFill>
                  <a:schemeClr val="tx1"/>
                </a:solidFill>
                <a:latin typeface="Arial" panose="020B0604020202020204" pitchFamily="34" charset="0"/>
                <a:ea typeface="宋体" panose="02010600030101010101" pitchFamily="2" charset="-122"/>
              </a:defRPr>
            </a:lvl3pPr>
            <a:lvl4pPr marL="1281113" indent="-292100" eaLnBrk="0" hangingPunct="0">
              <a:spcBef>
                <a:spcPct val="20000"/>
              </a:spcBef>
              <a:buClr>
                <a:schemeClr val="tx2"/>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1598613" indent="-315913" eaLnBrk="0" hangingPunct="0">
              <a:spcBef>
                <a:spcPct val="20000"/>
              </a:spcBef>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fontAlgn="b">
              <a:lnSpc>
                <a:spcPct val="150000"/>
              </a:lnSpc>
              <a:buFont typeface="Wingdings" panose="05000000000000000000" pitchFamily="2" charset="2"/>
              <a:buNone/>
            </a:pPr>
            <a:r>
              <a:rPr lang="zh-CN" altLang="en-US" sz="2000" dirty="0" smtClean="0"/>
              <a:t>        对数</a:t>
            </a:r>
            <a:r>
              <a:rPr lang="zh-CN" altLang="en-US" sz="2000" dirty="0"/>
              <a:t>似然函数可以表示为：</a:t>
            </a:r>
            <a:endParaRPr lang="en-US" altLang="zh-CN" sz="2000" dirty="0"/>
          </a:p>
        </p:txBody>
      </p:sp>
    </p:spTree>
    <p:extLst>
      <p:ext uri="{BB962C8B-B14F-4D97-AF65-F5344CB8AC3E}">
        <p14:creationId xmlns:p14="http://schemas.microsoft.com/office/powerpoint/2010/main" val="124164367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3" name="Text Box 13"/>
          <p:cNvSpPr txBox="1">
            <a:spLocks noChangeArrowheads="1"/>
          </p:cNvSpPr>
          <p:nvPr/>
        </p:nvSpPr>
        <p:spPr bwMode="auto">
          <a:xfrm>
            <a:off x="395288" y="1017588"/>
            <a:ext cx="821531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000" dirty="0"/>
              <a:t>        假设有   个观测值，且                   相互独立</a:t>
            </a:r>
            <a:r>
              <a:rPr lang="zh-CN" altLang="en-US" sz="2000" dirty="0" smtClean="0"/>
              <a:t>，联合</a:t>
            </a:r>
            <a:r>
              <a:rPr lang="zh-CN" altLang="en-US" sz="2000" dirty="0"/>
              <a:t>对数似然函数为：</a:t>
            </a:r>
          </a:p>
        </p:txBody>
      </p:sp>
      <p:sp>
        <p:nvSpPr>
          <p:cNvPr id="112654" name="Text Box 14"/>
          <p:cNvSpPr txBox="1">
            <a:spLocks noChangeArrowheads="1"/>
          </p:cNvSpPr>
          <p:nvPr/>
        </p:nvSpPr>
        <p:spPr bwMode="auto">
          <a:xfrm>
            <a:off x="468313" y="3249613"/>
            <a:ext cx="820737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zh-CN" altLang="en-US" sz="2000" dirty="0" smtClean="0"/>
              <a:t>     求</a:t>
            </a:r>
            <a:r>
              <a:rPr lang="zh-CN" altLang="en-US" sz="2000" dirty="0"/>
              <a:t>各个参数的一阶偏导，并令其等于</a:t>
            </a:r>
            <a:r>
              <a:rPr lang="en-US" altLang="zh-CN" sz="2000" dirty="0"/>
              <a:t>0</a:t>
            </a:r>
            <a:r>
              <a:rPr lang="zh-CN" altLang="en-US" sz="2000" dirty="0"/>
              <a:t>得到参数的估计值。</a:t>
            </a:r>
          </a:p>
        </p:txBody>
      </p:sp>
      <p:graphicFrame>
        <p:nvGraphicFramePr>
          <p:cNvPr id="112655" name="Object 15"/>
          <p:cNvGraphicFramePr>
            <a:graphicFrameLocks noChangeAspect="1"/>
          </p:cNvGraphicFramePr>
          <p:nvPr>
            <p:extLst>
              <p:ext uri="{D42A27DB-BD31-4B8C-83A1-F6EECF244321}">
                <p14:modId xmlns:p14="http://schemas.microsoft.com/office/powerpoint/2010/main" val="1335384924"/>
              </p:ext>
            </p:extLst>
          </p:nvPr>
        </p:nvGraphicFramePr>
        <p:xfrm>
          <a:off x="2438400" y="4495800"/>
          <a:ext cx="3168650" cy="754063"/>
        </p:xfrm>
        <a:graphic>
          <a:graphicData uri="http://schemas.openxmlformats.org/presentationml/2006/ole">
            <mc:AlternateContent xmlns:mc="http://schemas.openxmlformats.org/markup-compatibility/2006">
              <mc:Choice xmlns:v="urn:schemas-microsoft-com:vml" Requires="v">
                <p:oleObj spid="_x0000_s375110" name="Equation" r:id="rId3" imgW="1866600" imgH="444240" progId="Equation.DSMT4">
                  <p:embed/>
                </p:oleObj>
              </mc:Choice>
              <mc:Fallback>
                <p:oleObj name="Equation" r:id="rId3" imgW="186660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495800"/>
                        <a:ext cx="3168650" cy="754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56" name="Object 16"/>
          <p:cNvGraphicFramePr>
            <a:graphicFrameLocks noGrp="1" noChangeAspect="1"/>
          </p:cNvGraphicFramePr>
          <p:nvPr>
            <p:ph sz="quarter" idx="2"/>
          </p:nvPr>
        </p:nvGraphicFramePr>
        <p:xfrm>
          <a:off x="1749425" y="1231900"/>
          <a:ext cx="230188" cy="252413"/>
        </p:xfrm>
        <a:graphic>
          <a:graphicData uri="http://schemas.openxmlformats.org/presentationml/2006/ole">
            <mc:AlternateContent xmlns:mc="http://schemas.openxmlformats.org/markup-compatibility/2006">
              <mc:Choice xmlns:v="urn:schemas-microsoft-com:vml" Requires="v">
                <p:oleObj spid="_x0000_s375111" name="Equation" r:id="rId5" imgW="126720" imgH="139680" progId="Equation.DSMT4">
                  <p:embed/>
                </p:oleObj>
              </mc:Choice>
              <mc:Fallback>
                <p:oleObj name="Equation" r:id="rId5" imgW="126720" imgH="1396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9425" y="1231900"/>
                        <a:ext cx="2301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58" name="Object 18"/>
          <p:cNvGraphicFramePr>
            <a:graphicFrameLocks noGrp="1" noChangeAspect="1"/>
          </p:cNvGraphicFramePr>
          <p:nvPr>
            <p:ph sz="quarter" idx="3"/>
          </p:nvPr>
        </p:nvGraphicFramePr>
        <p:xfrm>
          <a:off x="3419475" y="1103313"/>
          <a:ext cx="1296988" cy="417512"/>
        </p:xfrm>
        <a:graphic>
          <a:graphicData uri="http://schemas.openxmlformats.org/presentationml/2006/ole">
            <mc:AlternateContent xmlns:mc="http://schemas.openxmlformats.org/markup-compatibility/2006">
              <mc:Choice xmlns:v="urn:schemas-microsoft-com:vml" Requires="v">
                <p:oleObj spid="_x0000_s375112" name="Equation" r:id="rId7" imgW="711000" imgH="228600" progId="Equation.DSMT4">
                  <p:embed/>
                </p:oleObj>
              </mc:Choice>
              <mc:Fallback>
                <p:oleObj name="Equation" r:id="rId7" imgW="7110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1103313"/>
                        <a:ext cx="1296988"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63" name="Object 23"/>
          <p:cNvGraphicFramePr>
            <a:graphicFrameLocks noChangeAspect="1"/>
          </p:cNvGraphicFramePr>
          <p:nvPr>
            <p:extLst>
              <p:ext uri="{D42A27DB-BD31-4B8C-83A1-F6EECF244321}">
                <p14:modId xmlns:p14="http://schemas.microsoft.com/office/powerpoint/2010/main" val="4274913609"/>
              </p:ext>
            </p:extLst>
          </p:nvPr>
        </p:nvGraphicFramePr>
        <p:xfrm>
          <a:off x="2286000" y="2057400"/>
          <a:ext cx="4176713" cy="836613"/>
        </p:xfrm>
        <a:graphic>
          <a:graphicData uri="http://schemas.openxmlformats.org/presentationml/2006/ole">
            <mc:AlternateContent xmlns:mc="http://schemas.openxmlformats.org/markup-compatibility/2006">
              <mc:Choice xmlns:v="urn:schemas-microsoft-com:vml" Requires="v">
                <p:oleObj spid="_x0000_s375113" name="Equation" r:id="rId9" imgW="2412720" imgH="482400" progId="Equation.DSMT4">
                  <p:embed/>
                </p:oleObj>
              </mc:Choice>
              <mc:Fallback>
                <p:oleObj name="Equation" r:id="rId9" imgW="2412720" imgH="4824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0" y="2057400"/>
                        <a:ext cx="4176713"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807040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37" name="Text Box 25"/>
          <p:cNvSpPr txBox="1">
            <a:spLocks noChangeArrowheads="1"/>
          </p:cNvSpPr>
          <p:nvPr/>
        </p:nvSpPr>
        <p:spPr bwMode="auto">
          <a:xfrm>
            <a:off x="468313" y="762000"/>
            <a:ext cx="431400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en-US" altLang="zh-CN" sz="2000" b="1" dirty="0"/>
              <a:t>      </a:t>
            </a:r>
            <a:r>
              <a:rPr lang="en-US" altLang="zh-CN" sz="2000" b="1" dirty="0" smtClean="0"/>
              <a:t>【</a:t>
            </a:r>
            <a:r>
              <a:rPr lang="zh-CN" altLang="en-US" sz="2000" b="1" dirty="0" smtClean="0"/>
              <a:t>定理</a:t>
            </a:r>
            <a:r>
              <a:rPr lang="en-US" altLang="zh-CN" sz="2000" b="1" dirty="0" smtClean="0"/>
              <a:t>】</a:t>
            </a:r>
            <a:r>
              <a:rPr lang="zh-CN" altLang="en-US" sz="2000" b="1" dirty="0" smtClean="0"/>
              <a:t>对于</a:t>
            </a:r>
            <a:r>
              <a:rPr lang="en-US" altLang="zh-CN" sz="2000" b="1" dirty="0" err="1" smtClean="0"/>
              <a:t>GLM</a:t>
            </a:r>
            <a:r>
              <a:rPr lang="zh-CN" altLang="en-US" sz="2000" b="1" dirty="0" smtClean="0"/>
              <a:t>，</a:t>
            </a:r>
            <a:r>
              <a:rPr lang="zh-CN" altLang="en-US" sz="2000" b="1" dirty="0"/>
              <a:t>回归参数</a:t>
            </a:r>
          </a:p>
          <a:p>
            <a:pPr>
              <a:lnSpc>
                <a:spcPct val="150000"/>
              </a:lnSpc>
            </a:pPr>
            <a:r>
              <a:rPr lang="zh-CN" altLang="en-US" sz="2000" b="1" dirty="0"/>
              <a:t>的极大似然估计是下列方程组的解：</a:t>
            </a:r>
          </a:p>
        </p:txBody>
      </p:sp>
      <p:graphicFrame>
        <p:nvGraphicFramePr>
          <p:cNvPr id="64538" name="Object 26"/>
          <p:cNvGraphicFramePr>
            <a:graphicFrameLocks noChangeAspect="1"/>
          </p:cNvGraphicFramePr>
          <p:nvPr>
            <p:extLst>
              <p:ext uri="{D42A27DB-BD31-4B8C-83A1-F6EECF244321}">
                <p14:modId xmlns:p14="http://schemas.microsoft.com/office/powerpoint/2010/main" val="3866329166"/>
              </p:ext>
            </p:extLst>
          </p:nvPr>
        </p:nvGraphicFramePr>
        <p:xfrm>
          <a:off x="4419600" y="861843"/>
          <a:ext cx="2019300" cy="407988"/>
        </p:xfrm>
        <a:graphic>
          <a:graphicData uri="http://schemas.openxmlformats.org/presentationml/2006/ole">
            <mc:AlternateContent xmlns:mc="http://schemas.openxmlformats.org/markup-compatibility/2006">
              <mc:Choice xmlns:v="urn:schemas-microsoft-com:vml" Requires="v">
                <p:oleObj spid="_x0000_s376084" name="Equation" r:id="rId3" imgW="1193760" imgH="241200" progId="Equation.DSMT4">
                  <p:embed/>
                </p:oleObj>
              </mc:Choice>
              <mc:Fallback>
                <p:oleObj name="Equation" r:id="rId3" imgW="119376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861843"/>
                        <a:ext cx="2019300"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39" name="Object 27"/>
          <p:cNvGraphicFramePr>
            <a:graphicFrameLocks noChangeAspect="1"/>
          </p:cNvGraphicFramePr>
          <p:nvPr>
            <p:extLst>
              <p:ext uri="{D42A27DB-BD31-4B8C-83A1-F6EECF244321}">
                <p14:modId xmlns:p14="http://schemas.microsoft.com/office/powerpoint/2010/main" val="2097239294"/>
              </p:ext>
            </p:extLst>
          </p:nvPr>
        </p:nvGraphicFramePr>
        <p:xfrm>
          <a:off x="2514600" y="2438400"/>
          <a:ext cx="3533524" cy="998250"/>
        </p:xfrm>
        <a:graphic>
          <a:graphicData uri="http://schemas.openxmlformats.org/presentationml/2006/ole">
            <mc:AlternateContent xmlns:mc="http://schemas.openxmlformats.org/markup-compatibility/2006">
              <mc:Choice xmlns:v="urn:schemas-microsoft-com:vml" Requires="v">
                <p:oleObj spid="_x0000_s376085" name="Equation" r:id="rId5" imgW="1663560" imgH="469800" progId="Equation.DSMT4">
                  <p:embed/>
                </p:oleObj>
              </mc:Choice>
              <mc:Fallback>
                <p:oleObj name="Equation" r:id="rId5" imgW="1663560" imgH="469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2438400"/>
                        <a:ext cx="3533524" cy="998250"/>
                      </a:xfrm>
                      <a:prstGeom prst="rect">
                        <a:avLst/>
                      </a:prstGeom>
                      <a:noFill/>
                      <a:ln>
                        <a:noFill/>
                      </a:ln>
                      <a:effectLst/>
                      <a:extLst/>
                    </p:spPr>
                  </p:pic>
                </p:oleObj>
              </mc:Fallback>
            </mc:AlternateContent>
          </a:graphicData>
        </a:graphic>
      </p:graphicFrame>
      <p:graphicFrame>
        <p:nvGraphicFramePr>
          <p:cNvPr id="64540" name="Object 28"/>
          <p:cNvGraphicFramePr>
            <a:graphicFrameLocks noChangeAspect="1"/>
          </p:cNvGraphicFramePr>
          <p:nvPr>
            <p:extLst>
              <p:ext uri="{D42A27DB-BD31-4B8C-83A1-F6EECF244321}">
                <p14:modId xmlns:p14="http://schemas.microsoft.com/office/powerpoint/2010/main" val="1999403213"/>
              </p:ext>
            </p:extLst>
          </p:nvPr>
        </p:nvGraphicFramePr>
        <p:xfrm>
          <a:off x="2590801" y="4648200"/>
          <a:ext cx="3886200" cy="515401"/>
        </p:xfrm>
        <a:graphic>
          <a:graphicData uri="http://schemas.openxmlformats.org/presentationml/2006/ole">
            <mc:AlternateContent xmlns:mc="http://schemas.openxmlformats.org/markup-compatibility/2006">
              <mc:Choice xmlns:v="urn:schemas-microsoft-com:vml" Requires="v">
                <p:oleObj spid="_x0000_s376086" name="Equation" r:id="rId7" imgW="1917360" imgH="253800" progId="Equation.DSMT4">
                  <p:embed/>
                </p:oleObj>
              </mc:Choice>
              <mc:Fallback>
                <p:oleObj name="Equation" r:id="rId7" imgW="1917360" imgH="253800" progId="Equation.DSMT4">
                  <p:embed/>
                  <p:pic>
                    <p:nvPicPr>
                      <p:cNvPr id="0" name=""/>
                      <p:cNvPicPr>
                        <a:picLocks noChangeAspect="1" noChangeArrowheads="1"/>
                      </p:cNvPicPr>
                      <p:nvPr/>
                    </p:nvPicPr>
                    <p:blipFill>
                      <a:blip r:embed="rId8"/>
                      <a:srcRect/>
                      <a:stretch>
                        <a:fillRect/>
                      </a:stretch>
                    </p:blipFill>
                    <p:spPr bwMode="auto">
                      <a:xfrm>
                        <a:off x="2590801" y="4648200"/>
                        <a:ext cx="3886200" cy="515401"/>
                      </a:xfrm>
                      <a:prstGeom prst="rect">
                        <a:avLst/>
                      </a:prstGeom>
                      <a:noFill/>
                      <a:ln>
                        <a:noFill/>
                      </a:ln>
                      <a:effectLst/>
                      <a:extLst/>
                    </p:spPr>
                  </p:pic>
                </p:oleObj>
              </mc:Fallback>
            </mc:AlternateContent>
          </a:graphicData>
        </a:graphic>
      </p:graphicFrame>
      <p:sp>
        <p:nvSpPr>
          <p:cNvPr id="64541" name="Text Box 29"/>
          <p:cNvSpPr txBox="1">
            <a:spLocks noChangeArrowheads="1"/>
          </p:cNvSpPr>
          <p:nvPr/>
        </p:nvSpPr>
        <p:spPr bwMode="auto">
          <a:xfrm>
            <a:off x="838200" y="36576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其中：</a:t>
            </a:r>
          </a:p>
        </p:txBody>
      </p:sp>
    </p:spTree>
    <p:extLst>
      <p:ext uri="{BB962C8B-B14F-4D97-AF65-F5344CB8AC3E}">
        <p14:creationId xmlns:p14="http://schemas.microsoft.com/office/powerpoint/2010/main" val="379919494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29" name="Text Box 17"/>
          <p:cNvSpPr txBox="1">
            <a:spLocks noChangeArrowheads="1"/>
          </p:cNvSpPr>
          <p:nvPr/>
        </p:nvSpPr>
        <p:spPr bwMode="auto">
          <a:xfrm>
            <a:off x="1143000" y="321806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smtClean="0"/>
              <a:t>下面证明</a:t>
            </a:r>
            <a:endParaRPr lang="zh-CN" altLang="en-US" sz="2000" dirty="0"/>
          </a:p>
        </p:txBody>
      </p:sp>
      <p:sp>
        <p:nvSpPr>
          <p:cNvPr id="64542" name="Text Box 30"/>
          <p:cNvSpPr txBox="1">
            <a:spLocks noChangeArrowheads="1"/>
          </p:cNvSpPr>
          <p:nvPr/>
        </p:nvSpPr>
        <p:spPr bwMode="auto">
          <a:xfrm>
            <a:off x="990600" y="990600"/>
            <a:ext cx="69605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t>证明：</a:t>
            </a:r>
            <a:r>
              <a:rPr lang="zh-CN" altLang="en-US" dirty="0"/>
              <a:t>回归参数的极大似然估计是下述方程的解：</a:t>
            </a:r>
            <a:endParaRPr lang="zh-CN" altLang="en-US" b="1" dirty="0"/>
          </a:p>
        </p:txBody>
      </p:sp>
      <p:graphicFrame>
        <p:nvGraphicFramePr>
          <p:cNvPr id="64543" name="Object 31"/>
          <p:cNvGraphicFramePr>
            <a:graphicFrameLocks noChangeAspect="1"/>
          </p:cNvGraphicFramePr>
          <p:nvPr>
            <p:extLst>
              <p:ext uri="{D42A27DB-BD31-4B8C-83A1-F6EECF244321}">
                <p14:modId xmlns:p14="http://schemas.microsoft.com/office/powerpoint/2010/main" val="681909230"/>
              </p:ext>
            </p:extLst>
          </p:nvPr>
        </p:nvGraphicFramePr>
        <p:xfrm>
          <a:off x="3429000" y="2050253"/>
          <a:ext cx="1738313" cy="754063"/>
        </p:xfrm>
        <a:graphic>
          <a:graphicData uri="http://schemas.openxmlformats.org/presentationml/2006/ole">
            <mc:AlternateContent xmlns:mc="http://schemas.openxmlformats.org/markup-compatibility/2006">
              <mc:Choice xmlns:v="urn:schemas-microsoft-com:vml" Requires="v">
                <p:oleObj spid="_x0000_s397448" name="Equation" r:id="rId3" imgW="1054080" imgH="457200" progId="Equation.DSMT4">
                  <p:embed/>
                </p:oleObj>
              </mc:Choice>
              <mc:Fallback>
                <p:oleObj name="Equation" r:id="rId3" imgW="105408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2050253"/>
                        <a:ext cx="1738313" cy="75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4" name="Object 32"/>
          <p:cNvGraphicFramePr>
            <a:graphicFrameLocks noChangeAspect="1"/>
          </p:cNvGraphicFramePr>
          <p:nvPr>
            <p:extLst>
              <p:ext uri="{D42A27DB-BD31-4B8C-83A1-F6EECF244321}">
                <p14:modId xmlns:p14="http://schemas.microsoft.com/office/powerpoint/2010/main" val="3192352668"/>
              </p:ext>
            </p:extLst>
          </p:nvPr>
        </p:nvGraphicFramePr>
        <p:xfrm>
          <a:off x="3352800" y="4114800"/>
          <a:ext cx="2108200" cy="787400"/>
        </p:xfrm>
        <a:graphic>
          <a:graphicData uri="http://schemas.openxmlformats.org/presentationml/2006/ole">
            <mc:AlternateContent xmlns:mc="http://schemas.openxmlformats.org/markup-compatibility/2006">
              <mc:Choice xmlns:v="urn:schemas-microsoft-com:vml" Requires="v">
                <p:oleObj spid="_x0000_s397449" name="Equation" r:id="rId5" imgW="1257120" imgH="469800" progId="Equation.DSMT4">
                  <p:embed/>
                </p:oleObj>
              </mc:Choice>
              <mc:Fallback>
                <p:oleObj name="Equation" r:id="rId5" imgW="1257120" imgH="469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4114800"/>
                        <a:ext cx="21082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7226675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7" name="Line 11"/>
          <p:cNvSpPr>
            <a:spLocks noChangeShapeType="1"/>
          </p:cNvSpPr>
          <p:nvPr/>
        </p:nvSpPr>
        <p:spPr bwMode="auto">
          <a:xfrm>
            <a:off x="3276600" y="3068638"/>
            <a:ext cx="2303463" cy="504825"/>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48" name="Line 12"/>
          <p:cNvSpPr>
            <a:spLocks noChangeShapeType="1"/>
          </p:cNvSpPr>
          <p:nvPr/>
        </p:nvSpPr>
        <p:spPr bwMode="auto">
          <a:xfrm>
            <a:off x="5076825" y="3860800"/>
            <a:ext cx="574675" cy="0"/>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49" name="Line 13"/>
          <p:cNvSpPr>
            <a:spLocks noChangeShapeType="1"/>
          </p:cNvSpPr>
          <p:nvPr/>
        </p:nvSpPr>
        <p:spPr bwMode="auto">
          <a:xfrm flipV="1">
            <a:off x="2771775" y="4149725"/>
            <a:ext cx="2879725" cy="574675"/>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0" name="Line 14"/>
          <p:cNvSpPr>
            <a:spLocks noChangeShapeType="1"/>
          </p:cNvSpPr>
          <p:nvPr/>
        </p:nvSpPr>
        <p:spPr bwMode="auto">
          <a:xfrm flipV="1">
            <a:off x="2484438" y="4365625"/>
            <a:ext cx="3167062" cy="1368425"/>
          </a:xfrm>
          <a:prstGeom prst="line">
            <a:avLst/>
          </a:prstGeom>
          <a:noFill/>
          <a:ln w="952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9" name="Text Box 23"/>
          <p:cNvSpPr txBox="1">
            <a:spLocks noChangeArrowheads="1"/>
          </p:cNvSpPr>
          <p:nvPr/>
        </p:nvSpPr>
        <p:spPr bwMode="auto">
          <a:xfrm>
            <a:off x="755650" y="1096963"/>
            <a:ext cx="247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应用链式法则，有：</a:t>
            </a:r>
          </a:p>
        </p:txBody>
      </p:sp>
      <p:graphicFrame>
        <p:nvGraphicFramePr>
          <p:cNvPr id="65561" name="Object 25"/>
          <p:cNvGraphicFramePr>
            <a:graphicFrameLocks noChangeAspect="1"/>
          </p:cNvGraphicFramePr>
          <p:nvPr>
            <p:extLst>
              <p:ext uri="{D42A27DB-BD31-4B8C-83A1-F6EECF244321}">
                <p14:modId xmlns:p14="http://schemas.microsoft.com/office/powerpoint/2010/main" val="362345020"/>
              </p:ext>
            </p:extLst>
          </p:nvPr>
        </p:nvGraphicFramePr>
        <p:xfrm>
          <a:off x="1949450" y="1609725"/>
          <a:ext cx="2433638" cy="752475"/>
        </p:xfrm>
        <a:graphic>
          <a:graphicData uri="http://schemas.openxmlformats.org/presentationml/2006/ole">
            <mc:AlternateContent xmlns:mc="http://schemas.openxmlformats.org/markup-compatibility/2006">
              <mc:Choice xmlns:v="urn:schemas-microsoft-com:vml" Requires="v">
                <p:oleObj spid="_x0000_s377314" name="Equation" r:id="rId3" imgW="1434960" imgH="444240" progId="Equation.DSMT4">
                  <p:embed/>
                </p:oleObj>
              </mc:Choice>
              <mc:Fallback>
                <p:oleObj name="Equation" r:id="rId3" imgW="1434960" imgH="444240" progId="Equation.DSMT4">
                  <p:embed/>
                  <p:pic>
                    <p:nvPicPr>
                      <p:cNvPr id="0" name=""/>
                      <p:cNvPicPr>
                        <a:picLocks noChangeAspect="1" noChangeArrowheads="1"/>
                      </p:cNvPicPr>
                      <p:nvPr/>
                    </p:nvPicPr>
                    <p:blipFill>
                      <a:blip r:embed="rId4"/>
                      <a:srcRect/>
                      <a:stretch>
                        <a:fillRect/>
                      </a:stretch>
                    </p:blipFill>
                    <p:spPr bwMode="auto">
                      <a:xfrm>
                        <a:off x="1949450" y="1609725"/>
                        <a:ext cx="2433638"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2" name="Object 26"/>
          <p:cNvGraphicFramePr>
            <a:graphicFrameLocks noChangeAspect="1"/>
          </p:cNvGraphicFramePr>
          <p:nvPr>
            <p:extLst>
              <p:ext uri="{D42A27DB-BD31-4B8C-83A1-F6EECF244321}">
                <p14:modId xmlns:p14="http://schemas.microsoft.com/office/powerpoint/2010/main" val="3887910868"/>
              </p:ext>
            </p:extLst>
          </p:nvPr>
        </p:nvGraphicFramePr>
        <p:xfrm>
          <a:off x="1187450" y="2690813"/>
          <a:ext cx="2016125" cy="765175"/>
        </p:xfrm>
        <a:graphic>
          <a:graphicData uri="http://schemas.openxmlformats.org/presentationml/2006/ole">
            <mc:AlternateContent xmlns:mc="http://schemas.openxmlformats.org/markup-compatibility/2006">
              <mc:Choice xmlns:v="urn:schemas-microsoft-com:vml" Requires="v">
                <p:oleObj spid="_x0000_s377315" name="Equation" r:id="rId5" imgW="1206360" imgH="457200" progId="Equation.DSMT4">
                  <p:embed/>
                </p:oleObj>
              </mc:Choice>
              <mc:Fallback>
                <p:oleObj name="Equation" r:id="rId5" imgW="1206360" imgH="457200" progId="Equation.DSMT4">
                  <p:embed/>
                  <p:pic>
                    <p:nvPicPr>
                      <p:cNvPr id="0" name=""/>
                      <p:cNvPicPr>
                        <a:picLocks noChangeAspect="1" noChangeArrowheads="1"/>
                      </p:cNvPicPr>
                      <p:nvPr/>
                    </p:nvPicPr>
                    <p:blipFill>
                      <a:blip r:embed="rId6"/>
                      <a:srcRect/>
                      <a:stretch>
                        <a:fillRect/>
                      </a:stretch>
                    </p:blipFill>
                    <p:spPr bwMode="auto">
                      <a:xfrm>
                        <a:off x="1187450" y="2690813"/>
                        <a:ext cx="2016125"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3" name="Object 27"/>
          <p:cNvGraphicFramePr>
            <a:graphicFrameLocks noChangeAspect="1"/>
          </p:cNvGraphicFramePr>
          <p:nvPr>
            <p:extLst>
              <p:ext uri="{D42A27DB-BD31-4B8C-83A1-F6EECF244321}">
                <p14:modId xmlns:p14="http://schemas.microsoft.com/office/powerpoint/2010/main" val="4176523003"/>
              </p:ext>
            </p:extLst>
          </p:nvPr>
        </p:nvGraphicFramePr>
        <p:xfrm>
          <a:off x="1198563" y="3457575"/>
          <a:ext cx="3795712" cy="835025"/>
        </p:xfrm>
        <a:graphic>
          <a:graphicData uri="http://schemas.openxmlformats.org/presentationml/2006/ole">
            <mc:AlternateContent xmlns:mc="http://schemas.openxmlformats.org/markup-compatibility/2006">
              <mc:Choice xmlns:v="urn:schemas-microsoft-com:vml" Requires="v">
                <p:oleObj spid="_x0000_s377316" name="Equation" r:id="rId7" imgW="2311200" imgH="507960" progId="Equation.DSMT4">
                  <p:embed/>
                </p:oleObj>
              </mc:Choice>
              <mc:Fallback>
                <p:oleObj name="Equation" r:id="rId7" imgW="2311200" imgH="507960" progId="Equation.DSMT4">
                  <p:embed/>
                  <p:pic>
                    <p:nvPicPr>
                      <p:cNvPr id="0" name=""/>
                      <p:cNvPicPr>
                        <a:picLocks noChangeAspect="1" noChangeArrowheads="1"/>
                      </p:cNvPicPr>
                      <p:nvPr/>
                    </p:nvPicPr>
                    <p:blipFill>
                      <a:blip r:embed="rId8"/>
                      <a:srcRect/>
                      <a:stretch>
                        <a:fillRect/>
                      </a:stretch>
                    </p:blipFill>
                    <p:spPr bwMode="auto">
                      <a:xfrm>
                        <a:off x="1198563" y="3457575"/>
                        <a:ext cx="3795712"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4" name="Object 28"/>
          <p:cNvGraphicFramePr>
            <a:graphicFrameLocks noChangeAspect="1"/>
          </p:cNvGraphicFramePr>
          <p:nvPr>
            <p:extLst>
              <p:ext uri="{D42A27DB-BD31-4B8C-83A1-F6EECF244321}">
                <p14:modId xmlns:p14="http://schemas.microsoft.com/office/powerpoint/2010/main" val="3699336838"/>
              </p:ext>
            </p:extLst>
          </p:nvPr>
        </p:nvGraphicFramePr>
        <p:xfrm>
          <a:off x="1198563" y="4476750"/>
          <a:ext cx="1417637" cy="741363"/>
        </p:xfrm>
        <a:graphic>
          <a:graphicData uri="http://schemas.openxmlformats.org/presentationml/2006/ole">
            <mc:AlternateContent xmlns:mc="http://schemas.openxmlformats.org/markup-compatibility/2006">
              <mc:Choice xmlns:v="urn:schemas-microsoft-com:vml" Requires="v">
                <p:oleObj spid="_x0000_s377317" name="Equation" r:id="rId9" imgW="825480" imgH="431640" progId="Equation.DSMT4">
                  <p:embed/>
                </p:oleObj>
              </mc:Choice>
              <mc:Fallback>
                <p:oleObj name="Equation" r:id="rId9" imgW="825480" imgH="431640" progId="Equation.DSMT4">
                  <p:embed/>
                  <p:pic>
                    <p:nvPicPr>
                      <p:cNvPr id="0" name=""/>
                      <p:cNvPicPr>
                        <a:picLocks noChangeAspect="1" noChangeArrowheads="1"/>
                      </p:cNvPicPr>
                      <p:nvPr/>
                    </p:nvPicPr>
                    <p:blipFill>
                      <a:blip r:embed="rId10"/>
                      <a:srcRect/>
                      <a:stretch>
                        <a:fillRect/>
                      </a:stretch>
                    </p:blipFill>
                    <p:spPr bwMode="auto">
                      <a:xfrm>
                        <a:off x="1198563" y="4476750"/>
                        <a:ext cx="1417637"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5" name="Object 29"/>
          <p:cNvGraphicFramePr>
            <a:graphicFrameLocks noChangeAspect="1"/>
          </p:cNvGraphicFramePr>
          <p:nvPr/>
        </p:nvGraphicFramePr>
        <p:xfrm>
          <a:off x="1187450" y="5356225"/>
          <a:ext cx="1008063" cy="766763"/>
        </p:xfrm>
        <a:graphic>
          <a:graphicData uri="http://schemas.openxmlformats.org/presentationml/2006/ole">
            <mc:AlternateContent xmlns:mc="http://schemas.openxmlformats.org/markup-compatibility/2006">
              <mc:Choice xmlns:v="urn:schemas-microsoft-com:vml" Requires="v">
                <p:oleObj spid="_x0000_s377318" name="Equation" r:id="rId11" imgW="583920" imgH="444240" progId="Equation.DSMT4">
                  <p:embed/>
                </p:oleObj>
              </mc:Choice>
              <mc:Fallback>
                <p:oleObj name="Equation" r:id="rId11" imgW="583920" imgH="44424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450" y="5356225"/>
                        <a:ext cx="1008063" cy="76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66" name="Object 30"/>
          <p:cNvGraphicFramePr>
            <a:graphicFrameLocks noChangeAspect="1"/>
          </p:cNvGraphicFramePr>
          <p:nvPr/>
        </p:nvGraphicFramePr>
        <p:xfrm>
          <a:off x="5795963" y="3527425"/>
          <a:ext cx="2232025" cy="833438"/>
        </p:xfrm>
        <a:graphic>
          <a:graphicData uri="http://schemas.openxmlformats.org/presentationml/2006/ole">
            <mc:AlternateContent xmlns:mc="http://schemas.openxmlformats.org/markup-compatibility/2006">
              <mc:Choice xmlns:v="urn:schemas-microsoft-com:vml" Requires="v">
                <p:oleObj spid="_x0000_s377319" name="Equation" r:id="rId13" imgW="1257120" imgH="469800" progId="Equation.DSMT4">
                  <p:embed/>
                </p:oleObj>
              </mc:Choice>
              <mc:Fallback>
                <p:oleObj name="Equation" r:id="rId13" imgW="1257120" imgH="4698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95963" y="3527425"/>
                        <a:ext cx="2232025" cy="83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9853698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9" name="Rectangle 9"/>
          <p:cNvSpPr>
            <a:spLocks noChangeArrowheads="1"/>
          </p:cNvSpPr>
          <p:nvPr/>
        </p:nvSpPr>
        <p:spPr bwMode="auto">
          <a:xfrm>
            <a:off x="684213" y="4292600"/>
            <a:ext cx="78486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dirty="0"/>
              <a:t>        </a:t>
            </a:r>
            <a:r>
              <a:rPr lang="zh-CN" altLang="en-US" sz="2000" dirty="0"/>
              <a:t>正则连接函数下，</a:t>
            </a:r>
            <a:r>
              <a:rPr lang="zh-CN" altLang="en-US" sz="2000" dirty="0" smtClean="0"/>
              <a:t>可以简化</a:t>
            </a:r>
            <a:r>
              <a:rPr lang="zh-CN" altLang="en-US" sz="2000" dirty="0"/>
              <a:t>回归参数的估计方程，且</a:t>
            </a:r>
            <a:r>
              <a:rPr lang="zh-CN" altLang="en-US" sz="2000" b="1" dirty="0"/>
              <a:t>使得观测值的加权和等于拟合值的加权和</a:t>
            </a:r>
            <a:r>
              <a:rPr lang="zh-CN" altLang="en-US" sz="2000" dirty="0"/>
              <a:t>。</a:t>
            </a:r>
          </a:p>
          <a:p>
            <a:pPr>
              <a:lnSpc>
                <a:spcPct val="150000"/>
              </a:lnSpc>
            </a:pPr>
            <a:r>
              <a:rPr lang="zh-CN" altLang="en-US" sz="2000" dirty="0"/>
              <a:t>        不过在实际应用中，简化估计方程并不能作为选择连接函数的主要依据。</a:t>
            </a:r>
          </a:p>
        </p:txBody>
      </p:sp>
      <p:sp>
        <p:nvSpPr>
          <p:cNvPr id="66570" name="Text Box 10"/>
          <p:cNvSpPr txBox="1">
            <a:spLocks noChangeArrowheads="1"/>
          </p:cNvSpPr>
          <p:nvPr/>
        </p:nvSpPr>
        <p:spPr bwMode="auto">
          <a:xfrm>
            <a:off x="1187450" y="765175"/>
            <a:ext cx="64043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特别的，当连接函数是正则连接时，即               </a:t>
            </a:r>
            <a:r>
              <a:rPr lang="zh-CN" altLang="en-US" sz="2000" dirty="0" smtClean="0"/>
              <a:t>  则</a:t>
            </a:r>
            <a:r>
              <a:rPr lang="zh-CN" altLang="en-US" sz="2000" dirty="0"/>
              <a:t>有：</a:t>
            </a:r>
          </a:p>
        </p:txBody>
      </p:sp>
      <p:graphicFrame>
        <p:nvGraphicFramePr>
          <p:cNvPr id="66571" name="Object 11"/>
          <p:cNvGraphicFramePr>
            <a:graphicFrameLocks noChangeAspect="1"/>
          </p:cNvGraphicFramePr>
          <p:nvPr/>
        </p:nvGraphicFramePr>
        <p:xfrm>
          <a:off x="5580063" y="765175"/>
          <a:ext cx="1008062" cy="387350"/>
        </p:xfrm>
        <a:graphic>
          <a:graphicData uri="http://schemas.openxmlformats.org/presentationml/2006/ole">
            <mc:AlternateContent xmlns:mc="http://schemas.openxmlformats.org/markup-compatibility/2006">
              <mc:Choice xmlns:v="urn:schemas-microsoft-com:vml" Requires="v">
                <p:oleObj spid="_x0000_s378186" name="Equation" r:id="rId3" imgW="660240" imgH="253800" progId="Equation.DSMT4">
                  <p:embed/>
                </p:oleObj>
              </mc:Choice>
              <mc:Fallback>
                <p:oleObj name="Equation" r:id="rId3" imgW="660240" imgH="253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765175"/>
                        <a:ext cx="1008062"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73" name="Object 13"/>
          <p:cNvGraphicFramePr>
            <a:graphicFrameLocks noChangeAspect="1"/>
          </p:cNvGraphicFramePr>
          <p:nvPr/>
        </p:nvGraphicFramePr>
        <p:xfrm>
          <a:off x="2124075" y="1196975"/>
          <a:ext cx="3960813" cy="742950"/>
        </p:xfrm>
        <a:graphic>
          <a:graphicData uri="http://schemas.openxmlformats.org/presentationml/2006/ole">
            <mc:AlternateContent xmlns:mc="http://schemas.openxmlformats.org/markup-compatibility/2006">
              <mc:Choice xmlns:v="urn:schemas-microsoft-com:vml" Requires="v">
                <p:oleObj spid="_x0000_s378187" name="Equation" r:id="rId5" imgW="2298600" imgH="431640" progId="Equation.DSMT4">
                  <p:embed/>
                </p:oleObj>
              </mc:Choice>
              <mc:Fallback>
                <p:oleObj name="Equation" r:id="rId5" imgW="2298600" imgH="431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1196975"/>
                        <a:ext cx="396081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574" name="Text Box 14"/>
          <p:cNvSpPr txBox="1">
            <a:spLocks noChangeArrowheads="1"/>
          </p:cNvSpPr>
          <p:nvPr/>
        </p:nvSpPr>
        <p:spPr bwMode="auto">
          <a:xfrm>
            <a:off x="1184275" y="1916113"/>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将其</a:t>
            </a:r>
            <a:r>
              <a:rPr lang="zh-CN" altLang="en-US" sz="2000" dirty="0" smtClean="0"/>
              <a:t>带入之前</a:t>
            </a:r>
            <a:r>
              <a:rPr lang="zh-CN" altLang="en-US" sz="2000" dirty="0"/>
              <a:t>的</a:t>
            </a:r>
            <a:r>
              <a:rPr lang="zh-CN" altLang="en-US" sz="2000" dirty="0" smtClean="0"/>
              <a:t>结果，</a:t>
            </a:r>
            <a:r>
              <a:rPr lang="zh-CN" altLang="en-US" sz="2000" dirty="0"/>
              <a:t>化简得到：</a:t>
            </a:r>
          </a:p>
        </p:txBody>
      </p:sp>
      <p:graphicFrame>
        <p:nvGraphicFramePr>
          <p:cNvPr id="66575" name="Object 15"/>
          <p:cNvGraphicFramePr>
            <a:graphicFrameLocks noChangeAspect="1"/>
          </p:cNvGraphicFramePr>
          <p:nvPr/>
        </p:nvGraphicFramePr>
        <p:xfrm>
          <a:off x="2627313" y="2474913"/>
          <a:ext cx="2160587" cy="757237"/>
        </p:xfrm>
        <a:graphic>
          <a:graphicData uri="http://schemas.openxmlformats.org/presentationml/2006/ole">
            <mc:AlternateContent xmlns:mc="http://schemas.openxmlformats.org/markup-compatibility/2006">
              <mc:Choice xmlns:v="urn:schemas-microsoft-com:vml" Requires="v">
                <p:oleObj spid="_x0000_s378188" name="Equation" r:id="rId7" imgW="1269720" imgH="444240" progId="Equation.DSMT4">
                  <p:embed/>
                </p:oleObj>
              </mc:Choice>
              <mc:Fallback>
                <p:oleObj name="Equation" r:id="rId7" imgW="1269720" imgH="4442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2474913"/>
                        <a:ext cx="2160587" cy="75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76" name="Object 16"/>
          <p:cNvGraphicFramePr>
            <a:graphicFrameLocks noChangeAspect="1"/>
          </p:cNvGraphicFramePr>
          <p:nvPr>
            <p:extLst>
              <p:ext uri="{D42A27DB-BD31-4B8C-83A1-F6EECF244321}">
                <p14:modId xmlns:p14="http://schemas.microsoft.com/office/powerpoint/2010/main" val="294071702"/>
              </p:ext>
            </p:extLst>
          </p:nvPr>
        </p:nvGraphicFramePr>
        <p:xfrm>
          <a:off x="2611149" y="3513282"/>
          <a:ext cx="2232025" cy="774700"/>
        </p:xfrm>
        <a:graphic>
          <a:graphicData uri="http://schemas.openxmlformats.org/presentationml/2006/ole">
            <mc:AlternateContent xmlns:mc="http://schemas.openxmlformats.org/markup-compatibility/2006">
              <mc:Choice xmlns:v="urn:schemas-microsoft-com:vml" Requires="v">
                <p:oleObj spid="_x0000_s378189" name="Equation" r:id="rId9" imgW="1244520" imgH="431640" progId="Equation.DSMT4">
                  <p:embed/>
                </p:oleObj>
              </mc:Choice>
              <mc:Fallback>
                <p:oleObj name="Equation" r:id="rId9" imgW="1244520" imgH="43164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11149" y="3513282"/>
                        <a:ext cx="223202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577" name="Text Box 17"/>
          <p:cNvSpPr txBox="1">
            <a:spLocks noChangeArrowheads="1"/>
          </p:cNvSpPr>
          <p:nvPr/>
        </p:nvSpPr>
        <p:spPr bwMode="auto">
          <a:xfrm>
            <a:off x="1325563" y="3159125"/>
            <a:ext cx="50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即</a:t>
            </a:r>
            <a:r>
              <a:rPr lang="en-US" altLang="zh-CN" sz="2000"/>
              <a:t>:</a:t>
            </a:r>
          </a:p>
        </p:txBody>
      </p:sp>
    </p:spTree>
    <p:extLst>
      <p:ext uri="{BB962C8B-B14F-4D97-AF65-F5344CB8AC3E}">
        <p14:creationId xmlns:p14="http://schemas.microsoft.com/office/powerpoint/2010/main" val="123691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574"/>
                                        </p:tgtEl>
                                        <p:attrNameLst>
                                          <p:attrName>style.visibility</p:attrName>
                                        </p:attrNameLst>
                                      </p:cBhvr>
                                      <p:to>
                                        <p:strVal val="visible"/>
                                      </p:to>
                                    </p:set>
                                    <p:anim calcmode="lin" valueType="num">
                                      <p:cBhvr additive="base">
                                        <p:cTn id="7" dur="500" fill="hold"/>
                                        <p:tgtEl>
                                          <p:spTgt spid="66574"/>
                                        </p:tgtEl>
                                        <p:attrNameLst>
                                          <p:attrName>ppt_x</p:attrName>
                                        </p:attrNameLst>
                                      </p:cBhvr>
                                      <p:tavLst>
                                        <p:tav tm="0">
                                          <p:val>
                                            <p:strVal val="#ppt_x"/>
                                          </p:val>
                                        </p:tav>
                                        <p:tav tm="100000">
                                          <p:val>
                                            <p:strVal val="#ppt_x"/>
                                          </p:val>
                                        </p:tav>
                                      </p:tavLst>
                                    </p:anim>
                                    <p:anim calcmode="lin" valueType="num">
                                      <p:cBhvr additive="base">
                                        <p:cTn id="8" dur="500" fill="hold"/>
                                        <p:tgtEl>
                                          <p:spTgt spid="665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575"/>
                                        </p:tgtEl>
                                        <p:attrNameLst>
                                          <p:attrName>style.visibility</p:attrName>
                                        </p:attrNameLst>
                                      </p:cBhvr>
                                      <p:to>
                                        <p:strVal val="visible"/>
                                      </p:to>
                                    </p:set>
                                    <p:anim calcmode="lin" valueType="num">
                                      <p:cBhvr additive="base">
                                        <p:cTn id="13" dur="500" fill="hold"/>
                                        <p:tgtEl>
                                          <p:spTgt spid="66575"/>
                                        </p:tgtEl>
                                        <p:attrNameLst>
                                          <p:attrName>ppt_x</p:attrName>
                                        </p:attrNameLst>
                                      </p:cBhvr>
                                      <p:tavLst>
                                        <p:tav tm="0">
                                          <p:val>
                                            <p:strVal val="#ppt_x"/>
                                          </p:val>
                                        </p:tav>
                                        <p:tav tm="100000">
                                          <p:val>
                                            <p:strVal val="#ppt_x"/>
                                          </p:val>
                                        </p:tav>
                                      </p:tavLst>
                                    </p:anim>
                                    <p:anim calcmode="lin" valueType="num">
                                      <p:cBhvr additive="base">
                                        <p:cTn id="14" dur="500" fill="hold"/>
                                        <p:tgtEl>
                                          <p:spTgt spid="665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577"/>
                                        </p:tgtEl>
                                        <p:attrNameLst>
                                          <p:attrName>style.visibility</p:attrName>
                                        </p:attrNameLst>
                                      </p:cBhvr>
                                      <p:to>
                                        <p:strVal val="visible"/>
                                      </p:to>
                                    </p:set>
                                    <p:anim calcmode="lin" valueType="num">
                                      <p:cBhvr additive="base">
                                        <p:cTn id="19" dur="500" fill="hold"/>
                                        <p:tgtEl>
                                          <p:spTgt spid="66577"/>
                                        </p:tgtEl>
                                        <p:attrNameLst>
                                          <p:attrName>ppt_x</p:attrName>
                                        </p:attrNameLst>
                                      </p:cBhvr>
                                      <p:tavLst>
                                        <p:tav tm="0">
                                          <p:val>
                                            <p:strVal val="#ppt_x"/>
                                          </p:val>
                                        </p:tav>
                                        <p:tav tm="100000">
                                          <p:val>
                                            <p:strVal val="#ppt_x"/>
                                          </p:val>
                                        </p:tav>
                                      </p:tavLst>
                                    </p:anim>
                                    <p:anim calcmode="lin" valueType="num">
                                      <p:cBhvr additive="base">
                                        <p:cTn id="20" dur="500" fill="hold"/>
                                        <p:tgtEl>
                                          <p:spTgt spid="6657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6576"/>
                                        </p:tgtEl>
                                        <p:attrNameLst>
                                          <p:attrName>style.visibility</p:attrName>
                                        </p:attrNameLst>
                                      </p:cBhvr>
                                      <p:to>
                                        <p:strVal val="visible"/>
                                      </p:to>
                                    </p:set>
                                    <p:anim calcmode="lin" valueType="num">
                                      <p:cBhvr additive="base">
                                        <p:cTn id="25" dur="500" fill="hold"/>
                                        <p:tgtEl>
                                          <p:spTgt spid="66576"/>
                                        </p:tgtEl>
                                        <p:attrNameLst>
                                          <p:attrName>ppt_x</p:attrName>
                                        </p:attrNameLst>
                                      </p:cBhvr>
                                      <p:tavLst>
                                        <p:tav tm="0">
                                          <p:val>
                                            <p:strVal val="#ppt_x"/>
                                          </p:val>
                                        </p:tav>
                                        <p:tav tm="100000">
                                          <p:val>
                                            <p:strVal val="#ppt_x"/>
                                          </p:val>
                                        </p:tav>
                                      </p:tavLst>
                                    </p:anim>
                                    <p:anim calcmode="lin" valueType="num">
                                      <p:cBhvr additive="base">
                                        <p:cTn id="26" dur="500" fill="hold"/>
                                        <p:tgtEl>
                                          <p:spTgt spid="6657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6569"/>
                                        </p:tgtEl>
                                        <p:attrNameLst>
                                          <p:attrName>style.visibility</p:attrName>
                                        </p:attrNameLst>
                                      </p:cBhvr>
                                      <p:to>
                                        <p:strVal val="visible"/>
                                      </p:to>
                                    </p:set>
                                    <p:anim calcmode="lin" valueType="num">
                                      <p:cBhvr additive="base">
                                        <p:cTn id="31" dur="500" fill="hold"/>
                                        <p:tgtEl>
                                          <p:spTgt spid="66569"/>
                                        </p:tgtEl>
                                        <p:attrNameLst>
                                          <p:attrName>ppt_x</p:attrName>
                                        </p:attrNameLst>
                                      </p:cBhvr>
                                      <p:tavLst>
                                        <p:tav tm="0">
                                          <p:val>
                                            <p:strVal val="#ppt_x"/>
                                          </p:val>
                                        </p:tav>
                                        <p:tav tm="100000">
                                          <p:val>
                                            <p:strVal val="#ppt_x"/>
                                          </p:val>
                                        </p:tav>
                                      </p:tavLst>
                                    </p:anim>
                                    <p:anim calcmode="lin" valueType="num">
                                      <p:cBhvr additive="base">
                                        <p:cTn id="32" dur="500" fill="hold"/>
                                        <p:tgtEl>
                                          <p:spTgt spid="665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9" grpId="0"/>
      <p:bldP spid="66574" grpId="0"/>
      <p:bldP spid="6657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468313" y="404813"/>
            <a:ext cx="7543800" cy="1295400"/>
          </a:xfrm>
        </p:spPr>
        <p:txBody>
          <a:bodyPr/>
          <a:lstStyle/>
          <a:p>
            <a:r>
              <a:rPr lang="en-US" altLang="zh-CN" sz="3200" dirty="0" smtClean="0">
                <a:latin typeface="Times New Roman" panose="02020603050405020304" pitchFamily="18" charset="0"/>
              </a:rPr>
              <a:t>Newton</a:t>
            </a:r>
            <a:r>
              <a:rPr lang="zh-CN" altLang="en-US" sz="3200" dirty="0" smtClean="0">
                <a:latin typeface="Times New Roman" panose="02020603050405020304" pitchFamily="18" charset="0"/>
              </a:rPr>
              <a:t>迭代法</a:t>
            </a:r>
            <a:r>
              <a:rPr lang="zh-CN" altLang="en-US" sz="3600" dirty="0" smtClean="0">
                <a:latin typeface="Times New Roman" panose="02020603050405020304" pitchFamily="18" charset="0"/>
              </a:rPr>
              <a:t/>
            </a:r>
            <a:br>
              <a:rPr lang="zh-CN" altLang="en-US" sz="3600" dirty="0" smtClean="0">
                <a:latin typeface="Times New Roman" panose="02020603050405020304" pitchFamily="18" charset="0"/>
              </a:rPr>
            </a:br>
            <a:endParaRPr lang="zh-CN" altLang="en-US" sz="3600" dirty="0" smtClean="0">
              <a:latin typeface="Times New Roman" panose="02020603050405020304" pitchFamily="18" charset="0"/>
            </a:endParaRPr>
          </a:p>
        </p:txBody>
      </p:sp>
      <p:sp>
        <p:nvSpPr>
          <p:cNvPr id="79891" name="Text Box 19"/>
          <p:cNvSpPr txBox="1">
            <a:spLocks noChangeArrowheads="1"/>
          </p:cNvSpPr>
          <p:nvPr/>
        </p:nvSpPr>
        <p:spPr bwMode="auto">
          <a:xfrm>
            <a:off x="1042988" y="1425575"/>
            <a:ext cx="272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估计方程可以简记为：</a:t>
            </a:r>
          </a:p>
        </p:txBody>
      </p:sp>
      <p:graphicFrame>
        <p:nvGraphicFramePr>
          <p:cNvPr id="79892" name="Object 20"/>
          <p:cNvGraphicFramePr>
            <a:graphicFrameLocks noChangeAspect="1"/>
          </p:cNvGraphicFramePr>
          <p:nvPr/>
        </p:nvGraphicFramePr>
        <p:xfrm>
          <a:off x="3706813" y="1471613"/>
          <a:ext cx="1009650" cy="385762"/>
        </p:xfrm>
        <a:graphic>
          <a:graphicData uri="http://schemas.openxmlformats.org/presentationml/2006/ole">
            <mc:AlternateContent xmlns:mc="http://schemas.openxmlformats.org/markup-compatibility/2006">
              <mc:Choice xmlns:v="urn:schemas-microsoft-com:vml" Requires="v">
                <p:oleObj spid="_x0000_s379206" name="Equation" r:id="rId3" imgW="533160" imgH="203040" progId="Equation.DSMT4">
                  <p:embed/>
                </p:oleObj>
              </mc:Choice>
              <mc:Fallback>
                <p:oleObj name="Equation" r:id="rId3" imgW="533160" imgH="203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6813" y="1471613"/>
                        <a:ext cx="100965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93" name="Text Box 21"/>
          <p:cNvSpPr txBox="1">
            <a:spLocks noChangeArrowheads="1"/>
          </p:cNvSpPr>
          <p:nvPr/>
        </p:nvSpPr>
        <p:spPr bwMode="auto">
          <a:xfrm>
            <a:off x="1042988" y="1952625"/>
            <a:ext cx="6408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t>应用泰勒公式展开，上式可以近似表示为：</a:t>
            </a:r>
          </a:p>
        </p:txBody>
      </p:sp>
      <p:graphicFrame>
        <p:nvGraphicFramePr>
          <p:cNvPr id="79894" name="Object 22"/>
          <p:cNvGraphicFramePr>
            <a:graphicFrameLocks noChangeAspect="1"/>
          </p:cNvGraphicFramePr>
          <p:nvPr>
            <p:extLst>
              <p:ext uri="{D42A27DB-BD31-4B8C-83A1-F6EECF244321}">
                <p14:modId xmlns:p14="http://schemas.microsoft.com/office/powerpoint/2010/main" val="2911850901"/>
              </p:ext>
            </p:extLst>
          </p:nvPr>
        </p:nvGraphicFramePr>
        <p:xfrm>
          <a:off x="2564031" y="2470150"/>
          <a:ext cx="3556000" cy="538163"/>
        </p:xfrm>
        <a:graphic>
          <a:graphicData uri="http://schemas.openxmlformats.org/presentationml/2006/ole">
            <mc:AlternateContent xmlns:mc="http://schemas.openxmlformats.org/markup-compatibility/2006">
              <mc:Choice xmlns:v="urn:schemas-microsoft-com:vml" Requires="v">
                <p:oleObj spid="_x0000_s379207" name="Equation" r:id="rId5" imgW="1841400" imgH="279360" progId="Equation.DSMT4">
                  <p:embed/>
                </p:oleObj>
              </mc:Choice>
              <mc:Fallback>
                <p:oleObj name="Equation" r:id="rId5" imgW="1841400" imgH="279360" progId="Equation.DSMT4">
                  <p:embed/>
                  <p:pic>
                    <p:nvPicPr>
                      <p:cNvPr id="0" name=""/>
                      <p:cNvPicPr>
                        <a:picLocks noChangeAspect="1" noChangeArrowheads="1"/>
                      </p:cNvPicPr>
                      <p:nvPr/>
                    </p:nvPicPr>
                    <p:blipFill>
                      <a:blip r:embed="rId6"/>
                      <a:srcRect/>
                      <a:stretch>
                        <a:fillRect/>
                      </a:stretch>
                    </p:blipFill>
                    <p:spPr bwMode="auto">
                      <a:xfrm>
                        <a:off x="2564031" y="2470150"/>
                        <a:ext cx="35560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895" name="Object 23"/>
          <p:cNvGraphicFramePr>
            <a:graphicFrameLocks noChangeAspect="1"/>
          </p:cNvGraphicFramePr>
          <p:nvPr>
            <p:extLst>
              <p:ext uri="{D42A27DB-BD31-4B8C-83A1-F6EECF244321}">
                <p14:modId xmlns:p14="http://schemas.microsoft.com/office/powerpoint/2010/main" val="1579671747"/>
              </p:ext>
            </p:extLst>
          </p:nvPr>
        </p:nvGraphicFramePr>
        <p:xfrm>
          <a:off x="2627313" y="3587750"/>
          <a:ext cx="3386137" cy="633413"/>
        </p:xfrm>
        <a:graphic>
          <a:graphicData uri="http://schemas.openxmlformats.org/presentationml/2006/ole">
            <mc:AlternateContent xmlns:mc="http://schemas.openxmlformats.org/markup-compatibility/2006">
              <mc:Choice xmlns:v="urn:schemas-microsoft-com:vml" Requires="v">
                <p:oleObj spid="_x0000_s379208" name="Equation" r:id="rId7" imgW="1765080" imgH="330120" progId="Equation.DSMT4">
                  <p:embed/>
                </p:oleObj>
              </mc:Choice>
              <mc:Fallback>
                <p:oleObj name="Equation" r:id="rId7" imgW="1765080" imgH="330120" progId="Equation.DSMT4">
                  <p:embed/>
                  <p:pic>
                    <p:nvPicPr>
                      <p:cNvPr id="0" name=""/>
                      <p:cNvPicPr>
                        <a:picLocks noChangeAspect="1" noChangeArrowheads="1"/>
                      </p:cNvPicPr>
                      <p:nvPr/>
                    </p:nvPicPr>
                    <p:blipFill>
                      <a:blip r:embed="rId8"/>
                      <a:srcRect/>
                      <a:stretch>
                        <a:fillRect/>
                      </a:stretch>
                    </p:blipFill>
                    <p:spPr bwMode="auto">
                      <a:xfrm>
                        <a:off x="2627313" y="3587750"/>
                        <a:ext cx="3386137"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96" name="Text Box 24"/>
          <p:cNvSpPr txBox="1">
            <a:spLocks noChangeArrowheads="1"/>
          </p:cNvSpPr>
          <p:nvPr/>
        </p:nvSpPr>
        <p:spPr bwMode="auto">
          <a:xfrm>
            <a:off x="1096963" y="3008313"/>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变形</a:t>
            </a:r>
            <a:r>
              <a:rPr lang="zh-CN" altLang="en-US" sz="2000" dirty="0" smtClean="0"/>
              <a:t>得到</a:t>
            </a:r>
            <a:r>
              <a:rPr lang="zh-CN" altLang="en-US" sz="2000" dirty="0"/>
              <a:t>：</a:t>
            </a:r>
          </a:p>
        </p:txBody>
      </p:sp>
      <p:graphicFrame>
        <p:nvGraphicFramePr>
          <p:cNvPr id="79897" name="Object 25"/>
          <p:cNvGraphicFramePr>
            <a:graphicFrameLocks noChangeAspect="1"/>
          </p:cNvGraphicFramePr>
          <p:nvPr>
            <p:extLst>
              <p:ext uri="{D42A27DB-BD31-4B8C-83A1-F6EECF244321}">
                <p14:modId xmlns:p14="http://schemas.microsoft.com/office/powerpoint/2010/main" val="3458203297"/>
              </p:ext>
            </p:extLst>
          </p:nvPr>
        </p:nvGraphicFramePr>
        <p:xfrm>
          <a:off x="2601730" y="5181600"/>
          <a:ext cx="4167188" cy="663575"/>
        </p:xfrm>
        <a:graphic>
          <a:graphicData uri="http://schemas.openxmlformats.org/presentationml/2006/ole">
            <mc:AlternateContent xmlns:mc="http://schemas.openxmlformats.org/markup-compatibility/2006">
              <mc:Choice xmlns:v="urn:schemas-microsoft-com:vml" Requires="v">
                <p:oleObj spid="_x0000_s379209" name="Equation" r:id="rId9" imgW="2070000" imgH="330120" progId="Equation.DSMT4">
                  <p:embed/>
                </p:oleObj>
              </mc:Choice>
              <mc:Fallback>
                <p:oleObj name="Equation" r:id="rId9" imgW="2070000" imgH="330120" progId="Equation.DSMT4">
                  <p:embed/>
                  <p:pic>
                    <p:nvPicPr>
                      <p:cNvPr id="0" name=""/>
                      <p:cNvPicPr>
                        <a:picLocks noChangeAspect="1" noChangeArrowheads="1"/>
                      </p:cNvPicPr>
                      <p:nvPr/>
                    </p:nvPicPr>
                    <p:blipFill>
                      <a:blip r:embed="rId10"/>
                      <a:srcRect/>
                      <a:stretch>
                        <a:fillRect/>
                      </a:stretch>
                    </p:blipFill>
                    <p:spPr bwMode="auto">
                      <a:xfrm>
                        <a:off x="2601730" y="5181600"/>
                        <a:ext cx="4167188"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98" name="Text Box 26"/>
          <p:cNvSpPr txBox="1">
            <a:spLocks noChangeArrowheads="1"/>
          </p:cNvSpPr>
          <p:nvPr/>
        </p:nvSpPr>
        <p:spPr bwMode="auto">
          <a:xfrm>
            <a:off x="1042988" y="4473575"/>
            <a:ext cx="24994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由此</a:t>
            </a:r>
            <a:r>
              <a:rPr lang="zh-CN" altLang="en-US" sz="2000" dirty="0" smtClean="0"/>
              <a:t>得到</a:t>
            </a:r>
            <a:r>
              <a:rPr lang="zh-CN" altLang="en-US" sz="2000" b="1" dirty="0" smtClean="0"/>
              <a:t>迭代公式</a:t>
            </a:r>
            <a:r>
              <a:rPr lang="zh-CN" altLang="en-US" sz="2000" dirty="0" smtClean="0"/>
              <a:t>：</a:t>
            </a:r>
            <a:endParaRPr lang="zh-CN" altLang="en-US" sz="2000" dirty="0"/>
          </a:p>
        </p:txBody>
      </p:sp>
    </p:spTree>
    <p:extLst>
      <p:ext uri="{BB962C8B-B14F-4D97-AF65-F5344CB8AC3E}">
        <p14:creationId xmlns:p14="http://schemas.microsoft.com/office/powerpoint/2010/main" val="283506411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25" name="Text Box 17"/>
          <p:cNvSpPr txBox="1">
            <a:spLocks noChangeArrowheads="1"/>
          </p:cNvSpPr>
          <p:nvPr/>
        </p:nvSpPr>
        <p:spPr bwMode="auto">
          <a:xfrm>
            <a:off x="762000" y="1295400"/>
            <a:ext cx="4629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一阶导数向量          称作得分向量，记作</a:t>
            </a:r>
          </a:p>
        </p:txBody>
      </p:sp>
      <p:graphicFrame>
        <p:nvGraphicFramePr>
          <p:cNvPr id="68624" name="Object 16"/>
          <p:cNvGraphicFramePr>
            <a:graphicFrameLocks noChangeAspect="1"/>
          </p:cNvGraphicFramePr>
          <p:nvPr>
            <p:extLst>
              <p:ext uri="{D42A27DB-BD31-4B8C-83A1-F6EECF244321}">
                <p14:modId xmlns:p14="http://schemas.microsoft.com/office/powerpoint/2010/main" val="1852987987"/>
              </p:ext>
            </p:extLst>
          </p:nvPr>
        </p:nvGraphicFramePr>
        <p:xfrm>
          <a:off x="2417762" y="1338263"/>
          <a:ext cx="576263" cy="369887"/>
        </p:xfrm>
        <a:graphic>
          <a:graphicData uri="http://schemas.openxmlformats.org/presentationml/2006/ole">
            <mc:AlternateContent xmlns:mc="http://schemas.openxmlformats.org/markup-compatibility/2006">
              <mc:Choice xmlns:v="urn:schemas-microsoft-com:vml" Requires="v">
                <p:oleObj spid="_x0000_s380368" name="Equation" r:id="rId3" imgW="317160" imgH="203040" progId="Equation.DSMT4">
                  <p:embed/>
                </p:oleObj>
              </mc:Choice>
              <mc:Fallback>
                <p:oleObj name="Equation" r:id="rId3" imgW="317160" imgH="203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7762" y="1338263"/>
                        <a:ext cx="5762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26" name="Object 18"/>
          <p:cNvGraphicFramePr>
            <a:graphicFrameLocks noChangeAspect="1"/>
          </p:cNvGraphicFramePr>
          <p:nvPr>
            <p:extLst>
              <p:ext uri="{D42A27DB-BD31-4B8C-83A1-F6EECF244321}">
                <p14:modId xmlns:p14="http://schemas.microsoft.com/office/powerpoint/2010/main" val="432295521"/>
              </p:ext>
            </p:extLst>
          </p:nvPr>
        </p:nvGraphicFramePr>
        <p:xfrm>
          <a:off x="5297487" y="1325563"/>
          <a:ext cx="1152525" cy="401637"/>
        </p:xfrm>
        <a:graphic>
          <a:graphicData uri="http://schemas.openxmlformats.org/presentationml/2006/ole">
            <mc:AlternateContent xmlns:mc="http://schemas.openxmlformats.org/markup-compatibility/2006">
              <mc:Choice xmlns:v="urn:schemas-microsoft-com:vml" Requires="v">
                <p:oleObj spid="_x0000_s380369" name="Equation" r:id="rId5" imgW="583920" imgH="203040" progId="Equation.DSMT4">
                  <p:embed/>
                </p:oleObj>
              </mc:Choice>
              <mc:Fallback>
                <p:oleObj name="Equation" r:id="rId5" imgW="58392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7487" y="1325563"/>
                        <a:ext cx="1152525"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28" name="Text Box 20"/>
          <p:cNvSpPr txBox="1">
            <a:spLocks noChangeArrowheads="1"/>
          </p:cNvSpPr>
          <p:nvPr/>
        </p:nvSpPr>
        <p:spPr bwMode="auto">
          <a:xfrm>
            <a:off x="762000" y="3489325"/>
            <a:ext cx="81407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dirty="0" smtClean="0"/>
              <a:t>二</a:t>
            </a:r>
            <a:r>
              <a:rPr lang="zh-CN" altLang="en-US" sz="2000" dirty="0"/>
              <a:t>阶导数矩阵          称作海森矩阵（</a:t>
            </a:r>
            <a:r>
              <a:rPr lang="en-US" altLang="zh-CN" sz="2000" dirty="0"/>
              <a:t>Hessian matrix</a:t>
            </a:r>
            <a:r>
              <a:rPr lang="zh-CN" altLang="en-US" sz="2000" dirty="0" smtClean="0"/>
              <a:t>），第 </a:t>
            </a:r>
            <a:r>
              <a:rPr lang="en-US" altLang="zh-CN" sz="2000" i="1" dirty="0" smtClean="0"/>
              <a:t>j </a:t>
            </a:r>
            <a:r>
              <a:rPr lang="zh-CN" altLang="en-US" sz="2000" dirty="0" smtClean="0"/>
              <a:t>行 </a:t>
            </a:r>
            <a:r>
              <a:rPr lang="en-US" altLang="zh-CN" sz="2000" i="1" dirty="0" smtClean="0"/>
              <a:t>h</a:t>
            </a:r>
            <a:r>
              <a:rPr lang="en-US" altLang="zh-CN" sz="2000" dirty="0" smtClean="0"/>
              <a:t> </a:t>
            </a:r>
            <a:r>
              <a:rPr lang="zh-CN" altLang="en-US" sz="2000" dirty="0" smtClean="0"/>
              <a:t>列元素：</a:t>
            </a:r>
            <a:endParaRPr lang="zh-CN" altLang="en-US" sz="2000" dirty="0"/>
          </a:p>
        </p:txBody>
      </p:sp>
      <p:graphicFrame>
        <p:nvGraphicFramePr>
          <p:cNvPr id="68629" name="Object 21"/>
          <p:cNvGraphicFramePr>
            <a:graphicFrameLocks noChangeAspect="1"/>
          </p:cNvGraphicFramePr>
          <p:nvPr>
            <p:extLst>
              <p:ext uri="{D42A27DB-BD31-4B8C-83A1-F6EECF244321}">
                <p14:modId xmlns:p14="http://schemas.microsoft.com/office/powerpoint/2010/main" val="4009297537"/>
              </p:ext>
            </p:extLst>
          </p:nvPr>
        </p:nvGraphicFramePr>
        <p:xfrm>
          <a:off x="2438400" y="3550033"/>
          <a:ext cx="577850" cy="357188"/>
        </p:xfrm>
        <a:graphic>
          <a:graphicData uri="http://schemas.openxmlformats.org/presentationml/2006/ole">
            <mc:AlternateContent xmlns:mc="http://schemas.openxmlformats.org/markup-compatibility/2006">
              <mc:Choice xmlns:v="urn:schemas-microsoft-com:vml" Requires="v">
                <p:oleObj spid="_x0000_s380370" name="Equation" r:id="rId7" imgW="330120" imgH="203040" progId="Equation.DSMT4">
                  <p:embed/>
                </p:oleObj>
              </mc:Choice>
              <mc:Fallback>
                <p:oleObj name="Equation" r:id="rId7" imgW="33012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 y="3550033"/>
                        <a:ext cx="57785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8630" name="Object 22"/>
          <p:cNvGraphicFramePr>
            <a:graphicFrameLocks noChangeAspect="1"/>
          </p:cNvGraphicFramePr>
          <p:nvPr>
            <p:extLst>
              <p:ext uri="{D42A27DB-BD31-4B8C-83A1-F6EECF244321}">
                <p14:modId xmlns:p14="http://schemas.microsoft.com/office/powerpoint/2010/main" val="1299284573"/>
              </p:ext>
            </p:extLst>
          </p:nvPr>
        </p:nvGraphicFramePr>
        <p:xfrm>
          <a:off x="2514600" y="2133600"/>
          <a:ext cx="3435765" cy="914400"/>
        </p:xfrm>
        <a:graphic>
          <a:graphicData uri="http://schemas.openxmlformats.org/presentationml/2006/ole">
            <mc:AlternateContent xmlns:mc="http://schemas.openxmlformats.org/markup-compatibility/2006">
              <mc:Choice xmlns:v="urn:schemas-microsoft-com:vml" Requires="v">
                <p:oleObj spid="_x0000_s380371" name="Equation" r:id="rId9" imgW="1765080" imgH="469800" progId="Equation.DSMT4">
                  <p:embed/>
                </p:oleObj>
              </mc:Choice>
              <mc:Fallback>
                <p:oleObj name="Equation" r:id="rId9" imgW="1765080" imgH="4698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4600" y="2133600"/>
                        <a:ext cx="3435765" cy="914400"/>
                      </a:xfrm>
                      <a:prstGeom prst="rect">
                        <a:avLst/>
                      </a:prstGeom>
                      <a:noFill/>
                      <a:ln>
                        <a:noFill/>
                      </a:ln>
                      <a:effectLst/>
                      <a:extLst/>
                    </p:spPr>
                  </p:pic>
                </p:oleObj>
              </mc:Fallback>
            </mc:AlternateContent>
          </a:graphicData>
        </a:graphic>
      </p:graphicFrame>
      <p:graphicFrame>
        <p:nvGraphicFramePr>
          <p:cNvPr id="68634" name="Object 26"/>
          <p:cNvGraphicFramePr>
            <a:graphicFrameLocks noChangeAspect="1"/>
          </p:cNvGraphicFramePr>
          <p:nvPr>
            <p:extLst>
              <p:ext uri="{D42A27DB-BD31-4B8C-83A1-F6EECF244321}">
                <p14:modId xmlns:p14="http://schemas.microsoft.com/office/powerpoint/2010/main" val="2892431175"/>
              </p:ext>
            </p:extLst>
          </p:nvPr>
        </p:nvGraphicFramePr>
        <p:xfrm>
          <a:off x="633413" y="4724400"/>
          <a:ext cx="8178800" cy="911225"/>
        </p:xfrm>
        <a:graphic>
          <a:graphicData uri="http://schemas.openxmlformats.org/presentationml/2006/ole">
            <mc:AlternateContent xmlns:mc="http://schemas.openxmlformats.org/markup-compatibility/2006">
              <mc:Choice xmlns:v="urn:schemas-microsoft-com:vml" Requires="v">
                <p:oleObj spid="_x0000_s380372" name="Equation" r:id="rId11" imgW="5244840" imgH="583920" progId="Equation.DSMT4">
                  <p:embed/>
                </p:oleObj>
              </mc:Choice>
              <mc:Fallback>
                <p:oleObj name="Equation" r:id="rId11" imgW="5244840" imgH="583920" progId="Equation.DSMT4">
                  <p:embed/>
                  <p:pic>
                    <p:nvPicPr>
                      <p:cNvPr id="0" name=""/>
                      <p:cNvPicPr>
                        <a:picLocks noChangeAspect="1" noChangeArrowheads="1"/>
                      </p:cNvPicPr>
                      <p:nvPr/>
                    </p:nvPicPr>
                    <p:blipFill>
                      <a:blip r:embed="rId12"/>
                      <a:srcRect/>
                      <a:stretch>
                        <a:fillRect/>
                      </a:stretch>
                    </p:blipFill>
                    <p:spPr bwMode="auto">
                      <a:xfrm>
                        <a:off x="633413" y="4724400"/>
                        <a:ext cx="8178800" cy="91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9191199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0" name="Rectangle 6"/>
          <p:cNvSpPr>
            <a:spLocks noChangeArrowheads="1"/>
          </p:cNvSpPr>
          <p:nvPr/>
        </p:nvSpPr>
        <p:spPr bwMode="auto">
          <a:xfrm>
            <a:off x="468313" y="549275"/>
            <a:ext cx="8137525"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000" b="1" dirty="0"/>
              <a:t>Newton</a:t>
            </a:r>
            <a:r>
              <a:rPr lang="zh-CN" altLang="en-US" sz="2000" b="1" dirty="0"/>
              <a:t>迭代的一般步骤</a:t>
            </a:r>
            <a:r>
              <a:rPr lang="zh-CN" altLang="en-US" sz="2000" dirty="0"/>
              <a:t>：</a:t>
            </a:r>
          </a:p>
          <a:p>
            <a:pPr>
              <a:lnSpc>
                <a:spcPct val="150000"/>
              </a:lnSpc>
            </a:pPr>
            <a:r>
              <a:rPr lang="zh-CN" altLang="en-US" sz="2000" dirty="0"/>
              <a:t>       </a:t>
            </a:r>
            <a:r>
              <a:rPr lang="en-US" altLang="zh-CN" sz="2000" dirty="0"/>
              <a:t>1</a:t>
            </a:r>
            <a:r>
              <a:rPr lang="zh-CN" altLang="en-US" sz="2000" dirty="0"/>
              <a:t>、设置初始估计值</a:t>
            </a:r>
          </a:p>
          <a:p>
            <a:pPr>
              <a:lnSpc>
                <a:spcPct val="150000"/>
              </a:lnSpc>
            </a:pPr>
            <a:r>
              <a:rPr lang="en-US" altLang="zh-CN" sz="2000" dirty="0"/>
              <a:t>       2</a:t>
            </a:r>
            <a:r>
              <a:rPr lang="zh-CN" altLang="en-US" sz="2000" dirty="0"/>
              <a:t>、根据初始值计算出              和</a:t>
            </a:r>
          </a:p>
          <a:p>
            <a:pPr>
              <a:lnSpc>
                <a:spcPct val="150000"/>
              </a:lnSpc>
            </a:pPr>
            <a:r>
              <a:rPr lang="zh-CN" altLang="en-US" sz="2000" dirty="0"/>
              <a:t>       </a:t>
            </a:r>
            <a:r>
              <a:rPr lang="en-US" altLang="zh-CN" sz="2000" dirty="0"/>
              <a:t>3</a:t>
            </a:r>
            <a:r>
              <a:rPr lang="zh-CN" altLang="en-US" sz="2000" dirty="0"/>
              <a:t>、根据迭代公式：</a:t>
            </a:r>
          </a:p>
          <a:p>
            <a:pPr>
              <a:lnSpc>
                <a:spcPct val="150000"/>
              </a:lnSpc>
            </a:pPr>
            <a:r>
              <a:rPr lang="zh-CN" altLang="en-US" sz="2000" dirty="0"/>
              <a:t>      </a:t>
            </a:r>
          </a:p>
          <a:p>
            <a:pPr>
              <a:lnSpc>
                <a:spcPct val="150000"/>
              </a:lnSpc>
            </a:pPr>
            <a:r>
              <a:rPr lang="zh-CN" altLang="en-US" sz="2000" dirty="0"/>
              <a:t>             </a:t>
            </a:r>
          </a:p>
          <a:p>
            <a:pPr>
              <a:lnSpc>
                <a:spcPct val="150000"/>
              </a:lnSpc>
            </a:pPr>
            <a:r>
              <a:rPr lang="zh-CN" altLang="en-US" sz="2000" dirty="0"/>
              <a:t>             得到新估计值 </a:t>
            </a:r>
          </a:p>
          <a:p>
            <a:pPr>
              <a:lnSpc>
                <a:spcPct val="150000"/>
              </a:lnSpc>
            </a:pPr>
            <a:r>
              <a:rPr lang="zh-CN" altLang="en-US" sz="2000" dirty="0"/>
              <a:t>       </a:t>
            </a:r>
            <a:r>
              <a:rPr lang="en-US" altLang="zh-CN" sz="2000" dirty="0"/>
              <a:t>4</a:t>
            </a:r>
            <a:r>
              <a:rPr lang="zh-CN" altLang="en-US" sz="2000" dirty="0"/>
              <a:t>、计算两个估计值的差                      ，并判断其是否小于预设的阈    </a:t>
            </a:r>
          </a:p>
          <a:p>
            <a:pPr>
              <a:lnSpc>
                <a:spcPct val="150000"/>
              </a:lnSpc>
            </a:pPr>
            <a:r>
              <a:rPr lang="zh-CN" altLang="en-US" sz="2000" dirty="0"/>
              <a:t>             值（如        ）</a:t>
            </a:r>
          </a:p>
          <a:p>
            <a:pPr>
              <a:lnSpc>
                <a:spcPct val="150000"/>
              </a:lnSpc>
            </a:pPr>
            <a:r>
              <a:rPr lang="zh-CN" altLang="en-US" sz="2000" dirty="0"/>
              <a:t>       </a:t>
            </a:r>
            <a:r>
              <a:rPr lang="en-US" altLang="zh-CN" sz="2000" dirty="0"/>
              <a:t>5</a:t>
            </a:r>
            <a:r>
              <a:rPr lang="zh-CN" altLang="en-US" sz="2000" dirty="0"/>
              <a:t>、如果大于阈值，则将得到的        作为新的初始值带入迭代公式，</a:t>
            </a:r>
          </a:p>
          <a:p>
            <a:pPr>
              <a:lnSpc>
                <a:spcPct val="150000"/>
              </a:lnSpc>
            </a:pPr>
            <a:r>
              <a:rPr lang="zh-CN" altLang="en-US" sz="2000" dirty="0"/>
              <a:t>             重复</a:t>
            </a:r>
            <a:r>
              <a:rPr lang="en-US" altLang="zh-CN" sz="2000" dirty="0"/>
              <a:t>3</a:t>
            </a:r>
            <a:r>
              <a:rPr lang="zh-CN" altLang="en-US" sz="2000" dirty="0"/>
              <a:t>、</a:t>
            </a:r>
            <a:r>
              <a:rPr lang="en-US" altLang="zh-CN" sz="2000" dirty="0"/>
              <a:t>4</a:t>
            </a:r>
            <a:r>
              <a:rPr lang="zh-CN" altLang="en-US" sz="2000" dirty="0"/>
              <a:t>、</a:t>
            </a:r>
            <a:r>
              <a:rPr lang="en-US" altLang="zh-CN" sz="2000" dirty="0"/>
              <a:t>5</a:t>
            </a:r>
            <a:r>
              <a:rPr lang="zh-CN" altLang="en-US" sz="2000" dirty="0"/>
              <a:t>步骤，直到两个估计值的差小于阈值则范围最后的</a:t>
            </a:r>
          </a:p>
          <a:p>
            <a:pPr>
              <a:lnSpc>
                <a:spcPct val="150000"/>
              </a:lnSpc>
            </a:pPr>
            <a:r>
              <a:rPr lang="zh-CN" altLang="en-US" sz="2000" dirty="0"/>
              <a:t>             估计结果。</a:t>
            </a:r>
          </a:p>
        </p:txBody>
      </p:sp>
      <p:graphicFrame>
        <p:nvGraphicFramePr>
          <p:cNvPr id="67599" name="Object 15"/>
          <p:cNvGraphicFramePr>
            <a:graphicFrameLocks noChangeAspect="1"/>
          </p:cNvGraphicFramePr>
          <p:nvPr>
            <p:extLst>
              <p:ext uri="{D42A27DB-BD31-4B8C-83A1-F6EECF244321}">
                <p14:modId xmlns:p14="http://schemas.microsoft.com/office/powerpoint/2010/main" val="4129363264"/>
              </p:ext>
            </p:extLst>
          </p:nvPr>
        </p:nvGraphicFramePr>
        <p:xfrm>
          <a:off x="3132138" y="1125538"/>
          <a:ext cx="431800" cy="407987"/>
        </p:xfrm>
        <a:graphic>
          <a:graphicData uri="http://schemas.openxmlformats.org/presentationml/2006/ole">
            <mc:AlternateContent xmlns:mc="http://schemas.openxmlformats.org/markup-compatibility/2006">
              <mc:Choice xmlns:v="urn:schemas-microsoft-com:vml" Requires="v">
                <p:oleObj spid="_x0000_s381578" name="Equation" r:id="rId3" imgW="241200" imgH="228600" progId="Equation.DSMT4">
                  <p:embed/>
                </p:oleObj>
              </mc:Choice>
              <mc:Fallback>
                <p:oleObj name="Equation" r:id="rId3" imgW="2412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1125538"/>
                        <a:ext cx="431800"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0" name="Object 16"/>
          <p:cNvGraphicFramePr>
            <a:graphicFrameLocks noChangeAspect="1"/>
          </p:cNvGraphicFramePr>
          <p:nvPr/>
        </p:nvGraphicFramePr>
        <p:xfrm>
          <a:off x="2127250" y="4292600"/>
          <a:ext cx="500063" cy="363538"/>
        </p:xfrm>
        <a:graphic>
          <a:graphicData uri="http://schemas.openxmlformats.org/presentationml/2006/ole">
            <mc:AlternateContent xmlns:mc="http://schemas.openxmlformats.org/markup-compatibility/2006">
              <mc:Choice xmlns:v="urn:schemas-microsoft-com:vml" Requires="v">
                <p:oleObj spid="_x0000_s381579" name="Equation" r:id="rId5" imgW="279360" imgH="203040" progId="Equation.DSMT4">
                  <p:embed/>
                </p:oleObj>
              </mc:Choice>
              <mc:Fallback>
                <p:oleObj name="Equation" r:id="rId5" imgW="27936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7250" y="4292600"/>
                        <a:ext cx="50006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1" name="Object 17"/>
          <p:cNvGraphicFramePr>
            <a:graphicFrameLocks noChangeAspect="1"/>
          </p:cNvGraphicFramePr>
          <p:nvPr/>
        </p:nvGraphicFramePr>
        <p:xfrm>
          <a:off x="3455988" y="1593850"/>
          <a:ext cx="828675" cy="428625"/>
        </p:xfrm>
        <a:graphic>
          <a:graphicData uri="http://schemas.openxmlformats.org/presentationml/2006/ole">
            <mc:AlternateContent xmlns:mc="http://schemas.openxmlformats.org/markup-compatibility/2006">
              <mc:Choice xmlns:v="urn:schemas-microsoft-com:vml" Requires="v">
                <p:oleObj spid="_x0000_s381580" name="Equation" r:id="rId7" imgW="444240" imgH="228600" progId="Equation.DSMT4">
                  <p:embed/>
                </p:oleObj>
              </mc:Choice>
              <mc:Fallback>
                <p:oleObj name="Equation" r:id="rId7" imgW="44424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5988" y="1593850"/>
                        <a:ext cx="82867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2" name="Object 18"/>
          <p:cNvGraphicFramePr>
            <a:graphicFrameLocks noChangeAspect="1"/>
          </p:cNvGraphicFramePr>
          <p:nvPr/>
        </p:nvGraphicFramePr>
        <p:xfrm>
          <a:off x="4572000" y="1589088"/>
          <a:ext cx="863600" cy="433387"/>
        </p:xfrm>
        <a:graphic>
          <a:graphicData uri="http://schemas.openxmlformats.org/presentationml/2006/ole">
            <mc:AlternateContent xmlns:mc="http://schemas.openxmlformats.org/markup-compatibility/2006">
              <mc:Choice xmlns:v="urn:schemas-microsoft-com:vml" Requires="v">
                <p:oleObj spid="_x0000_s381581" name="Equation" r:id="rId9" imgW="457200" imgH="228600" progId="Equation.DSMT4">
                  <p:embed/>
                </p:oleObj>
              </mc:Choice>
              <mc:Fallback>
                <p:oleObj name="Equation" r:id="rId9" imgW="4572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1589088"/>
                        <a:ext cx="86360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3" name="Object 19"/>
          <p:cNvGraphicFramePr>
            <a:graphicFrameLocks noChangeAspect="1"/>
          </p:cNvGraphicFramePr>
          <p:nvPr>
            <p:extLst>
              <p:ext uri="{D42A27DB-BD31-4B8C-83A1-F6EECF244321}">
                <p14:modId xmlns:p14="http://schemas.microsoft.com/office/powerpoint/2010/main" val="2733923666"/>
              </p:ext>
            </p:extLst>
          </p:nvPr>
        </p:nvGraphicFramePr>
        <p:xfrm>
          <a:off x="2020888" y="2600325"/>
          <a:ext cx="3590925" cy="541338"/>
        </p:xfrm>
        <a:graphic>
          <a:graphicData uri="http://schemas.openxmlformats.org/presentationml/2006/ole">
            <mc:AlternateContent xmlns:mc="http://schemas.openxmlformats.org/markup-compatibility/2006">
              <mc:Choice xmlns:v="urn:schemas-microsoft-com:vml" Requires="v">
                <p:oleObj spid="_x0000_s381582" name="Equation" r:id="rId11" imgW="2019240" imgH="304560" progId="Equation.DSMT4">
                  <p:embed/>
                </p:oleObj>
              </mc:Choice>
              <mc:Fallback>
                <p:oleObj name="Equation" r:id="rId11" imgW="2019240" imgH="304560" progId="Equation.DSMT4">
                  <p:embed/>
                  <p:pic>
                    <p:nvPicPr>
                      <p:cNvPr id="0" name=""/>
                      <p:cNvPicPr>
                        <a:picLocks noChangeAspect="1" noChangeArrowheads="1"/>
                      </p:cNvPicPr>
                      <p:nvPr/>
                    </p:nvPicPr>
                    <p:blipFill>
                      <a:blip r:embed="rId12"/>
                      <a:srcRect/>
                      <a:stretch>
                        <a:fillRect/>
                      </a:stretch>
                    </p:blipFill>
                    <p:spPr bwMode="auto">
                      <a:xfrm>
                        <a:off x="2020888" y="2600325"/>
                        <a:ext cx="3590925" cy="54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4" name="Object 20"/>
          <p:cNvGraphicFramePr>
            <a:graphicFrameLocks noChangeAspect="1"/>
          </p:cNvGraphicFramePr>
          <p:nvPr>
            <p:extLst>
              <p:ext uri="{D42A27DB-BD31-4B8C-83A1-F6EECF244321}">
                <p14:modId xmlns:p14="http://schemas.microsoft.com/office/powerpoint/2010/main" val="2365428877"/>
              </p:ext>
            </p:extLst>
          </p:nvPr>
        </p:nvGraphicFramePr>
        <p:xfrm>
          <a:off x="3697288" y="3860800"/>
          <a:ext cx="1317625" cy="465138"/>
        </p:xfrm>
        <a:graphic>
          <a:graphicData uri="http://schemas.openxmlformats.org/presentationml/2006/ole">
            <mc:AlternateContent xmlns:mc="http://schemas.openxmlformats.org/markup-compatibility/2006">
              <mc:Choice xmlns:v="urn:schemas-microsoft-com:vml" Requires="v">
                <p:oleObj spid="_x0000_s381583" name="Equation" r:id="rId13" imgW="787320" imgH="279360" progId="Equation.DSMT4">
                  <p:embed/>
                </p:oleObj>
              </mc:Choice>
              <mc:Fallback>
                <p:oleObj name="Equation" r:id="rId13" imgW="787320" imgH="279360" progId="Equation.DSMT4">
                  <p:embed/>
                  <p:pic>
                    <p:nvPicPr>
                      <p:cNvPr id="0" name=""/>
                      <p:cNvPicPr>
                        <a:picLocks noChangeAspect="1" noChangeArrowheads="1"/>
                      </p:cNvPicPr>
                      <p:nvPr/>
                    </p:nvPicPr>
                    <p:blipFill>
                      <a:blip r:embed="rId14"/>
                      <a:srcRect/>
                      <a:stretch>
                        <a:fillRect/>
                      </a:stretch>
                    </p:blipFill>
                    <p:spPr bwMode="auto">
                      <a:xfrm>
                        <a:off x="3697288" y="3860800"/>
                        <a:ext cx="131762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5" name="Object 21"/>
          <p:cNvGraphicFramePr>
            <a:graphicFrameLocks noChangeAspect="1"/>
          </p:cNvGraphicFramePr>
          <p:nvPr/>
        </p:nvGraphicFramePr>
        <p:xfrm>
          <a:off x="4456113" y="4749800"/>
          <a:ext cx="476250" cy="407988"/>
        </p:xfrm>
        <a:graphic>
          <a:graphicData uri="http://schemas.openxmlformats.org/presentationml/2006/ole">
            <mc:AlternateContent xmlns:mc="http://schemas.openxmlformats.org/markup-compatibility/2006">
              <mc:Choice xmlns:v="urn:schemas-microsoft-com:vml" Requires="v">
                <p:oleObj spid="_x0000_s381584" name="Equation" r:id="rId15" imgW="266400" imgH="228600" progId="Equation.DSMT4">
                  <p:embed/>
                </p:oleObj>
              </mc:Choice>
              <mc:Fallback>
                <p:oleObj name="Equation" r:id="rId15" imgW="266400" imgH="2286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56113" y="4749800"/>
                        <a:ext cx="476250"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606" name="Object 22"/>
          <p:cNvGraphicFramePr>
            <a:graphicFrameLocks noChangeAspect="1"/>
          </p:cNvGraphicFramePr>
          <p:nvPr>
            <p:extLst>
              <p:ext uri="{D42A27DB-BD31-4B8C-83A1-F6EECF244321}">
                <p14:modId xmlns:p14="http://schemas.microsoft.com/office/powerpoint/2010/main" val="4135465227"/>
              </p:ext>
            </p:extLst>
          </p:nvPr>
        </p:nvGraphicFramePr>
        <p:xfrm>
          <a:off x="2895600" y="3356960"/>
          <a:ext cx="635000" cy="407988"/>
        </p:xfrm>
        <a:graphic>
          <a:graphicData uri="http://schemas.openxmlformats.org/presentationml/2006/ole">
            <mc:AlternateContent xmlns:mc="http://schemas.openxmlformats.org/markup-compatibility/2006">
              <mc:Choice xmlns:v="urn:schemas-microsoft-com:vml" Requires="v">
                <p:oleObj spid="_x0000_s381585" name="Equation" r:id="rId17" imgW="355320" imgH="228600" progId="Equation.DSMT4">
                  <p:embed/>
                </p:oleObj>
              </mc:Choice>
              <mc:Fallback>
                <p:oleObj name="Equation" r:id="rId17" imgW="355320" imgH="228600" progId="Equation.DSMT4">
                  <p:embed/>
                  <p:pic>
                    <p:nvPicPr>
                      <p:cNvPr id="0" name=""/>
                      <p:cNvPicPr>
                        <a:picLocks noChangeAspect="1" noChangeArrowheads="1"/>
                      </p:cNvPicPr>
                      <p:nvPr/>
                    </p:nvPicPr>
                    <p:blipFill>
                      <a:blip r:embed="rId18"/>
                      <a:srcRect/>
                      <a:stretch>
                        <a:fillRect/>
                      </a:stretch>
                    </p:blipFill>
                    <p:spPr bwMode="auto">
                      <a:xfrm>
                        <a:off x="2895600" y="3356960"/>
                        <a:ext cx="635000"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2371792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468313" y="333375"/>
            <a:ext cx="7543800" cy="1295400"/>
          </a:xfrm>
        </p:spPr>
        <p:txBody>
          <a:bodyPr/>
          <a:lstStyle/>
          <a:p>
            <a:r>
              <a:rPr lang="zh-CN" altLang="en-US" sz="3200" dirty="0" smtClean="0">
                <a:latin typeface="Times New Roman" panose="02020603050405020304" pitchFamily="18" charset="0"/>
              </a:rPr>
              <a:t>迭代加权最小二乘法</a:t>
            </a:r>
            <a:br>
              <a:rPr lang="zh-CN" altLang="en-US" sz="3200" dirty="0" smtClean="0">
                <a:latin typeface="Times New Roman" panose="02020603050405020304" pitchFamily="18" charset="0"/>
              </a:rPr>
            </a:br>
            <a:endParaRPr lang="zh-CN" altLang="en-US" sz="3200" dirty="0" smtClean="0">
              <a:latin typeface="Times New Roman" panose="02020603050405020304" pitchFamily="18" charset="0"/>
            </a:endParaRPr>
          </a:p>
        </p:txBody>
      </p:sp>
      <p:sp>
        <p:nvSpPr>
          <p:cNvPr id="80919" name="Rectangle 23"/>
          <p:cNvSpPr>
            <a:spLocks noChangeArrowheads="1"/>
          </p:cNvSpPr>
          <p:nvPr/>
        </p:nvSpPr>
        <p:spPr bwMode="auto">
          <a:xfrm>
            <a:off x="323850" y="1639911"/>
            <a:ext cx="81359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t>      </a:t>
            </a:r>
            <a:r>
              <a:rPr lang="en-US" altLang="zh-CN" sz="2000" b="1" dirty="0" smtClean="0"/>
              <a:t>【</a:t>
            </a:r>
            <a:r>
              <a:rPr lang="zh-CN" altLang="en-US" sz="2000" b="1" dirty="0" smtClean="0"/>
              <a:t>定理</a:t>
            </a:r>
            <a:r>
              <a:rPr lang="en-US" altLang="zh-CN" sz="2000" b="1" dirty="0" smtClean="0"/>
              <a:t>】</a:t>
            </a:r>
            <a:r>
              <a:rPr lang="zh-CN" altLang="en-US" sz="2000" b="1" dirty="0" smtClean="0"/>
              <a:t>广义线性模型的信息</a:t>
            </a:r>
            <a:r>
              <a:rPr lang="zh-CN" altLang="en-US" sz="2000" b="1" dirty="0"/>
              <a:t>矩阵可以表示为：</a:t>
            </a:r>
          </a:p>
        </p:txBody>
      </p:sp>
      <p:graphicFrame>
        <p:nvGraphicFramePr>
          <p:cNvPr id="80921" name="Object 25"/>
          <p:cNvGraphicFramePr>
            <a:graphicFrameLocks noChangeAspect="1"/>
          </p:cNvGraphicFramePr>
          <p:nvPr>
            <p:extLst>
              <p:ext uri="{D42A27DB-BD31-4B8C-83A1-F6EECF244321}">
                <p14:modId xmlns:p14="http://schemas.microsoft.com/office/powerpoint/2010/main" val="1369627369"/>
              </p:ext>
            </p:extLst>
          </p:nvPr>
        </p:nvGraphicFramePr>
        <p:xfrm>
          <a:off x="3635375" y="2438400"/>
          <a:ext cx="1512888" cy="388938"/>
        </p:xfrm>
        <a:graphic>
          <a:graphicData uri="http://schemas.openxmlformats.org/presentationml/2006/ole">
            <mc:AlternateContent xmlns:mc="http://schemas.openxmlformats.org/markup-compatibility/2006">
              <mc:Choice xmlns:v="urn:schemas-microsoft-com:vml" Requires="v">
                <p:oleObj spid="_x0000_s382356" name="Equation" r:id="rId3" imgW="888840" imgH="228600" progId="Equation.DSMT4">
                  <p:embed/>
                </p:oleObj>
              </mc:Choice>
              <mc:Fallback>
                <p:oleObj name="Equation" r:id="rId3" imgW="88884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2438400"/>
                        <a:ext cx="1512888"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22" name="Rectangle 26"/>
          <p:cNvSpPr>
            <a:spLocks noChangeArrowheads="1"/>
          </p:cNvSpPr>
          <p:nvPr/>
        </p:nvSpPr>
        <p:spPr bwMode="auto">
          <a:xfrm>
            <a:off x="827088" y="3141663"/>
            <a:ext cx="237116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smtClean="0"/>
              <a:t>第 </a:t>
            </a:r>
            <a:r>
              <a:rPr lang="en-US" altLang="zh-CN" sz="2000" i="1" dirty="0" smtClean="0"/>
              <a:t>j </a:t>
            </a:r>
            <a:r>
              <a:rPr lang="zh-CN" altLang="en-US" sz="2000" dirty="0" smtClean="0"/>
              <a:t>行</a:t>
            </a:r>
            <a:r>
              <a:rPr lang="en-US" altLang="zh-CN" sz="2000" i="1" dirty="0" smtClean="0"/>
              <a:t>h</a:t>
            </a:r>
            <a:r>
              <a:rPr lang="zh-CN" altLang="en-US" sz="2000" dirty="0" smtClean="0"/>
              <a:t> </a:t>
            </a:r>
            <a:r>
              <a:rPr lang="zh-CN" altLang="en-US" sz="2000" dirty="0"/>
              <a:t>列元素为：</a:t>
            </a:r>
          </a:p>
        </p:txBody>
      </p:sp>
      <p:graphicFrame>
        <p:nvGraphicFramePr>
          <p:cNvPr id="80925" name="Object 29"/>
          <p:cNvGraphicFramePr>
            <a:graphicFrameLocks noChangeAspect="1"/>
          </p:cNvGraphicFramePr>
          <p:nvPr>
            <p:extLst>
              <p:ext uri="{D42A27DB-BD31-4B8C-83A1-F6EECF244321}">
                <p14:modId xmlns:p14="http://schemas.microsoft.com/office/powerpoint/2010/main" val="2297311938"/>
              </p:ext>
            </p:extLst>
          </p:nvPr>
        </p:nvGraphicFramePr>
        <p:xfrm>
          <a:off x="3581400" y="3541773"/>
          <a:ext cx="3095625" cy="825500"/>
        </p:xfrm>
        <a:graphic>
          <a:graphicData uri="http://schemas.openxmlformats.org/presentationml/2006/ole">
            <mc:AlternateContent xmlns:mc="http://schemas.openxmlformats.org/markup-compatibility/2006">
              <mc:Choice xmlns:v="urn:schemas-microsoft-com:vml" Requires="v">
                <p:oleObj spid="_x0000_s382357" name="Equation" r:id="rId5" imgW="1854000" imgH="495000" progId="Equation.DSMT4">
                  <p:embed/>
                </p:oleObj>
              </mc:Choice>
              <mc:Fallback>
                <p:oleObj name="Equation" r:id="rId5" imgW="1854000" imgH="495000" progId="Equation.DSMT4">
                  <p:embed/>
                  <p:pic>
                    <p:nvPicPr>
                      <p:cNvPr id="0" name=""/>
                      <p:cNvPicPr>
                        <a:picLocks noChangeAspect="1" noChangeArrowheads="1"/>
                      </p:cNvPicPr>
                      <p:nvPr/>
                    </p:nvPicPr>
                    <p:blipFill>
                      <a:blip r:embed="rId6"/>
                      <a:srcRect/>
                      <a:stretch>
                        <a:fillRect/>
                      </a:stretch>
                    </p:blipFill>
                    <p:spPr bwMode="auto">
                      <a:xfrm>
                        <a:off x="3581400" y="3541773"/>
                        <a:ext cx="30956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26" name="Rectangle 30"/>
          <p:cNvSpPr>
            <a:spLocks noChangeArrowheads="1"/>
          </p:cNvSpPr>
          <p:nvPr/>
        </p:nvSpPr>
        <p:spPr bwMode="auto">
          <a:xfrm>
            <a:off x="207963" y="515778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其中</a:t>
            </a:r>
          </a:p>
        </p:txBody>
      </p:sp>
      <p:graphicFrame>
        <p:nvGraphicFramePr>
          <p:cNvPr id="80927" name="Object 31"/>
          <p:cNvGraphicFramePr>
            <a:graphicFrameLocks noChangeAspect="1"/>
          </p:cNvGraphicFramePr>
          <p:nvPr>
            <p:extLst>
              <p:ext uri="{D42A27DB-BD31-4B8C-83A1-F6EECF244321}">
                <p14:modId xmlns:p14="http://schemas.microsoft.com/office/powerpoint/2010/main" val="3777258994"/>
              </p:ext>
            </p:extLst>
          </p:nvPr>
        </p:nvGraphicFramePr>
        <p:xfrm>
          <a:off x="1219200" y="4769644"/>
          <a:ext cx="2376487" cy="1570037"/>
        </p:xfrm>
        <a:graphic>
          <a:graphicData uri="http://schemas.openxmlformats.org/presentationml/2006/ole">
            <mc:AlternateContent xmlns:mc="http://schemas.openxmlformats.org/markup-compatibility/2006">
              <mc:Choice xmlns:v="urn:schemas-microsoft-com:vml" Requires="v">
                <p:oleObj spid="_x0000_s382358" name="Equation" r:id="rId7" imgW="1422360" imgH="939600" progId="Equation.DSMT4">
                  <p:embed/>
                </p:oleObj>
              </mc:Choice>
              <mc:Fallback>
                <p:oleObj name="Equation" r:id="rId7" imgW="1422360" imgH="939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4769644"/>
                        <a:ext cx="2376487"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0928" name="Object 32"/>
          <p:cNvGraphicFramePr>
            <a:graphicFrameLocks noChangeAspect="1"/>
          </p:cNvGraphicFramePr>
          <p:nvPr>
            <p:extLst>
              <p:ext uri="{D42A27DB-BD31-4B8C-83A1-F6EECF244321}">
                <p14:modId xmlns:p14="http://schemas.microsoft.com/office/powerpoint/2010/main" val="74013393"/>
              </p:ext>
            </p:extLst>
          </p:nvPr>
        </p:nvGraphicFramePr>
        <p:xfrm>
          <a:off x="4391819" y="5129714"/>
          <a:ext cx="3135312" cy="939800"/>
        </p:xfrm>
        <a:graphic>
          <a:graphicData uri="http://schemas.openxmlformats.org/presentationml/2006/ole">
            <mc:AlternateContent xmlns:mc="http://schemas.openxmlformats.org/markup-compatibility/2006">
              <mc:Choice xmlns:v="urn:schemas-microsoft-com:vml" Requires="v">
                <p:oleObj spid="_x0000_s382359" name="Equation" r:id="rId9" imgW="1993680" imgH="596880" progId="Equation.DSMT4">
                  <p:embed/>
                </p:oleObj>
              </mc:Choice>
              <mc:Fallback>
                <p:oleObj name="Equation" r:id="rId9" imgW="1993680" imgH="596880" progId="Equation.DSMT4">
                  <p:embed/>
                  <p:pic>
                    <p:nvPicPr>
                      <p:cNvPr id="0" name=""/>
                      <p:cNvPicPr>
                        <a:picLocks noChangeAspect="1" noChangeArrowheads="1"/>
                      </p:cNvPicPr>
                      <p:nvPr/>
                    </p:nvPicPr>
                    <p:blipFill>
                      <a:blip r:embed="rId10"/>
                      <a:srcRect/>
                      <a:stretch>
                        <a:fillRect/>
                      </a:stretch>
                    </p:blipFill>
                    <p:spPr bwMode="auto">
                      <a:xfrm>
                        <a:off x="4391819" y="5129714"/>
                        <a:ext cx="3135312"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29" name="Rectangle 33"/>
          <p:cNvSpPr>
            <a:spLocks noChangeArrowheads="1"/>
          </p:cNvSpPr>
          <p:nvPr/>
        </p:nvSpPr>
        <p:spPr bwMode="auto">
          <a:xfrm>
            <a:off x="7386905" y="5410200"/>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称为权数矩阵</a:t>
            </a:r>
          </a:p>
        </p:txBody>
      </p:sp>
    </p:spTree>
    <p:extLst>
      <p:ext uri="{BB962C8B-B14F-4D97-AF65-F5344CB8AC3E}">
        <p14:creationId xmlns:p14="http://schemas.microsoft.com/office/powerpoint/2010/main" val="41523270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0600" y="1536834"/>
            <a:ext cx="3331361" cy="461665"/>
          </a:xfrm>
          <a:prstGeom prst="rect">
            <a:avLst/>
          </a:prstGeom>
        </p:spPr>
        <p:txBody>
          <a:bodyPr wrap="none">
            <a:spAutoFit/>
          </a:bodyPr>
          <a:lstStyle/>
          <a:p>
            <a:r>
              <a:rPr lang="en-US" altLang="zh-CN" dirty="0" err="1"/>
              <a:t>GLM</a:t>
            </a:r>
            <a:r>
              <a:rPr lang="zh-CN" altLang="zh-CN" dirty="0"/>
              <a:t>信息矩阵的元素为</a:t>
            </a:r>
            <a:endParaRPr lang="zh-CN" altLang="en-US"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2834388042"/>
              </p:ext>
            </p:extLst>
          </p:nvPr>
        </p:nvGraphicFramePr>
        <p:xfrm>
          <a:off x="1981200" y="2438400"/>
          <a:ext cx="3897630" cy="838200"/>
        </p:xfrm>
        <a:graphic>
          <a:graphicData uri="http://schemas.openxmlformats.org/presentationml/2006/ole">
            <mc:AlternateContent xmlns:mc="http://schemas.openxmlformats.org/markup-compatibility/2006">
              <mc:Choice xmlns:v="urn:schemas-microsoft-com:vml" Requires="v">
                <p:oleObj spid="_x0000_s398538" name="Equation" r:id="rId3" imgW="2362200" imgH="508000" progId="Equation.DSMT4">
                  <p:embed/>
                </p:oleObj>
              </mc:Choice>
              <mc:Fallback>
                <p:oleObj name="Equation" r:id="rId3" imgW="2362200" imgH="5080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438400"/>
                        <a:ext cx="3897630" cy="838200"/>
                      </a:xfrm>
                      <a:prstGeom prst="rect">
                        <a:avLst/>
                      </a:prstGeom>
                      <a:noFill/>
                    </p:spPr>
                  </p:pic>
                </p:oleObj>
              </mc:Fallback>
            </mc:AlternateContent>
          </a:graphicData>
        </a:graphic>
      </p:graphicFrame>
      <p:sp>
        <p:nvSpPr>
          <p:cNvPr id="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121124100"/>
              </p:ext>
            </p:extLst>
          </p:nvPr>
        </p:nvGraphicFramePr>
        <p:xfrm>
          <a:off x="990600" y="3733800"/>
          <a:ext cx="7379970" cy="990600"/>
        </p:xfrm>
        <a:graphic>
          <a:graphicData uri="http://schemas.openxmlformats.org/presentationml/2006/ole">
            <mc:AlternateContent xmlns:mc="http://schemas.openxmlformats.org/markup-compatibility/2006">
              <mc:Choice xmlns:v="urn:schemas-microsoft-com:vml" Requires="v">
                <p:oleObj spid="_x0000_s398539" name="Equation" r:id="rId5" imgW="3784600" imgH="508000" progId="Equation.DSMT4">
                  <p:embed/>
                </p:oleObj>
              </mc:Choice>
              <mc:Fallback>
                <p:oleObj name="Equation" r:id="rId5" imgW="3784600" imgH="508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3733800"/>
                        <a:ext cx="7379970" cy="990600"/>
                      </a:xfrm>
                      <a:prstGeom prst="rect">
                        <a:avLst/>
                      </a:prstGeom>
                      <a:noFill/>
                    </p:spPr>
                  </p:pic>
                </p:oleObj>
              </mc:Fallback>
            </mc:AlternateContent>
          </a:graphicData>
        </a:graphic>
      </p:graphicFrame>
      <p:sp>
        <p:nvSpPr>
          <p:cNvPr id="7"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583254883"/>
              </p:ext>
            </p:extLst>
          </p:nvPr>
        </p:nvGraphicFramePr>
        <p:xfrm>
          <a:off x="2016690" y="5334000"/>
          <a:ext cx="2555310" cy="914400"/>
        </p:xfrm>
        <a:graphic>
          <a:graphicData uri="http://schemas.openxmlformats.org/presentationml/2006/ole">
            <mc:AlternateContent xmlns:mc="http://schemas.openxmlformats.org/markup-compatibility/2006">
              <mc:Choice xmlns:v="urn:schemas-microsoft-com:vml" Requires="v">
                <p:oleObj spid="_x0000_s398540" name="Equation" r:id="rId7" imgW="1295280" imgH="469800" progId="Equation.DSMT4">
                  <p:embed/>
                </p:oleObj>
              </mc:Choice>
              <mc:Fallback>
                <p:oleObj name="Equation" r:id="rId7" imgW="1295280" imgH="469800" progId="Equation.DSMT4">
                  <p:embed/>
                  <p:pic>
                    <p:nvPicPr>
                      <p:cNvPr id="0" name="Object 5"/>
                      <p:cNvPicPr>
                        <a:picLocks noChangeAspect="1" noChangeArrowheads="1"/>
                      </p:cNvPicPr>
                      <p:nvPr/>
                    </p:nvPicPr>
                    <p:blipFill>
                      <a:blip r:embed="rId8"/>
                      <a:srcRect/>
                      <a:stretch>
                        <a:fillRect/>
                      </a:stretch>
                    </p:blipFill>
                    <p:spPr bwMode="auto">
                      <a:xfrm>
                        <a:off x="2016690" y="5334000"/>
                        <a:ext cx="2555310" cy="914400"/>
                      </a:xfrm>
                      <a:prstGeom prst="rect">
                        <a:avLst/>
                      </a:prstGeom>
                      <a:noFill/>
                    </p:spPr>
                  </p:pic>
                </p:oleObj>
              </mc:Fallback>
            </mc:AlternateContent>
          </a:graphicData>
        </a:graphic>
      </p:graphicFrame>
      <p:sp>
        <p:nvSpPr>
          <p:cNvPr id="20" name="TextBox 19"/>
          <p:cNvSpPr txBox="1"/>
          <p:nvPr/>
        </p:nvSpPr>
        <p:spPr>
          <a:xfrm>
            <a:off x="995096" y="533400"/>
            <a:ext cx="1107996" cy="461665"/>
          </a:xfrm>
          <a:prstGeom prst="rect">
            <a:avLst/>
          </a:prstGeom>
          <a:noFill/>
        </p:spPr>
        <p:txBody>
          <a:bodyPr wrap="none" rtlCol="0">
            <a:spAutoFit/>
          </a:bodyPr>
          <a:lstStyle/>
          <a:p>
            <a:r>
              <a:rPr lang="zh-CN" altLang="en-US" b="1" dirty="0" smtClean="0">
                <a:solidFill>
                  <a:srgbClr val="0033CC"/>
                </a:solidFill>
              </a:rPr>
              <a:t>证明：</a:t>
            </a:r>
            <a:endParaRPr lang="zh-CN" altLang="en-US" b="1" dirty="0">
              <a:solidFill>
                <a:srgbClr val="0033CC"/>
              </a:solidFill>
            </a:endParaRPr>
          </a:p>
        </p:txBody>
      </p:sp>
    </p:spTree>
    <p:extLst>
      <p:ext uri="{BB962C8B-B14F-4D97-AF65-F5344CB8AC3E}">
        <p14:creationId xmlns:p14="http://schemas.microsoft.com/office/powerpoint/2010/main" val="175894646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4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736" y="4267200"/>
            <a:ext cx="3167063"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4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5181600"/>
            <a:ext cx="2016125"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498286536"/>
              </p:ext>
            </p:extLst>
          </p:nvPr>
        </p:nvGraphicFramePr>
        <p:xfrm>
          <a:off x="1281113" y="762000"/>
          <a:ext cx="5673725" cy="914400"/>
        </p:xfrm>
        <a:graphic>
          <a:graphicData uri="http://schemas.openxmlformats.org/presentationml/2006/ole">
            <mc:AlternateContent xmlns:mc="http://schemas.openxmlformats.org/markup-compatibility/2006">
              <mc:Choice xmlns:v="urn:schemas-microsoft-com:vml" Requires="v">
                <p:oleObj spid="_x0000_s400513" name="Equation" r:id="rId5" imgW="3466800" imgH="558720" progId="Equation.DSMT4">
                  <p:embed/>
                </p:oleObj>
              </mc:Choice>
              <mc:Fallback>
                <p:oleObj name="Equation" r:id="rId5" imgW="3466800" imgH="558720" progId="Equation.DSMT4">
                  <p:embed/>
                  <p:pic>
                    <p:nvPicPr>
                      <p:cNvPr id="0" name="Object 1"/>
                      <p:cNvPicPr>
                        <a:picLocks noChangeAspect="1" noChangeArrowheads="1"/>
                      </p:cNvPicPr>
                      <p:nvPr/>
                    </p:nvPicPr>
                    <p:blipFill>
                      <a:blip r:embed="rId6"/>
                      <a:srcRect/>
                      <a:stretch>
                        <a:fillRect/>
                      </a:stretch>
                    </p:blipFill>
                    <p:spPr bwMode="auto">
                      <a:xfrm>
                        <a:off x="1281113" y="762000"/>
                        <a:ext cx="5673725" cy="914400"/>
                      </a:xfrm>
                      <a:prstGeom prst="rect">
                        <a:avLst/>
                      </a:prstGeom>
                      <a:noFill/>
                    </p:spPr>
                  </p:pic>
                </p:oleObj>
              </mc:Fallback>
            </mc:AlternateContent>
          </a:graphicData>
        </a:graphic>
      </p:graphicFrame>
      <p:sp>
        <p:nvSpPr>
          <p:cNvPr id="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330046873"/>
              </p:ext>
            </p:extLst>
          </p:nvPr>
        </p:nvGraphicFramePr>
        <p:xfrm>
          <a:off x="1293813" y="2438400"/>
          <a:ext cx="5235575" cy="914400"/>
        </p:xfrm>
        <a:graphic>
          <a:graphicData uri="http://schemas.openxmlformats.org/presentationml/2006/ole">
            <mc:AlternateContent xmlns:mc="http://schemas.openxmlformats.org/markup-compatibility/2006">
              <mc:Choice xmlns:v="urn:schemas-microsoft-com:vml" Requires="v">
                <p:oleObj spid="_x0000_s400514" name="Equation" r:id="rId7" imgW="2908080" imgH="507960" progId="Equation.DSMT4">
                  <p:embed/>
                </p:oleObj>
              </mc:Choice>
              <mc:Fallback>
                <p:oleObj name="Equation" r:id="rId7" imgW="2908080" imgH="507960" progId="Equation.DSMT4">
                  <p:embed/>
                  <p:pic>
                    <p:nvPicPr>
                      <p:cNvPr id="0" name="Object 3"/>
                      <p:cNvPicPr>
                        <a:picLocks noChangeAspect="1" noChangeArrowheads="1"/>
                      </p:cNvPicPr>
                      <p:nvPr/>
                    </p:nvPicPr>
                    <p:blipFill>
                      <a:blip r:embed="rId8"/>
                      <a:srcRect/>
                      <a:stretch>
                        <a:fillRect/>
                      </a:stretch>
                    </p:blipFill>
                    <p:spPr bwMode="auto">
                      <a:xfrm>
                        <a:off x="1293813" y="2438400"/>
                        <a:ext cx="5235575" cy="914400"/>
                      </a:xfrm>
                      <a:prstGeom prst="rect">
                        <a:avLst/>
                      </a:prstGeom>
                      <a:noFill/>
                    </p:spPr>
                  </p:pic>
                </p:oleObj>
              </mc:Fallback>
            </mc:AlternateContent>
          </a:graphicData>
        </a:graphic>
      </p:graphicFrame>
    </p:spTree>
    <p:extLst>
      <p:ext uri="{BB962C8B-B14F-4D97-AF65-F5344CB8AC3E}">
        <p14:creationId xmlns:p14="http://schemas.microsoft.com/office/powerpoint/2010/main" val="275417939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66" name="Object 10"/>
          <p:cNvGraphicFramePr>
            <a:graphicFrameLocks noChangeAspect="1"/>
          </p:cNvGraphicFramePr>
          <p:nvPr/>
        </p:nvGraphicFramePr>
        <p:xfrm>
          <a:off x="1474788" y="2579688"/>
          <a:ext cx="2376487" cy="1570037"/>
        </p:xfrm>
        <a:graphic>
          <a:graphicData uri="http://schemas.openxmlformats.org/presentationml/2006/ole">
            <mc:AlternateContent xmlns:mc="http://schemas.openxmlformats.org/markup-compatibility/2006">
              <mc:Choice xmlns:v="urn:schemas-microsoft-com:vml" Requires="v">
                <p:oleObj spid="_x0000_s383552" name="Equation" r:id="rId3" imgW="1422360" imgH="939600" progId="Equation.DSMT4">
                  <p:embed/>
                </p:oleObj>
              </mc:Choice>
              <mc:Fallback>
                <p:oleObj name="Equation" r:id="rId3" imgW="1422360" imgH="939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788" y="2579688"/>
                        <a:ext cx="2376487"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67" name="Object 11"/>
          <p:cNvGraphicFramePr>
            <a:graphicFrameLocks noChangeAspect="1"/>
          </p:cNvGraphicFramePr>
          <p:nvPr>
            <p:extLst>
              <p:ext uri="{D42A27DB-BD31-4B8C-83A1-F6EECF244321}">
                <p14:modId xmlns:p14="http://schemas.microsoft.com/office/powerpoint/2010/main" val="2097185175"/>
              </p:ext>
            </p:extLst>
          </p:nvPr>
        </p:nvGraphicFramePr>
        <p:xfrm>
          <a:off x="4316413" y="2903538"/>
          <a:ext cx="3351212" cy="1003300"/>
        </p:xfrm>
        <a:graphic>
          <a:graphicData uri="http://schemas.openxmlformats.org/presentationml/2006/ole">
            <mc:AlternateContent xmlns:mc="http://schemas.openxmlformats.org/markup-compatibility/2006">
              <mc:Choice xmlns:v="urn:schemas-microsoft-com:vml" Requires="v">
                <p:oleObj spid="_x0000_s383553" name="Equation" r:id="rId5" imgW="1993680" imgH="596880" progId="Equation.DSMT4">
                  <p:embed/>
                </p:oleObj>
              </mc:Choice>
              <mc:Fallback>
                <p:oleObj name="Equation" r:id="rId5" imgW="1993680" imgH="596880" progId="Equation.DSMT4">
                  <p:embed/>
                  <p:pic>
                    <p:nvPicPr>
                      <p:cNvPr id="0" name=""/>
                      <p:cNvPicPr>
                        <a:picLocks noChangeAspect="1" noChangeArrowheads="1"/>
                      </p:cNvPicPr>
                      <p:nvPr/>
                    </p:nvPicPr>
                    <p:blipFill>
                      <a:blip r:embed="rId6"/>
                      <a:srcRect/>
                      <a:stretch>
                        <a:fillRect/>
                      </a:stretch>
                    </p:blipFill>
                    <p:spPr bwMode="auto">
                      <a:xfrm>
                        <a:off x="4316413" y="2903538"/>
                        <a:ext cx="3351212"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69" name="Text Box 13"/>
          <p:cNvSpPr txBox="1">
            <a:spLocks noChangeArrowheads="1"/>
          </p:cNvSpPr>
          <p:nvPr/>
        </p:nvSpPr>
        <p:spPr bwMode="auto">
          <a:xfrm>
            <a:off x="900113" y="4221163"/>
            <a:ext cx="684053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000"/>
              <a:t>          称为工作变量（</a:t>
            </a:r>
            <a:r>
              <a:rPr lang="en-US" altLang="zh-CN" sz="2000"/>
              <a:t>working response</a:t>
            </a:r>
            <a:r>
              <a:rPr lang="zh-CN" altLang="en-US" sz="2000"/>
              <a:t>），是一个   维向量，第   个元素为：</a:t>
            </a:r>
            <a:r>
              <a:rPr lang="en-US" altLang="zh-CN" sz="2000"/>
              <a:t> </a:t>
            </a:r>
          </a:p>
        </p:txBody>
      </p:sp>
      <p:sp>
        <p:nvSpPr>
          <p:cNvPr id="70671" name="Rectangle 15"/>
          <p:cNvSpPr>
            <a:spLocks noChangeArrowheads="1"/>
          </p:cNvSpPr>
          <p:nvPr/>
        </p:nvSpPr>
        <p:spPr bwMode="auto">
          <a:xfrm>
            <a:off x="323850" y="620713"/>
            <a:ext cx="73437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t>      </a:t>
            </a:r>
            <a:r>
              <a:rPr lang="en-US" altLang="zh-CN" sz="2000" b="1" dirty="0" smtClean="0"/>
              <a:t>【</a:t>
            </a:r>
            <a:r>
              <a:rPr lang="zh-CN" altLang="en-US" sz="2000" b="1" dirty="0" smtClean="0"/>
              <a:t>定理</a:t>
            </a:r>
            <a:r>
              <a:rPr lang="en-US" altLang="zh-CN" sz="2000" b="1" dirty="0" smtClean="0"/>
              <a:t>】</a:t>
            </a:r>
            <a:r>
              <a:rPr lang="zh-CN" altLang="en-US" sz="2000" b="1" dirty="0" smtClean="0"/>
              <a:t>估计</a:t>
            </a:r>
            <a:r>
              <a:rPr lang="en-US" altLang="zh-CN" sz="2000" b="1" dirty="0" err="1" smtClean="0"/>
              <a:t>GLM</a:t>
            </a:r>
            <a:r>
              <a:rPr lang="zh-CN" altLang="en-US" sz="2000" b="1" dirty="0" smtClean="0"/>
              <a:t>参数</a:t>
            </a:r>
            <a:r>
              <a:rPr lang="zh-CN" altLang="en-US" sz="2000" b="1" dirty="0"/>
              <a:t>的迭代最小二乘法可以表示为：</a:t>
            </a:r>
          </a:p>
        </p:txBody>
      </p:sp>
      <p:graphicFrame>
        <p:nvGraphicFramePr>
          <p:cNvPr id="70672" name="Object 16"/>
          <p:cNvGraphicFramePr>
            <a:graphicFrameLocks noChangeAspect="1"/>
          </p:cNvGraphicFramePr>
          <p:nvPr>
            <p:extLst>
              <p:ext uri="{D42A27DB-BD31-4B8C-83A1-F6EECF244321}">
                <p14:modId xmlns:p14="http://schemas.microsoft.com/office/powerpoint/2010/main" val="2610940812"/>
              </p:ext>
            </p:extLst>
          </p:nvPr>
        </p:nvGraphicFramePr>
        <p:xfrm>
          <a:off x="1682750" y="1454150"/>
          <a:ext cx="3976688" cy="444500"/>
        </p:xfrm>
        <a:graphic>
          <a:graphicData uri="http://schemas.openxmlformats.org/presentationml/2006/ole">
            <mc:AlternateContent xmlns:mc="http://schemas.openxmlformats.org/markup-compatibility/2006">
              <mc:Choice xmlns:v="urn:schemas-microsoft-com:vml" Requires="v">
                <p:oleObj spid="_x0000_s383554" name="Equation" r:id="rId7" imgW="2044440" imgH="228600" progId="Equation.DSMT4">
                  <p:embed/>
                </p:oleObj>
              </mc:Choice>
              <mc:Fallback>
                <p:oleObj name="Equation" r:id="rId7" imgW="2044440" imgH="228600" progId="Equation.DSMT4">
                  <p:embed/>
                  <p:pic>
                    <p:nvPicPr>
                      <p:cNvPr id="0" name=""/>
                      <p:cNvPicPr>
                        <a:picLocks noChangeAspect="1" noChangeArrowheads="1"/>
                      </p:cNvPicPr>
                      <p:nvPr/>
                    </p:nvPicPr>
                    <p:blipFill>
                      <a:blip r:embed="rId8"/>
                      <a:srcRect/>
                      <a:stretch>
                        <a:fillRect/>
                      </a:stretch>
                    </p:blipFill>
                    <p:spPr bwMode="auto">
                      <a:xfrm>
                        <a:off x="1682750" y="1454150"/>
                        <a:ext cx="3976688"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73" name="Rectangle 17"/>
          <p:cNvSpPr>
            <a:spLocks noChangeArrowheads="1"/>
          </p:cNvSpPr>
          <p:nvPr/>
        </p:nvSpPr>
        <p:spPr bwMode="auto">
          <a:xfrm>
            <a:off x="827088" y="20605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其中</a:t>
            </a:r>
          </a:p>
        </p:txBody>
      </p:sp>
      <p:graphicFrame>
        <p:nvGraphicFramePr>
          <p:cNvPr id="70674" name="Object 18"/>
          <p:cNvGraphicFramePr>
            <a:graphicFrameLocks noChangeAspect="1"/>
          </p:cNvGraphicFramePr>
          <p:nvPr/>
        </p:nvGraphicFramePr>
        <p:xfrm>
          <a:off x="1404938" y="4400550"/>
          <a:ext cx="287337" cy="287338"/>
        </p:xfrm>
        <a:graphic>
          <a:graphicData uri="http://schemas.openxmlformats.org/presentationml/2006/ole">
            <mc:AlternateContent xmlns:mc="http://schemas.openxmlformats.org/markup-compatibility/2006">
              <mc:Choice xmlns:v="urn:schemas-microsoft-com:vml" Requires="v">
                <p:oleObj spid="_x0000_s383555" name="Equation" r:id="rId9" imgW="126720" imgH="126720" progId="Equation.DSMT4">
                  <p:embed/>
                </p:oleObj>
              </mc:Choice>
              <mc:Fallback>
                <p:oleObj name="Equation" r:id="rId9" imgW="126720" imgH="12672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4938" y="4400550"/>
                        <a:ext cx="287337"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75" name="Object 19"/>
          <p:cNvGraphicFramePr>
            <a:graphicFrameLocks noChangeAspect="1"/>
          </p:cNvGraphicFramePr>
          <p:nvPr/>
        </p:nvGraphicFramePr>
        <p:xfrm>
          <a:off x="6397625" y="4400550"/>
          <a:ext cx="261938" cy="287338"/>
        </p:xfrm>
        <a:graphic>
          <a:graphicData uri="http://schemas.openxmlformats.org/presentationml/2006/ole">
            <mc:AlternateContent xmlns:mc="http://schemas.openxmlformats.org/markup-compatibility/2006">
              <mc:Choice xmlns:v="urn:schemas-microsoft-com:vml" Requires="v">
                <p:oleObj spid="_x0000_s383556" name="Equation" r:id="rId11" imgW="126720" imgH="139680" progId="Equation.DSMT4">
                  <p:embed/>
                </p:oleObj>
              </mc:Choice>
              <mc:Fallback>
                <p:oleObj name="Equation" r:id="rId11" imgW="126720" imgH="1396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97625" y="4400550"/>
                        <a:ext cx="261938"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76" name="Object 20"/>
          <p:cNvGraphicFramePr>
            <a:graphicFrameLocks noChangeAspect="1"/>
          </p:cNvGraphicFramePr>
          <p:nvPr>
            <p:extLst>
              <p:ext uri="{D42A27DB-BD31-4B8C-83A1-F6EECF244321}">
                <p14:modId xmlns:p14="http://schemas.microsoft.com/office/powerpoint/2010/main" val="4064001520"/>
              </p:ext>
            </p:extLst>
          </p:nvPr>
        </p:nvGraphicFramePr>
        <p:xfrm>
          <a:off x="1254125" y="4800600"/>
          <a:ext cx="193675" cy="360363"/>
        </p:xfrm>
        <a:graphic>
          <a:graphicData uri="http://schemas.openxmlformats.org/presentationml/2006/ole">
            <mc:AlternateContent xmlns:mc="http://schemas.openxmlformats.org/markup-compatibility/2006">
              <mc:Choice xmlns:v="urn:schemas-microsoft-com:vml" Requires="v">
                <p:oleObj spid="_x0000_s383557" name="Equation" r:id="rId13" imgW="88560" imgH="164880" progId="Equation.DSMT4">
                  <p:embed/>
                </p:oleObj>
              </mc:Choice>
              <mc:Fallback>
                <p:oleObj name="Equation" r:id="rId13" imgW="88560" imgH="1648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4125" y="4800600"/>
                        <a:ext cx="193675"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77" name="Object 21"/>
          <p:cNvGraphicFramePr>
            <a:graphicFrameLocks noChangeAspect="1"/>
          </p:cNvGraphicFramePr>
          <p:nvPr/>
        </p:nvGraphicFramePr>
        <p:xfrm>
          <a:off x="2411413" y="5278438"/>
          <a:ext cx="2592387" cy="455612"/>
        </p:xfrm>
        <a:graphic>
          <a:graphicData uri="http://schemas.openxmlformats.org/presentationml/2006/ole">
            <mc:AlternateContent xmlns:mc="http://schemas.openxmlformats.org/markup-compatibility/2006">
              <mc:Choice xmlns:v="urn:schemas-microsoft-com:vml" Requires="v">
                <p:oleObj spid="_x0000_s383558" name="Equation" r:id="rId15" imgW="1447560" imgH="253800" progId="Equation.DSMT4">
                  <p:embed/>
                </p:oleObj>
              </mc:Choice>
              <mc:Fallback>
                <p:oleObj name="Equation" r:id="rId15" imgW="1447560" imgH="25380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11413" y="5278438"/>
                        <a:ext cx="2592387"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6144527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5096" y="1244867"/>
            <a:ext cx="4493538" cy="461665"/>
          </a:xfrm>
          <a:prstGeom prst="rect">
            <a:avLst/>
          </a:prstGeom>
        </p:spPr>
        <p:txBody>
          <a:bodyPr wrap="none">
            <a:spAutoFit/>
          </a:bodyPr>
          <a:lstStyle/>
          <a:p>
            <a:r>
              <a:rPr lang="zh-CN" altLang="zh-CN" dirty="0"/>
              <a:t>极大似然估计是下述方程组的解</a:t>
            </a:r>
            <a:endParaRPr lang="zh-CN" altLang="en-US"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679862631"/>
              </p:ext>
            </p:extLst>
          </p:nvPr>
        </p:nvGraphicFramePr>
        <p:xfrm>
          <a:off x="1143000" y="2133600"/>
          <a:ext cx="3772422" cy="990600"/>
        </p:xfrm>
        <a:graphic>
          <a:graphicData uri="http://schemas.openxmlformats.org/presentationml/2006/ole">
            <mc:AlternateContent xmlns:mc="http://schemas.openxmlformats.org/markup-compatibility/2006">
              <mc:Choice xmlns:v="urn:schemas-microsoft-com:vml" Requires="v">
                <p:oleObj spid="_x0000_s401615" name="Equation" r:id="rId3" imgW="1765080" imgH="469800" progId="Equation.DSMT4">
                  <p:embed/>
                </p:oleObj>
              </mc:Choice>
              <mc:Fallback>
                <p:oleObj name="Equation" r:id="rId3" imgW="1765080" imgH="469800" progId="Equation.DSMT4">
                  <p:embed/>
                  <p:pic>
                    <p:nvPicPr>
                      <p:cNvPr id="0" name="Object 1"/>
                      <p:cNvPicPr>
                        <a:picLocks noChangeAspect="1" noChangeArrowheads="1"/>
                      </p:cNvPicPr>
                      <p:nvPr/>
                    </p:nvPicPr>
                    <p:blipFill>
                      <a:blip r:embed="rId4"/>
                      <a:srcRect/>
                      <a:stretch>
                        <a:fillRect/>
                      </a:stretch>
                    </p:blipFill>
                    <p:spPr bwMode="auto">
                      <a:xfrm>
                        <a:off x="1143000" y="2133600"/>
                        <a:ext cx="3772422" cy="990600"/>
                      </a:xfrm>
                      <a:prstGeom prst="rect">
                        <a:avLst/>
                      </a:prstGeom>
                      <a:noFill/>
                    </p:spPr>
                  </p:pic>
                </p:oleObj>
              </mc:Fallback>
            </mc:AlternateContent>
          </a:graphicData>
        </a:graphic>
      </p:graphicFrame>
      <p:sp>
        <p:nvSpPr>
          <p:cNvPr id="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151611610"/>
              </p:ext>
            </p:extLst>
          </p:nvPr>
        </p:nvGraphicFramePr>
        <p:xfrm>
          <a:off x="6248400" y="2438400"/>
          <a:ext cx="1737360" cy="457200"/>
        </p:xfrm>
        <a:graphic>
          <a:graphicData uri="http://schemas.openxmlformats.org/presentationml/2006/ole">
            <mc:AlternateContent xmlns:mc="http://schemas.openxmlformats.org/markup-compatibility/2006">
              <mc:Choice xmlns:v="urn:schemas-microsoft-com:vml" Requires="v">
                <p:oleObj spid="_x0000_s401616" name="Equation" r:id="rId5" imgW="724529" imgH="190666" progId="Equation.DSMT4">
                  <p:embed/>
                </p:oleObj>
              </mc:Choice>
              <mc:Fallback>
                <p:oleObj name="Equation" r:id="rId5" imgW="724529" imgH="190666"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2438400"/>
                        <a:ext cx="1737360" cy="457200"/>
                      </a:xfrm>
                      <a:prstGeom prst="rect">
                        <a:avLst/>
                      </a:prstGeom>
                      <a:noFill/>
                    </p:spPr>
                  </p:pic>
                </p:oleObj>
              </mc:Fallback>
            </mc:AlternateContent>
          </a:graphicData>
        </a:graphic>
      </p:graphicFrame>
      <p:sp>
        <p:nvSpPr>
          <p:cNvPr id="7" name="矩形 6"/>
          <p:cNvSpPr/>
          <p:nvPr/>
        </p:nvSpPr>
        <p:spPr>
          <a:xfrm>
            <a:off x="1207168" y="3731567"/>
            <a:ext cx="4493538" cy="461665"/>
          </a:xfrm>
          <a:prstGeom prst="rect">
            <a:avLst/>
          </a:prstGeom>
        </p:spPr>
        <p:txBody>
          <a:bodyPr wrap="none">
            <a:spAutoFit/>
          </a:bodyPr>
          <a:lstStyle/>
          <a:p>
            <a:r>
              <a:rPr lang="zh-CN" altLang="zh-CN" dirty="0"/>
              <a:t>用</a:t>
            </a:r>
            <a:r>
              <a:rPr lang="en-US" altLang="zh-CN" dirty="0"/>
              <a:t>Newton-Raphson</a:t>
            </a:r>
            <a:r>
              <a:rPr lang="zh-CN" altLang="zh-CN" dirty="0"/>
              <a:t>方法迭代求解</a:t>
            </a:r>
            <a:endParaRPr lang="zh-CN" altLang="en-US" dirty="0"/>
          </a:p>
        </p:txBody>
      </p:sp>
      <p:sp>
        <p:nvSpPr>
          <p:cNvPr id="8"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531201841"/>
              </p:ext>
            </p:extLst>
          </p:nvPr>
        </p:nvGraphicFramePr>
        <p:xfrm>
          <a:off x="1331449" y="4724400"/>
          <a:ext cx="4244975" cy="1066800"/>
        </p:xfrm>
        <a:graphic>
          <a:graphicData uri="http://schemas.openxmlformats.org/presentationml/2006/ole">
            <mc:AlternateContent xmlns:mc="http://schemas.openxmlformats.org/markup-compatibility/2006">
              <mc:Choice xmlns:v="urn:schemas-microsoft-com:vml" Requires="v">
                <p:oleObj spid="_x0000_s401617" name="Equation" r:id="rId7" imgW="2425700" imgH="609600" progId="Equation.DSMT4">
                  <p:embed/>
                </p:oleObj>
              </mc:Choice>
              <mc:Fallback>
                <p:oleObj name="Equation" r:id="rId7" imgW="2425700" imgH="609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449" y="4724400"/>
                        <a:ext cx="4244975" cy="1066800"/>
                      </a:xfrm>
                      <a:prstGeom prst="rect">
                        <a:avLst/>
                      </a:prstGeom>
                      <a:noFill/>
                    </p:spPr>
                  </p:pic>
                </p:oleObj>
              </mc:Fallback>
            </mc:AlternateContent>
          </a:graphicData>
        </a:graphic>
      </p:graphicFrame>
      <p:sp>
        <p:nvSpPr>
          <p:cNvPr id="10" name="TextBox 9"/>
          <p:cNvSpPr txBox="1"/>
          <p:nvPr/>
        </p:nvSpPr>
        <p:spPr>
          <a:xfrm>
            <a:off x="995096" y="533400"/>
            <a:ext cx="1107996" cy="461665"/>
          </a:xfrm>
          <a:prstGeom prst="rect">
            <a:avLst/>
          </a:prstGeom>
          <a:noFill/>
        </p:spPr>
        <p:txBody>
          <a:bodyPr wrap="none" rtlCol="0">
            <a:spAutoFit/>
          </a:bodyPr>
          <a:lstStyle/>
          <a:p>
            <a:r>
              <a:rPr lang="zh-CN" altLang="en-US" b="1" dirty="0" smtClean="0">
                <a:solidFill>
                  <a:srgbClr val="0033CC"/>
                </a:solidFill>
              </a:rPr>
              <a:t>证明：</a:t>
            </a:r>
            <a:endParaRPr lang="zh-CN" altLang="en-US" b="1" dirty="0">
              <a:solidFill>
                <a:srgbClr val="0033CC"/>
              </a:solidFill>
            </a:endParaRPr>
          </a:p>
        </p:txBody>
      </p:sp>
    </p:spTree>
    <p:extLst>
      <p:ext uri="{BB962C8B-B14F-4D97-AF65-F5344CB8AC3E}">
        <p14:creationId xmlns:p14="http://schemas.microsoft.com/office/powerpoint/2010/main" val="511762344"/>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066800" y="644693"/>
            <a:ext cx="62632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ea typeface="宋体" pitchFamily="2" charset="-122"/>
                <a:cs typeface="Times New Roman" pitchFamily="18" charset="0"/>
              </a:rPr>
              <a:t>二阶导数矩阵的元素用其望值               代替，</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6548496"/>
              </p:ext>
            </p:extLst>
          </p:nvPr>
        </p:nvGraphicFramePr>
        <p:xfrm>
          <a:off x="5305571" y="609600"/>
          <a:ext cx="866629" cy="597675"/>
        </p:xfrm>
        <a:graphic>
          <a:graphicData uri="http://schemas.openxmlformats.org/presentationml/2006/ole">
            <mc:AlternateContent xmlns:mc="http://schemas.openxmlformats.org/markup-compatibility/2006">
              <mc:Choice xmlns:v="urn:schemas-microsoft-com:vml" Requires="v">
                <p:oleObj spid="_x0000_s402627" name="Equation" r:id="rId3" imgW="737240" imgH="508441" progId="Equation.DSMT4">
                  <p:embed/>
                </p:oleObj>
              </mc:Choice>
              <mc:Fallback>
                <p:oleObj name="Equation" r:id="rId3" imgW="737240" imgH="508441"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5571" y="609600"/>
                        <a:ext cx="866629" cy="597675"/>
                      </a:xfrm>
                      <a:prstGeom prst="rect">
                        <a:avLst/>
                      </a:prstGeom>
                      <a:noFill/>
                    </p:spPr>
                  </p:pic>
                </p:oleObj>
              </mc:Fallback>
            </mc:AlternateContent>
          </a:graphicData>
        </a:graphic>
      </p:graphicFrame>
      <p:sp>
        <p:nvSpPr>
          <p:cNvPr id="5" name="矩形 4"/>
          <p:cNvSpPr/>
          <p:nvPr/>
        </p:nvSpPr>
        <p:spPr>
          <a:xfrm>
            <a:off x="1066800" y="2590800"/>
            <a:ext cx="7132915" cy="461665"/>
          </a:xfrm>
          <a:prstGeom prst="rect">
            <a:avLst/>
          </a:prstGeom>
        </p:spPr>
        <p:txBody>
          <a:bodyPr wrap="square">
            <a:spAutoFit/>
          </a:bodyPr>
          <a:lstStyle/>
          <a:p>
            <a:r>
              <a:rPr lang="en-US" altLang="zh-CN" dirty="0"/>
              <a:t>Newton-Raphson</a:t>
            </a:r>
            <a:r>
              <a:rPr lang="zh-CN" altLang="zh-CN" dirty="0"/>
              <a:t>迭代公式可以变形为：</a:t>
            </a:r>
            <a:endParaRPr lang="zh-CN" altLang="en-US" dirty="0"/>
          </a:p>
        </p:txBody>
      </p:sp>
      <p:sp>
        <p:nvSpPr>
          <p:cNvPr id="6"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3733107037"/>
              </p:ext>
            </p:extLst>
          </p:nvPr>
        </p:nvGraphicFramePr>
        <p:xfrm>
          <a:off x="1878013" y="3527425"/>
          <a:ext cx="4641850" cy="2830513"/>
        </p:xfrm>
        <a:graphic>
          <a:graphicData uri="http://schemas.openxmlformats.org/presentationml/2006/ole">
            <mc:AlternateContent xmlns:mc="http://schemas.openxmlformats.org/markup-compatibility/2006">
              <mc:Choice xmlns:v="urn:schemas-microsoft-com:vml" Requires="v">
                <p:oleObj spid="_x0000_s402628" name="Equation" r:id="rId5" imgW="2209680" imgH="1346040" progId="Equation.DSMT4">
                  <p:embed/>
                </p:oleObj>
              </mc:Choice>
              <mc:Fallback>
                <p:oleObj name="Equation" r:id="rId5" imgW="2209680" imgH="1346040" progId="Equation.DSMT4">
                  <p:embed/>
                  <p:pic>
                    <p:nvPicPr>
                      <p:cNvPr id="0" name="Object 4"/>
                      <p:cNvPicPr>
                        <a:picLocks noChangeAspect="1" noChangeArrowheads="1"/>
                      </p:cNvPicPr>
                      <p:nvPr/>
                    </p:nvPicPr>
                    <p:blipFill>
                      <a:blip r:embed="rId6"/>
                      <a:srcRect/>
                      <a:stretch>
                        <a:fillRect/>
                      </a:stretch>
                    </p:blipFill>
                    <p:spPr bwMode="auto">
                      <a:xfrm>
                        <a:off x="1878013" y="3527425"/>
                        <a:ext cx="4641850" cy="2830513"/>
                      </a:xfrm>
                      <a:prstGeom prst="rect">
                        <a:avLst/>
                      </a:prstGeom>
                      <a:noFill/>
                    </p:spPr>
                  </p:pic>
                </p:oleObj>
              </mc:Fallback>
            </mc:AlternateContent>
          </a:graphicData>
        </a:graphic>
      </p:graphicFrame>
      <p:sp>
        <p:nvSpPr>
          <p:cNvPr id="8"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193127990"/>
              </p:ext>
            </p:extLst>
          </p:nvPr>
        </p:nvGraphicFramePr>
        <p:xfrm>
          <a:off x="1905000" y="1371600"/>
          <a:ext cx="3932238" cy="895350"/>
        </p:xfrm>
        <a:graphic>
          <a:graphicData uri="http://schemas.openxmlformats.org/presentationml/2006/ole">
            <mc:AlternateContent xmlns:mc="http://schemas.openxmlformats.org/markup-compatibility/2006">
              <mc:Choice xmlns:v="urn:schemas-microsoft-com:vml" Requires="v">
                <p:oleObj spid="_x0000_s402629" name="Equation" r:id="rId7" imgW="2234880" imgH="507960" progId="Equation.DSMT4">
                  <p:embed/>
                </p:oleObj>
              </mc:Choice>
              <mc:Fallback>
                <p:oleObj name="Equation" r:id="rId7" imgW="2234880" imgH="507960" progId="Equation.DSMT4">
                  <p:embed/>
                  <p:pic>
                    <p:nvPicPr>
                      <p:cNvPr id="0" name="Object 6"/>
                      <p:cNvPicPr>
                        <a:picLocks noChangeAspect="1" noChangeArrowheads="1"/>
                      </p:cNvPicPr>
                      <p:nvPr/>
                    </p:nvPicPr>
                    <p:blipFill>
                      <a:blip r:embed="rId8"/>
                      <a:srcRect/>
                      <a:stretch>
                        <a:fillRect/>
                      </a:stretch>
                    </p:blipFill>
                    <p:spPr bwMode="auto">
                      <a:xfrm>
                        <a:off x="1905000" y="1371600"/>
                        <a:ext cx="3932238" cy="895350"/>
                      </a:xfrm>
                      <a:prstGeom prst="rect">
                        <a:avLst/>
                      </a:prstGeom>
                      <a:noFill/>
                    </p:spPr>
                  </p:pic>
                </p:oleObj>
              </mc:Fallback>
            </mc:AlternateContent>
          </a:graphicData>
        </a:graphic>
      </p:graphicFrame>
    </p:spTree>
    <p:extLst>
      <p:ext uri="{BB962C8B-B14F-4D97-AF65-F5344CB8AC3E}">
        <p14:creationId xmlns:p14="http://schemas.microsoft.com/office/powerpoint/2010/main" val="130085424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65250088"/>
              </p:ext>
            </p:extLst>
          </p:nvPr>
        </p:nvGraphicFramePr>
        <p:xfrm>
          <a:off x="1066800" y="1776413"/>
          <a:ext cx="6211888" cy="1627187"/>
        </p:xfrm>
        <a:graphic>
          <a:graphicData uri="http://schemas.openxmlformats.org/presentationml/2006/ole">
            <mc:AlternateContent xmlns:mc="http://schemas.openxmlformats.org/markup-compatibility/2006">
              <mc:Choice xmlns:v="urn:schemas-microsoft-com:vml" Requires="v">
                <p:oleObj spid="_x0000_s403582" name="Equation" r:id="rId3" imgW="2958840" imgH="774360" progId="Equation.DSMT4">
                  <p:embed/>
                </p:oleObj>
              </mc:Choice>
              <mc:Fallback>
                <p:oleObj name="Equation" r:id="rId3" imgW="2958840" imgH="774360" progId="Equation.DSMT4">
                  <p:embed/>
                  <p:pic>
                    <p:nvPicPr>
                      <p:cNvPr id="0" name="对象 6"/>
                      <p:cNvPicPr>
                        <a:picLocks noChangeAspect="1" noChangeArrowheads="1"/>
                      </p:cNvPicPr>
                      <p:nvPr/>
                    </p:nvPicPr>
                    <p:blipFill>
                      <a:blip r:embed="rId4"/>
                      <a:srcRect/>
                      <a:stretch>
                        <a:fillRect/>
                      </a:stretch>
                    </p:blipFill>
                    <p:spPr bwMode="auto">
                      <a:xfrm>
                        <a:off x="1066800" y="1776413"/>
                        <a:ext cx="6211888"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87683428"/>
              </p:ext>
            </p:extLst>
          </p:nvPr>
        </p:nvGraphicFramePr>
        <p:xfrm>
          <a:off x="1143000" y="3962400"/>
          <a:ext cx="4648200" cy="569167"/>
        </p:xfrm>
        <a:graphic>
          <a:graphicData uri="http://schemas.openxmlformats.org/presentationml/2006/ole">
            <mc:AlternateContent xmlns:mc="http://schemas.openxmlformats.org/markup-compatibility/2006">
              <mc:Choice xmlns:v="urn:schemas-microsoft-com:vml" Requires="v">
                <p:oleObj spid="_x0000_s403583" name="Equation" r:id="rId5" imgW="1866900" imgH="228600" progId="Equation.DSMT4">
                  <p:embed/>
                </p:oleObj>
              </mc:Choice>
              <mc:Fallback>
                <p:oleObj name="Equation" r:id="rId5" imgW="1866900" imgH="228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962400"/>
                        <a:ext cx="4648200" cy="569167"/>
                      </a:xfrm>
                      <a:prstGeom prst="rect">
                        <a:avLst/>
                      </a:prstGeom>
                      <a:noFill/>
                    </p:spPr>
                  </p:pic>
                </p:oleObj>
              </mc:Fallback>
            </mc:AlternateContent>
          </a:graphicData>
        </a:graphic>
      </p:graphicFrame>
    </p:spTree>
    <p:extLst>
      <p:ext uri="{BB962C8B-B14F-4D97-AF65-F5344CB8AC3E}">
        <p14:creationId xmlns:p14="http://schemas.microsoft.com/office/powerpoint/2010/main" val="277410164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9" name="Rectangle 7"/>
          <p:cNvSpPr>
            <a:spLocks noChangeArrowheads="1"/>
          </p:cNvSpPr>
          <p:nvPr/>
        </p:nvSpPr>
        <p:spPr bwMode="auto">
          <a:xfrm>
            <a:off x="323850" y="1392238"/>
            <a:ext cx="73437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t>   【</a:t>
            </a:r>
            <a:r>
              <a:rPr lang="zh-CN" altLang="en-US" sz="2000" b="1"/>
              <a:t>推论</a:t>
            </a:r>
            <a:r>
              <a:rPr lang="en-US" altLang="zh-CN" sz="2000" b="1"/>
              <a:t>】</a:t>
            </a:r>
            <a:r>
              <a:rPr lang="zh-CN" altLang="en-US" sz="2000" b="1"/>
              <a:t>如果使用对数连接函数，则迭代公式可以表示为：</a:t>
            </a:r>
          </a:p>
          <a:p>
            <a:endParaRPr lang="zh-CN" altLang="en-US" sz="2000" b="1"/>
          </a:p>
        </p:txBody>
      </p:sp>
      <p:graphicFrame>
        <p:nvGraphicFramePr>
          <p:cNvPr id="115727" name="Object 15"/>
          <p:cNvGraphicFramePr>
            <a:graphicFrameLocks noChangeAspect="1"/>
          </p:cNvGraphicFramePr>
          <p:nvPr>
            <p:extLst>
              <p:ext uri="{D42A27DB-BD31-4B8C-83A1-F6EECF244321}">
                <p14:modId xmlns:p14="http://schemas.microsoft.com/office/powerpoint/2010/main" val="1477495947"/>
              </p:ext>
            </p:extLst>
          </p:nvPr>
        </p:nvGraphicFramePr>
        <p:xfrm>
          <a:off x="1682750" y="2289175"/>
          <a:ext cx="5010150" cy="590550"/>
        </p:xfrm>
        <a:graphic>
          <a:graphicData uri="http://schemas.openxmlformats.org/presentationml/2006/ole">
            <mc:AlternateContent xmlns:mc="http://schemas.openxmlformats.org/markup-compatibility/2006">
              <mc:Choice xmlns:v="urn:schemas-microsoft-com:vml" Requires="v">
                <p:oleObj spid="_x0000_s384440" name="Equation" r:id="rId3" imgW="2590560" imgH="304560" progId="Equation.DSMT4">
                  <p:embed/>
                </p:oleObj>
              </mc:Choice>
              <mc:Fallback>
                <p:oleObj name="Equation" r:id="rId3" imgW="2590560" imgH="304560" progId="Equation.DSMT4">
                  <p:embed/>
                  <p:pic>
                    <p:nvPicPr>
                      <p:cNvPr id="0" name=""/>
                      <p:cNvPicPr>
                        <a:picLocks noChangeAspect="1" noChangeArrowheads="1"/>
                      </p:cNvPicPr>
                      <p:nvPr/>
                    </p:nvPicPr>
                    <p:blipFill>
                      <a:blip r:embed="rId4"/>
                      <a:srcRect/>
                      <a:stretch>
                        <a:fillRect/>
                      </a:stretch>
                    </p:blipFill>
                    <p:spPr bwMode="auto">
                      <a:xfrm>
                        <a:off x="1682750" y="2289175"/>
                        <a:ext cx="501015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29" name="Rectangle 17"/>
          <p:cNvSpPr>
            <a:spLocks noChangeArrowheads="1"/>
          </p:cNvSpPr>
          <p:nvPr/>
        </p:nvSpPr>
        <p:spPr bwMode="auto">
          <a:xfrm>
            <a:off x="1260475" y="3489325"/>
            <a:ext cx="519885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其中</a:t>
            </a:r>
            <a:r>
              <a:rPr lang="en-US" altLang="zh-CN" sz="2000" dirty="0"/>
              <a:t>:   </a:t>
            </a:r>
            <a:r>
              <a:rPr lang="en-US" altLang="zh-CN" sz="2000" i="1" dirty="0"/>
              <a:t> </a:t>
            </a:r>
            <a:r>
              <a:rPr lang="en-US" altLang="zh-CN" sz="2000" i="1" dirty="0" smtClean="0"/>
              <a:t>k </a:t>
            </a:r>
            <a:r>
              <a:rPr lang="zh-CN" altLang="en-US" sz="2000" dirty="0" smtClean="0"/>
              <a:t>是</a:t>
            </a:r>
            <a:r>
              <a:rPr lang="zh-CN" altLang="en-US" sz="2000" dirty="0"/>
              <a:t>一个  </a:t>
            </a:r>
            <a:r>
              <a:rPr lang="en-US" altLang="zh-CN" sz="2000" i="1" dirty="0" smtClean="0"/>
              <a:t>n </a:t>
            </a:r>
            <a:r>
              <a:rPr lang="zh-CN" altLang="en-US" sz="2000" dirty="0" smtClean="0"/>
              <a:t>维</a:t>
            </a:r>
            <a:r>
              <a:rPr lang="zh-CN" altLang="en-US" sz="2000" dirty="0"/>
              <a:t>向量，</a:t>
            </a:r>
            <a:r>
              <a:rPr lang="zh-CN" altLang="en-US" sz="2000" dirty="0" smtClean="0"/>
              <a:t>第 </a:t>
            </a:r>
            <a:r>
              <a:rPr lang="en-US" altLang="zh-CN" sz="2000" i="1" dirty="0" err="1" smtClean="0"/>
              <a:t>i</a:t>
            </a:r>
            <a:r>
              <a:rPr lang="en-US" altLang="zh-CN" sz="2000" dirty="0" smtClean="0"/>
              <a:t> </a:t>
            </a:r>
            <a:r>
              <a:rPr lang="zh-CN" altLang="en-US" sz="2000" dirty="0" smtClean="0"/>
              <a:t>个</a:t>
            </a:r>
            <a:r>
              <a:rPr lang="zh-CN" altLang="en-US" sz="2000" dirty="0"/>
              <a:t>元素为：</a:t>
            </a:r>
            <a:r>
              <a:rPr lang="en-US" altLang="zh-CN" sz="2000" dirty="0"/>
              <a:t> </a:t>
            </a:r>
          </a:p>
          <a:p>
            <a:endParaRPr lang="zh-CN" altLang="en-US" sz="2000" dirty="0"/>
          </a:p>
        </p:txBody>
      </p:sp>
      <p:graphicFrame>
        <p:nvGraphicFramePr>
          <p:cNvPr id="115734" name="Object 22"/>
          <p:cNvGraphicFramePr>
            <a:graphicFrameLocks noChangeAspect="1"/>
          </p:cNvGraphicFramePr>
          <p:nvPr>
            <p:extLst>
              <p:ext uri="{D42A27DB-BD31-4B8C-83A1-F6EECF244321}">
                <p14:modId xmlns:p14="http://schemas.microsoft.com/office/powerpoint/2010/main" val="247568485"/>
              </p:ext>
            </p:extLst>
          </p:nvPr>
        </p:nvGraphicFramePr>
        <p:xfrm>
          <a:off x="2209800" y="4234910"/>
          <a:ext cx="1295400" cy="774700"/>
        </p:xfrm>
        <a:graphic>
          <a:graphicData uri="http://schemas.openxmlformats.org/presentationml/2006/ole">
            <mc:AlternateContent xmlns:mc="http://schemas.openxmlformats.org/markup-compatibility/2006">
              <mc:Choice xmlns:v="urn:schemas-microsoft-com:vml" Requires="v">
                <p:oleObj spid="_x0000_s384441" name="Equation" r:id="rId5" imgW="723600" imgH="431640" progId="Equation.DSMT4">
                  <p:embed/>
                </p:oleObj>
              </mc:Choice>
              <mc:Fallback>
                <p:oleObj name="Equation" r:id="rId5" imgW="723600" imgH="431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4234910"/>
                        <a:ext cx="12954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5734650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36" name="Text Box 24"/>
          <p:cNvSpPr txBox="1">
            <a:spLocks noChangeArrowheads="1"/>
          </p:cNvSpPr>
          <p:nvPr/>
        </p:nvSpPr>
        <p:spPr bwMode="auto">
          <a:xfrm>
            <a:off x="827088" y="990600"/>
            <a:ext cx="44983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t>证明：</a:t>
            </a:r>
            <a:r>
              <a:rPr lang="zh-CN" altLang="en-US" dirty="0"/>
              <a:t>在对数连接函数下，有：</a:t>
            </a:r>
          </a:p>
        </p:txBody>
      </p:sp>
      <p:graphicFrame>
        <p:nvGraphicFramePr>
          <p:cNvPr id="115737" name="Object 25"/>
          <p:cNvGraphicFramePr>
            <a:graphicFrameLocks noChangeAspect="1"/>
          </p:cNvGraphicFramePr>
          <p:nvPr>
            <p:extLst>
              <p:ext uri="{D42A27DB-BD31-4B8C-83A1-F6EECF244321}">
                <p14:modId xmlns:p14="http://schemas.microsoft.com/office/powerpoint/2010/main" val="9785552"/>
              </p:ext>
            </p:extLst>
          </p:nvPr>
        </p:nvGraphicFramePr>
        <p:xfrm>
          <a:off x="1752600" y="1600200"/>
          <a:ext cx="3249613" cy="800100"/>
        </p:xfrm>
        <a:graphic>
          <a:graphicData uri="http://schemas.openxmlformats.org/presentationml/2006/ole">
            <mc:AlternateContent xmlns:mc="http://schemas.openxmlformats.org/markup-compatibility/2006">
              <mc:Choice xmlns:v="urn:schemas-microsoft-com:vml" Requires="v">
                <p:oleObj spid="_x0000_s404723" name="Equation" r:id="rId3" imgW="1752480" imgH="431640" progId="Equation.DSMT4">
                  <p:embed/>
                </p:oleObj>
              </mc:Choice>
              <mc:Fallback>
                <p:oleObj name="Equation" r:id="rId3" imgW="1752480" imgH="431640" progId="Equation.DSMT4">
                  <p:embed/>
                  <p:pic>
                    <p:nvPicPr>
                      <p:cNvPr id="0" name=""/>
                      <p:cNvPicPr>
                        <a:picLocks noChangeAspect="1" noChangeArrowheads="1"/>
                      </p:cNvPicPr>
                      <p:nvPr/>
                    </p:nvPicPr>
                    <p:blipFill>
                      <a:blip r:embed="rId4"/>
                      <a:srcRect/>
                      <a:stretch>
                        <a:fillRect/>
                      </a:stretch>
                    </p:blipFill>
                    <p:spPr bwMode="auto">
                      <a:xfrm>
                        <a:off x="1752600" y="1600200"/>
                        <a:ext cx="324961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39" name="Rectangle 27"/>
          <p:cNvSpPr>
            <a:spLocks noChangeArrowheads="1"/>
          </p:cNvSpPr>
          <p:nvPr/>
        </p:nvSpPr>
        <p:spPr bwMode="auto">
          <a:xfrm>
            <a:off x="1160800" y="2514600"/>
            <a:ext cx="53142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smtClean="0"/>
              <a:t>权数矩阵对角线</a:t>
            </a:r>
            <a:r>
              <a:rPr lang="zh-CN" altLang="en-US" sz="2000" dirty="0"/>
              <a:t>上元素和得分</a:t>
            </a:r>
            <a:r>
              <a:rPr lang="zh-CN" altLang="en-US" sz="2000" dirty="0" smtClean="0"/>
              <a:t>向量的元素</a:t>
            </a:r>
            <a:r>
              <a:rPr lang="zh-CN" altLang="en-US" sz="2000" dirty="0"/>
              <a:t>为：</a:t>
            </a:r>
          </a:p>
          <a:p>
            <a:endParaRPr lang="zh-CN" altLang="en-US" sz="2000" dirty="0"/>
          </a:p>
        </p:txBody>
      </p:sp>
      <p:graphicFrame>
        <p:nvGraphicFramePr>
          <p:cNvPr id="115742" name="Object 30"/>
          <p:cNvGraphicFramePr>
            <a:graphicFrameLocks noChangeAspect="1"/>
          </p:cNvGraphicFramePr>
          <p:nvPr>
            <p:extLst>
              <p:ext uri="{D42A27DB-BD31-4B8C-83A1-F6EECF244321}">
                <p14:modId xmlns:p14="http://schemas.microsoft.com/office/powerpoint/2010/main" val="1181989664"/>
              </p:ext>
            </p:extLst>
          </p:nvPr>
        </p:nvGraphicFramePr>
        <p:xfrm>
          <a:off x="1676400" y="3352800"/>
          <a:ext cx="3024187" cy="774700"/>
        </p:xfrm>
        <a:graphic>
          <a:graphicData uri="http://schemas.openxmlformats.org/presentationml/2006/ole">
            <mc:AlternateContent xmlns:mc="http://schemas.openxmlformats.org/markup-compatibility/2006">
              <mc:Choice xmlns:v="urn:schemas-microsoft-com:vml" Requires="v">
                <p:oleObj spid="_x0000_s404724" name="Equation" r:id="rId5" imgW="1930320" imgH="495000" progId="Equation.DSMT4">
                  <p:embed/>
                </p:oleObj>
              </mc:Choice>
              <mc:Fallback>
                <p:oleObj name="Equation" r:id="rId5" imgW="1930320" imgH="495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352800"/>
                        <a:ext cx="3024187"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44" name="Object 32"/>
          <p:cNvGraphicFramePr>
            <a:graphicFrameLocks noChangeAspect="1"/>
          </p:cNvGraphicFramePr>
          <p:nvPr>
            <p:extLst>
              <p:ext uri="{D42A27DB-BD31-4B8C-83A1-F6EECF244321}">
                <p14:modId xmlns:p14="http://schemas.microsoft.com/office/powerpoint/2010/main" val="3582716601"/>
              </p:ext>
            </p:extLst>
          </p:nvPr>
        </p:nvGraphicFramePr>
        <p:xfrm>
          <a:off x="1676400" y="4724400"/>
          <a:ext cx="5464175" cy="1271587"/>
        </p:xfrm>
        <a:graphic>
          <a:graphicData uri="http://schemas.openxmlformats.org/presentationml/2006/ole">
            <mc:AlternateContent xmlns:mc="http://schemas.openxmlformats.org/markup-compatibility/2006">
              <mc:Choice xmlns:v="urn:schemas-microsoft-com:vml" Requires="v">
                <p:oleObj spid="_x0000_s404725" name="Equation" r:id="rId7" imgW="3276360" imgH="761760" progId="Equation.DSMT4">
                  <p:embed/>
                </p:oleObj>
              </mc:Choice>
              <mc:Fallback>
                <p:oleObj name="Equation" r:id="rId7" imgW="3276360" imgH="761760" progId="Equation.DSMT4">
                  <p:embed/>
                  <p:pic>
                    <p:nvPicPr>
                      <p:cNvPr id="0" name=""/>
                      <p:cNvPicPr>
                        <a:picLocks noChangeAspect="1" noChangeArrowheads="1"/>
                      </p:cNvPicPr>
                      <p:nvPr/>
                    </p:nvPicPr>
                    <p:blipFill>
                      <a:blip r:embed="rId8"/>
                      <a:srcRect/>
                      <a:stretch>
                        <a:fillRect/>
                      </a:stretch>
                    </p:blipFill>
                    <p:spPr bwMode="auto">
                      <a:xfrm>
                        <a:off x="1676400" y="4724400"/>
                        <a:ext cx="5464175" cy="127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45" name="Object 33"/>
          <p:cNvGraphicFramePr>
            <a:graphicFrameLocks noChangeAspect="1"/>
          </p:cNvGraphicFramePr>
          <p:nvPr/>
        </p:nvGraphicFramePr>
        <p:xfrm>
          <a:off x="3733800" y="5373688"/>
          <a:ext cx="230188" cy="357187"/>
        </p:xfrm>
        <a:graphic>
          <a:graphicData uri="http://schemas.openxmlformats.org/presentationml/2006/ole">
            <mc:AlternateContent xmlns:mc="http://schemas.openxmlformats.org/markup-compatibility/2006">
              <mc:Choice xmlns:v="urn:schemas-microsoft-com:vml" Requires="v">
                <p:oleObj spid="_x0000_s404726" name="Equation" r:id="rId9" imgW="114120" imgH="177480" progId="Equation.DSMT4">
                  <p:embed/>
                </p:oleObj>
              </mc:Choice>
              <mc:Fallback>
                <p:oleObj name="Equation" r:id="rId9" imgW="114120" imgH="1774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3800" y="5373688"/>
                        <a:ext cx="230188"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258395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5745" name="Object 33"/>
          <p:cNvGraphicFramePr>
            <a:graphicFrameLocks noChangeAspect="1"/>
          </p:cNvGraphicFramePr>
          <p:nvPr>
            <p:extLst>
              <p:ext uri="{D42A27DB-BD31-4B8C-83A1-F6EECF244321}">
                <p14:modId xmlns:p14="http://schemas.microsoft.com/office/powerpoint/2010/main" val="4065958398"/>
              </p:ext>
            </p:extLst>
          </p:nvPr>
        </p:nvGraphicFramePr>
        <p:xfrm>
          <a:off x="3733800" y="4992688"/>
          <a:ext cx="230188" cy="357187"/>
        </p:xfrm>
        <a:graphic>
          <a:graphicData uri="http://schemas.openxmlformats.org/presentationml/2006/ole">
            <mc:AlternateContent xmlns:mc="http://schemas.openxmlformats.org/markup-compatibility/2006">
              <mc:Choice xmlns:v="urn:schemas-microsoft-com:vml" Requires="v">
                <p:oleObj spid="_x0000_s405687" name="Equation" r:id="rId3" imgW="114120" imgH="177480" progId="Equation.DSMT4">
                  <p:embed/>
                </p:oleObj>
              </mc:Choice>
              <mc:Fallback>
                <p:oleObj name="Equation" r:id="rId3" imgW="114120" imgH="177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4992688"/>
                        <a:ext cx="230188"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46" name="Object 34"/>
          <p:cNvGraphicFramePr>
            <a:graphicFrameLocks noChangeAspect="1"/>
          </p:cNvGraphicFramePr>
          <p:nvPr>
            <p:extLst>
              <p:ext uri="{D42A27DB-BD31-4B8C-83A1-F6EECF244321}">
                <p14:modId xmlns:p14="http://schemas.microsoft.com/office/powerpoint/2010/main" val="4108183403"/>
              </p:ext>
            </p:extLst>
          </p:nvPr>
        </p:nvGraphicFramePr>
        <p:xfrm>
          <a:off x="2386013" y="4267200"/>
          <a:ext cx="4556125" cy="1282700"/>
        </p:xfrm>
        <a:graphic>
          <a:graphicData uri="http://schemas.openxmlformats.org/presentationml/2006/ole">
            <mc:AlternateContent xmlns:mc="http://schemas.openxmlformats.org/markup-compatibility/2006">
              <mc:Choice xmlns:v="urn:schemas-microsoft-com:vml" Requires="v">
                <p:oleObj spid="_x0000_s405688" name="Equation" r:id="rId5" imgW="2527200" imgH="711000" progId="Equation.DSMT4">
                  <p:embed/>
                </p:oleObj>
              </mc:Choice>
              <mc:Fallback>
                <p:oleObj name="Equation" r:id="rId5" imgW="2527200" imgH="711000" progId="Equation.DSMT4">
                  <p:embed/>
                  <p:pic>
                    <p:nvPicPr>
                      <p:cNvPr id="0" name=""/>
                      <p:cNvPicPr>
                        <a:picLocks noChangeAspect="1" noChangeArrowheads="1"/>
                      </p:cNvPicPr>
                      <p:nvPr/>
                    </p:nvPicPr>
                    <p:blipFill>
                      <a:blip r:embed="rId6"/>
                      <a:srcRect/>
                      <a:stretch>
                        <a:fillRect/>
                      </a:stretch>
                    </p:blipFill>
                    <p:spPr bwMode="auto">
                      <a:xfrm>
                        <a:off x="2386013" y="4267200"/>
                        <a:ext cx="455612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50" name="Rectangle 38"/>
          <p:cNvSpPr>
            <a:spLocks noChangeArrowheads="1"/>
          </p:cNvSpPr>
          <p:nvPr/>
        </p:nvSpPr>
        <p:spPr bwMode="auto">
          <a:xfrm>
            <a:off x="1066800" y="1371600"/>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smtClean="0"/>
              <a:t>得分</a:t>
            </a:r>
            <a:r>
              <a:rPr lang="zh-CN" altLang="en-US" dirty="0"/>
              <a:t>向量的向量表达为：</a:t>
            </a:r>
          </a:p>
        </p:txBody>
      </p:sp>
      <p:sp>
        <p:nvSpPr>
          <p:cNvPr id="115751" name="Rectangle 39"/>
          <p:cNvSpPr>
            <a:spLocks noChangeArrowheads="1"/>
          </p:cNvSpPr>
          <p:nvPr/>
        </p:nvSpPr>
        <p:spPr bwMode="auto">
          <a:xfrm>
            <a:off x="1219200" y="3124200"/>
            <a:ext cx="29546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t>带入迭代公式得到：</a:t>
            </a:r>
          </a:p>
        </p:txBody>
      </p:sp>
      <p:graphicFrame>
        <p:nvGraphicFramePr>
          <p:cNvPr id="115752" name="Object 40"/>
          <p:cNvGraphicFramePr>
            <a:graphicFrameLocks noChangeAspect="1"/>
          </p:cNvGraphicFramePr>
          <p:nvPr>
            <p:extLst>
              <p:ext uri="{D42A27DB-BD31-4B8C-83A1-F6EECF244321}">
                <p14:modId xmlns:p14="http://schemas.microsoft.com/office/powerpoint/2010/main" val="1919013883"/>
              </p:ext>
            </p:extLst>
          </p:nvPr>
        </p:nvGraphicFramePr>
        <p:xfrm>
          <a:off x="3429000" y="2209800"/>
          <a:ext cx="1963738" cy="533400"/>
        </p:xfrm>
        <a:graphic>
          <a:graphicData uri="http://schemas.openxmlformats.org/presentationml/2006/ole">
            <mc:AlternateContent xmlns:mc="http://schemas.openxmlformats.org/markup-compatibility/2006">
              <mc:Choice xmlns:v="urn:schemas-microsoft-com:vml" Requires="v">
                <p:oleObj spid="_x0000_s405689" name="Equation" r:id="rId7" imgW="749160" imgH="203040" progId="Equation.DSMT4">
                  <p:embed/>
                </p:oleObj>
              </mc:Choice>
              <mc:Fallback>
                <p:oleObj name="Equation" r:id="rId7" imgW="749160" imgH="203040" progId="Equation.DSMT4">
                  <p:embed/>
                  <p:pic>
                    <p:nvPicPr>
                      <p:cNvPr id="0" name=""/>
                      <p:cNvPicPr>
                        <a:picLocks noChangeAspect="1" noChangeArrowheads="1"/>
                      </p:cNvPicPr>
                      <p:nvPr/>
                    </p:nvPicPr>
                    <p:blipFill>
                      <a:blip r:embed="rId8"/>
                      <a:srcRect/>
                      <a:stretch>
                        <a:fillRect/>
                      </a:stretch>
                    </p:blipFill>
                    <p:spPr bwMode="auto">
                      <a:xfrm>
                        <a:off x="3429000" y="2209800"/>
                        <a:ext cx="1963738" cy="53340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91493114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23850" y="549275"/>
            <a:ext cx="7920038" cy="503238"/>
          </a:xfrm>
        </p:spPr>
        <p:txBody>
          <a:bodyPr/>
          <a:lstStyle/>
          <a:p>
            <a:r>
              <a:rPr lang="zh-CN" altLang="en-US" sz="3200" dirty="0" smtClean="0"/>
              <a:t>迭代法与迭代加权最小二乘法的比较</a:t>
            </a:r>
          </a:p>
        </p:txBody>
      </p:sp>
      <p:sp>
        <p:nvSpPr>
          <p:cNvPr id="85004" name="Rectangle 12"/>
          <p:cNvSpPr>
            <a:spLocks noChangeArrowheads="1"/>
          </p:cNvSpPr>
          <p:nvPr/>
        </p:nvSpPr>
        <p:spPr bwMode="auto">
          <a:xfrm>
            <a:off x="395288" y="1101725"/>
            <a:ext cx="74168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000"/>
              <a:t>        在使用</a:t>
            </a:r>
            <a:r>
              <a:rPr lang="zh-CN" altLang="en-US" sz="2000" b="1"/>
              <a:t>正则连接函数</a:t>
            </a:r>
            <a:r>
              <a:rPr lang="zh-CN" altLang="en-US" sz="2000"/>
              <a:t>的情况下，期望</a:t>
            </a:r>
            <a:r>
              <a:rPr lang="en-US" altLang="zh-CN" sz="2000"/>
              <a:t>Hessian</a:t>
            </a:r>
            <a:r>
              <a:rPr lang="zh-CN" altLang="en-US" sz="2000"/>
              <a:t>矩阵与</a:t>
            </a:r>
            <a:r>
              <a:rPr lang="en-US" altLang="zh-CN" sz="2000"/>
              <a:t>Hessian</a:t>
            </a:r>
            <a:r>
              <a:rPr lang="zh-CN" altLang="en-US" sz="2000"/>
              <a:t>矩阵相等，所以</a:t>
            </a:r>
            <a:r>
              <a:rPr lang="en-US" altLang="zh-CN" sz="2000"/>
              <a:t>Newton</a:t>
            </a:r>
            <a:r>
              <a:rPr lang="zh-CN" altLang="en-US" sz="2000"/>
              <a:t>迭代法与迭代加权最小二乘法的参数估计值也完全相等。</a:t>
            </a:r>
            <a:endParaRPr lang="en-US" altLang="zh-CN" sz="2000"/>
          </a:p>
        </p:txBody>
      </p:sp>
      <p:graphicFrame>
        <p:nvGraphicFramePr>
          <p:cNvPr id="85005" name="Object 13"/>
          <p:cNvGraphicFramePr>
            <a:graphicFrameLocks noChangeAspect="1"/>
          </p:cNvGraphicFramePr>
          <p:nvPr/>
        </p:nvGraphicFramePr>
        <p:xfrm>
          <a:off x="755650" y="3100388"/>
          <a:ext cx="7921625" cy="911225"/>
        </p:xfrm>
        <a:graphic>
          <a:graphicData uri="http://schemas.openxmlformats.org/presentationml/2006/ole">
            <mc:AlternateContent xmlns:mc="http://schemas.openxmlformats.org/markup-compatibility/2006">
              <mc:Choice xmlns:v="urn:schemas-microsoft-com:vml" Requires="v">
                <p:oleObj spid="_x0000_s385431" name="Equation" r:id="rId3" imgW="5079960" imgH="583920" progId="Equation.DSMT4">
                  <p:embed/>
                </p:oleObj>
              </mc:Choice>
              <mc:Fallback>
                <p:oleObj name="Equation" r:id="rId3" imgW="5079960" imgH="5839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100388"/>
                        <a:ext cx="7921625" cy="91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06" name="Object 14"/>
          <p:cNvGraphicFramePr>
            <a:graphicFrameLocks noChangeAspect="1"/>
          </p:cNvGraphicFramePr>
          <p:nvPr>
            <p:extLst>
              <p:ext uri="{D42A27DB-BD31-4B8C-83A1-F6EECF244321}">
                <p14:modId xmlns:p14="http://schemas.microsoft.com/office/powerpoint/2010/main" val="2517363644"/>
              </p:ext>
            </p:extLst>
          </p:nvPr>
        </p:nvGraphicFramePr>
        <p:xfrm>
          <a:off x="1076325" y="4100513"/>
          <a:ext cx="3689350" cy="781050"/>
        </p:xfrm>
        <a:graphic>
          <a:graphicData uri="http://schemas.openxmlformats.org/presentationml/2006/ole">
            <mc:AlternateContent xmlns:mc="http://schemas.openxmlformats.org/markup-compatibility/2006">
              <mc:Choice xmlns:v="urn:schemas-microsoft-com:vml" Requires="v">
                <p:oleObj spid="_x0000_s385432" name="Equation" r:id="rId5" imgW="2336760" imgH="495000" progId="Equation.DSMT4">
                  <p:embed/>
                </p:oleObj>
              </mc:Choice>
              <mc:Fallback>
                <p:oleObj name="Equation" r:id="rId5" imgW="2336760" imgH="495000" progId="Equation.DSMT4">
                  <p:embed/>
                  <p:pic>
                    <p:nvPicPr>
                      <p:cNvPr id="0" name=""/>
                      <p:cNvPicPr>
                        <a:picLocks noChangeAspect="1" noChangeArrowheads="1"/>
                      </p:cNvPicPr>
                      <p:nvPr/>
                    </p:nvPicPr>
                    <p:blipFill>
                      <a:blip r:embed="rId6"/>
                      <a:srcRect/>
                      <a:stretch>
                        <a:fillRect/>
                      </a:stretch>
                    </p:blipFill>
                    <p:spPr bwMode="auto">
                      <a:xfrm>
                        <a:off x="1076325" y="4100513"/>
                        <a:ext cx="36893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007" name="Text Box 15"/>
          <p:cNvSpPr txBox="1">
            <a:spLocks noChangeArrowheads="1"/>
          </p:cNvSpPr>
          <p:nvPr/>
        </p:nvSpPr>
        <p:spPr bwMode="auto">
          <a:xfrm>
            <a:off x="395288" y="2720975"/>
            <a:ext cx="58594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t>证明：</a:t>
            </a:r>
            <a:r>
              <a:rPr lang="en-US" altLang="zh-CN" sz="2000"/>
              <a:t>Hessian</a:t>
            </a:r>
            <a:r>
              <a:rPr lang="zh-CN" altLang="en-US" sz="2000"/>
              <a:t>矩阵和期望</a:t>
            </a:r>
            <a:r>
              <a:rPr lang="en-US" altLang="zh-CN" sz="2000"/>
              <a:t>Hessian</a:t>
            </a:r>
            <a:r>
              <a:rPr lang="zh-CN" altLang="en-US" sz="2000"/>
              <a:t>矩阵表达式如下：</a:t>
            </a:r>
          </a:p>
        </p:txBody>
      </p:sp>
      <p:graphicFrame>
        <p:nvGraphicFramePr>
          <p:cNvPr id="85008" name="Object 16"/>
          <p:cNvGraphicFramePr>
            <a:graphicFrameLocks noChangeAspect="1"/>
          </p:cNvGraphicFramePr>
          <p:nvPr/>
        </p:nvGraphicFramePr>
        <p:xfrm>
          <a:off x="5076825" y="4324350"/>
          <a:ext cx="2520950" cy="314325"/>
        </p:xfrm>
        <a:graphic>
          <a:graphicData uri="http://schemas.openxmlformats.org/presentationml/2006/ole">
            <mc:AlternateContent xmlns:mc="http://schemas.openxmlformats.org/markup-compatibility/2006">
              <mc:Choice xmlns:v="urn:schemas-microsoft-com:vml" Requires="v">
                <p:oleObj spid="_x0000_s385433" name="Equation" r:id="rId7" imgW="1638000" imgH="203040" progId="Equation.DSMT4">
                  <p:embed/>
                </p:oleObj>
              </mc:Choice>
              <mc:Fallback>
                <p:oleObj name="Equation" r:id="rId7" imgW="163800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6825" y="4324350"/>
                        <a:ext cx="25209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009" name="Text Box 17"/>
          <p:cNvSpPr txBox="1">
            <a:spLocks noChangeArrowheads="1"/>
          </p:cNvSpPr>
          <p:nvPr/>
        </p:nvSpPr>
        <p:spPr bwMode="auto">
          <a:xfrm>
            <a:off x="1233488" y="5060950"/>
            <a:ext cx="41601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smtClean="0"/>
              <a:t>二者</a:t>
            </a:r>
            <a:r>
              <a:rPr lang="zh-CN" altLang="en-US" sz="2000" dirty="0"/>
              <a:t>的差异部分    可以表示为：      </a:t>
            </a:r>
          </a:p>
        </p:txBody>
      </p:sp>
      <p:graphicFrame>
        <p:nvGraphicFramePr>
          <p:cNvPr id="85010" name="Object 18"/>
          <p:cNvGraphicFramePr>
            <a:graphicFrameLocks noChangeAspect="1"/>
          </p:cNvGraphicFramePr>
          <p:nvPr>
            <p:extLst>
              <p:ext uri="{D42A27DB-BD31-4B8C-83A1-F6EECF244321}">
                <p14:modId xmlns:p14="http://schemas.microsoft.com/office/powerpoint/2010/main" val="2035192869"/>
              </p:ext>
            </p:extLst>
          </p:nvPr>
        </p:nvGraphicFramePr>
        <p:xfrm>
          <a:off x="3070257" y="5133211"/>
          <a:ext cx="273050" cy="255587"/>
        </p:xfrm>
        <a:graphic>
          <a:graphicData uri="http://schemas.openxmlformats.org/presentationml/2006/ole">
            <mc:AlternateContent xmlns:mc="http://schemas.openxmlformats.org/markup-compatibility/2006">
              <mc:Choice xmlns:v="urn:schemas-microsoft-com:vml" Requires="v">
                <p:oleObj spid="_x0000_s385434" name="Equation" r:id="rId9" imgW="177480" imgH="164880" progId="Equation.DSMT4">
                  <p:embed/>
                </p:oleObj>
              </mc:Choice>
              <mc:Fallback>
                <p:oleObj name="Equation" r:id="rId9" imgW="177480" imgH="1648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0257" y="5133211"/>
                        <a:ext cx="273050" cy="25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11" name="Object 19"/>
          <p:cNvGraphicFramePr>
            <a:graphicFrameLocks noChangeAspect="1"/>
          </p:cNvGraphicFramePr>
          <p:nvPr/>
        </p:nvGraphicFramePr>
        <p:xfrm>
          <a:off x="1403350" y="5476875"/>
          <a:ext cx="5753100" cy="904875"/>
        </p:xfrm>
        <a:graphic>
          <a:graphicData uri="http://schemas.openxmlformats.org/presentationml/2006/ole">
            <mc:AlternateContent xmlns:mc="http://schemas.openxmlformats.org/markup-compatibility/2006">
              <mc:Choice xmlns:v="urn:schemas-microsoft-com:vml" Requires="v">
                <p:oleObj spid="_x0000_s385435" name="Equation" r:id="rId11" imgW="3746160" imgH="583920" progId="Equation.DSMT4">
                  <p:embed/>
                </p:oleObj>
              </mc:Choice>
              <mc:Fallback>
                <p:oleObj name="Equation" r:id="rId11" imgW="3746160" imgH="58392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3350" y="5476875"/>
                        <a:ext cx="575310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2369458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5"/>
          <p:cNvSpPr>
            <a:spLocks noChangeArrowheads="1"/>
          </p:cNvSpPr>
          <p:nvPr/>
        </p:nvSpPr>
        <p:spPr bwMode="auto">
          <a:xfrm>
            <a:off x="468313" y="620713"/>
            <a:ext cx="741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t>        在</a:t>
            </a:r>
            <a:r>
              <a:rPr lang="zh-CN" altLang="en-US" sz="2000" b="1"/>
              <a:t>正则连接函数</a:t>
            </a:r>
            <a:r>
              <a:rPr lang="zh-CN" altLang="en-US" sz="2000"/>
              <a:t>的情况下，        ，故方差函数可以表示为：</a:t>
            </a:r>
            <a:endParaRPr lang="en-US" altLang="zh-CN" sz="2000"/>
          </a:p>
        </p:txBody>
      </p:sp>
      <p:graphicFrame>
        <p:nvGraphicFramePr>
          <p:cNvPr id="117766" name="Object 6"/>
          <p:cNvGraphicFramePr>
            <a:graphicFrameLocks noChangeAspect="1"/>
          </p:cNvGraphicFramePr>
          <p:nvPr/>
        </p:nvGraphicFramePr>
        <p:xfrm>
          <a:off x="3995738" y="620713"/>
          <a:ext cx="644525" cy="354012"/>
        </p:xfrm>
        <a:graphic>
          <a:graphicData uri="http://schemas.openxmlformats.org/presentationml/2006/ole">
            <mc:AlternateContent xmlns:mc="http://schemas.openxmlformats.org/markup-compatibility/2006">
              <mc:Choice xmlns:v="urn:schemas-microsoft-com:vml" Requires="v">
                <p:oleObj spid="_x0000_s386378" name="Equation" r:id="rId3" imgW="419040" imgH="228600" progId="Equation.DSMT4">
                  <p:embed/>
                </p:oleObj>
              </mc:Choice>
              <mc:Fallback>
                <p:oleObj name="Equation" r:id="rId3" imgW="41904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620713"/>
                        <a:ext cx="64452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67" name="Object 7"/>
          <p:cNvGraphicFramePr>
            <a:graphicFrameLocks noChangeAspect="1"/>
          </p:cNvGraphicFramePr>
          <p:nvPr/>
        </p:nvGraphicFramePr>
        <p:xfrm>
          <a:off x="2051050" y="1052513"/>
          <a:ext cx="3600450" cy="738187"/>
        </p:xfrm>
        <a:graphic>
          <a:graphicData uri="http://schemas.openxmlformats.org/presentationml/2006/ole">
            <mc:AlternateContent xmlns:mc="http://schemas.openxmlformats.org/markup-compatibility/2006">
              <mc:Choice xmlns:v="urn:schemas-microsoft-com:vml" Requires="v">
                <p:oleObj spid="_x0000_s386379" name="Equation" r:id="rId5" imgW="2247840" imgH="457200" progId="Equation.DSMT4">
                  <p:embed/>
                </p:oleObj>
              </mc:Choice>
              <mc:Fallback>
                <p:oleObj name="Equation" r:id="rId5" imgW="224784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1052513"/>
                        <a:ext cx="3600450"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68" name="Rectangle 8"/>
          <p:cNvSpPr>
            <a:spLocks noChangeArrowheads="1"/>
          </p:cNvSpPr>
          <p:nvPr/>
        </p:nvSpPr>
        <p:spPr bwMode="auto">
          <a:xfrm>
            <a:off x="468313" y="1844675"/>
            <a:ext cx="741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t>        将其带入到   中得到：</a:t>
            </a:r>
            <a:endParaRPr lang="en-US" altLang="zh-CN" sz="2000"/>
          </a:p>
        </p:txBody>
      </p:sp>
      <p:graphicFrame>
        <p:nvGraphicFramePr>
          <p:cNvPr id="117769" name="Object 9"/>
          <p:cNvGraphicFramePr>
            <a:graphicFrameLocks noChangeAspect="1"/>
          </p:cNvGraphicFramePr>
          <p:nvPr/>
        </p:nvGraphicFramePr>
        <p:xfrm>
          <a:off x="2268538" y="1916113"/>
          <a:ext cx="273050" cy="255587"/>
        </p:xfrm>
        <a:graphic>
          <a:graphicData uri="http://schemas.openxmlformats.org/presentationml/2006/ole">
            <mc:AlternateContent xmlns:mc="http://schemas.openxmlformats.org/markup-compatibility/2006">
              <mc:Choice xmlns:v="urn:schemas-microsoft-com:vml" Requires="v">
                <p:oleObj spid="_x0000_s386380" name="Equation" r:id="rId7" imgW="177480" imgH="164880" progId="Equation.DSMT4">
                  <p:embed/>
                </p:oleObj>
              </mc:Choice>
              <mc:Fallback>
                <p:oleObj name="Equation" r:id="rId7" imgW="177480" imgH="1648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1916113"/>
                        <a:ext cx="273050" cy="25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770" name="Object 10"/>
          <p:cNvGraphicFramePr>
            <a:graphicFrameLocks noChangeAspect="1"/>
          </p:cNvGraphicFramePr>
          <p:nvPr>
            <p:extLst>
              <p:ext uri="{D42A27DB-BD31-4B8C-83A1-F6EECF244321}">
                <p14:modId xmlns:p14="http://schemas.microsoft.com/office/powerpoint/2010/main" val="3632991933"/>
              </p:ext>
            </p:extLst>
          </p:nvPr>
        </p:nvGraphicFramePr>
        <p:xfrm>
          <a:off x="1476375" y="2205038"/>
          <a:ext cx="5975350" cy="2941637"/>
        </p:xfrm>
        <a:graphic>
          <a:graphicData uri="http://schemas.openxmlformats.org/presentationml/2006/ole">
            <mc:AlternateContent xmlns:mc="http://schemas.openxmlformats.org/markup-compatibility/2006">
              <mc:Choice xmlns:v="urn:schemas-microsoft-com:vml" Requires="v">
                <p:oleObj spid="_x0000_s386381" name="Equation" r:id="rId9" imgW="3746160" imgH="1828800" progId="Equation.DSMT4">
                  <p:embed/>
                </p:oleObj>
              </mc:Choice>
              <mc:Fallback>
                <p:oleObj name="Equation" r:id="rId9" imgW="3746160" imgH="18288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2205038"/>
                        <a:ext cx="5975350" cy="294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71" name="Rectangle 11"/>
          <p:cNvSpPr>
            <a:spLocks noChangeArrowheads="1"/>
          </p:cNvSpPr>
          <p:nvPr/>
        </p:nvSpPr>
        <p:spPr bwMode="auto">
          <a:xfrm>
            <a:off x="971550" y="5300663"/>
            <a:ext cx="7416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000" dirty="0"/>
              <a:t>        </a:t>
            </a:r>
            <a:r>
              <a:rPr lang="zh-CN" altLang="en-US" sz="2000" dirty="0" smtClean="0"/>
              <a:t>在</a:t>
            </a:r>
            <a:r>
              <a:rPr lang="zh-CN" altLang="en-US" sz="2000" b="1" dirty="0"/>
              <a:t>正则</a:t>
            </a:r>
            <a:r>
              <a:rPr lang="zh-CN" altLang="en-US" sz="2000" b="1" dirty="0" smtClean="0"/>
              <a:t>连接函数</a:t>
            </a:r>
            <a:r>
              <a:rPr lang="zh-CN" altLang="en-US" sz="2000" dirty="0" smtClean="0"/>
              <a:t>下</a:t>
            </a:r>
            <a:r>
              <a:rPr lang="zh-CN" altLang="en-US" sz="2000" dirty="0"/>
              <a:t>，期望</a:t>
            </a:r>
            <a:r>
              <a:rPr lang="en-US" altLang="zh-CN" sz="2000" dirty="0"/>
              <a:t>Hessian</a:t>
            </a:r>
            <a:r>
              <a:rPr lang="zh-CN" altLang="en-US" sz="2000" dirty="0"/>
              <a:t>矩阵与</a:t>
            </a:r>
            <a:r>
              <a:rPr lang="en-US" altLang="zh-CN" sz="2000" dirty="0"/>
              <a:t>Hessian</a:t>
            </a:r>
            <a:r>
              <a:rPr lang="zh-CN" altLang="en-US" sz="2000" dirty="0"/>
              <a:t>矩阵相等</a:t>
            </a:r>
            <a:r>
              <a:rPr lang="zh-CN" altLang="en-US" sz="2000" dirty="0" smtClean="0"/>
              <a:t>，</a:t>
            </a:r>
            <a:r>
              <a:rPr lang="en-US" altLang="zh-CN" sz="2000" dirty="0" smtClean="0"/>
              <a:t>Newton</a:t>
            </a:r>
            <a:r>
              <a:rPr lang="zh-CN" altLang="en-US" sz="2000" dirty="0"/>
              <a:t>迭代法完全等价于迭代加权最小二乘法。</a:t>
            </a:r>
            <a:endParaRPr lang="en-US" altLang="zh-CN" sz="2000" dirty="0"/>
          </a:p>
        </p:txBody>
      </p:sp>
    </p:spTree>
    <p:extLst>
      <p:ext uri="{BB962C8B-B14F-4D97-AF65-F5344CB8AC3E}">
        <p14:creationId xmlns:p14="http://schemas.microsoft.com/office/powerpoint/2010/main" val="270749274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zh-CN" sz="2400" b="1" dirty="0"/>
              <a:t>例</a:t>
            </a:r>
            <a:r>
              <a:rPr lang="zh-CN" altLang="zh-CN" sz="2400" dirty="0"/>
              <a:t>：假设</a:t>
            </a:r>
            <a:r>
              <a:rPr lang="zh-CN" altLang="zh-CN" sz="2400" dirty="0" smtClean="0"/>
              <a:t>因变量服从</a:t>
            </a:r>
            <a:r>
              <a:rPr lang="zh-CN" altLang="zh-CN" sz="2400" dirty="0"/>
              <a:t>泊松分布，观察值如下：</a:t>
            </a:r>
          </a:p>
          <a:p>
            <a:endParaRPr lang="zh-CN" altLang="en-US" sz="2400" dirty="0"/>
          </a:p>
        </p:txBody>
      </p:sp>
      <p:sp>
        <p:nvSpPr>
          <p:cNvPr id="4" name="灯片编号占位符 3"/>
          <p:cNvSpPr>
            <a:spLocks noGrp="1"/>
          </p:cNvSpPr>
          <p:nvPr>
            <p:ph type="sldNum" sz="quarter" idx="12"/>
          </p:nvPr>
        </p:nvSpPr>
        <p:spPr/>
        <p:txBody>
          <a:bodyPr/>
          <a:lstStyle/>
          <a:p>
            <a:pPr>
              <a:defRPr/>
            </a:pPr>
            <a:r>
              <a:rPr lang="en-US" altLang="zh-CN" smtClean="0"/>
              <a:t>( </a:t>
            </a:r>
            <a:fld id="{6F4965D5-0B8C-4940-A118-ACA2133EA7E7}" type="slidenum">
              <a:rPr lang="en-US" altLang="zh-CN" smtClean="0"/>
              <a:pPr>
                <a:defRPr/>
              </a:pPr>
              <a:t>113</a:t>
            </a:fld>
            <a:r>
              <a:rPr lang="en-US" altLang="zh-CN" smtClean="0"/>
              <a:t> )</a:t>
            </a:r>
            <a:endParaRPr lang="en-US" altLang="zh-CN"/>
          </a:p>
        </p:txBody>
      </p:sp>
      <p:graphicFrame>
        <p:nvGraphicFramePr>
          <p:cNvPr id="5" name="表格 4"/>
          <p:cNvGraphicFramePr>
            <a:graphicFrameLocks noGrp="1"/>
          </p:cNvGraphicFramePr>
          <p:nvPr>
            <p:extLst>
              <p:ext uri="{D42A27DB-BD31-4B8C-83A1-F6EECF244321}">
                <p14:modId xmlns:p14="http://schemas.microsoft.com/office/powerpoint/2010/main" val="1059613697"/>
              </p:ext>
            </p:extLst>
          </p:nvPr>
        </p:nvGraphicFramePr>
        <p:xfrm>
          <a:off x="1066800" y="2590800"/>
          <a:ext cx="7162800" cy="1097280"/>
        </p:xfrm>
        <a:graphic>
          <a:graphicData uri="http://schemas.openxmlformats.org/drawingml/2006/table">
            <a:tbl>
              <a:tblPr>
                <a:tableStyleId>{5C22544A-7EE6-4342-B048-85BDC9FD1C3A}</a:tableStyleId>
              </a:tblPr>
              <a:tblGrid>
                <a:gridCol w="795115">
                  <a:extLst>
                    <a:ext uri="{9D8B030D-6E8A-4147-A177-3AD203B41FA5}">
                      <a16:colId xmlns:a16="http://schemas.microsoft.com/office/drawing/2014/main" val="20000"/>
                    </a:ext>
                  </a:extLst>
                </a:gridCol>
                <a:gridCol w="795115">
                  <a:extLst>
                    <a:ext uri="{9D8B030D-6E8A-4147-A177-3AD203B41FA5}">
                      <a16:colId xmlns:a16="http://schemas.microsoft.com/office/drawing/2014/main" val="20001"/>
                    </a:ext>
                  </a:extLst>
                </a:gridCol>
                <a:gridCol w="795115">
                  <a:extLst>
                    <a:ext uri="{9D8B030D-6E8A-4147-A177-3AD203B41FA5}">
                      <a16:colId xmlns:a16="http://schemas.microsoft.com/office/drawing/2014/main" val="20002"/>
                    </a:ext>
                  </a:extLst>
                </a:gridCol>
                <a:gridCol w="795115">
                  <a:extLst>
                    <a:ext uri="{9D8B030D-6E8A-4147-A177-3AD203B41FA5}">
                      <a16:colId xmlns:a16="http://schemas.microsoft.com/office/drawing/2014/main" val="20003"/>
                    </a:ext>
                  </a:extLst>
                </a:gridCol>
                <a:gridCol w="796468">
                  <a:extLst>
                    <a:ext uri="{9D8B030D-6E8A-4147-A177-3AD203B41FA5}">
                      <a16:colId xmlns:a16="http://schemas.microsoft.com/office/drawing/2014/main" val="20004"/>
                    </a:ext>
                  </a:extLst>
                </a:gridCol>
                <a:gridCol w="796468">
                  <a:extLst>
                    <a:ext uri="{9D8B030D-6E8A-4147-A177-3AD203B41FA5}">
                      <a16:colId xmlns:a16="http://schemas.microsoft.com/office/drawing/2014/main" val="20005"/>
                    </a:ext>
                  </a:extLst>
                </a:gridCol>
                <a:gridCol w="796468">
                  <a:extLst>
                    <a:ext uri="{9D8B030D-6E8A-4147-A177-3AD203B41FA5}">
                      <a16:colId xmlns:a16="http://schemas.microsoft.com/office/drawing/2014/main" val="20006"/>
                    </a:ext>
                  </a:extLst>
                </a:gridCol>
                <a:gridCol w="796468">
                  <a:extLst>
                    <a:ext uri="{9D8B030D-6E8A-4147-A177-3AD203B41FA5}">
                      <a16:colId xmlns:a16="http://schemas.microsoft.com/office/drawing/2014/main" val="20007"/>
                    </a:ext>
                  </a:extLst>
                </a:gridCol>
                <a:gridCol w="796468">
                  <a:extLst>
                    <a:ext uri="{9D8B030D-6E8A-4147-A177-3AD203B41FA5}">
                      <a16:colId xmlns:a16="http://schemas.microsoft.com/office/drawing/2014/main" val="20008"/>
                    </a:ext>
                  </a:extLst>
                </a:gridCol>
              </a:tblGrid>
              <a:tr h="457200">
                <a:tc>
                  <a:txBody>
                    <a:bodyPr/>
                    <a:lstStyle/>
                    <a:p>
                      <a:pPr algn="ctr">
                        <a:lnSpc>
                          <a:spcPct val="150000"/>
                        </a:lnSpc>
                        <a:spcAft>
                          <a:spcPts val="0"/>
                        </a:spcAft>
                      </a:pPr>
                      <a:r>
                        <a:rPr lang="en-US" sz="2400" i="1" kern="100" dirty="0" err="1">
                          <a:effectLst/>
                          <a:latin typeface="Times New Roman" panose="02020603050405020304" pitchFamily="18" charset="0"/>
                          <a:cs typeface="Times New Roman" panose="02020603050405020304" pitchFamily="18" charset="0"/>
                        </a:rPr>
                        <a:t>y</a:t>
                      </a:r>
                      <a:r>
                        <a:rPr lang="en-US" sz="2400" i="1" kern="100" baseline="-25000" dirty="0" err="1">
                          <a:effectLst/>
                          <a:latin typeface="Times New Roman" panose="02020603050405020304" pitchFamily="18" charset="0"/>
                          <a:cs typeface="Times New Roman" panose="02020603050405020304" pitchFamily="18" charset="0"/>
                        </a:rPr>
                        <a:t>i</a:t>
                      </a:r>
                      <a:endParaRPr lang="zh-CN" sz="2400" i="1" kern="100" dirty="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1</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3</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3</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5</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6</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dirty="0">
                          <a:effectLst/>
                          <a:latin typeface="Times New Roman" panose="02020603050405020304" pitchFamily="18" charset="0"/>
                          <a:cs typeface="Times New Roman" panose="02020603050405020304" pitchFamily="18" charset="0"/>
                        </a:rPr>
                        <a:t>7</a:t>
                      </a:r>
                      <a:endParaRPr lang="zh-CN" sz="2400" kern="100" dirty="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9</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10</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5667">
                <a:tc>
                  <a:txBody>
                    <a:bodyPr/>
                    <a:lstStyle/>
                    <a:p>
                      <a:pPr algn="ctr">
                        <a:lnSpc>
                          <a:spcPct val="150000"/>
                        </a:lnSpc>
                        <a:spcAft>
                          <a:spcPts val="0"/>
                        </a:spcAft>
                      </a:pPr>
                      <a:r>
                        <a:rPr lang="en-US" sz="2400" i="1" kern="100" dirty="0">
                          <a:effectLst/>
                          <a:latin typeface="Times New Roman" panose="02020603050405020304" pitchFamily="18" charset="0"/>
                          <a:cs typeface="Times New Roman" panose="02020603050405020304" pitchFamily="18" charset="0"/>
                        </a:rPr>
                        <a:t>x</a:t>
                      </a:r>
                      <a:r>
                        <a:rPr lang="en-US" sz="2400" i="1" kern="100" baseline="-25000" dirty="0">
                          <a:effectLst/>
                          <a:latin typeface="Times New Roman" panose="02020603050405020304" pitchFamily="18" charset="0"/>
                          <a:cs typeface="Times New Roman" panose="02020603050405020304" pitchFamily="18" charset="0"/>
                        </a:rPr>
                        <a:t>i</a:t>
                      </a:r>
                      <a:endParaRPr lang="zh-CN" sz="2400" i="1" kern="100" dirty="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dirty="0">
                          <a:effectLst/>
                          <a:latin typeface="Times New Roman" panose="02020603050405020304" pitchFamily="18" charset="0"/>
                          <a:cs typeface="Times New Roman" panose="02020603050405020304" pitchFamily="18" charset="0"/>
                        </a:rPr>
                        <a:t>-1</a:t>
                      </a:r>
                      <a:endParaRPr lang="zh-CN" sz="2400" kern="100" dirty="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-1</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dirty="0">
                          <a:effectLst/>
                          <a:latin typeface="Times New Roman" panose="02020603050405020304" pitchFamily="18" charset="0"/>
                          <a:cs typeface="Times New Roman" panose="02020603050405020304" pitchFamily="18" charset="0"/>
                        </a:rPr>
                        <a:t>0</a:t>
                      </a:r>
                      <a:endParaRPr lang="zh-CN" sz="2400" kern="100" dirty="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0</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0</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0</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a:effectLst/>
                          <a:latin typeface="Times New Roman" panose="02020603050405020304" pitchFamily="18" charset="0"/>
                          <a:cs typeface="Times New Roman" panose="02020603050405020304" pitchFamily="18" charset="0"/>
                        </a:rPr>
                        <a:t>1</a:t>
                      </a:r>
                      <a:endParaRPr lang="zh-CN" sz="2400" kern="10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en-US" sz="2400" kern="100" dirty="0">
                          <a:effectLst/>
                          <a:latin typeface="Times New Roman" panose="02020603050405020304" pitchFamily="18" charset="0"/>
                          <a:cs typeface="Times New Roman" panose="02020603050405020304" pitchFamily="18" charset="0"/>
                        </a:rPr>
                        <a:t>1</a:t>
                      </a:r>
                      <a:endParaRPr lang="zh-CN" sz="2400" kern="100" dirty="0">
                        <a:effectLst/>
                        <a:latin typeface="Times New Roman" panose="02020603050405020304" pitchFamily="18" charset="0"/>
                        <a:ea typeface="宋体"/>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Rectangle 2"/>
          <p:cNvSpPr>
            <a:spLocks noChangeArrowheads="1"/>
          </p:cNvSpPr>
          <p:nvPr/>
        </p:nvSpPr>
        <p:spPr bwMode="auto">
          <a:xfrm>
            <a:off x="990600" y="4036367"/>
            <a:ext cx="6934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b="0" i="0" u="none" strike="noStrike" cap="none" normalizeH="0" baseline="0" dirty="0" smtClean="0">
                <a:ln>
                  <a:noFill/>
                </a:ln>
                <a:solidFill>
                  <a:schemeClr val="tx1"/>
                </a:solidFill>
                <a:effectLst/>
                <a:ea typeface="宋体" pitchFamily="2" charset="-122"/>
                <a:cs typeface="Times New Roman" pitchFamily="18" charset="0"/>
              </a:rPr>
              <a:t>假设建立如下</a:t>
            </a:r>
            <a:r>
              <a:rPr kumimoji="0" lang="en-US" altLang="zh-CN" b="0" i="0" u="none" strike="noStrike" cap="none" normalizeH="0" baseline="0" dirty="0" err="1" smtClean="0">
                <a:ln>
                  <a:noFill/>
                </a:ln>
                <a:solidFill>
                  <a:schemeClr val="tx1"/>
                </a:solidFill>
                <a:effectLst/>
                <a:ea typeface="宋体" pitchFamily="2" charset="-122"/>
                <a:cs typeface="Times New Roman" pitchFamily="18" charset="0"/>
              </a:rPr>
              <a:t>GLM</a:t>
            </a:r>
            <a:r>
              <a:rPr kumimoji="0" lang="zh-CN" altLang="en-US" b="0" i="0" u="none" strike="noStrike" cap="none" normalizeH="0" baseline="0" dirty="0" smtClean="0">
                <a:ln>
                  <a:noFill/>
                </a:ln>
                <a:solidFill>
                  <a:schemeClr val="tx1"/>
                </a:solidFill>
                <a:effectLst/>
                <a:ea typeface="宋体" pitchFamily="2" charset="-122"/>
                <a:cs typeface="Times New Roman" pitchFamily="18" charset="0"/>
              </a:rPr>
              <a:t>，估计模型参数</a:t>
            </a:r>
            <a:r>
              <a:rPr kumimoji="0" lang="zh-CN" altLang="zh-CN" b="0" i="0" u="none" strike="noStrike" cap="none" normalizeH="0" baseline="0" dirty="0" smtClean="0">
                <a:ln>
                  <a:noFill/>
                </a:ln>
                <a:solidFill>
                  <a:schemeClr val="tx1"/>
                </a:solidFill>
                <a:effectLst/>
                <a:ea typeface="宋体" pitchFamily="2" charset="-122"/>
                <a:cs typeface="Times New Roman" pitchFamily="18" charset="0"/>
              </a:rPr>
              <a:t>：</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566634142"/>
              </p:ext>
            </p:extLst>
          </p:nvPr>
        </p:nvGraphicFramePr>
        <p:xfrm>
          <a:off x="3276600" y="4876800"/>
          <a:ext cx="1752600" cy="509588"/>
        </p:xfrm>
        <a:graphic>
          <a:graphicData uri="http://schemas.openxmlformats.org/presentationml/2006/ole">
            <mc:AlternateContent xmlns:mc="http://schemas.openxmlformats.org/markup-compatibility/2006">
              <mc:Choice xmlns:v="urn:schemas-microsoft-com:vml" Requires="v">
                <p:oleObj spid="_x0000_s406586" name="Equation" r:id="rId3" imgW="787400" imgH="228600" progId="Equation.DSMT4">
                  <p:embed/>
                </p:oleObj>
              </mc:Choice>
              <mc:Fallback>
                <p:oleObj name="Equation" r:id="rId3" imgW="787400" imgH="228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876800"/>
                        <a:ext cx="1752600" cy="509588"/>
                      </a:xfrm>
                      <a:prstGeom prst="rect">
                        <a:avLst/>
                      </a:prstGeom>
                      <a:noFill/>
                    </p:spPr>
                  </p:pic>
                </p:oleObj>
              </mc:Fallback>
            </mc:AlternateContent>
          </a:graphicData>
        </a:graphic>
      </p:graphicFrame>
    </p:spTree>
    <p:extLst>
      <p:ext uri="{BB962C8B-B14F-4D97-AF65-F5344CB8AC3E}">
        <p14:creationId xmlns:p14="http://schemas.microsoft.com/office/powerpoint/2010/main" val="269825187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7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88" y="762000"/>
            <a:ext cx="7388225"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355546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457200" y="838200"/>
            <a:ext cx="8229600" cy="5292725"/>
          </a:xfrm>
        </p:spPr>
        <p:txBody>
          <a:bodyPr/>
          <a:lstStyle/>
          <a:p>
            <a:pPr marL="0" indent="0">
              <a:buNone/>
            </a:pPr>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迭代加权最小二乘法</a:t>
            </a:r>
          </a:p>
          <a:p>
            <a:pPr marL="0" indent="0">
              <a:buNone/>
            </a:pPr>
            <a:r>
              <a:rPr lang="en-US" altLang="zh-CN" sz="1600" b="1" dirty="0" err="1">
                <a:latin typeface="Courier New" panose="02070309020205020404" pitchFamily="49" charset="0"/>
                <a:cs typeface="Courier New" panose="02070309020205020404" pitchFamily="49" charset="0"/>
              </a:rPr>
              <a:t>d</a:t>
            </a:r>
            <a:r>
              <a:rPr lang="en-US" altLang="zh-CN" sz="1600" b="1" dirty="0" err="1" smtClean="0">
                <a:latin typeface="Courier New" panose="02070309020205020404" pitchFamily="49" charset="0"/>
                <a:cs typeface="Courier New" panose="02070309020205020404" pitchFamily="49" charset="0"/>
              </a:rPr>
              <a:t>2</a:t>
            </a:r>
            <a:r>
              <a:rPr lang="en-US" altLang="zh-CN" sz="1600" b="1" dirty="0" smtClean="0">
                <a:latin typeface="Courier New" panose="02070309020205020404" pitchFamily="49" charset="0"/>
                <a:cs typeface="Courier New" panose="02070309020205020404" pitchFamily="49" charset="0"/>
              </a:rPr>
              <a:t> = </a:t>
            </a:r>
            <a:r>
              <a:rPr lang="en-US" altLang="zh-CN" sz="1600" b="1" dirty="0" err="1" smtClean="0">
                <a:latin typeface="Courier New" panose="02070309020205020404" pitchFamily="49" charset="0"/>
                <a:cs typeface="Courier New" panose="02070309020205020404" pitchFamily="49" charset="0"/>
              </a:rPr>
              <a:t>data.frame</a:t>
            </a:r>
            <a:r>
              <a:rPr lang="en-US" altLang="zh-CN" sz="1600" b="1" dirty="0" smtClean="0">
                <a:latin typeface="Courier New" panose="02070309020205020404" pitchFamily="49" charset="0"/>
                <a:cs typeface="Courier New" panose="02070309020205020404" pitchFamily="49" charset="0"/>
              </a:rPr>
              <a:t>(y = c(1,3,3,5,6,7,9,10), x = c</a:t>
            </a:r>
            <a:r>
              <a:rPr lang="en-US" altLang="zh-CN" sz="1600" b="1" dirty="0">
                <a:latin typeface="Courier New" panose="02070309020205020404" pitchFamily="49" charset="0"/>
                <a:cs typeface="Courier New" panose="02070309020205020404" pitchFamily="49" charset="0"/>
              </a:rPr>
              <a:t>(-1,-1,0,0,0,0,1,1))</a:t>
            </a:r>
          </a:p>
          <a:p>
            <a:pPr marL="0" indent="0">
              <a:buNone/>
            </a:pPr>
            <a:r>
              <a:rPr lang="en-US" altLang="zh-CN" sz="1600" b="1" dirty="0" smtClean="0">
                <a:latin typeface="Courier New" panose="02070309020205020404" pitchFamily="49" charset="0"/>
                <a:cs typeface="Courier New" panose="02070309020205020404" pitchFamily="49" charset="0"/>
              </a:rPr>
              <a:t>b = c(2, 1</a:t>
            </a:r>
            <a:r>
              <a:rPr lang="en-US" altLang="zh-CN" sz="1600" b="1" dirty="0">
                <a:latin typeface="Courier New" panose="02070309020205020404" pitchFamily="49" charset="0"/>
                <a:cs typeface="Courier New" panose="02070309020205020404" pitchFamily="49" charset="0"/>
              </a:rPr>
              <a:t>)</a:t>
            </a:r>
          </a:p>
          <a:p>
            <a:pPr marL="0" indent="0">
              <a:buNone/>
            </a:pPr>
            <a:r>
              <a:rPr lang="en-US" altLang="zh-CN" sz="1600" b="1" dirty="0" smtClean="0">
                <a:latin typeface="Courier New" panose="02070309020205020404" pitchFamily="49" charset="0"/>
                <a:cs typeface="Courier New" panose="02070309020205020404" pitchFamily="49" charset="0"/>
              </a:rPr>
              <a:t>x = </a:t>
            </a:r>
            <a:r>
              <a:rPr lang="en-US" altLang="zh-CN" sz="1600" b="1" dirty="0" err="1" smtClean="0">
                <a:latin typeface="Courier New" panose="02070309020205020404" pitchFamily="49" charset="0"/>
                <a:cs typeface="Courier New" panose="02070309020205020404" pitchFamily="49" charset="0"/>
              </a:rPr>
              <a:t>model.matrix</a:t>
            </a:r>
            <a:r>
              <a:rPr lang="en-US" altLang="zh-CN" sz="1600" b="1" dirty="0" smtClean="0">
                <a:latin typeface="Courier New" panose="02070309020205020404" pitchFamily="49" charset="0"/>
                <a:cs typeface="Courier New" panose="02070309020205020404" pitchFamily="49" charset="0"/>
              </a:rPr>
              <a:t>( ~ x, data = </a:t>
            </a:r>
            <a:r>
              <a:rPr lang="en-US" altLang="zh-CN" sz="1600" b="1" dirty="0" err="1" smtClean="0">
                <a:latin typeface="Courier New" panose="02070309020205020404" pitchFamily="49" charset="0"/>
                <a:cs typeface="Courier New" panose="02070309020205020404" pitchFamily="49" charset="0"/>
              </a:rPr>
              <a:t>d2</a:t>
            </a:r>
            <a:r>
              <a:rPr lang="en-US" altLang="zh-CN" sz="1600" b="1" dirty="0">
                <a:latin typeface="Courier New" panose="02070309020205020404" pitchFamily="49" charset="0"/>
                <a:cs typeface="Courier New" panose="02070309020205020404" pitchFamily="49" charset="0"/>
              </a:rPr>
              <a:t>)</a:t>
            </a:r>
          </a:p>
          <a:p>
            <a:pPr marL="0" indent="0">
              <a:buNone/>
            </a:pPr>
            <a:r>
              <a:rPr lang="en-US" altLang="zh-CN" sz="1600" b="1" dirty="0" smtClean="0">
                <a:latin typeface="Courier New" panose="02070309020205020404" pitchFamily="49" charset="0"/>
                <a:cs typeface="Courier New" panose="02070309020205020404" pitchFamily="49" charset="0"/>
              </a:rPr>
              <a:t>m = 0</a:t>
            </a:r>
            <a:endParaRPr lang="en-US" altLang="zh-CN" sz="1600" b="1" dirty="0">
              <a:latin typeface="Courier New" panose="02070309020205020404" pitchFamily="49" charset="0"/>
              <a:cs typeface="Courier New" panose="02070309020205020404" pitchFamily="49" charset="0"/>
            </a:endParaRPr>
          </a:p>
          <a:p>
            <a:pPr marL="0" indent="0">
              <a:buNone/>
            </a:pPr>
            <a:r>
              <a:rPr lang="en-US" altLang="zh-CN" sz="1600" b="1" dirty="0">
                <a:latin typeface="Courier New" panose="02070309020205020404" pitchFamily="49" charset="0"/>
                <a:cs typeface="Courier New" panose="02070309020205020404" pitchFamily="49" charset="0"/>
              </a:rPr>
              <a:t>repeat{</a:t>
            </a:r>
          </a:p>
          <a:p>
            <a:pPr marL="0" indent="0">
              <a:buNone/>
            </a:pPr>
            <a:r>
              <a:rPr lang="en-US" altLang="zh-CN" sz="1600" b="1" dirty="0">
                <a:latin typeface="Courier New" panose="02070309020205020404" pitchFamily="49" charset="0"/>
                <a:cs typeface="Courier New" panose="02070309020205020404" pitchFamily="49" charset="0"/>
              </a:rPr>
              <a:t>  </a:t>
            </a:r>
            <a:r>
              <a:rPr lang="en-US" altLang="zh-CN" sz="1600" b="1" dirty="0" smtClean="0">
                <a:latin typeface="Courier New" panose="02070309020205020404" pitchFamily="49" charset="0"/>
                <a:cs typeface="Courier New" panose="02070309020205020404" pitchFamily="49" charset="0"/>
              </a:rPr>
              <a:t>m = m + 1</a:t>
            </a:r>
            <a:endParaRPr lang="en-US" altLang="zh-CN" sz="1600" b="1" dirty="0">
              <a:latin typeface="Courier New" panose="02070309020205020404" pitchFamily="49" charset="0"/>
              <a:cs typeface="Courier New" panose="02070309020205020404" pitchFamily="49" charset="0"/>
            </a:endParaRPr>
          </a:p>
          <a:p>
            <a:pPr marL="0" indent="0">
              <a:buNone/>
            </a:pPr>
            <a:r>
              <a:rPr lang="en-US" altLang="zh-CN" sz="1600" b="1" dirty="0">
                <a:latin typeface="Courier New" panose="02070309020205020404" pitchFamily="49" charset="0"/>
                <a:cs typeface="Courier New" panose="02070309020205020404" pitchFamily="49" charset="0"/>
              </a:rPr>
              <a:t>  </a:t>
            </a:r>
            <a:r>
              <a:rPr lang="en-US" altLang="zh-CN" sz="1600" b="1" dirty="0" err="1" smtClean="0">
                <a:latin typeface="Courier New" panose="02070309020205020404" pitchFamily="49" charset="0"/>
                <a:cs typeface="Courier New" panose="02070309020205020404" pitchFamily="49" charset="0"/>
              </a:rPr>
              <a:t>b1</a:t>
            </a:r>
            <a:r>
              <a:rPr lang="en-US" altLang="zh-CN" sz="1600" b="1" dirty="0" smtClean="0">
                <a:latin typeface="Courier New" panose="02070309020205020404" pitchFamily="49" charset="0"/>
                <a:cs typeface="Courier New" panose="02070309020205020404" pitchFamily="49" charset="0"/>
              </a:rPr>
              <a:t> = b</a:t>
            </a:r>
            <a:endParaRPr lang="en-US" altLang="zh-CN" sz="1600" b="1" dirty="0">
              <a:latin typeface="Courier New" panose="02070309020205020404" pitchFamily="49" charset="0"/>
              <a:cs typeface="Courier New" panose="02070309020205020404" pitchFamily="49" charset="0"/>
            </a:endParaRPr>
          </a:p>
          <a:p>
            <a:pPr marL="0" indent="0">
              <a:buNone/>
            </a:pPr>
            <a:r>
              <a:rPr lang="en-US" altLang="zh-CN" sz="1600" b="1" dirty="0">
                <a:latin typeface="Courier New" panose="02070309020205020404" pitchFamily="49" charset="0"/>
                <a:cs typeface="Courier New" panose="02070309020205020404" pitchFamily="49" charset="0"/>
              </a:rPr>
              <a:t>  </a:t>
            </a:r>
            <a:r>
              <a:rPr lang="en-US" altLang="zh-CN" sz="1600" b="1" dirty="0" smtClean="0">
                <a:latin typeface="Courier New" panose="02070309020205020404" pitchFamily="49" charset="0"/>
                <a:cs typeface="Courier New" panose="02070309020205020404" pitchFamily="49" charset="0"/>
              </a:rPr>
              <a:t>v = </a:t>
            </a:r>
            <a:r>
              <a:rPr lang="en-US" altLang="zh-CN" sz="1600" b="1" dirty="0" err="1" smtClean="0">
                <a:latin typeface="Courier New" panose="02070309020205020404" pitchFamily="49" charset="0"/>
                <a:cs typeface="Courier New" panose="02070309020205020404" pitchFamily="49" charset="0"/>
              </a:rPr>
              <a:t>diag</a:t>
            </a:r>
            <a:r>
              <a:rPr lang="en-US" altLang="zh-CN" sz="1600" b="1" dirty="0" smtClean="0">
                <a:latin typeface="Courier New" panose="02070309020205020404" pitchFamily="49" charset="0"/>
                <a:cs typeface="Courier New" panose="02070309020205020404" pitchFamily="49" charset="0"/>
              </a:rPr>
              <a:t>(c(1</a:t>
            </a:r>
            <a:r>
              <a:rPr lang="en-US" altLang="zh-CN" sz="1600" b="1" dirty="0">
                <a:latin typeface="Courier New" panose="02070309020205020404" pitchFamily="49" charset="0"/>
                <a:cs typeface="Courier New" panose="02070309020205020404" pitchFamily="49" charset="0"/>
              </a:rPr>
              <a:t>/(x%*%b)))</a:t>
            </a:r>
          </a:p>
          <a:p>
            <a:pPr marL="0" indent="0">
              <a:buNone/>
            </a:pPr>
            <a:r>
              <a:rPr lang="en-US" altLang="zh-CN" sz="1600" b="1" dirty="0">
                <a:latin typeface="Courier New" panose="02070309020205020404" pitchFamily="49" charset="0"/>
                <a:cs typeface="Courier New" panose="02070309020205020404" pitchFamily="49" charset="0"/>
              </a:rPr>
              <a:t>  </a:t>
            </a:r>
            <a:r>
              <a:rPr lang="en-US" altLang="zh-CN" sz="1600" b="1" dirty="0" smtClean="0">
                <a:latin typeface="Courier New" panose="02070309020205020404" pitchFamily="49" charset="0"/>
                <a:cs typeface="Courier New" panose="02070309020205020404" pitchFamily="49" charset="0"/>
              </a:rPr>
              <a:t>z = </a:t>
            </a:r>
            <a:r>
              <a:rPr lang="en-US" altLang="zh-CN" sz="1600" b="1" dirty="0" err="1" smtClean="0">
                <a:latin typeface="Courier New" panose="02070309020205020404" pitchFamily="49" charset="0"/>
                <a:cs typeface="Courier New" panose="02070309020205020404" pitchFamily="49" charset="0"/>
              </a:rPr>
              <a:t>d2$y</a:t>
            </a:r>
            <a:endParaRPr lang="en-US" altLang="zh-CN" sz="1600" b="1" dirty="0">
              <a:latin typeface="Courier New" panose="02070309020205020404" pitchFamily="49" charset="0"/>
              <a:cs typeface="Courier New" panose="02070309020205020404" pitchFamily="49" charset="0"/>
            </a:endParaRPr>
          </a:p>
          <a:p>
            <a:pPr marL="0" indent="0">
              <a:buNone/>
            </a:pPr>
            <a:r>
              <a:rPr lang="en-US" altLang="zh-CN" sz="1600" b="1" dirty="0">
                <a:latin typeface="Courier New" panose="02070309020205020404" pitchFamily="49" charset="0"/>
                <a:cs typeface="Courier New" panose="02070309020205020404" pitchFamily="49" charset="0"/>
              </a:rPr>
              <a:t>  </a:t>
            </a:r>
            <a:r>
              <a:rPr lang="en-US" altLang="zh-CN" sz="1600" b="1" dirty="0" smtClean="0">
                <a:latin typeface="Courier New" panose="02070309020205020404" pitchFamily="49" charset="0"/>
                <a:cs typeface="Courier New" panose="02070309020205020404" pitchFamily="49" charset="0"/>
              </a:rPr>
              <a:t>b = solve</a:t>
            </a:r>
            <a:r>
              <a:rPr lang="en-US" altLang="zh-CN" sz="1600" b="1" dirty="0">
                <a:latin typeface="Courier New" panose="02070309020205020404" pitchFamily="49" charset="0"/>
                <a:cs typeface="Courier New" panose="02070309020205020404" pitchFamily="49" charset="0"/>
              </a:rPr>
              <a:t>((t(x)%*%v%*%x))%*%t(x)%*%v%*%z</a:t>
            </a:r>
          </a:p>
          <a:p>
            <a:pPr marL="0" indent="0">
              <a:buNone/>
            </a:pPr>
            <a:r>
              <a:rPr lang="en-US" altLang="zh-CN" sz="1600" b="1" dirty="0">
                <a:latin typeface="Courier New" panose="02070309020205020404" pitchFamily="49" charset="0"/>
                <a:cs typeface="Courier New" panose="02070309020205020404" pitchFamily="49" charset="0"/>
              </a:rPr>
              <a:t>  </a:t>
            </a:r>
            <a:r>
              <a:rPr lang="en-US" altLang="zh-CN" sz="1600" b="1" dirty="0" smtClean="0">
                <a:latin typeface="Courier New" panose="02070309020205020404" pitchFamily="49" charset="0"/>
                <a:cs typeface="Courier New" panose="02070309020205020404" pitchFamily="49" charset="0"/>
              </a:rPr>
              <a:t>if(max(abs(</a:t>
            </a:r>
            <a:r>
              <a:rPr lang="en-US" altLang="zh-CN" sz="1600" b="1" dirty="0" err="1" smtClean="0">
                <a:latin typeface="Courier New" panose="02070309020205020404" pitchFamily="49" charset="0"/>
                <a:cs typeface="Courier New" panose="02070309020205020404" pitchFamily="49" charset="0"/>
              </a:rPr>
              <a:t>b1</a:t>
            </a:r>
            <a:r>
              <a:rPr lang="en-US" altLang="zh-CN" sz="1600" b="1" dirty="0" smtClean="0">
                <a:latin typeface="Courier New" panose="02070309020205020404" pitchFamily="49" charset="0"/>
                <a:cs typeface="Courier New" panose="02070309020205020404" pitchFamily="49" charset="0"/>
              </a:rPr>
              <a:t> - b)) &lt; </a:t>
            </a:r>
            <a:r>
              <a:rPr lang="en-US" altLang="zh-CN" sz="1600" b="1" dirty="0" err="1" smtClean="0">
                <a:latin typeface="Courier New" panose="02070309020205020404" pitchFamily="49" charset="0"/>
                <a:cs typeface="Courier New" panose="02070309020205020404" pitchFamily="49" charset="0"/>
              </a:rPr>
              <a:t>1e</a:t>
            </a:r>
            <a:r>
              <a:rPr lang="en-US" altLang="zh-CN" sz="1600" b="1" dirty="0" smtClean="0">
                <a:latin typeface="Courier New" panose="02070309020205020404" pitchFamily="49" charset="0"/>
                <a:cs typeface="Courier New" panose="02070309020205020404" pitchFamily="49" charset="0"/>
              </a:rPr>
              <a:t>-8</a:t>
            </a:r>
            <a:r>
              <a:rPr lang="en-US" altLang="zh-CN" sz="1600" b="1" dirty="0">
                <a:latin typeface="Courier New" panose="02070309020205020404" pitchFamily="49" charset="0"/>
                <a:cs typeface="Courier New" panose="02070309020205020404" pitchFamily="49" charset="0"/>
              </a:rPr>
              <a:t>) break</a:t>
            </a:r>
          </a:p>
          <a:p>
            <a:pPr marL="0" indent="0">
              <a:buNone/>
            </a:pPr>
            <a:r>
              <a:rPr lang="en-US" altLang="zh-CN" sz="1600" b="1" dirty="0">
                <a:latin typeface="Courier New" panose="02070309020205020404" pitchFamily="49" charset="0"/>
                <a:cs typeface="Courier New" panose="02070309020205020404" pitchFamily="49" charset="0"/>
              </a:rPr>
              <a:t>}</a:t>
            </a:r>
          </a:p>
          <a:p>
            <a:pPr marL="0" indent="0">
              <a:buNone/>
            </a:pPr>
            <a:r>
              <a:rPr lang="en-US" altLang="zh-CN" sz="1600" b="1" dirty="0">
                <a:latin typeface="Courier New" panose="02070309020205020404" pitchFamily="49" charset="0"/>
                <a:cs typeface="Courier New" panose="02070309020205020404" pitchFamily="49" charset="0"/>
              </a:rPr>
              <a:t>b  #</a:t>
            </a:r>
            <a:r>
              <a:rPr lang="zh-CN" altLang="en-US" sz="1600" b="1" dirty="0">
                <a:latin typeface="Courier New" panose="02070309020205020404" pitchFamily="49" charset="0"/>
                <a:cs typeface="Courier New" panose="02070309020205020404" pitchFamily="49" charset="0"/>
              </a:rPr>
              <a:t>迭代加权最小二乘法的参数估计值</a:t>
            </a:r>
          </a:p>
          <a:p>
            <a:pPr marL="0" indent="0">
              <a:buNone/>
            </a:pPr>
            <a:r>
              <a:rPr lang="en-US" altLang="zh-CN" sz="1600" b="1" dirty="0">
                <a:latin typeface="Courier New" panose="02070309020205020404" pitchFamily="49" charset="0"/>
                <a:cs typeface="Courier New" panose="02070309020205020404" pitchFamily="49" charset="0"/>
              </a:rPr>
              <a:t>m  #</a:t>
            </a:r>
            <a:r>
              <a:rPr lang="zh-CN" altLang="en-US" sz="1600" b="1" dirty="0">
                <a:latin typeface="Courier New" panose="02070309020205020404" pitchFamily="49" charset="0"/>
                <a:cs typeface="Courier New" panose="02070309020205020404" pitchFamily="49" charset="0"/>
              </a:rPr>
              <a:t>迭代次数</a:t>
            </a:r>
          </a:p>
          <a:p>
            <a:pPr marL="0" indent="0">
              <a:buNone/>
            </a:pPr>
            <a:endParaRPr lang="zh-CN" altLang="en-US" sz="1600" b="1" dirty="0">
              <a:latin typeface="Courier New" panose="02070309020205020404" pitchFamily="49" charset="0"/>
              <a:cs typeface="Courier New" panose="02070309020205020404" pitchFamily="49" charset="0"/>
            </a:endParaRPr>
          </a:p>
          <a:p>
            <a:pPr marL="0" indent="0">
              <a:buNone/>
            </a:pP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glm</a:t>
            </a:r>
            <a:endParaRPr lang="en-US" altLang="zh-CN" sz="1600" b="1" dirty="0">
              <a:latin typeface="Courier New" panose="02070309020205020404" pitchFamily="49" charset="0"/>
              <a:cs typeface="Courier New" panose="02070309020205020404" pitchFamily="49" charset="0"/>
            </a:endParaRPr>
          </a:p>
          <a:p>
            <a:pPr marL="0" indent="0">
              <a:buNone/>
            </a:pPr>
            <a:r>
              <a:rPr lang="en-US" altLang="zh-CN" sz="1600" b="1" dirty="0" err="1" smtClean="0">
                <a:latin typeface="Courier New" panose="02070309020205020404" pitchFamily="49" charset="0"/>
                <a:cs typeface="Courier New" panose="02070309020205020404" pitchFamily="49" charset="0"/>
              </a:rPr>
              <a:t>glm</a:t>
            </a:r>
            <a:r>
              <a:rPr lang="en-US" altLang="zh-CN" sz="1600" b="1" dirty="0" smtClean="0">
                <a:latin typeface="Courier New" panose="02070309020205020404" pitchFamily="49" charset="0"/>
                <a:cs typeface="Courier New" panose="02070309020205020404" pitchFamily="49" charset="0"/>
              </a:rPr>
              <a:t>(y ~ </a:t>
            </a:r>
            <a:r>
              <a:rPr lang="en-US" altLang="zh-CN" sz="1600" b="1" dirty="0" err="1" smtClean="0">
                <a:latin typeface="Courier New" panose="02070309020205020404" pitchFamily="49" charset="0"/>
                <a:cs typeface="Courier New" panose="02070309020205020404" pitchFamily="49" charset="0"/>
              </a:rPr>
              <a:t>x,data</a:t>
            </a:r>
            <a:r>
              <a:rPr lang="en-US" altLang="zh-CN" sz="1600" b="1" dirty="0" smtClean="0">
                <a:latin typeface="Courier New" panose="02070309020205020404" pitchFamily="49" charset="0"/>
                <a:cs typeface="Courier New" panose="02070309020205020404" pitchFamily="49" charset="0"/>
              </a:rPr>
              <a:t> = </a:t>
            </a:r>
            <a:r>
              <a:rPr lang="en-US" altLang="zh-CN" sz="1600" b="1" dirty="0" err="1" smtClean="0">
                <a:latin typeface="Courier New" panose="02070309020205020404" pitchFamily="49" charset="0"/>
                <a:cs typeface="Courier New" panose="02070309020205020404" pitchFamily="49" charset="0"/>
              </a:rPr>
              <a:t>d2</a:t>
            </a:r>
            <a:r>
              <a:rPr lang="en-US" altLang="zh-CN" sz="1600" b="1" dirty="0" smtClean="0">
                <a:latin typeface="Courier New" panose="02070309020205020404" pitchFamily="49" charset="0"/>
                <a:cs typeface="Courier New" panose="02070309020205020404" pitchFamily="49" charset="0"/>
              </a:rPr>
              <a:t>, family = </a:t>
            </a:r>
            <a:r>
              <a:rPr lang="en-US" altLang="zh-CN" sz="1600" b="1" dirty="0" err="1" smtClean="0">
                <a:latin typeface="Courier New" panose="02070309020205020404" pitchFamily="49" charset="0"/>
                <a:cs typeface="Courier New" panose="02070309020205020404" pitchFamily="49" charset="0"/>
              </a:rPr>
              <a:t>poisson</a:t>
            </a:r>
            <a:r>
              <a:rPr lang="en-US" altLang="zh-CN" sz="1600" b="1" dirty="0" smtClean="0">
                <a:latin typeface="Courier New" panose="02070309020205020404" pitchFamily="49" charset="0"/>
                <a:cs typeface="Courier New" panose="02070309020205020404" pitchFamily="49" charset="0"/>
              </a:rPr>
              <a:t>(link = 'identity</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coef</a:t>
            </a:r>
            <a:endParaRPr lang="en-US" altLang="zh-CN" sz="1600" b="1" dirty="0">
              <a:latin typeface="Courier New" panose="02070309020205020404" pitchFamily="49" charset="0"/>
              <a:cs typeface="Courier New" panose="02070309020205020404" pitchFamily="49" charset="0"/>
            </a:endParaRPr>
          </a:p>
          <a:p>
            <a:pPr marL="0" indent="0">
              <a:buNone/>
            </a:pPr>
            <a:endParaRPr lang="zh-CN" altLang="en-US" sz="1600" b="1" dirty="0">
              <a:latin typeface="Courier New" panose="02070309020205020404" pitchFamily="49" charset="0"/>
              <a:cs typeface="Courier New" panose="02070309020205020404" pitchFamily="49" charset="0"/>
            </a:endParaRPr>
          </a:p>
        </p:txBody>
      </p:sp>
      <p:sp>
        <p:nvSpPr>
          <p:cNvPr id="2" name="灯片编号占位符 1"/>
          <p:cNvSpPr>
            <a:spLocks noGrp="1"/>
          </p:cNvSpPr>
          <p:nvPr>
            <p:ph type="sldNum" sz="quarter" idx="12"/>
          </p:nvPr>
        </p:nvSpPr>
        <p:spPr/>
        <p:txBody>
          <a:bodyPr/>
          <a:lstStyle/>
          <a:p>
            <a:pPr>
              <a:defRPr/>
            </a:pPr>
            <a:r>
              <a:rPr lang="en-US" altLang="zh-CN" smtClean="0"/>
              <a:t>( </a:t>
            </a:r>
            <a:fld id="{3EBA4A41-DF70-4ED6-A7D0-45645D30423D}" type="slidenum">
              <a:rPr lang="en-US" altLang="zh-CN" smtClean="0"/>
              <a:pPr>
                <a:defRPr/>
              </a:pPr>
              <a:t>115</a:t>
            </a:fld>
            <a:r>
              <a:rPr lang="en-US" altLang="zh-CN" smtClean="0"/>
              <a:t> )</a:t>
            </a:r>
            <a:endParaRPr lang="en-US" altLang="zh-CN"/>
          </a:p>
        </p:txBody>
      </p:sp>
    </p:spTree>
    <p:extLst>
      <p:ext uri="{BB962C8B-B14F-4D97-AF65-F5344CB8AC3E}">
        <p14:creationId xmlns:p14="http://schemas.microsoft.com/office/powerpoint/2010/main" val="316435927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323850" y="549275"/>
            <a:ext cx="7920038" cy="503238"/>
          </a:xfrm>
        </p:spPr>
        <p:txBody>
          <a:bodyPr/>
          <a:lstStyle/>
          <a:p>
            <a:r>
              <a:rPr lang="zh-CN" altLang="en-US" sz="3200" dirty="0" smtClean="0">
                <a:latin typeface="Times New Roman" panose="02020603050405020304" pitchFamily="18" charset="0"/>
              </a:rPr>
              <a:t>离散参数的估计</a:t>
            </a:r>
            <a:endParaRPr lang="zh-CN" altLang="en-US" sz="3200" dirty="0" smtClean="0"/>
          </a:p>
        </p:txBody>
      </p:sp>
      <p:sp>
        <p:nvSpPr>
          <p:cNvPr id="118795" name="Rectangle 11"/>
          <p:cNvSpPr>
            <a:spLocks noChangeArrowheads="1"/>
          </p:cNvSpPr>
          <p:nvPr/>
        </p:nvSpPr>
        <p:spPr bwMode="auto">
          <a:xfrm>
            <a:off x="395288" y="1052513"/>
            <a:ext cx="8532812" cy="295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buFontTx/>
              <a:buChar char="•"/>
            </a:pPr>
            <a:r>
              <a:rPr lang="zh-CN" altLang="en-US" sz="2000"/>
              <a:t>   离散参数的取值</a:t>
            </a:r>
            <a:r>
              <a:rPr lang="zh-CN" altLang="en-US" sz="2000" b="1"/>
              <a:t>不会影响回归参数</a:t>
            </a:r>
            <a:r>
              <a:rPr lang="zh-CN" altLang="en-US" sz="2000"/>
              <a:t>的极大似然估计值。</a:t>
            </a:r>
          </a:p>
          <a:p>
            <a:pPr>
              <a:lnSpc>
                <a:spcPct val="150000"/>
              </a:lnSpc>
              <a:buFontTx/>
              <a:buChar char="•"/>
            </a:pPr>
            <a:r>
              <a:rPr lang="zh-CN" altLang="en-US" sz="2000"/>
              <a:t>   从理论上讲，可以应用极大似然法估计离散参数。</a:t>
            </a:r>
          </a:p>
          <a:p>
            <a:pPr>
              <a:lnSpc>
                <a:spcPct val="150000"/>
              </a:lnSpc>
              <a:spcBef>
                <a:spcPct val="20000"/>
              </a:spcBef>
              <a:spcAft>
                <a:spcPct val="20000"/>
              </a:spcAft>
            </a:pPr>
            <a:r>
              <a:rPr lang="zh-CN" altLang="en-US" sz="2000"/>
              <a:t>     即求解方程：</a:t>
            </a:r>
          </a:p>
          <a:p>
            <a:pPr>
              <a:lnSpc>
                <a:spcPct val="150000"/>
              </a:lnSpc>
              <a:buFontTx/>
              <a:buChar char="•"/>
            </a:pPr>
            <a:r>
              <a:rPr lang="zh-CN" altLang="en-US" sz="2000"/>
              <a:t>    在应用极大似然法估计离散参数时</a:t>
            </a:r>
            <a:r>
              <a:rPr lang="zh-CN" altLang="en-US" sz="2000" b="1"/>
              <a:t>没有统一形式的估计方程</a:t>
            </a:r>
            <a:r>
              <a:rPr lang="zh-CN" altLang="en-US" sz="2000"/>
              <a:t>。</a:t>
            </a:r>
          </a:p>
          <a:p>
            <a:pPr>
              <a:lnSpc>
                <a:spcPct val="150000"/>
              </a:lnSpc>
            </a:pPr>
            <a:r>
              <a:rPr lang="zh-CN" altLang="en-US" sz="2000"/>
              <a:t>     不同分布假设下的估计方程是不同的。</a:t>
            </a:r>
          </a:p>
          <a:p>
            <a:pPr>
              <a:lnSpc>
                <a:spcPct val="150000"/>
              </a:lnSpc>
              <a:buFontTx/>
              <a:buChar char="•"/>
            </a:pPr>
            <a:r>
              <a:rPr lang="zh-CN" altLang="en-US" sz="2000"/>
              <a:t>   在实际应用中，估计离散参数较为常用的方法是</a:t>
            </a:r>
            <a:r>
              <a:rPr lang="zh-CN" altLang="en-US" sz="2000" b="1"/>
              <a:t>矩估计法</a:t>
            </a:r>
            <a:r>
              <a:rPr lang="zh-CN" altLang="en-US" sz="2000"/>
              <a:t>。</a:t>
            </a:r>
          </a:p>
        </p:txBody>
      </p:sp>
      <p:graphicFrame>
        <p:nvGraphicFramePr>
          <p:cNvPr id="118796" name="Object 12"/>
          <p:cNvGraphicFramePr>
            <a:graphicFrameLocks noChangeAspect="1"/>
          </p:cNvGraphicFramePr>
          <p:nvPr/>
        </p:nvGraphicFramePr>
        <p:xfrm>
          <a:off x="2562225" y="1982788"/>
          <a:ext cx="714375" cy="654050"/>
        </p:xfrm>
        <a:graphic>
          <a:graphicData uri="http://schemas.openxmlformats.org/presentationml/2006/ole">
            <mc:AlternateContent xmlns:mc="http://schemas.openxmlformats.org/markup-compatibility/2006">
              <mc:Choice xmlns:v="urn:schemas-microsoft-com:vml" Requires="v">
                <p:oleObj spid="_x0000_s387402" name="Equation" r:id="rId3" imgW="457200" imgH="419040" progId="Equation.DSMT4">
                  <p:embed/>
                </p:oleObj>
              </mc:Choice>
              <mc:Fallback>
                <p:oleObj name="Equation" r:id="rId3" imgW="45720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2225" y="1982788"/>
                        <a:ext cx="71437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797" name="Text Box 13"/>
          <p:cNvSpPr txBox="1">
            <a:spLocks noChangeArrowheads="1"/>
          </p:cNvSpPr>
          <p:nvPr/>
        </p:nvSpPr>
        <p:spPr bwMode="auto">
          <a:xfrm>
            <a:off x="684213" y="4221163"/>
            <a:ext cx="424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因变量服从指数分布族，其方差为：</a:t>
            </a:r>
          </a:p>
        </p:txBody>
      </p:sp>
      <p:graphicFrame>
        <p:nvGraphicFramePr>
          <p:cNvPr id="118798" name="Object 14"/>
          <p:cNvGraphicFramePr>
            <a:graphicFrameLocks noChangeAspect="1"/>
          </p:cNvGraphicFramePr>
          <p:nvPr>
            <p:extLst>
              <p:ext uri="{D42A27DB-BD31-4B8C-83A1-F6EECF244321}">
                <p14:modId xmlns:p14="http://schemas.microsoft.com/office/powerpoint/2010/main" val="2109395934"/>
              </p:ext>
            </p:extLst>
          </p:nvPr>
        </p:nvGraphicFramePr>
        <p:xfrm>
          <a:off x="4778375" y="4292600"/>
          <a:ext cx="2005013" cy="357188"/>
        </p:xfrm>
        <a:graphic>
          <a:graphicData uri="http://schemas.openxmlformats.org/presentationml/2006/ole">
            <mc:AlternateContent xmlns:mc="http://schemas.openxmlformats.org/markup-compatibility/2006">
              <mc:Choice xmlns:v="urn:schemas-microsoft-com:vml" Requires="v">
                <p:oleObj spid="_x0000_s387403" name="Equation" r:id="rId5" imgW="1282680" imgH="228600" progId="Equation.DSMT4">
                  <p:embed/>
                </p:oleObj>
              </mc:Choice>
              <mc:Fallback>
                <p:oleObj name="Equation" r:id="rId5" imgW="1282680" imgH="228600" progId="Equation.DSMT4">
                  <p:embed/>
                  <p:pic>
                    <p:nvPicPr>
                      <p:cNvPr id="0" name=""/>
                      <p:cNvPicPr>
                        <a:picLocks noChangeAspect="1" noChangeArrowheads="1"/>
                      </p:cNvPicPr>
                      <p:nvPr/>
                    </p:nvPicPr>
                    <p:blipFill>
                      <a:blip r:embed="rId6"/>
                      <a:srcRect/>
                      <a:stretch>
                        <a:fillRect/>
                      </a:stretch>
                    </p:blipFill>
                    <p:spPr bwMode="auto">
                      <a:xfrm>
                        <a:off x="4778375" y="4292600"/>
                        <a:ext cx="2005013"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799" name="Object 15"/>
          <p:cNvGraphicFramePr>
            <a:graphicFrameLocks noChangeAspect="1"/>
          </p:cNvGraphicFramePr>
          <p:nvPr>
            <p:extLst>
              <p:ext uri="{D42A27DB-BD31-4B8C-83A1-F6EECF244321}">
                <p14:modId xmlns:p14="http://schemas.microsoft.com/office/powerpoint/2010/main" val="760929930"/>
              </p:ext>
            </p:extLst>
          </p:nvPr>
        </p:nvGraphicFramePr>
        <p:xfrm>
          <a:off x="2865438" y="4724400"/>
          <a:ext cx="1428750" cy="674688"/>
        </p:xfrm>
        <a:graphic>
          <a:graphicData uri="http://schemas.openxmlformats.org/presentationml/2006/ole">
            <mc:AlternateContent xmlns:mc="http://schemas.openxmlformats.org/markup-compatibility/2006">
              <mc:Choice xmlns:v="urn:schemas-microsoft-com:vml" Requires="v">
                <p:oleObj spid="_x0000_s387404" name="Equation" r:id="rId7" imgW="914400" imgH="431640" progId="Equation.DSMT4">
                  <p:embed/>
                </p:oleObj>
              </mc:Choice>
              <mc:Fallback>
                <p:oleObj name="Equation" r:id="rId7" imgW="914400" imgH="431640" progId="Equation.DSMT4">
                  <p:embed/>
                  <p:pic>
                    <p:nvPicPr>
                      <p:cNvPr id="0" name=""/>
                      <p:cNvPicPr>
                        <a:picLocks noChangeAspect="1" noChangeArrowheads="1"/>
                      </p:cNvPicPr>
                      <p:nvPr/>
                    </p:nvPicPr>
                    <p:blipFill>
                      <a:blip r:embed="rId8"/>
                      <a:srcRect/>
                      <a:stretch>
                        <a:fillRect/>
                      </a:stretch>
                    </p:blipFill>
                    <p:spPr bwMode="auto">
                      <a:xfrm>
                        <a:off x="2865438" y="4724400"/>
                        <a:ext cx="142875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00" name="Object 16"/>
          <p:cNvGraphicFramePr>
            <a:graphicFrameLocks noChangeAspect="1"/>
          </p:cNvGraphicFramePr>
          <p:nvPr/>
        </p:nvGraphicFramePr>
        <p:xfrm>
          <a:off x="2411413" y="5805488"/>
          <a:ext cx="2641600" cy="714375"/>
        </p:xfrm>
        <a:graphic>
          <a:graphicData uri="http://schemas.openxmlformats.org/presentationml/2006/ole">
            <mc:AlternateContent xmlns:mc="http://schemas.openxmlformats.org/markup-compatibility/2006">
              <mc:Choice xmlns:v="urn:schemas-microsoft-com:vml" Requires="v">
                <p:oleObj spid="_x0000_s387405" name="Equation" r:id="rId9" imgW="1688760" imgH="457200" progId="Equation.DSMT4">
                  <p:embed/>
                </p:oleObj>
              </mc:Choice>
              <mc:Fallback>
                <p:oleObj name="Equation" r:id="rId9" imgW="1688760" imgH="4572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5805488"/>
                        <a:ext cx="26416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801" name="Text Box 17"/>
          <p:cNvSpPr txBox="1">
            <a:spLocks noChangeArrowheads="1"/>
          </p:cNvSpPr>
          <p:nvPr/>
        </p:nvSpPr>
        <p:spPr bwMode="auto">
          <a:xfrm>
            <a:off x="684213" y="5373688"/>
            <a:ext cx="323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因此离散参数的矩估计为：</a:t>
            </a:r>
          </a:p>
        </p:txBody>
      </p:sp>
      <p:sp>
        <p:nvSpPr>
          <p:cNvPr id="118802" name="Text Box 18"/>
          <p:cNvSpPr txBox="1">
            <a:spLocks noChangeArrowheads="1"/>
          </p:cNvSpPr>
          <p:nvPr/>
        </p:nvSpPr>
        <p:spPr bwMode="auto">
          <a:xfrm>
            <a:off x="1979613" y="483235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a:t>即</a:t>
            </a:r>
          </a:p>
        </p:txBody>
      </p:sp>
    </p:spTree>
    <p:extLst>
      <p:ext uri="{BB962C8B-B14F-4D97-AF65-F5344CB8AC3E}">
        <p14:creationId xmlns:p14="http://schemas.microsoft.com/office/powerpoint/2010/main" val="3055796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Text Box 4"/>
          <p:cNvSpPr txBox="1">
            <a:spLocks noChangeArrowheads="1"/>
          </p:cNvSpPr>
          <p:nvPr/>
        </p:nvSpPr>
        <p:spPr bwMode="auto">
          <a:xfrm>
            <a:off x="441325" y="512763"/>
            <a:ext cx="52116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smtClean="0"/>
              <a:t>矩估计是离散参数 的近似</a:t>
            </a:r>
            <a:r>
              <a:rPr lang="zh-CN" altLang="en-US" b="1" dirty="0"/>
              <a:t>无偏估计：</a:t>
            </a:r>
          </a:p>
        </p:txBody>
      </p:sp>
      <p:graphicFrame>
        <p:nvGraphicFramePr>
          <p:cNvPr id="73734" name="Object 6"/>
          <p:cNvGraphicFramePr>
            <a:graphicFrameLocks noChangeAspect="1"/>
          </p:cNvGraphicFramePr>
          <p:nvPr>
            <p:extLst>
              <p:ext uri="{D42A27DB-BD31-4B8C-83A1-F6EECF244321}">
                <p14:modId xmlns:p14="http://schemas.microsoft.com/office/powerpoint/2010/main" val="3956284809"/>
              </p:ext>
            </p:extLst>
          </p:nvPr>
        </p:nvGraphicFramePr>
        <p:xfrm>
          <a:off x="4724400" y="1057274"/>
          <a:ext cx="1987550" cy="714375"/>
        </p:xfrm>
        <a:graphic>
          <a:graphicData uri="http://schemas.openxmlformats.org/presentationml/2006/ole">
            <mc:AlternateContent xmlns:mc="http://schemas.openxmlformats.org/markup-compatibility/2006">
              <mc:Choice xmlns:v="urn:schemas-microsoft-com:vml" Requires="v">
                <p:oleObj spid="_x0000_s388712" name="Equation" r:id="rId3" imgW="1269720" imgH="457200" progId="Equation.DSMT4">
                  <p:embed/>
                </p:oleObj>
              </mc:Choice>
              <mc:Fallback>
                <p:oleObj name="Equation" r:id="rId3" imgW="126972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057274"/>
                        <a:ext cx="19875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35" name="Object 7"/>
          <p:cNvGraphicFramePr>
            <a:graphicFrameLocks noChangeAspect="1"/>
          </p:cNvGraphicFramePr>
          <p:nvPr>
            <p:extLst>
              <p:ext uri="{D42A27DB-BD31-4B8C-83A1-F6EECF244321}">
                <p14:modId xmlns:p14="http://schemas.microsoft.com/office/powerpoint/2010/main" val="3115662220"/>
              </p:ext>
            </p:extLst>
          </p:nvPr>
        </p:nvGraphicFramePr>
        <p:xfrm>
          <a:off x="4734720" y="2218218"/>
          <a:ext cx="2265362" cy="714375"/>
        </p:xfrm>
        <a:graphic>
          <a:graphicData uri="http://schemas.openxmlformats.org/presentationml/2006/ole">
            <mc:AlternateContent xmlns:mc="http://schemas.openxmlformats.org/markup-compatibility/2006">
              <mc:Choice xmlns:v="urn:schemas-microsoft-com:vml" Requires="v">
                <p:oleObj spid="_x0000_s388713" name="Equation" r:id="rId5" imgW="1447560" imgH="457200" progId="Equation.DSMT4">
                  <p:embed/>
                </p:oleObj>
              </mc:Choice>
              <mc:Fallback>
                <p:oleObj name="Equation" r:id="rId5" imgW="144756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4720" y="2218218"/>
                        <a:ext cx="2265362"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40" name="Object 12"/>
          <p:cNvGraphicFramePr>
            <a:graphicFrameLocks noChangeAspect="1"/>
          </p:cNvGraphicFramePr>
          <p:nvPr>
            <p:extLst>
              <p:ext uri="{D42A27DB-BD31-4B8C-83A1-F6EECF244321}">
                <p14:modId xmlns:p14="http://schemas.microsoft.com/office/powerpoint/2010/main" val="3055354386"/>
              </p:ext>
            </p:extLst>
          </p:nvPr>
        </p:nvGraphicFramePr>
        <p:xfrm>
          <a:off x="4724400" y="3414712"/>
          <a:ext cx="3675063" cy="714375"/>
        </p:xfrm>
        <a:graphic>
          <a:graphicData uri="http://schemas.openxmlformats.org/presentationml/2006/ole">
            <mc:AlternateContent xmlns:mc="http://schemas.openxmlformats.org/markup-compatibility/2006">
              <mc:Choice xmlns:v="urn:schemas-microsoft-com:vml" Requires="v">
                <p:oleObj spid="_x0000_s388714" name="Equation" r:id="rId7" imgW="2349360" imgH="457200" progId="Equation.DSMT4">
                  <p:embed/>
                </p:oleObj>
              </mc:Choice>
              <mc:Fallback>
                <p:oleObj name="Equation" r:id="rId7" imgW="2349360" imgH="457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4400" y="3414712"/>
                        <a:ext cx="3675063"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41" name="Object 13"/>
          <p:cNvGraphicFramePr>
            <a:graphicFrameLocks noChangeAspect="1"/>
          </p:cNvGraphicFramePr>
          <p:nvPr>
            <p:extLst>
              <p:ext uri="{D42A27DB-BD31-4B8C-83A1-F6EECF244321}">
                <p14:modId xmlns:p14="http://schemas.microsoft.com/office/powerpoint/2010/main" val="637217927"/>
              </p:ext>
            </p:extLst>
          </p:nvPr>
        </p:nvGraphicFramePr>
        <p:xfrm>
          <a:off x="3505200" y="5821212"/>
          <a:ext cx="1927225" cy="654050"/>
        </p:xfrm>
        <a:graphic>
          <a:graphicData uri="http://schemas.openxmlformats.org/presentationml/2006/ole">
            <mc:AlternateContent xmlns:mc="http://schemas.openxmlformats.org/markup-compatibility/2006">
              <mc:Choice xmlns:v="urn:schemas-microsoft-com:vml" Requires="v">
                <p:oleObj spid="_x0000_s388715" name="Equation" r:id="rId9" imgW="1231560" imgH="419040" progId="Equation.DSMT4">
                  <p:embed/>
                </p:oleObj>
              </mc:Choice>
              <mc:Fallback>
                <p:oleObj name="Equation" r:id="rId9" imgW="1231560" imgH="41904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5821212"/>
                        <a:ext cx="192722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42" name="Text Box 14"/>
          <p:cNvSpPr txBox="1">
            <a:spLocks noChangeArrowheads="1"/>
          </p:cNvSpPr>
          <p:nvPr/>
        </p:nvSpPr>
        <p:spPr bwMode="auto">
          <a:xfrm>
            <a:off x="914400" y="1216025"/>
            <a:ext cx="327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t>Pearson</a:t>
            </a:r>
            <a:r>
              <a:rPr lang="zh-CN" altLang="en-US" sz="2000" dirty="0"/>
              <a:t>卡方统计量定义为：</a:t>
            </a:r>
          </a:p>
        </p:txBody>
      </p:sp>
      <p:sp>
        <p:nvSpPr>
          <p:cNvPr id="73743" name="Text Box 15"/>
          <p:cNvSpPr txBox="1">
            <a:spLocks noChangeArrowheads="1"/>
          </p:cNvSpPr>
          <p:nvPr/>
        </p:nvSpPr>
        <p:spPr bwMode="auto">
          <a:xfrm>
            <a:off x="876300" y="2375351"/>
            <a:ext cx="33041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尺度化</a:t>
            </a:r>
            <a:r>
              <a:rPr lang="en-US" altLang="zh-CN" sz="2000" dirty="0"/>
              <a:t>Pearson</a:t>
            </a:r>
            <a:r>
              <a:rPr lang="zh-CN" altLang="en-US" sz="2000" dirty="0"/>
              <a:t>卡方</a:t>
            </a:r>
            <a:r>
              <a:rPr lang="zh-CN" altLang="en-US" sz="2000" dirty="0" smtClean="0"/>
              <a:t>统计量：</a:t>
            </a:r>
            <a:endParaRPr lang="zh-CN" altLang="en-US" sz="2000" dirty="0"/>
          </a:p>
        </p:txBody>
      </p:sp>
      <p:sp>
        <p:nvSpPr>
          <p:cNvPr id="73746" name="Text Box 18"/>
          <p:cNvSpPr txBox="1">
            <a:spLocks noChangeArrowheads="1"/>
          </p:cNvSpPr>
          <p:nvPr/>
        </p:nvSpPr>
        <p:spPr bwMode="auto">
          <a:xfrm>
            <a:off x="873894" y="3573463"/>
            <a:ext cx="29418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那么   的矩</a:t>
            </a:r>
            <a:r>
              <a:rPr lang="zh-CN" altLang="en-US" sz="2000" dirty="0" smtClean="0"/>
              <a:t>估计可</a:t>
            </a:r>
            <a:r>
              <a:rPr lang="zh-CN" altLang="en-US" sz="2000" dirty="0"/>
              <a:t>化为：</a:t>
            </a:r>
          </a:p>
        </p:txBody>
      </p:sp>
      <p:graphicFrame>
        <p:nvGraphicFramePr>
          <p:cNvPr id="73747" name="Object 19"/>
          <p:cNvGraphicFramePr>
            <a:graphicFrameLocks noChangeAspect="1"/>
          </p:cNvGraphicFramePr>
          <p:nvPr>
            <p:extLst>
              <p:ext uri="{D42A27DB-BD31-4B8C-83A1-F6EECF244321}">
                <p14:modId xmlns:p14="http://schemas.microsoft.com/office/powerpoint/2010/main" val="2268878719"/>
              </p:ext>
            </p:extLst>
          </p:nvPr>
        </p:nvGraphicFramePr>
        <p:xfrm>
          <a:off x="1489284" y="3592513"/>
          <a:ext cx="198437" cy="377825"/>
        </p:xfrm>
        <a:graphic>
          <a:graphicData uri="http://schemas.openxmlformats.org/presentationml/2006/ole">
            <mc:AlternateContent xmlns:mc="http://schemas.openxmlformats.org/markup-compatibility/2006">
              <mc:Choice xmlns:v="urn:schemas-microsoft-com:vml" Requires="v">
                <p:oleObj spid="_x0000_s388716" name="Equation" r:id="rId11" imgW="126720" imgH="241200" progId="Equation.DSMT4">
                  <p:embed/>
                </p:oleObj>
              </mc:Choice>
              <mc:Fallback>
                <p:oleObj name="Equation" r:id="rId11" imgW="126720" imgH="2412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89284" y="3592513"/>
                        <a:ext cx="198437"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48" name="Text Box 20"/>
          <p:cNvSpPr txBox="1">
            <a:spLocks noChangeArrowheads="1"/>
          </p:cNvSpPr>
          <p:nvPr/>
        </p:nvSpPr>
        <p:spPr bwMode="auto">
          <a:xfrm>
            <a:off x="896353" y="54387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dirty="0"/>
              <a:t>所以</a:t>
            </a:r>
          </a:p>
        </p:txBody>
      </p:sp>
      <p:sp>
        <p:nvSpPr>
          <p:cNvPr id="73749" name="Text Box 21"/>
          <p:cNvSpPr txBox="1">
            <a:spLocks noChangeArrowheads="1"/>
          </p:cNvSpPr>
          <p:nvPr/>
        </p:nvSpPr>
        <p:spPr bwMode="auto">
          <a:xfrm>
            <a:off x="762001" y="4221163"/>
            <a:ext cx="794543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000" dirty="0"/>
              <a:t>由于尺度化</a:t>
            </a:r>
            <a:r>
              <a:rPr lang="en-US" altLang="zh-CN" sz="2000" dirty="0"/>
              <a:t>Pearson</a:t>
            </a:r>
            <a:r>
              <a:rPr lang="zh-CN" altLang="en-US" sz="2000" dirty="0"/>
              <a:t>卡方统计量近似服从自由度为            的卡方分布</a:t>
            </a:r>
          </a:p>
          <a:p>
            <a:pPr>
              <a:lnSpc>
                <a:spcPct val="150000"/>
              </a:lnSpc>
            </a:pPr>
            <a:r>
              <a:rPr lang="zh-CN" altLang="en-US" sz="2000" dirty="0"/>
              <a:t>故</a:t>
            </a:r>
          </a:p>
        </p:txBody>
      </p:sp>
      <p:graphicFrame>
        <p:nvGraphicFramePr>
          <p:cNvPr id="73750" name="Object 22"/>
          <p:cNvGraphicFramePr>
            <a:graphicFrameLocks noChangeAspect="1"/>
          </p:cNvGraphicFramePr>
          <p:nvPr>
            <p:extLst>
              <p:ext uri="{D42A27DB-BD31-4B8C-83A1-F6EECF244321}">
                <p14:modId xmlns:p14="http://schemas.microsoft.com/office/powerpoint/2010/main" val="4262910786"/>
              </p:ext>
            </p:extLst>
          </p:nvPr>
        </p:nvGraphicFramePr>
        <p:xfrm>
          <a:off x="1981200" y="4985269"/>
          <a:ext cx="4175125" cy="396875"/>
        </p:xfrm>
        <a:graphic>
          <a:graphicData uri="http://schemas.openxmlformats.org/presentationml/2006/ole">
            <mc:AlternateContent xmlns:mc="http://schemas.openxmlformats.org/markup-compatibility/2006">
              <mc:Choice xmlns:v="urn:schemas-microsoft-com:vml" Requires="v">
                <p:oleObj spid="_x0000_s388717" name="Equation" r:id="rId13" imgW="2666880" imgH="253800" progId="Equation.DSMT4">
                  <p:embed/>
                </p:oleObj>
              </mc:Choice>
              <mc:Fallback>
                <p:oleObj name="Equation" r:id="rId13" imgW="2666880" imgH="2538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81200" y="4985269"/>
                        <a:ext cx="4175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51" name="Object 23"/>
          <p:cNvGraphicFramePr>
            <a:graphicFrameLocks noChangeAspect="1"/>
          </p:cNvGraphicFramePr>
          <p:nvPr>
            <p:extLst>
              <p:ext uri="{D42A27DB-BD31-4B8C-83A1-F6EECF244321}">
                <p14:modId xmlns:p14="http://schemas.microsoft.com/office/powerpoint/2010/main" val="2946923753"/>
              </p:ext>
            </p:extLst>
          </p:nvPr>
        </p:nvGraphicFramePr>
        <p:xfrm>
          <a:off x="6172200" y="4343400"/>
          <a:ext cx="801687" cy="276225"/>
        </p:xfrm>
        <a:graphic>
          <a:graphicData uri="http://schemas.openxmlformats.org/presentationml/2006/ole">
            <mc:AlternateContent xmlns:mc="http://schemas.openxmlformats.org/markup-compatibility/2006">
              <mc:Choice xmlns:v="urn:schemas-microsoft-com:vml" Requires="v">
                <p:oleObj spid="_x0000_s388718" name="Equation" r:id="rId15" imgW="520560" imgH="177480" progId="Equation.DSMT4">
                  <p:embed/>
                </p:oleObj>
              </mc:Choice>
              <mc:Fallback>
                <p:oleObj name="Equation" r:id="rId15" imgW="520560" imgH="17748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72200" y="4343400"/>
                        <a:ext cx="801687"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03511895"/>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4"/>
          <p:cNvSpPr>
            <a:spLocks noChangeArrowheads="1"/>
          </p:cNvSpPr>
          <p:nvPr/>
        </p:nvSpPr>
        <p:spPr bwMode="auto">
          <a:xfrm>
            <a:off x="647701" y="1676400"/>
            <a:ext cx="81153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200000"/>
              </a:lnSpc>
              <a:buFontTx/>
              <a:buChar char="•"/>
            </a:pPr>
            <a:r>
              <a:rPr lang="zh-CN" altLang="en-US" dirty="0"/>
              <a:t>   估计离散参数时最好使用未经汇总的数据</a:t>
            </a:r>
            <a:r>
              <a:rPr lang="zh-CN" altLang="en-US" dirty="0" smtClean="0"/>
              <a:t>。</a:t>
            </a:r>
            <a:endParaRPr lang="en-US" altLang="zh-CN" dirty="0" smtClean="0"/>
          </a:p>
          <a:p>
            <a:pPr>
              <a:lnSpc>
                <a:spcPct val="200000"/>
              </a:lnSpc>
              <a:buFontTx/>
              <a:buChar char="•"/>
            </a:pPr>
            <a:r>
              <a:rPr lang="en-US" altLang="zh-CN" dirty="0"/>
              <a:t> </a:t>
            </a:r>
            <a:r>
              <a:rPr lang="en-US" altLang="zh-CN" dirty="0" smtClean="0"/>
              <a:t>  </a:t>
            </a:r>
            <a:r>
              <a:rPr lang="zh-CN" altLang="en-US" dirty="0" smtClean="0"/>
              <a:t>数据</a:t>
            </a:r>
            <a:r>
              <a:rPr lang="zh-CN" altLang="en-US" dirty="0"/>
              <a:t>汇总后，会减少观测值</a:t>
            </a:r>
            <a:r>
              <a:rPr lang="zh-CN" altLang="en-US" dirty="0" smtClean="0"/>
              <a:t>个数 </a:t>
            </a:r>
            <a:r>
              <a:rPr lang="en-US" altLang="zh-CN" i="1" dirty="0" smtClean="0"/>
              <a:t>n</a:t>
            </a:r>
            <a:r>
              <a:rPr lang="zh-CN" altLang="en-US" dirty="0" smtClean="0"/>
              <a:t>，</a:t>
            </a:r>
            <a:r>
              <a:rPr lang="zh-CN" altLang="en-US" dirty="0"/>
              <a:t>从而影响离散估计值的稳定性。</a:t>
            </a:r>
          </a:p>
          <a:p>
            <a:pPr>
              <a:lnSpc>
                <a:spcPct val="200000"/>
              </a:lnSpc>
              <a:buFontTx/>
              <a:buChar char="•"/>
            </a:pPr>
            <a:r>
              <a:rPr lang="zh-CN" altLang="en-US" dirty="0"/>
              <a:t>  </a:t>
            </a:r>
            <a:r>
              <a:rPr lang="zh-CN" altLang="en-US" dirty="0" smtClean="0"/>
              <a:t>数据</a:t>
            </a:r>
            <a:r>
              <a:rPr lang="zh-CN" altLang="en-US" dirty="0"/>
              <a:t>汇总不会对</a:t>
            </a:r>
            <a:r>
              <a:rPr lang="zh-CN" altLang="en-US" b="1" dirty="0"/>
              <a:t>回归参数</a:t>
            </a:r>
            <a:r>
              <a:rPr lang="zh-CN" altLang="en-US" dirty="0"/>
              <a:t>的估计值产生影响。</a:t>
            </a:r>
          </a:p>
        </p:txBody>
      </p:sp>
    </p:spTree>
    <p:extLst>
      <p:ext uri="{BB962C8B-B14F-4D97-AF65-F5344CB8AC3E}">
        <p14:creationId xmlns:p14="http://schemas.microsoft.com/office/powerpoint/2010/main" val="114556564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323850" y="549275"/>
            <a:ext cx="7920038" cy="503238"/>
          </a:xfrm>
        </p:spPr>
        <p:txBody>
          <a:bodyPr/>
          <a:lstStyle/>
          <a:p>
            <a:r>
              <a:rPr lang="zh-CN" altLang="en-US" sz="3200" dirty="0" smtClean="0">
                <a:latin typeface="Times New Roman" panose="02020603050405020304" pitchFamily="18" charset="0"/>
              </a:rPr>
              <a:t>参数估计值的标准误</a:t>
            </a:r>
            <a:endParaRPr lang="zh-CN" altLang="en-US" sz="3200" dirty="0" smtClean="0"/>
          </a:p>
        </p:txBody>
      </p:sp>
      <p:sp>
        <p:nvSpPr>
          <p:cNvPr id="120843" name="Rectangle 11"/>
          <p:cNvSpPr>
            <a:spLocks noChangeArrowheads="1"/>
          </p:cNvSpPr>
          <p:nvPr/>
        </p:nvSpPr>
        <p:spPr bwMode="auto">
          <a:xfrm>
            <a:off x="395288" y="1052513"/>
            <a:ext cx="7632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000"/>
              <a:t>        在</a:t>
            </a:r>
            <a:r>
              <a:rPr lang="en-US" altLang="zh-CN" sz="2000"/>
              <a:t>Newton</a:t>
            </a:r>
            <a:r>
              <a:rPr lang="zh-CN" altLang="en-US" sz="2000"/>
              <a:t>迭代中，迭代公式中使用了</a:t>
            </a:r>
            <a:r>
              <a:rPr lang="en-US" altLang="zh-CN" sz="2000"/>
              <a:t>Hessian</a:t>
            </a:r>
            <a:r>
              <a:rPr lang="zh-CN" altLang="en-US" sz="2000"/>
              <a:t>矩阵，所以参数估计值的协方差矩阵可以表示为：</a:t>
            </a:r>
          </a:p>
        </p:txBody>
      </p:sp>
      <p:graphicFrame>
        <p:nvGraphicFramePr>
          <p:cNvPr id="120844" name="Object 12"/>
          <p:cNvGraphicFramePr>
            <a:graphicFrameLocks noChangeAspect="1"/>
          </p:cNvGraphicFramePr>
          <p:nvPr/>
        </p:nvGraphicFramePr>
        <p:xfrm>
          <a:off x="2843213" y="2060575"/>
          <a:ext cx="1584325" cy="519113"/>
        </p:xfrm>
        <a:graphic>
          <a:graphicData uri="http://schemas.openxmlformats.org/presentationml/2006/ole">
            <mc:AlternateContent xmlns:mc="http://schemas.openxmlformats.org/markup-compatibility/2006">
              <mc:Choice xmlns:v="urn:schemas-microsoft-com:vml" Requires="v">
                <p:oleObj spid="_x0000_s390470" name="Equation" r:id="rId3" imgW="863280" imgH="279360" progId="Equation.DSMT4">
                  <p:embed/>
                </p:oleObj>
              </mc:Choice>
              <mc:Fallback>
                <p:oleObj name="Equation" r:id="rId3" imgW="863280" imgH="2793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060575"/>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845" name="Rectangle 13"/>
          <p:cNvSpPr>
            <a:spLocks noChangeArrowheads="1"/>
          </p:cNvSpPr>
          <p:nvPr/>
        </p:nvSpPr>
        <p:spPr bwMode="auto">
          <a:xfrm>
            <a:off x="468313" y="2478088"/>
            <a:ext cx="7345362"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200000"/>
              </a:lnSpc>
            </a:pPr>
            <a:r>
              <a:rPr lang="zh-CN" altLang="en-US" sz="2000"/>
              <a:t>参数估计值的方差：协方差矩阵对角线元素</a:t>
            </a:r>
          </a:p>
          <a:p>
            <a:pPr>
              <a:lnSpc>
                <a:spcPct val="200000"/>
              </a:lnSpc>
            </a:pPr>
            <a:r>
              <a:rPr lang="zh-CN" altLang="en-US" sz="2000"/>
              <a:t>参数估计值的标准误：</a:t>
            </a:r>
            <a:endParaRPr lang="en-US" altLang="zh-CN" sz="2000"/>
          </a:p>
        </p:txBody>
      </p:sp>
      <p:sp>
        <p:nvSpPr>
          <p:cNvPr id="120846" name="Rectangle 14"/>
          <p:cNvSpPr>
            <a:spLocks noChangeArrowheads="1"/>
          </p:cNvSpPr>
          <p:nvPr/>
        </p:nvSpPr>
        <p:spPr bwMode="auto">
          <a:xfrm>
            <a:off x="468313" y="4125913"/>
            <a:ext cx="7488237"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2000" dirty="0"/>
              <a:t>        在迭代加权最小二乘法中，用期望</a:t>
            </a:r>
            <a:r>
              <a:rPr lang="en-US" altLang="zh-CN" sz="2000" dirty="0"/>
              <a:t>Hessian</a:t>
            </a:r>
            <a:r>
              <a:rPr lang="zh-CN" altLang="en-US" sz="2000" dirty="0"/>
              <a:t>矩阵代替</a:t>
            </a:r>
            <a:r>
              <a:rPr lang="en-US" altLang="zh-CN" sz="2000" dirty="0"/>
              <a:t>Hessian</a:t>
            </a:r>
            <a:r>
              <a:rPr lang="zh-CN" altLang="en-US" sz="2000" dirty="0"/>
              <a:t>矩阵，所以参数估计值的协方差矩阵可以基于信息矩阵进行计算。即等于信息矩阵的逆矩阵：</a:t>
            </a:r>
          </a:p>
        </p:txBody>
      </p:sp>
      <p:graphicFrame>
        <p:nvGraphicFramePr>
          <p:cNvPr id="120847" name="Object 15"/>
          <p:cNvGraphicFramePr>
            <a:graphicFrameLocks noChangeAspect="1"/>
          </p:cNvGraphicFramePr>
          <p:nvPr>
            <p:extLst>
              <p:ext uri="{D42A27DB-BD31-4B8C-83A1-F6EECF244321}">
                <p14:modId xmlns:p14="http://schemas.microsoft.com/office/powerpoint/2010/main" val="4242040736"/>
              </p:ext>
            </p:extLst>
          </p:nvPr>
        </p:nvGraphicFramePr>
        <p:xfrm>
          <a:off x="5487987" y="2698750"/>
          <a:ext cx="1979613" cy="425450"/>
        </p:xfrm>
        <a:graphic>
          <a:graphicData uri="http://schemas.openxmlformats.org/presentationml/2006/ole">
            <mc:AlternateContent xmlns:mc="http://schemas.openxmlformats.org/markup-compatibility/2006">
              <mc:Choice xmlns:v="urn:schemas-microsoft-com:vml" Requires="v">
                <p:oleObj spid="_x0000_s390471" name="Equation" r:id="rId5" imgW="1079280" imgH="228600" progId="Equation.DSMT4">
                  <p:embed/>
                </p:oleObj>
              </mc:Choice>
              <mc:Fallback>
                <p:oleObj name="Equation" r:id="rId5" imgW="107928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7987" y="2698750"/>
                        <a:ext cx="197961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48" name="Object 16"/>
          <p:cNvGraphicFramePr>
            <a:graphicFrameLocks noChangeAspect="1"/>
          </p:cNvGraphicFramePr>
          <p:nvPr>
            <p:extLst>
              <p:ext uri="{D42A27DB-BD31-4B8C-83A1-F6EECF244321}">
                <p14:modId xmlns:p14="http://schemas.microsoft.com/office/powerpoint/2010/main" val="3530875090"/>
              </p:ext>
            </p:extLst>
          </p:nvPr>
        </p:nvGraphicFramePr>
        <p:xfrm>
          <a:off x="2987675" y="3276600"/>
          <a:ext cx="1982788" cy="465137"/>
        </p:xfrm>
        <a:graphic>
          <a:graphicData uri="http://schemas.openxmlformats.org/presentationml/2006/ole">
            <mc:AlternateContent xmlns:mc="http://schemas.openxmlformats.org/markup-compatibility/2006">
              <mc:Choice xmlns:v="urn:schemas-microsoft-com:vml" Requires="v">
                <p:oleObj spid="_x0000_s390472" name="Equation" r:id="rId7" imgW="1155600" imgH="266400" progId="Equation.DSMT4">
                  <p:embed/>
                </p:oleObj>
              </mc:Choice>
              <mc:Fallback>
                <p:oleObj name="Equation" r:id="rId7" imgW="1155600" imgH="2664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675" y="3276600"/>
                        <a:ext cx="198278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849" name="Object 17"/>
          <p:cNvGraphicFramePr>
            <a:graphicFrameLocks noChangeAspect="1"/>
          </p:cNvGraphicFramePr>
          <p:nvPr>
            <p:extLst>
              <p:ext uri="{D42A27DB-BD31-4B8C-83A1-F6EECF244321}">
                <p14:modId xmlns:p14="http://schemas.microsoft.com/office/powerpoint/2010/main" val="2852394306"/>
              </p:ext>
            </p:extLst>
          </p:nvPr>
        </p:nvGraphicFramePr>
        <p:xfrm>
          <a:off x="3081338" y="5661025"/>
          <a:ext cx="1350962" cy="519113"/>
        </p:xfrm>
        <a:graphic>
          <a:graphicData uri="http://schemas.openxmlformats.org/presentationml/2006/ole">
            <mc:AlternateContent xmlns:mc="http://schemas.openxmlformats.org/markup-compatibility/2006">
              <mc:Choice xmlns:v="urn:schemas-microsoft-com:vml" Requires="v">
                <p:oleObj spid="_x0000_s390473" name="Equation" r:id="rId9" imgW="736560" imgH="279360" progId="Equation.DSMT4">
                  <p:embed/>
                </p:oleObj>
              </mc:Choice>
              <mc:Fallback>
                <p:oleObj name="Equation" r:id="rId9" imgW="736560" imgH="279360" progId="Equation.DSMT4">
                  <p:embed/>
                  <p:pic>
                    <p:nvPicPr>
                      <p:cNvPr id="0" name=""/>
                      <p:cNvPicPr>
                        <a:picLocks noChangeAspect="1" noChangeArrowheads="1"/>
                      </p:cNvPicPr>
                      <p:nvPr/>
                    </p:nvPicPr>
                    <p:blipFill>
                      <a:blip r:embed="rId10"/>
                      <a:srcRect/>
                      <a:stretch>
                        <a:fillRect/>
                      </a:stretch>
                    </p:blipFill>
                    <p:spPr bwMode="auto">
                      <a:xfrm>
                        <a:off x="3081338" y="5661025"/>
                        <a:ext cx="13509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0676157"/>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偏差</a:t>
            </a:r>
            <a:endParaRPr lang="zh-CN" altLang="en-US" dirty="0"/>
          </a:p>
        </p:txBody>
      </p:sp>
      <p:sp>
        <p:nvSpPr>
          <p:cNvPr id="3" name="内容占位符 2"/>
          <p:cNvSpPr>
            <a:spLocks noGrp="1"/>
          </p:cNvSpPr>
          <p:nvPr>
            <p:ph idx="1"/>
          </p:nvPr>
        </p:nvSpPr>
        <p:spPr>
          <a:xfrm>
            <a:off x="762000" y="1719263"/>
            <a:ext cx="8229600" cy="4411662"/>
          </a:xfrm>
        </p:spPr>
        <p:txBody>
          <a:bodyPr/>
          <a:lstStyle/>
          <a:p>
            <a:pPr>
              <a:lnSpc>
                <a:spcPct val="200000"/>
              </a:lnSpc>
            </a:pPr>
            <a:r>
              <a:rPr lang="zh-CN" altLang="en-US" dirty="0" smtClean="0">
                <a:latin typeface="Times New Roman" panose="02020603050405020304" pitchFamily="18" charset="0"/>
                <a:cs typeface="Times New Roman" panose="02020603050405020304" pitchFamily="18" charset="0"/>
              </a:rPr>
              <a:t>两种偏差概念：</a:t>
            </a:r>
            <a:endParaRPr lang="en-US" altLang="zh-CN" dirty="0" smtClean="0">
              <a:latin typeface="Times New Roman" panose="02020603050405020304" pitchFamily="18" charset="0"/>
              <a:cs typeface="Times New Roman" panose="02020603050405020304" pitchFamily="18" charset="0"/>
            </a:endParaRPr>
          </a:p>
          <a:p>
            <a:pPr lvl="1">
              <a:lnSpc>
                <a:spcPct val="200000"/>
              </a:lnSpc>
            </a:pPr>
            <a:r>
              <a:rPr lang="zh-CN" altLang="pl-PL" dirty="0" smtClean="0">
                <a:latin typeface="Times New Roman" panose="02020603050405020304" pitchFamily="18" charset="0"/>
                <a:cs typeface="Times New Roman" panose="02020603050405020304" pitchFamily="18" charset="0"/>
              </a:rPr>
              <a:t>尺度</a:t>
            </a:r>
            <a:r>
              <a:rPr lang="zh-CN" altLang="pl-PL" dirty="0">
                <a:latin typeface="Times New Roman" panose="02020603050405020304" pitchFamily="18" charset="0"/>
                <a:cs typeface="Times New Roman" panose="02020603050405020304" pitchFamily="18" charset="0"/>
              </a:rPr>
              <a:t>化</a:t>
            </a:r>
            <a:r>
              <a:rPr lang="zh-CN" altLang="pl-PL" dirty="0" smtClean="0">
                <a:latin typeface="Times New Roman" panose="02020603050405020304" pitchFamily="18" charset="0"/>
                <a:cs typeface="Times New Roman" panose="02020603050405020304" pitchFamily="18" charset="0"/>
              </a:rPr>
              <a:t>偏差</a:t>
            </a:r>
            <a:r>
              <a:rPr lang="zh-CN" altLang="en-US"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D</a:t>
            </a:r>
            <a:r>
              <a:rPr lang="en-US" altLang="zh-CN" dirty="0" smtClean="0">
                <a:latin typeface="Times New Roman" panose="02020603050405020304" pitchFamily="18" charset="0"/>
                <a:cs typeface="Times New Roman" panose="02020603050405020304" pitchFamily="18" charset="0"/>
              </a:rPr>
              <a:t>*</a:t>
            </a:r>
          </a:p>
          <a:p>
            <a:pPr lvl="1">
              <a:lnSpc>
                <a:spcPct val="200000"/>
              </a:lnSpc>
            </a:pPr>
            <a:r>
              <a:rPr lang="zh-CN" altLang="en-US" dirty="0" smtClean="0">
                <a:latin typeface="Times New Roman" panose="02020603050405020304" pitchFamily="18" charset="0"/>
                <a:cs typeface="Times New Roman" panose="02020603050405020304" pitchFamily="18" charset="0"/>
              </a:rPr>
              <a:t>残差偏差： </a:t>
            </a:r>
            <a:r>
              <a:rPr lang="en-US" altLang="zh-CN" i="1" dirty="0" smtClean="0">
                <a:latin typeface="Times New Roman" panose="02020603050405020304" pitchFamily="18" charset="0"/>
                <a:cs typeface="Times New Roman" panose="02020603050405020304" pitchFamily="18" charset="0"/>
              </a:rPr>
              <a:t>D</a:t>
            </a:r>
          </a:p>
          <a:p>
            <a:pPr>
              <a:lnSpc>
                <a:spcPct val="200000"/>
              </a:lnSpc>
            </a:pPr>
            <a:r>
              <a:rPr lang="zh-CN" altLang="en-US" dirty="0" smtClean="0">
                <a:latin typeface="Times New Roman" panose="02020603050405020304" pitchFamily="18" charset="0"/>
                <a:cs typeface="Times New Roman" panose="02020603050405020304" pitchFamily="18" charset="0"/>
              </a:rPr>
              <a:t>两者的关系：</a:t>
            </a:r>
            <a:endParaRPr lang="en-US" altLang="zh-CN" dirty="0" smtClean="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a:xfrm>
            <a:off x="6858000" y="6248400"/>
            <a:ext cx="2133600" cy="457200"/>
          </a:xfrm>
        </p:spPr>
        <p:txBody>
          <a:bodyPr/>
          <a:lstStyle/>
          <a:p>
            <a:pPr>
              <a:defRPr/>
            </a:pPr>
            <a:fld id="{BCA0709D-4CC0-4FBA-A89A-99BF3E30A50B}" type="slidenum">
              <a:rPr lang="en-US" altLang="zh-CN" smtClean="0">
                <a:solidFill>
                  <a:srgbClr val="000000"/>
                </a:solidFill>
              </a:rPr>
              <a:pPr>
                <a:defRPr/>
              </a:pPr>
              <a:t>120</a:t>
            </a:fld>
            <a:endParaRPr lang="en-US" altLang="zh-CN">
              <a:solidFill>
                <a:srgbClr val="000000"/>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514976379"/>
              </p:ext>
            </p:extLst>
          </p:nvPr>
        </p:nvGraphicFramePr>
        <p:xfrm>
          <a:off x="3124200" y="4724400"/>
          <a:ext cx="1152128" cy="419224"/>
        </p:xfrm>
        <a:graphic>
          <a:graphicData uri="http://schemas.openxmlformats.org/presentationml/2006/ole">
            <mc:AlternateContent xmlns:mc="http://schemas.openxmlformats.org/markup-compatibility/2006">
              <mc:Choice xmlns:v="urn:schemas-microsoft-com:vml" Requires="v">
                <p:oleObj spid="_x0000_s346229" name="Equation" r:id="rId3" imgW="596880" imgH="203040" progId="Equation.DSMT4">
                  <p:embed/>
                </p:oleObj>
              </mc:Choice>
              <mc:Fallback>
                <p:oleObj name="Equation" r:id="rId3" imgW="596880" imgH="203040" progId="Equation.DSMT4">
                  <p:embed/>
                  <p:pic>
                    <p:nvPicPr>
                      <p:cNvPr id="0" name=""/>
                      <p:cNvPicPr/>
                      <p:nvPr/>
                    </p:nvPicPr>
                    <p:blipFill>
                      <a:blip r:embed="rId4"/>
                      <a:stretch>
                        <a:fillRect/>
                      </a:stretch>
                    </p:blipFill>
                    <p:spPr>
                      <a:xfrm>
                        <a:off x="3124200" y="4724400"/>
                        <a:ext cx="1152128" cy="419224"/>
                      </a:xfrm>
                      <a:prstGeom prst="rect">
                        <a:avLst/>
                      </a:prstGeom>
                    </p:spPr>
                  </p:pic>
                </p:oleObj>
              </mc:Fallback>
            </mc:AlternateContent>
          </a:graphicData>
        </a:graphic>
      </p:graphicFrame>
    </p:spTree>
    <p:extLst>
      <p:ext uri="{BB962C8B-B14F-4D97-AF65-F5344CB8AC3E}">
        <p14:creationId xmlns:p14="http://schemas.microsoft.com/office/powerpoint/2010/main" val="105623660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尺度化偏差</a:t>
            </a:r>
            <a:endParaRPr lang="zh-CN" altLang="en-US" dirty="0"/>
          </a:p>
        </p:txBody>
      </p:sp>
      <p:sp>
        <p:nvSpPr>
          <p:cNvPr id="3" name="内容占位符 2"/>
          <p:cNvSpPr>
            <a:spLocks noGrp="1"/>
          </p:cNvSpPr>
          <p:nvPr>
            <p:ph idx="1"/>
          </p:nvPr>
        </p:nvSpPr>
        <p:spPr>
          <a:xfrm>
            <a:off x="457200" y="1752600"/>
            <a:ext cx="8229600" cy="4411662"/>
          </a:xfrm>
        </p:spPr>
        <p:txBody>
          <a:bodyPr/>
          <a:lstStyle/>
          <a:p>
            <a:pPr>
              <a:lnSpc>
                <a:spcPct val="200000"/>
              </a:lnSpc>
            </a:pPr>
            <a:r>
              <a:rPr lang="en-US" altLang="zh-CN" dirty="0" err="1" smtClean="0"/>
              <a:t>GLM</a:t>
            </a:r>
            <a:r>
              <a:rPr lang="zh-CN" altLang="en-US" dirty="0" smtClean="0"/>
              <a:t>的尺度化偏差：</a:t>
            </a:r>
            <a:endParaRPr lang="en-US" altLang="zh-CN" dirty="0" smtClean="0"/>
          </a:p>
          <a:p>
            <a:pPr>
              <a:lnSpc>
                <a:spcPct val="200000"/>
              </a:lnSpc>
            </a:pPr>
            <a:endParaRPr lang="en-US" altLang="zh-CN" dirty="0"/>
          </a:p>
          <a:p>
            <a:pPr>
              <a:lnSpc>
                <a:spcPct val="200000"/>
              </a:lnSpc>
            </a:pPr>
            <a:r>
              <a:rPr lang="en-US" altLang="zh-CN" dirty="0" smtClean="0"/>
              <a:t>             </a:t>
            </a:r>
            <a:r>
              <a:rPr lang="zh-CN" altLang="en-US" dirty="0" smtClean="0"/>
              <a:t>表示饱和模型的对数似然函数，       是当前模型的对数似然函数。</a:t>
            </a:r>
            <a:endParaRPr lang="en-US" altLang="zh-CN" dirty="0" smtClean="0"/>
          </a:p>
          <a:p>
            <a:pPr>
              <a:lnSpc>
                <a:spcPct val="200000"/>
              </a:lnSpc>
            </a:pPr>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121</a:t>
            </a:fld>
            <a:endParaRPr lang="en-US" altLang="zh-CN">
              <a:solidFill>
                <a:srgbClr val="00000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3839939"/>
              </p:ext>
            </p:extLst>
          </p:nvPr>
        </p:nvGraphicFramePr>
        <p:xfrm>
          <a:off x="2514600" y="2819400"/>
          <a:ext cx="3059112" cy="639762"/>
        </p:xfrm>
        <a:graphic>
          <a:graphicData uri="http://schemas.openxmlformats.org/presentationml/2006/ole">
            <mc:AlternateContent xmlns:mc="http://schemas.openxmlformats.org/markup-compatibility/2006">
              <mc:Choice xmlns:v="urn:schemas-microsoft-com:vml" Requires="v">
                <p:oleObj spid="_x0000_s356710" name="Equation" r:id="rId3" imgW="1460160" imgH="304560" progId="Equation.DSMT4">
                  <p:embed/>
                </p:oleObj>
              </mc:Choice>
              <mc:Fallback>
                <p:oleObj name="Equation" r:id="rId3" imgW="1460160" imgH="304560" progId="Equation.DSMT4">
                  <p:embed/>
                  <p:pic>
                    <p:nvPicPr>
                      <p:cNvPr id="0" name=""/>
                      <p:cNvPicPr/>
                      <p:nvPr/>
                    </p:nvPicPr>
                    <p:blipFill>
                      <a:blip r:embed="rId4"/>
                      <a:stretch>
                        <a:fillRect/>
                      </a:stretch>
                    </p:blipFill>
                    <p:spPr>
                      <a:xfrm>
                        <a:off x="2514600" y="2819400"/>
                        <a:ext cx="3059112" cy="639762"/>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801263759"/>
              </p:ext>
            </p:extLst>
          </p:nvPr>
        </p:nvGraphicFramePr>
        <p:xfrm>
          <a:off x="914400" y="3733800"/>
          <a:ext cx="1011237" cy="533400"/>
        </p:xfrm>
        <a:graphic>
          <a:graphicData uri="http://schemas.openxmlformats.org/presentationml/2006/ole">
            <mc:AlternateContent xmlns:mc="http://schemas.openxmlformats.org/markup-compatibility/2006">
              <mc:Choice xmlns:v="urn:schemas-microsoft-com:vml" Requires="v">
                <p:oleObj spid="_x0000_s356711" name="Equation" r:id="rId5" imgW="482400" imgH="253800" progId="Equation.DSMT4">
                  <p:embed/>
                </p:oleObj>
              </mc:Choice>
              <mc:Fallback>
                <p:oleObj name="Equation" r:id="rId5" imgW="482400" imgH="253800" progId="Equation.DSMT4">
                  <p:embed/>
                  <p:pic>
                    <p:nvPicPr>
                      <p:cNvPr id="0" name=""/>
                      <p:cNvPicPr/>
                      <p:nvPr/>
                    </p:nvPicPr>
                    <p:blipFill>
                      <a:blip r:embed="rId6"/>
                      <a:stretch>
                        <a:fillRect/>
                      </a:stretch>
                    </p:blipFill>
                    <p:spPr>
                      <a:xfrm>
                        <a:off x="914400" y="3733800"/>
                        <a:ext cx="1011237" cy="5334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813717013"/>
              </p:ext>
            </p:extLst>
          </p:nvPr>
        </p:nvGraphicFramePr>
        <p:xfrm>
          <a:off x="6248400" y="3733800"/>
          <a:ext cx="690563" cy="506413"/>
        </p:xfrm>
        <a:graphic>
          <a:graphicData uri="http://schemas.openxmlformats.org/presentationml/2006/ole">
            <mc:AlternateContent xmlns:mc="http://schemas.openxmlformats.org/markup-compatibility/2006">
              <mc:Choice xmlns:v="urn:schemas-microsoft-com:vml" Requires="v">
                <p:oleObj spid="_x0000_s356712" name="Equation" r:id="rId7" imgW="330120" imgH="241200" progId="Equation.DSMT4">
                  <p:embed/>
                </p:oleObj>
              </mc:Choice>
              <mc:Fallback>
                <p:oleObj name="Equation" r:id="rId7" imgW="330120" imgH="241200" progId="Equation.DSMT4">
                  <p:embed/>
                  <p:pic>
                    <p:nvPicPr>
                      <p:cNvPr id="0" name=""/>
                      <p:cNvPicPr/>
                      <p:nvPr/>
                    </p:nvPicPr>
                    <p:blipFill>
                      <a:blip r:embed="rId8"/>
                      <a:stretch>
                        <a:fillRect/>
                      </a:stretch>
                    </p:blipFill>
                    <p:spPr>
                      <a:xfrm>
                        <a:off x="6248400" y="3733800"/>
                        <a:ext cx="690563" cy="506413"/>
                      </a:xfrm>
                      <a:prstGeom prst="rect">
                        <a:avLst/>
                      </a:prstGeom>
                    </p:spPr>
                  </p:pic>
                </p:oleObj>
              </mc:Fallback>
            </mc:AlternateContent>
          </a:graphicData>
        </a:graphic>
      </p:graphicFrame>
    </p:spTree>
    <p:extLst>
      <p:ext uri="{BB962C8B-B14F-4D97-AF65-F5344CB8AC3E}">
        <p14:creationId xmlns:p14="http://schemas.microsoft.com/office/powerpoint/2010/main" val="217961252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3000"/>
            <a:ext cx="8229600" cy="4411662"/>
          </a:xfrm>
        </p:spPr>
        <p:txBody>
          <a:bodyPr/>
          <a:lstStyle/>
          <a:p>
            <a:r>
              <a:rPr lang="zh-CN" altLang="en-US" dirty="0" smtClean="0">
                <a:latin typeface="Times New Roman" panose="02020603050405020304" pitchFamily="18" charset="0"/>
                <a:cs typeface="Times New Roman" panose="02020603050405020304" pitchFamily="18" charset="0"/>
              </a:rPr>
              <a:t>尺度</a:t>
            </a:r>
            <a:r>
              <a:rPr lang="zh-CN" altLang="en-US" dirty="0">
                <a:latin typeface="Times New Roman" panose="02020603050405020304" pitchFamily="18" charset="0"/>
                <a:cs typeface="Times New Roman" panose="02020603050405020304" pitchFamily="18" charset="0"/>
              </a:rPr>
              <a:t>化偏差可以变形</a:t>
            </a:r>
            <a:r>
              <a:rPr lang="zh-CN" altLang="en-US" dirty="0" smtClean="0">
                <a:latin typeface="Times New Roman" panose="02020603050405020304" pitchFamily="18" charset="0"/>
                <a:cs typeface="Times New Roman" panose="02020603050405020304" pitchFamily="18" charset="0"/>
              </a:rPr>
              <a:t>为：</a:t>
            </a:r>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第一项近似服从自由度为 </a:t>
            </a:r>
            <a:r>
              <a:rPr lang="en-US" altLang="zh-CN" i="1" dirty="0" smtClean="0">
                <a:latin typeface="Times New Roman" panose="02020603050405020304" pitchFamily="18" charset="0"/>
                <a:cs typeface="Times New Roman" panose="02020603050405020304" pitchFamily="18" charset="0"/>
              </a:rPr>
              <a:t>n</a:t>
            </a:r>
            <a:r>
              <a:rPr lang="en-US" altLang="zh-CN"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的卡方分布；</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第二项近似服从自由度为 </a:t>
            </a:r>
            <a:r>
              <a:rPr lang="en-US" altLang="zh-CN" i="1" dirty="0" smtClean="0">
                <a:latin typeface="Times New Roman" panose="02020603050405020304" pitchFamily="18" charset="0"/>
                <a:cs typeface="Times New Roman" panose="02020603050405020304" pitchFamily="18" charset="0"/>
              </a:rPr>
              <a:t>k </a:t>
            </a:r>
            <a:r>
              <a:rPr lang="en-US" altLang="zh-CN" dirty="0" smtClean="0">
                <a:latin typeface="Times New Roman" panose="02020603050405020304" pitchFamily="18" charset="0"/>
                <a:cs typeface="Times New Roman" panose="02020603050405020304" pitchFamily="18" charset="0"/>
              </a:rPr>
              <a:t>+ 1</a:t>
            </a:r>
            <a:r>
              <a:rPr lang="zh-CN" altLang="en-US" dirty="0" smtClean="0">
                <a:latin typeface="Times New Roman" panose="02020603050405020304" pitchFamily="18" charset="0"/>
                <a:cs typeface="Times New Roman" panose="02020603050405020304" pitchFamily="18" charset="0"/>
              </a:rPr>
              <a:t>的卡方分布；</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如果当前模型拟合的很好，第三项应该接近</a:t>
            </a:r>
            <a:r>
              <a:rPr lang="en-US" altLang="zh-CN" dirty="0" smtClean="0">
                <a:latin typeface="Times New Roman" panose="02020603050405020304" pitchFamily="18" charset="0"/>
                <a:cs typeface="Times New Roman" panose="02020603050405020304" pitchFamily="18" charset="0"/>
              </a:rPr>
              <a:t>0</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所以，如果当前模型拟合很好，尺度化偏差就应该近似服从自由度为</a:t>
            </a:r>
            <a:r>
              <a:rPr lang="en-US" altLang="zh-CN" i="1" dirty="0" smtClean="0">
                <a:latin typeface="Times New Roman" panose="02020603050405020304" pitchFamily="18" charset="0"/>
                <a:cs typeface="Times New Roman" panose="02020603050405020304" pitchFamily="18" charset="0"/>
              </a:rPr>
              <a:t>n – </a:t>
            </a:r>
            <a:r>
              <a:rPr lang="en-US" altLang="zh-CN" i="1" dirty="0">
                <a:latin typeface="Times New Roman" panose="02020603050405020304" pitchFamily="18" charset="0"/>
                <a:cs typeface="Times New Roman" panose="02020603050405020304" pitchFamily="18" charset="0"/>
              </a:rPr>
              <a:t>k –</a:t>
            </a:r>
            <a:r>
              <a:rPr lang="en-US" altLang="zh-CN" dirty="0" smtClean="0">
                <a:latin typeface="Times New Roman" panose="02020603050405020304" pitchFamily="18" charset="0"/>
                <a:cs typeface="Times New Roman" panose="02020603050405020304" pitchFamily="18" charset="0"/>
              </a:rPr>
              <a:t> 1</a:t>
            </a:r>
            <a:r>
              <a:rPr lang="zh-CN" altLang="en-US" dirty="0" smtClean="0">
                <a:latin typeface="Times New Roman" panose="02020603050405020304" pitchFamily="18" charset="0"/>
                <a:cs typeface="Times New Roman" panose="02020603050405020304" pitchFamily="18" charset="0"/>
              </a:rPr>
              <a:t>的卡方分布。</a:t>
            </a:r>
            <a:endParaRPr lang="en-US" altLang="zh-CN"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122</a:t>
            </a:fld>
            <a:endParaRPr lang="en-US" altLang="zh-CN">
              <a:solidFill>
                <a:srgbClr val="00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089653229"/>
              </p:ext>
            </p:extLst>
          </p:nvPr>
        </p:nvGraphicFramePr>
        <p:xfrm>
          <a:off x="838200" y="1828800"/>
          <a:ext cx="7707313" cy="674687"/>
        </p:xfrm>
        <a:graphic>
          <a:graphicData uri="http://schemas.openxmlformats.org/presentationml/2006/ole">
            <mc:AlternateContent xmlns:mc="http://schemas.openxmlformats.org/markup-compatibility/2006">
              <mc:Choice xmlns:v="urn:schemas-microsoft-com:vml" Requires="v">
                <p:oleObj spid="_x0000_s357578" name="Equation" r:id="rId3" imgW="3784320" imgH="330120" progId="Equation.DSMT4">
                  <p:embed/>
                </p:oleObj>
              </mc:Choice>
              <mc:Fallback>
                <p:oleObj name="Equation" r:id="rId3" imgW="3784320" imgH="330120" progId="Equation.DSMT4">
                  <p:embed/>
                  <p:pic>
                    <p:nvPicPr>
                      <p:cNvPr id="0" name=""/>
                      <p:cNvPicPr/>
                      <p:nvPr/>
                    </p:nvPicPr>
                    <p:blipFill>
                      <a:blip r:embed="rId4"/>
                      <a:stretch>
                        <a:fillRect/>
                      </a:stretch>
                    </p:blipFill>
                    <p:spPr>
                      <a:xfrm>
                        <a:off x="838200" y="1828800"/>
                        <a:ext cx="7707313" cy="674687"/>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86507390"/>
              </p:ext>
            </p:extLst>
          </p:nvPr>
        </p:nvGraphicFramePr>
        <p:xfrm>
          <a:off x="3124200" y="5562600"/>
          <a:ext cx="2345726" cy="470274"/>
        </p:xfrm>
        <a:graphic>
          <a:graphicData uri="http://schemas.openxmlformats.org/presentationml/2006/ole">
            <mc:AlternateContent xmlns:mc="http://schemas.openxmlformats.org/markup-compatibility/2006">
              <mc:Choice xmlns:v="urn:schemas-microsoft-com:vml" Requires="v">
                <p:oleObj spid="_x0000_s357579" name="Equation" r:id="rId5" imgW="1143000" imgH="228600" progId="Equation.DSMT4">
                  <p:embed/>
                </p:oleObj>
              </mc:Choice>
              <mc:Fallback>
                <p:oleObj name="Equation" r:id="rId5" imgW="1143000" imgH="228600" progId="Equation.DSMT4">
                  <p:embed/>
                  <p:pic>
                    <p:nvPicPr>
                      <p:cNvPr id="0" name=""/>
                      <p:cNvPicPr/>
                      <p:nvPr/>
                    </p:nvPicPr>
                    <p:blipFill>
                      <a:blip r:embed="rId6"/>
                      <a:stretch>
                        <a:fillRect/>
                      </a:stretch>
                    </p:blipFill>
                    <p:spPr>
                      <a:xfrm>
                        <a:off x="3124200" y="5562600"/>
                        <a:ext cx="2345726" cy="470274"/>
                      </a:xfrm>
                      <a:prstGeom prst="rect">
                        <a:avLst/>
                      </a:prstGeom>
                    </p:spPr>
                  </p:pic>
                </p:oleObj>
              </mc:Fallback>
            </mc:AlternateContent>
          </a:graphicData>
        </a:graphic>
      </p:graphicFrame>
    </p:spTree>
    <p:extLst>
      <p:ext uri="{BB962C8B-B14F-4D97-AF65-F5344CB8AC3E}">
        <p14:creationId xmlns:p14="http://schemas.microsoft.com/office/powerpoint/2010/main" val="411592769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各种分布假设下的尺度化偏差</a:t>
            </a:r>
            <a:endParaRPr lang="zh-CN" altLang="en-US" dirty="0"/>
          </a:p>
        </p:txBody>
      </p:sp>
      <p:sp>
        <p:nvSpPr>
          <p:cNvPr id="3" name="内容占位符 2"/>
          <p:cNvSpPr>
            <a:spLocks noGrp="1"/>
          </p:cNvSpPr>
          <p:nvPr>
            <p:ph idx="1"/>
          </p:nvPr>
        </p:nvSpPr>
        <p:spPr>
          <a:xfrm>
            <a:off x="457200" y="1719263"/>
            <a:ext cx="8458200" cy="4411662"/>
          </a:xfrm>
        </p:spPr>
        <p:txBody>
          <a:bodyPr/>
          <a:lstStyle/>
          <a:p>
            <a:r>
              <a:rPr lang="zh-CN" altLang="en-US" dirty="0" smtClean="0"/>
              <a:t>对于指数分布族，有               ，        是正则连接函数，指数分布族的对数似然函数也可以写成均值的函数，所以：</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123</a:t>
            </a:fld>
            <a:endParaRPr lang="en-US" altLang="zh-CN">
              <a:solidFill>
                <a:srgbClr val="000000"/>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575024411"/>
              </p:ext>
            </p:extLst>
          </p:nvPr>
        </p:nvGraphicFramePr>
        <p:xfrm>
          <a:off x="3624262" y="1741118"/>
          <a:ext cx="1209675" cy="396875"/>
        </p:xfrm>
        <a:graphic>
          <a:graphicData uri="http://schemas.openxmlformats.org/presentationml/2006/ole">
            <mc:AlternateContent xmlns:mc="http://schemas.openxmlformats.org/markup-compatibility/2006">
              <mc:Choice xmlns:v="urn:schemas-microsoft-com:vml" Requires="v">
                <p:oleObj spid="_x0000_s359720" name="Equation" r:id="rId3" imgW="698400" imgH="228600" progId="Equation.DSMT4">
                  <p:embed/>
                </p:oleObj>
              </mc:Choice>
              <mc:Fallback>
                <p:oleObj name="Equation" r:id="rId3" imgW="698400" imgH="228600" progId="Equation.DSMT4">
                  <p:embed/>
                  <p:pic>
                    <p:nvPicPr>
                      <p:cNvPr id="0" name=""/>
                      <p:cNvPicPr/>
                      <p:nvPr/>
                    </p:nvPicPr>
                    <p:blipFill>
                      <a:blip r:embed="rId4"/>
                      <a:stretch>
                        <a:fillRect/>
                      </a:stretch>
                    </p:blipFill>
                    <p:spPr>
                      <a:xfrm>
                        <a:off x="3624262" y="1741118"/>
                        <a:ext cx="1209675" cy="39687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85537134"/>
              </p:ext>
            </p:extLst>
          </p:nvPr>
        </p:nvGraphicFramePr>
        <p:xfrm>
          <a:off x="5192713" y="1719263"/>
          <a:ext cx="571500" cy="396875"/>
        </p:xfrm>
        <a:graphic>
          <a:graphicData uri="http://schemas.openxmlformats.org/presentationml/2006/ole">
            <mc:AlternateContent xmlns:mc="http://schemas.openxmlformats.org/markup-compatibility/2006">
              <mc:Choice xmlns:v="urn:schemas-microsoft-com:vml" Requires="v">
                <p:oleObj spid="_x0000_s359721" name="Equation" r:id="rId5" imgW="330120" imgH="228600" progId="Equation.DSMT4">
                  <p:embed/>
                </p:oleObj>
              </mc:Choice>
              <mc:Fallback>
                <p:oleObj name="Equation" r:id="rId5" imgW="330120" imgH="228600" progId="Equation.DSMT4">
                  <p:embed/>
                  <p:pic>
                    <p:nvPicPr>
                      <p:cNvPr id="0" name=""/>
                      <p:cNvPicPr/>
                      <p:nvPr/>
                    </p:nvPicPr>
                    <p:blipFill>
                      <a:blip r:embed="rId6"/>
                      <a:stretch>
                        <a:fillRect/>
                      </a:stretch>
                    </p:blipFill>
                    <p:spPr>
                      <a:xfrm>
                        <a:off x="5192713" y="1719263"/>
                        <a:ext cx="571500" cy="39687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797704139"/>
              </p:ext>
            </p:extLst>
          </p:nvPr>
        </p:nvGraphicFramePr>
        <p:xfrm>
          <a:off x="1219200" y="2895600"/>
          <a:ext cx="6502400" cy="2847975"/>
        </p:xfrm>
        <a:graphic>
          <a:graphicData uri="http://schemas.openxmlformats.org/presentationml/2006/ole">
            <mc:AlternateContent xmlns:mc="http://schemas.openxmlformats.org/markup-compatibility/2006">
              <mc:Choice xmlns:v="urn:schemas-microsoft-com:vml" Requires="v">
                <p:oleObj spid="_x0000_s359722" name="Equation" r:id="rId7" imgW="3517560" imgH="1536480" progId="Equation.DSMT4">
                  <p:embed/>
                </p:oleObj>
              </mc:Choice>
              <mc:Fallback>
                <p:oleObj name="Equation" r:id="rId7" imgW="3517560" imgH="1536480" progId="Equation.DSMT4">
                  <p:embed/>
                  <p:pic>
                    <p:nvPicPr>
                      <p:cNvPr id="0" name=""/>
                      <p:cNvPicPr/>
                      <p:nvPr/>
                    </p:nvPicPr>
                    <p:blipFill>
                      <a:blip r:embed="rId8"/>
                      <a:stretch>
                        <a:fillRect/>
                      </a:stretch>
                    </p:blipFill>
                    <p:spPr>
                      <a:xfrm>
                        <a:off x="1219200" y="2895600"/>
                        <a:ext cx="6502400" cy="2847975"/>
                      </a:xfrm>
                      <a:prstGeom prst="rect">
                        <a:avLst/>
                      </a:prstGeom>
                    </p:spPr>
                  </p:pic>
                </p:oleObj>
              </mc:Fallback>
            </mc:AlternateContent>
          </a:graphicData>
        </a:graphic>
      </p:graphicFrame>
    </p:spTree>
    <p:extLst>
      <p:ext uri="{BB962C8B-B14F-4D97-AF65-F5344CB8AC3E}">
        <p14:creationId xmlns:p14="http://schemas.microsoft.com/office/powerpoint/2010/main" val="754499007"/>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譬如对于正态分布，            ，                 ，</a:t>
            </a:r>
            <a:endParaRPr lang="en-US" altLang="zh-CN" dirty="0" smtClean="0"/>
          </a:p>
          <a:p>
            <a:pPr marL="0" indent="0">
              <a:buNone/>
            </a:pPr>
            <a:r>
              <a:rPr lang="en-US" altLang="zh-CN" dirty="0"/>
              <a:t> </a:t>
            </a:r>
            <a:r>
              <a:rPr lang="en-US" altLang="zh-CN" dirty="0" smtClean="0"/>
              <a:t>    </a:t>
            </a:r>
            <a:r>
              <a:rPr lang="zh-CN" altLang="en-US" dirty="0" smtClean="0"/>
              <a:t>所以：</a:t>
            </a:r>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124</a:t>
            </a:fld>
            <a:endParaRPr lang="en-US" altLang="zh-CN">
              <a:solidFill>
                <a:srgbClr val="000000"/>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948936928"/>
              </p:ext>
            </p:extLst>
          </p:nvPr>
        </p:nvGraphicFramePr>
        <p:xfrm>
          <a:off x="3581400" y="1752600"/>
          <a:ext cx="1144588" cy="396875"/>
        </p:xfrm>
        <a:graphic>
          <a:graphicData uri="http://schemas.openxmlformats.org/presentationml/2006/ole">
            <mc:AlternateContent xmlns:mc="http://schemas.openxmlformats.org/markup-compatibility/2006">
              <mc:Choice xmlns:v="urn:schemas-microsoft-com:vml" Requires="v">
                <p:oleObj spid="_x0000_s360838" name="Equation" r:id="rId3" imgW="660240" imgH="228600" progId="Equation.DSMT4">
                  <p:embed/>
                </p:oleObj>
              </mc:Choice>
              <mc:Fallback>
                <p:oleObj name="Equation" r:id="rId3" imgW="660240" imgH="228600" progId="Equation.DSMT4">
                  <p:embed/>
                  <p:pic>
                    <p:nvPicPr>
                      <p:cNvPr id="0" name=""/>
                      <p:cNvPicPr/>
                      <p:nvPr/>
                    </p:nvPicPr>
                    <p:blipFill>
                      <a:blip r:embed="rId4"/>
                      <a:stretch>
                        <a:fillRect/>
                      </a:stretch>
                    </p:blipFill>
                    <p:spPr>
                      <a:xfrm>
                        <a:off x="3581400" y="1752600"/>
                        <a:ext cx="1144588" cy="39687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61412285"/>
              </p:ext>
            </p:extLst>
          </p:nvPr>
        </p:nvGraphicFramePr>
        <p:xfrm>
          <a:off x="4953000" y="1752600"/>
          <a:ext cx="1387475" cy="396875"/>
        </p:xfrm>
        <a:graphic>
          <a:graphicData uri="http://schemas.openxmlformats.org/presentationml/2006/ole">
            <mc:AlternateContent xmlns:mc="http://schemas.openxmlformats.org/markup-compatibility/2006">
              <mc:Choice xmlns:v="urn:schemas-microsoft-com:vml" Requires="v">
                <p:oleObj spid="_x0000_s360839" name="Equation" r:id="rId5" imgW="799920" imgH="228600" progId="Equation.DSMT4">
                  <p:embed/>
                </p:oleObj>
              </mc:Choice>
              <mc:Fallback>
                <p:oleObj name="Equation" r:id="rId5" imgW="799920" imgH="228600" progId="Equation.DSMT4">
                  <p:embed/>
                  <p:pic>
                    <p:nvPicPr>
                      <p:cNvPr id="0" name=""/>
                      <p:cNvPicPr/>
                      <p:nvPr/>
                    </p:nvPicPr>
                    <p:blipFill>
                      <a:blip r:embed="rId6"/>
                      <a:stretch>
                        <a:fillRect/>
                      </a:stretch>
                    </p:blipFill>
                    <p:spPr>
                      <a:xfrm>
                        <a:off x="4953000" y="1752600"/>
                        <a:ext cx="1387475" cy="39687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537624897"/>
              </p:ext>
            </p:extLst>
          </p:nvPr>
        </p:nvGraphicFramePr>
        <p:xfrm>
          <a:off x="6781800" y="1752600"/>
          <a:ext cx="769938" cy="396875"/>
        </p:xfrm>
        <a:graphic>
          <a:graphicData uri="http://schemas.openxmlformats.org/presentationml/2006/ole">
            <mc:AlternateContent xmlns:mc="http://schemas.openxmlformats.org/markup-compatibility/2006">
              <mc:Choice xmlns:v="urn:schemas-microsoft-com:vml" Requires="v">
                <p:oleObj spid="_x0000_s360840" name="Equation" r:id="rId7" imgW="444240" imgH="228600" progId="Equation.DSMT4">
                  <p:embed/>
                </p:oleObj>
              </mc:Choice>
              <mc:Fallback>
                <p:oleObj name="Equation" r:id="rId7" imgW="444240" imgH="228600" progId="Equation.DSMT4">
                  <p:embed/>
                  <p:pic>
                    <p:nvPicPr>
                      <p:cNvPr id="0" name=""/>
                      <p:cNvPicPr/>
                      <p:nvPr/>
                    </p:nvPicPr>
                    <p:blipFill>
                      <a:blip r:embed="rId8"/>
                      <a:stretch>
                        <a:fillRect/>
                      </a:stretch>
                    </p:blipFill>
                    <p:spPr>
                      <a:xfrm>
                        <a:off x="6781800" y="1752600"/>
                        <a:ext cx="769938" cy="396875"/>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799523640"/>
              </p:ext>
            </p:extLst>
          </p:nvPr>
        </p:nvGraphicFramePr>
        <p:xfrm>
          <a:off x="1236663" y="2678113"/>
          <a:ext cx="6502400" cy="2730500"/>
        </p:xfrm>
        <a:graphic>
          <a:graphicData uri="http://schemas.openxmlformats.org/presentationml/2006/ole">
            <mc:AlternateContent xmlns:mc="http://schemas.openxmlformats.org/markup-compatibility/2006">
              <mc:Choice xmlns:v="urn:schemas-microsoft-com:vml" Requires="v">
                <p:oleObj spid="_x0000_s360841" name="Equation" r:id="rId9" imgW="3517560" imgH="1473120" progId="Equation.DSMT4">
                  <p:embed/>
                </p:oleObj>
              </mc:Choice>
              <mc:Fallback>
                <p:oleObj name="Equation" r:id="rId9" imgW="3517560" imgH="1473120" progId="Equation.DSMT4">
                  <p:embed/>
                  <p:pic>
                    <p:nvPicPr>
                      <p:cNvPr id="0" name=""/>
                      <p:cNvPicPr/>
                      <p:nvPr/>
                    </p:nvPicPr>
                    <p:blipFill>
                      <a:blip r:embed="rId10"/>
                      <a:stretch>
                        <a:fillRect/>
                      </a:stretch>
                    </p:blipFill>
                    <p:spPr>
                      <a:xfrm>
                        <a:off x="1236663" y="2678113"/>
                        <a:ext cx="6502400" cy="2730500"/>
                      </a:xfrm>
                      <a:prstGeom prst="rect">
                        <a:avLst/>
                      </a:prstGeom>
                    </p:spPr>
                  </p:pic>
                </p:oleObj>
              </mc:Fallback>
            </mc:AlternateContent>
          </a:graphicData>
        </a:graphic>
      </p:graphicFrame>
    </p:spTree>
    <p:extLst>
      <p:ext uri="{BB962C8B-B14F-4D97-AF65-F5344CB8AC3E}">
        <p14:creationId xmlns:p14="http://schemas.microsoft.com/office/powerpoint/2010/main" val="1186690097"/>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对于泊松分布，                    且              </a:t>
            </a:r>
            <a:r>
              <a:rPr lang="zh-CN" altLang="en-US" dirty="0"/>
              <a:t>，</a:t>
            </a:r>
            <a:r>
              <a:rPr lang="zh-CN" altLang="en-US" dirty="0" smtClean="0"/>
              <a:t>      所以就有：</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125</a:t>
            </a:fld>
            <a:endParaRPr lang="en-US" altLang="zh-CN">
              <a:solidFill>
                <a:srgbClr val="000000"/>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808938088"/>
              </p:ext>
            </p:extLst>
          </p:nvPr>
        </p:nvGraphicFramePr>
        <p:xfrm>
          <a:off x="3048000" y="1735138"/>
          <a:ext cx="1651000" cy="396875"/>
        </p:xfrm>
        <a:graphic>
          <a:graphicData uri="http://schemas.openxmlformats.org/presentationml/2006/ole">
            <mc:AlternateContent xmlns:mc="http://schemas.openxmlformats.org/markup-compatibility/2006">
              <mc:Choice xmlns:v="urn:schemas-microsoft-com:vml" Requires="v">
                <p:oleObj spid="_x0000_s361858" name="Equation" r:id="rId3" imgW="952200" imgH="228600" progId="Equation.DSMT4">
                  <p:embed/>
                </p:oleObj>
              </mc:Choice>
              <mc:Fallback>
                <p:oleObj name="Equation" r:id="rId3" imgW="952200" imgH="228600" progId="Equation.DSMT4">
                  <p:embed/>
                  <p:pic>
                    <p:nvPicPr>
                      <p:cNvPr id="0" name=""/>
                      <p:cNvPicPr/>
                      <p:nvPr/>
                    </p:nvPicPr>
                    <p:blipFill>
                      <a:blip r:embed="rId4"/>
                      <a:stretch>
                        <a:fillRect/>
                      </a:stretch>
                    </p:blipFill>
                    <p:spPr>
                      <a:xfrm>
                        <a:off x="3048000" y="1735138"/>
                        <a:ext cx="1651000" cy="39687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195387436"/>
              </p:ext>
            </p:extLst>
          </p:nvPr>
        </p:nvGraphicFramePr>
        <p:xfrm>
          <a:off x="5039144" y="1735138"/>
          <a:ext cx="1122363" cy="417513"/>
        </p:xfrm>
        <a:graphic>
          <a:graphicData uri="http://schemas.openxmlformats.org/presentationml/2006/ole">
            <mc:AlternateContent xmlns:mc="http://schemas.openxmlformats.org/markup-compatibility/2006">
              <mc:Choice xmlns:v="urn:schemas-microsoft-com:vml" Requires="v">
                <p:oleObj spid="_x0000_s361859" name="Equation" r:id="rId5" imgW="647640" imgH="241200" progId="Equation.DSMT4">
                  <p:embed/>
                </p:oleObj>
              </mc:Choice>
              <mc:Fallback>
                <p:oleObj name="Equation" r:id="rId5" imgW="647640" imgH="241200" progId="Equation.DSMT4">
                  <p:embed/>
                  <p:pic>
                    <p:nvPicPr>
                      <p:cNvPr id="0" name=""/>
                      <p:cNvPicPr/>
                      <p:nvPr/>
                    </p:nvPicPr>
                    <p:blipFill>
                      <a:blip r:embed="rId6"/>
                      <a:stretch>
                        <a:fillRect/>
                      </a:stretch>
                    </p:blipFill>
                    <p:spPr>
                      <a:xfrm>
                        <a:off x="5039144" y="1735138"/>
                        <a:ext cx="1122363" cy="41751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45872746"/>
              </p:ext>
            </p:extLst>
          </p:nvPr>
        </p:nvGraphicFramePr>
        <p:xfrm>
          <a:off x="6400800" y="1764507"/>
          <a:ext cx="573087" cy="352425"/>
        </p:xfrm>
        <a:graphic>
          <a:graphicData uri="http://schemas.openxmlformats.org/presentationml/2006/ole">
            <mc:AlternateContent xmlns:mc="http://schemas.openxmlformats.org/markup-compatibility/2006">
              <mc:Choice xmlns:v="urn:schemas-microsoft-com:vml" Requires="v">
                <p:oleObj spid="_x0000_s361860" name="Equation" r:id="rId7" imgW="330120" imgH="203040" progId="Equation.DSMT4">
                  <p:embed/>
                </p:oleObj>
              </mc:Choice>
              <mc:Fallback>
                <p:oleObj name="Equation" r:id="rId7" imgW="330120" imgH="203040" progId="Equation.DSMT4">
                  <p:embed/>
                  <p:pic>
                    <p:nvPicPr>
                      <p:cNvPr id="0" name=""/>
                      <p:cNvPicPr/>
                      <p:nvPr/>
                    </p:nvPicPr>
                    <p:blipFill>
                      <a:blip r:embed="rId8"/>
                      <a:stretch>
                        <a:fillRect/>
                      </a:stretch>
                    </p:blipFill>
                    <p:spPr>
                      <a:xfrm>
                        <a:off x="6400800" y="1764507"/>
                        <a:ext cx="573087" cy="352425"/>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028744554"/>
              </p:ext>
            </p:extLst>
          </p:nvPr>
        </p:nvGraphicFramePr>
        <p:xfrm>
          <a:off x="1312863" y="2678113"/>
          <a:ext cx="6502400" cy="2730500"/>
        </p:xfrm>
        <a:graphic>
          <a:graphicData uri="http://schemas.openxmlformats.org/presentationml/2006/ole">
            <mc:AlternateContent xmlns:mc="http://schemas.openxmlformats.org/markup-compatibility/2006">
              <mc:Choice xmlns:v="urn:schemas-microsoft-com:vml" Requires="v">
                <p:oleObj spid="_x0000_s361861" name="Equation" r:id="rId9" imgW="3517560" imgH="1473120" progId="Equation.DSMT4">
                  <p:embed/>
                </p:oleObj>
              </mc:Choice>
              <mc:Fallback>
                <p:oleObj name="Equation" r:id="rId9" imgW="3517560" imgH="1473120" progId="Equation.DSMT4">
                  <p:embed/>
                  <p:pic>
                    <p:nvPicPr>
                      <p:cNvPr id="0" name=""/>
                      <p:cNvPicPr/>
                      <p:nvPr/>
                    </p:nvPicPr>
                    <p:blipFill>
                      <a:blip r:embed="rId10"/>
                      <a:stretch>
                        <a:fillRect/>
                      </a:stretch>
                    </p:blipFill>
                    <p:spPr>
                      <a:xfrm>
                        <a:off x="1312863" y="2678113"/>
                        <a:ext cx="6502400" cy="2730500"/>
                      </a:xfrm>
                      <a:prstGeom prst="rect">
                        <a:avLst/>
                      </a:prstGeom>
                    </p:spPr>
                  </p:pic>
                </p:oleObj>
              </mc:Fallback>
            </mc:AlternateContent>
          </a:graphicData>
        </a:graphic>
      </p:graphicFrame>
    </p:spTree>
    <p:extLst>
      <p:ext uri="{BB962C8B-B14F-4D97-AF65-F5344CB8AC3E}">
        <p14:creationId xmlns:p14="http://schemas.microsoft.com/office/powerpoint/2010/main" val="1176097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126</a:t>
            </a:fld>
            <a:endParaRPr lang="en-US" altLang="zh-CN">
              <a:solidFill>
                <a:srgbClr val="000000"/>
              </a:solidFill>
            </a:endParaRPr>
          </a:p>
        </p:txBody>
      </p:sp>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08" y="1700808"/>
            <a:ext cx="8968775" cy="4318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5705267"/>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残差偏差</a:t>
            </a:r>
            <a:endParaRPr lang="zh-CN" altLang="en-US" dirty="0"/>
          </a:p>
        </p:txBody>
      </p:sp>
      <p:sp>
        <p:nvSpPr>
          <p:cNvPr id="3" name="内容占位符 2"/>
          <p:cNvSpPr>
            <a:spLocks noGrp="1"/>
          </p:cNvSpPr>
          <p:nvPr>
            <p:ph idx="1"/>
          </p:nvPr>
        </p:nvSpPr>
        <p:spPr/>
        <p:txBody>
          <a:bodyPr/>
          <a:lstStyle/>
          <a:p>
            <a:r>
              <a:rPr lang="zh-CN" altLang="en-US" dirty="0" smtClean="0"/>
              <a:t>由于             ，残差偏差中不再包含离散参数，所以可以直接基于模型的观测值和拟合值进行计算，但残差偏差不再近似服从卡方分布。</a:t>
            </a:r>
            <a:endParaRPr lang="en-US" altLang="zh-CN" dirty="0" smtClean="0"/>
          </a:p>
          <a:p>
            <a:endParaRPr lang="en-US" altLang="zh-CN" dirty="0" smtClean="0"/>
          </a:p>
          <a:p>
            <a:r>
              <a:rPr lang="zh-CN" altLang="en-US" dirty="0" smtClean="0"/>
              <a:t>空模型：</a:t>
            </a:r>
            <a:endParaRPr lang="en-US" altLang="zh-CN" dirty="0" smtClean="0"/>
          </a:p>
          <a:p>
            <a:endParaRPr lang="en-US" altLang="zh-CN" dirty="0" smtClean="0"/>
          </a:p>
          <a:p>
            <a:r>
              <a:rPr lang="zh-CN" altLang="en-US" dirty="0" smtClean="0"/>
              <a:t>可见，空模型的拟合值就是观测值的加权平均值</a:t>
            </a: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127</a:t>
            </a:fld>
            <a:endParaRPr lang="en-US" altLang="zh-CN">
              <a:solidFill>
                <a:srgbClr val="000000"/>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847722914"/>
              </p:ext>
            </p:extLst>
          </p:nvPr>
        </p:nvGraphicFramePr>
        <p:xfrm>
          <a:off x="2362200" y="3352800"/>
          <a:ext cx="4975225" cy="823913"/>
        </p:xfrm>
        <a:graphic>
          <a:graphicData uri="http://schemas.openxmlformats.org/presentationml/2006/ole">
            <mc:AlternateContent xmlns:mc="http://schemas.openxmlformats.org/markup-compatibility/2006">
              <mc:Choice xmlns:v="urn:schemas-microsoft-com:vml" Requires="v">
                <p:oleObj spid="_x0000_s362786" name="Equation" r:id="rId3" imgW="2692080" imgH="444240" progId="Equation.DSMT4">
                  <p:embed/>
                </p:oleObj>
              </mc:Choice>
              <mc:Fallback>
                <p:oleObj name="Equation" r:id="rId3" imgW="2692080" imgH="444240" progId="Equation.DSMT4">
                  <p:embed/>
                  <p:pic>
                    <p:nvPicPr>
                      <p:cNvPr id="0" name=""/>
                      <p:cNvPicPr/>
                      <p:nvPr/>
                    </p:nvPicPr>
                    <p:blipFill>
                      <a:blip r:embed="rId4"/>
                      <a:stretch>
                        <a:fillRect/>
                      </a:stretch>
                    </p:blipFill>
                    <p:spPr>
                      <a:xfrm>
                        <a:off x="2362200" y="3352800"/>
                        <a:ext cx="4975225" cy="82391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741148473"/>
              </p:ext>
            </p:extLst>
          </p:nvPr>
        </p:nvGraphicFramePr>
        <p:xfrm>
          <a:off x="2667000" y="5334000"/>
          <a:ext cx="1666875" cy="800100"/>
        </p:xfrm>
        <a:graphic>
          <a:graphicData uri="http://schemas.openxmlformats.org/presentationml/2006/ole">
            <mc:AlternateContent xmlns:mc="http://schemas.openxmlformats.org/markup-compatibility/2006">
              <mc:Choice xmlns:v="urn:schemas-microsoft-com:vml" Requires="v">
                <p:oleObj spid="_x0000_s362787" name="Equation" r:id="rId5" imgW="901440" imgH="431640" progId="Equation.DSMT4">
                  <p:embed/>
                </p:oleObj>
              </mc:Choice>
              <mc:Fallback>
                <p:oleObj name="Equation" r:id="rId5" imgW="901440" imgH="431640" progId="Equation.DSMT4">
                  <p:embed/>
                  <p:pic>
                    <p:nvPicPr>
                      <p:cNvPr id="0" name=""/>
                      <p:cNvPicPr/>
                      <p:nvPr/>
                    </p:nvPicPr>
                    <p:blipFill>
                      <a:blip r:embed="rId6"/>
                      <a:stretch>
                        <a:fillRect/>
                      </a:stretch>
                    </p:blipFill>
                    <p:spPr>
                      <a:xfrm>
                        <a:off x="2667000" y="5334000"/>
                        <a:ext cx="1666875" cy="8001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235311135"/>
              </p:ext>
            </p:extLst>
          </p:nvPr>
        </p:nvGraphicFramePr>
        <p:xfrm>
          <a:off x="1524000" y="1752600"/>
          <a:ext cx="990600" cy="360449"/>
        </p:xfrm>
        <a:graphic>
          <a:graphicData uri="http://schemas.openxmlformats.org/presentationml/2006/ole">
            <mc:AlternateContent xmlns:mc="http://schemas.openxmlformats.org/markup-compatibility/2006">
              <mc:Choice xmlns:v="urn:schemas-microsoft-com:vml" Requires="v">
                <p:oleObj spid="_x0000_s362788" name="Equation" r:id="rId7" imgW="596880" imgH="203040" progId="Equation.DSMT4">
                  <p:embed/>
                </p:oleObj>
              </mc:Choice>
              <mc:Fallback>
                <p:oleObj name="Equation" r:id="rId7" imgW="596880" imgH="203040" progId="Equation.DSMT4">
                  <p:embed/>
                  <p:pic>
                    <p:nvPicPr>
                      <p:cNvPr id="0" name=""/>
                      <p:cNvPicPr/>
                      <p:nvPr/>
                    </p:nvPicPr>
                    <p:blipFill>
                      <a:blip r:embed="rId8"/>
                      <a:stretch>
                        <a:fillRect/>
                      </a:stretch>
                    </p:blipFill>
                    <p:spPr>
                      <a:xfrm>
                        <a:off x="1524000" y="1752600"/>
                        <a:ext cx="990600" cy="360449"/>
                      </a:xfrm>
                      <a:prstGeom prst="rect">
                        <a:avLst/>
                      </a:prstGeom>
                    </p:spPr>
                  </p:pic>
                </p:oleObj>
              </mc:Fallback>
            </mc:AlternateContent>
          </a:graphicData>
        </a:graphic>
      </p:graphicFrame>
    </p:spTree>
    <p:extLst>
      <p:ext uri="{BB962C8B-B14F-4D97-AF65-F5344CB8AC3E}">
        <p14:creationId xmlns:p14="http://schemas.microsoft.com/office/powerpoint/2010/main" val="167966036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020762"/>
          </a:xfrm>
        </p:spPr>
        <p:txBody>
          <a:bodyPr/>
          <a:lstStyle/>
          <a:p>
            <a:r>
              <a:rPr lang="zh-CN" altLang="en-US" dirty="0" smtClean="0"/>
              <a:t>基于残差偏差估计离散参数</a:t>
            </a:r>
            <a:endParaRPr lang="zh-CN" altLang="en-US" dirty="0"/>
          </a:p>
        </p:txBody>
      </p:sp>
      <p:sp>
        <p:nvSpPr>
          <p:cNvPr id="3" name="内容占位符 2"/>
          <p:cNvSpPr>
            <a:spLocks noGrp="1"/>
          </p:cNvSpPr>
          <p:nvPr>
            <p:ph idx="1"/>
          </p:nvPr>
        </p:nvSpPr>
        <p:spPr>
          <a:xfrm>
            <a:off x="457200" y="1600200"/>
            <a:ext cx="8229600" cy="4530725"/>
          </a:xfrm>
        </p:spPr>
        <p:txBody>
          <a:bodyPr/>
          <a:lstStyle/>
          <a:p>
            <a:r>
              <a:rPr lang="zh-CN" altLang="en-US" dirty="0"/>
              <a:t>广义线性模型的离散参数也可以通过残差偏差进行</a:t>
            </a:r>
            <a:r>
              <a:rPr lang="zh-CN" altLang="en-US" dirty="0" smtClean="0"/>
              <a:t>估计：</a:t>
            </a:r>
            <a:endParaRPr lang="en-US" altLang="zh-CN" dirty="0" smtClean="0"/>
          </a:p>
          <a:p>
            <a:endParaRPr lang="en-US" altLang="zh-CN" dirty="0" smtClean="0"/>
          </a:p>
          <a:p>
            <a:endParaRPr lang="en-US" altLang="zh-CN" dirty="0" smtClean="0"/>
          </a:p>
          <a:p>
            <a:r>
              <a:rPr lang="zh-CN" altLang="en-US" dirty="0" smtClean="0"/>
              <a:t>因为尺度化偏差近似服从</a:t>
            </a:r>
            <a:r>
              <a:rPr lang="en-US" altLang="zh-CN" i="1" dirty="0" smtClean="0">
                <a:latin typeface="Times New Roman" panose="02020603050405020304" pitchFamily="18" charset="0"/>
                <a:cs typeface="Times New Roman" panose="02020603050405020304" pitchFamily="18" charset="0"/>
              </a:rPr>
              <a:t>n </a:t>
            </a:r>
            <a:r>
              <a:rPr lang="en-US" altLang="zh-CN" dirty="0" smtClean="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k </a:t>
            </a:r>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1</a:t>
            </a:r>
            <a:r>
              <a:rPr lang="zh-CN" altLang="en-US" dirty="0" smtClean="0"/>
              <a:t>的卡方分布，所以：</a:t>
            </a:r>
            <a:endParaRPr lang="en-US" altLang="zh-CN" dirty="0" smtClean="0"/>
          </a:p>
          <a:p>
            <a:endParaRPr lang="en-US" altLang="zh-CN" dirty="0" smtClean="0"/>
          </a:p>
          <a:p>
            <a:pPr marL="0" indent="0">
              <a:buNone/>
            </a:pP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128</a:t>
            </a:fld>
            <a:endParaRPr lang="en-US" altLang="zh-CN">
              <a:solidFill>
                <a:srgbClr val="00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21686745"/>
              </p:ext>
            </p:extLst>
          </p:nvPr>
        </p:nvGraphicFramePr>
        <p:xfrm>
          <a:off x="2590800" y="5410200"/>
          <a:ext cx="3963214" cy="753740"/>
        </p:xfrm>
        <a:graphic>
          <a:graphicData uri="http://schemas.openxmlformats.org/presentationml/2006/ole">
            <mc:AlternateContent xmlns:mc="http://schemas.openxmlformats.org/markup-compatibility/2006">
              <mc:Choice xmlns:v="urn:schemas-microsoft-com:vml" Requires="v">
                <p:oleObj spid="_x0000_s347566" name="Equation" r:id="rId3" imgW="2070000" imgH="393480" progId="Equation.DSMT4">
                  <p:embed/>
                </p:oleObj>
              </mc:Choice>
              <mc:Fallback>
                <p:oleObj name="Equation" r:id="rId3" imgW="2070000" imgH="393480" progId="Equation.DSMT4">
                  <p:embed/>
                  <p:pic>
                    <p:nvPicPr>
                      <p:cNvPr id="0" name=""/>
                      <p:cNvPicPr/>
                      <p:nvPr/>
                    </p:nvPicPr>
                    <p:blipFill>
                      <a:blip r:embed="rId4"/>
                      <a:stretch>
                        <a:fillRect/>
                      </a:stretch>
                    </p:blipFill>
                    <p:spPr>
                      <a:xfrm>
                        <a:off x="2590800" y="5410200"/>
                        <a:ext cx="3963214" cy="75374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670275233"/>
              </p:ext>
            </p:extLst>
          </p:nvPr>
        </p:nvGraphicFramePr>
        <p:xfrm>
          <a:off x="3505200" y="2286000"/>
          <a:ext cx="1477962" cy="730250"/>
        </p:xfrm>
        <a:graphic>
          <a:graphicData uri="http://schemas.openxmlformats.org/presentationml/2006/ole">
            <mc:AlternateContent xmlns:mc="http://schemas.openxmlformats.org/markup-compatibility/2006">
              <mc:Choice xmlns:v="urn:schemas-microsoft-com:vml" Requires="v">
                <p:oleObj spid="_x0000_s347567" name="Equation" r:id="rId5" imgW="799920" imgH="393480" progId="Equation.DSMT4">
                  <p:embed/>
                </p:oleObj>
              </mc:Choice>
              <mc:Fallback>
                <p:oleObj name="Equation" r:id="rId5" imgW="799920" imgH="393480" progId="Equation.DSMT4">
                  <p:embed/>
                  <p:pic>
                    <p:nvPicPr>
                      <p:cNvPr id="0" name=""/>
                      <p:cNvPicPr/>
                      <p:nvPr/>
                    </p:nvPicPr>
                    <p:blipFill>
                      <a:blip r:embed="rId6"/>
                      <a:stretch>
                        <a:fillRect/>
                      </a:stretch>
                    </p:blipFill>
                    <p:spPr>
                      <a:xfrm>
                        <a:off x="3505200" y="2286000"/>
                        <a:ext cx="1477962" cy="73025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009345015"/>
              </p:ext>
            </p:extLst>
          </p:nvPr>
        </p:nvGraphicFramePr>
        <p:xfrm>
          <a:off x="2590800" y="3733800"/>
          <a:ext cx="2066925" cy="438150"/>
        </p:xfrm>
        <a:graphic>
          <a:graphicData uri="http://schemas.openxmlformats.org/presentationml/2006/ole">
            <mc:AlternateContent xmlns:mc="http://schemas.openxmlformats.org/markup-compatibility/2006">
              <mc:Choice xmlns:v="urn:schemas-microsoft-com:vml" Requires="v">
                <p:oleObj spid="_x0000_s347568" name="Equation" r:id="rId7" imgW="1079280" imgH="228600" progId="Equation.DSMT4">
                  <p:embed/>
                </p:oleObj>
              </mc:Choice>
              <mc:Fallback>
                <p:oleObj name="Equation" r:id="rId7" imgW="1079280" imgH="228600" progId="Equation.DSMT4">
                  <p:embed/>
                  <p:pic>
                    <p:nvPicPr>
                      <p:cNvPr id="0" name=""/>
                      <p:cNvPicPr/>
                      <p:nvPr/>
                    </p:nvPicPr>
                    <p:blipFill>
                      <a:blip r:embed="rId8"/>
                      <a:stretch>
                        <a:fillRect/>
                      </a:stretch>
                    </p:blipFill>
                    <p:spPr>
                      <a:xfrm>
                        <a:off x="2590800" y="3733800"/>
                        <a:ext cx="2066925" cy="43815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107985579"/>
              </p:ext>
            </p:extLst>
          </p:nvPr>
        </p:nvGraphicFramePr>
        <p:xfrm>
          <a:off x="2590800" y="4572000"/>
          <a:ext cx="3525838" cy="438150"/>
        </p:xfrm>
        <a:graphic>
          <a:graphicData uri="http://schemas.openxmlformats.org/presentationml/2006/ole">
            <mc:AlternateContent xmlns:mc="http://schemas.openxmlformats.org/markup-compatibility/2006">
              <mc:Choice xmlns:v="urn:schemas-microsoft-com:vml" Requires="v">
                <p:oleObj spid="_x0000_s347569" name="Equation" r:id="rId9" imgW="1841400" imgH="228600" progId="Equation.DSMT4">
                  <p:embed/>
                </p:oleObj>
              </mc:Choice>
              <mc:Fallback>
                <p:oleObj name="Equation" r:id="rId9" imgW="1841400" imgH="228600" progId="Equation.DSMT4">
                  <p:embed/>
                  <p:pic>
                    <p:nvPicPr>
                      <p:cNvPr id="0" name=""/>
                      <p:cNvPicPr/>
                      <p:nvPr/>
                    </p:nvPicPr>
                    <p:blipFill>
                      <a:blip r:embed="rId10"/>
                      <a:stretch>
                        <a:fillRect/>
                      </a:stretch>
                    </p:blipFill>
                    <p:spPr>
                      <a:xfrm>
                        <a:off x="2590800" y="4572000"/>
                        <a:ext cx="3525838" cy="438150"/>
                      </a:xfrm>
                      <a:prstGeom prst="rect">
                        <a:avLst/>
                      </a:prstGeom>
                    </p:spPr>
                  </p:pic>
                </p:oleObj>
              </mc:Fallback>
            </mc:AlternateContent>
          </a:graphicData>
        </a:graphic>
      </p:graphicFrame>
    </p:spTree>
    <p:extLst>
      <p:ext uri="{BB962C8B-B14F-4D97-AF65-F5344CB8AC3E}">
        <p14:creationId xmlns:p14="http://schemas.microsoft.com/office/powerpoint/2010/main" val="181921146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嵌套模型的比较</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嵌套模型概念：</a:t>
            </a:r>
            <a:endParaRPr lang="en-US" altLang="zh-CN" dirty="0" smtClean="0"/>
          </a:p>
          <a:p>
            <a:endParaRPr lang="en-US" altLang="zh-CN" dirty="0" smtClean="0"/>
          </a:p>
          <a:p>
            <a:endParaRPr lang="en-US" altLang="zh-CN" dirty="0" smtClean="0"/>
          </a:p>
          <a:p>
            <a:endParaRPr lang="en-US" altLang="zh-CN" b="1" dirty="0" smtClean="0"/>
          </a:p>
          <a:p>
            <a:pPr marL="0" indent="0">
              <a:buNone/>
            </a:pPr>
            <a:r>
              <a:rPr lang="zh-CN" altLang="en-US" b="1" dirty="0" smtClean="0"/>
              <a:t>（</a:t>
            </a:r>
            <a:r>
              <a:rPr lang="en-US" altLang="zh-CN" b="1" dirty="0" smtClean="0"/>
              <a:t>1</a:t>
            </a:r>
            <a:r>
              <a:rPr lang="zh-CN" altLang="en-US" b="1" dirty="0" smtClean="0"/>
              <a:t>）离散参数已知：</a:t>
            </a:r>
            <a:endParaRPr lang="en-US" altLang="zh-CN" b="1" dirty="0" smtClean="0"/>
          </a:p>
          <a:p>
            <a:pPr marL="0" indent="0">
              <a:buNone/>
            </a:pPr>
            <a:r>
              <a:rPr lang="zh-CN" altLang="en-US" dirty="0" smtClean="0"/>
              <a:t>      如泊松分布和二项分布，离散参数为</a:t>
            </a:r>
            <a:r>
              <a:rPr lang="en-US" altLang="zh-CN" dirty="0" smtClean="0"/>
              <a:t>1</a:t>
            </a:r>
            <a:r>
              <a:rPr lang="zh-CN" altLang="en-US" dirty="0" smtClean="0"/>
              <a:t>，则两个嵌套模型的尺度化偏差之差近似服从卡方分布。即</a:t>
            </a:r>
            <a:endParaRPr lang="en-US" altLang="zh-CN" dirty="0"/>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129</a:t>
            </a:fld>
            <a:endParaRPr lang="en-US" altLang="zh-CN">
              <a:solidFill>
                <a:srgbClr val="000000"/>
              </a:solidFill>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716360390"/>
              </p:ext>
            </p:extLst>
          </p:nvPr>
        </p:nvGraphicFramePr>
        <p:xfrm>
          <a:off x="2286000" y="2514600"/>
          <a:ext cx="3768725" cy="1022350"/>
        </p:xfrm>
        <a:graphic>
          <a:graphicData uri="http://schemas.openxmlformats.org/presentationml/2006/ole">
            <mc:AlternateContent xmlns:mc="http://schemas.openxmlformats.org/markup-compatibility/2006">
              <mc:Choice xmlns:v="urn:schemas-microsoft-com:vml" Requires="v">
                <p:oleObj spid="_x0000_s363802" name="Equation" r:id="rId3" imgW="1968480" imgH="533160" progId="Equation.DSMT4">
                  <p:embed/>
                </p:oleObj>
              </mc:Choice>
              <mc:Fallback>
                <p:oleObj name="Equation" r:id="rId3" imgW="1968480" imgH="533160" progId="Equation.DSMT4">
                  <p:embed/>
                  <p:pic>
                    <p:nvPicPr>
                      <p:cNvPr id="0" name=""/>
                      <p:cNvPicPr/>
                      <p:nvPr/>
                    </p:nvPicPr>
                    <p:blipFill>
                      <a:blip r:embed="rId4"/>
                      <a:stretch>
                        <a:fillRect/>
                      </a:stretch>
                    </p:blipFill>
                    <p:spPr>
                      <a:xfrm>
                        <a:off x="2286000" y="2514600"/>
                        <a:ext cx="3768725" cy="102235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993173208"/>
              </p:ext>
            </p:extLst>
          </p:nvPr>
        </p:nvGraphicFramePr>
        <p:xfrm>
          <a:off x="2743200" y="5638800"/>
          <a:ext cx="1949450" cy="457200"/>
        </p:xfrm>
        <a:graphic>
          <a:graphicData uri="http://schemas.openxmlformats.org/presentationml/2006/ole">
            <mc:AlternateContent xmlns:mc="http://schemas.openxmlformats.org/markup-compatibility/2006">
              <mc:Choice xmlns:v="urn:schemas-microsoft-com:vml" Requires="v">
                <p:oleObj spid="_x0000_s363803" name="Equation" r:id="rId5" imgW="1028520" imgH="241200" progId="Equation.DSMT4">
                  <p:embed/>
                </p:oleObj>
              </mc:Choice>
              <mc:Fallback>
                <p:oleObj name="Equation" r:id="rId5" imgW="1028520" imgH="241200" progId="Equation.DSMT4">
                  <p:embed/>
                  <p:pic>
                    <p:nvPicPr>
                      <p:cNvPr id="0" name=""/>
                      <p:cNvPicPr/>
                      <p:nvPr/>
                    </p:nvPicPr>
                    <p:blipFill>
                      <a:blip r:embed="rId6"/>
                      <a:stretch>
                        <a:fillRect/>
                      </a:stretch>
                    </p:blipFill>
                    <p:spPr>
                      <a:xfrm>
                        <a:off x="2743200" y="5638800"/>
                        <a:ext cx="1949450" cy="457200"/>
                      </a:xfrm>
                      <a:prstGeom prst="rect">
                        <a:avLst/>
                      </a:prstGeom>
                    </p:spPr>
                  </p:pic>
                </p:oleObj>
              </mc:Fallback>
            </mc:AlternateContent>
          </a:graphicData>
        </a:graphic>
      </p:graphicFrame>
    </p:spTree>
    <p:extLst>
      <p:ext uri="{BB962C8B-B14F-4D97-AF65-F5344CB8AC3E}">
        <p14:creationId xmlns:p14="http://schemas.microsoft.com/office/powerpoint/2010/main" val="908730299"/>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19200"/>
            <a:ext cx="8229600" cy="4911725"/>
          </a:xfrm>
        </p:spPr>
        <p:txBody>
          <a:bodyPr/>
          <a:lstStyle/>
          <a:p>
            <a:pPr marL="0" indent="0">
              <a:buNone/>
            </a:pPr>
            <a:r>
              <a:rPr lang="zh-CN" altLang="en-US" b="1" dirty="0" smtClean="0"/>
              <a:t>（</a:t>
            </a:r>
            <a:r>
              <a:rPr lang="en-US" altLang="zh-CN" b="1" dirty="0" smtClean="0"/>
              <a:t>2</a:t>
            </a:r>
            <a:r>
              <a:rPr lang="zh-CN" altLang="en-US" b="1" dirty="0" smtClean="0"/>
              <a:t>）离散参数未知</a:t>
            </a:r>
            <a:endParaRPr lang="en-US" altLang="zh-CN" b="1" dirty="0" smtClean="0"/>
          </a:p>
          <a:p>
            <a:pPr marL="0" indent="0">
              <a:buNone/>
            </a:pPr>
            <a:r>
              <a:rPr lang="zh-CN" altLang="en-US" dirty="0" smtClean="0"/>
              <a:t>                              </a:t>
            </a:r>
            <a:endParaRPr lang="en-US" altLang="zh-CN" dirty="0" smtClean="0"/>
          </a:p>
          <a:p>
            <a:endParaRPr lang="en-US" altLang="zh-CN" dirty="0" smtClean="0"/>
          </a:p>
          <a:p>
            <a:pPr marL="0" indent="0">
              <a:buNone/>
            </a:pPr>
            <a:r>
              <a:rPr lang="zh-CN" altLang="en-US" dirty="0" smtClean="0"/>
              <a:t>   </a:t>
            </a:r>
            <a:endParaRPr lang="en-US" altLang="zh-CN" dirty="0"/>
          </a:p>
          <a:p>
            <a:endParaRPr lang="en-US" altLang="zh-CN" dirty="0" smtClean="0"/>
          </a:p>
          <a:p>
            <a:endParaRPr lang="en-US" altLang="zh-CN" dirty="0" smtClean="0"/>
          </a:p>
          <a:p>
            <a:pPr marL="0" indent="0">
              <a:buNone/>
            </a:pPr>
            <a:endParaRPr lang="en-US" altLang="zh-CN" dirty="0" smtClean="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130</a:t>
            </a:fld>
            <a:endParaRPr lang="en-US" altLang="zh-CN">
              <a:solidFill>
                <a:srgbClr val="000000"/>
              </a:solidFill>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37068976"/>
              </p:ext>
            </p:extLst>
          </p:nvPr>
        </p:nvGraphicFramePr>
        <p:xfrm>
          <a:off x="1371600" y="1981200"/>
          <a:ext cx="3498850" cy="454025"/>
        </p:xfrm>
        <a:graphic>
          <a:graphicData uri="http://schemas.openxmlformats.org/presentationml/2006/ole">
            <mc:AlternateContent xmlns:mc="http://schemas.openxmlformats.org/markup-compatibility/2006">
              <mc:Choice xmlns:v="urn:schemas-microsoft-com:vml" Requires="v">
                <p:oleObj spid="_x0000_s348701" name="Equation" r:id="rId3" imgW="1955520" imgH="253800" progId="Equation.DSMT4">
                  <p:embed/>
                </p:oleObj>
              </mc:Choice>
              <mc:Fallback>
                <p:oleObj name="Equation" r:id="rId3" imgW="1955520" imgH="253800" progId="Equation.DSMT4">
                  <p:embed/>
                  <p:pic>
                    <p:nvPicPr>
                      <p:cNvPr id="0" name=""/>
                      <p:cNvPicPr/>
                      <p:nvPr/>
                    </p:nvPicPr>
                    <p:blipFill>
                      <a:blip r:embed="rId4"/>
                      <a:stretch>
                        <a:fillRect/>
                      </a:stretch>
                    </p:blipFill>
                    <p:spPr>
                      <a:xfrm>
                        <a:off x="1371600" y="1981200"/>
                        <a:ext cx="3498850" cy="454025"/>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910585858"/>
              </p:ext>
            </p:extLst>
          </p:nvPr>
        </p:nvGraphicFramePr>
        <p:xfrm>
          <a:off x="1295400" y="3124200"/>
          <a:ext cx="4222750" cy="2427288"/>
        </p:xfrm>
        <a:graphic>
          <a:graphicData uri="http://schemas.openxmlformats.org/presentationml/2006/ole">
            <mc:AlternateContent xmlns:mc="http://schemas.openxmlformats.org/markup-compatibility/2006">
              <mc:Choice xmlns:v="urn:schemas-microsoft-com:vml" Requires="v">
                <p:oleObj spid="_x0000_s348702" name="Equation" r:id="rId5" imgW="2286000" imgH="1307880" progId="Equation.DSMT4">
                  <p:embed/>
                </p:oleObj>
              </mc:Choice>
              <mc:Fallback>
                <p:oleObj name="Equation" r:id="rId5" imgW="2286000" imgH="1307880" progId="Equation.DSMT4">
                  <p:embed/>
                  <p:pic>
                    <p:nvPicPr>
                      <p:cNvPr id="0" name=""/>
                      <p:cNvPicPr/>
                      <p:nvPr/>
                    </p:nvPicPr>
                    <p:blipFill>
                      <a:blip r:embed="rId6"/>
                      <a:stretch>
                        <a:fillRect/>
                      </a:stretch>
                    </p:blipFill>
                    <p:spPr>
                      <a:xfrm>
                        <a:off x="1295400" y="3124200"/>
                        <a:ext cx="4222750" cy="2427288"/>
                      </a:xfrm>
                      <a:prstGeom prst="rect">
                        <a:avLst/>
                      </a:prstGeom>
                    </p:spPr>
                  </p:pic>
                </p:oleObj>
              </mc:Fallback>
            </mc:AlternateContent>
          </a:graphicData>
        </a:graphic>
      </p:graphicFrame>
    </p:spTree>
    <p:extLst>
      <p:ext uri="{BB962C8B-B14F-4D97-AF65-F5344CB8AC3E}">
        <p14:creationId xmlns:p14="http://schemas.microsoft.com/office/powerpoint/2010/main" val="3132493912"/>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smtClean="0"/>
              <a:t>因此可以定义 </a:t>
            </a:r>
            <a:r>
              <a:rPr lang="en-US" altLang="zh-CN" i="1" dirty="0" smtClean="0">
                <a:latin typeface="Times New Roman" panose="02020603050405020304" pitchFamily="18" charset="0"/>
                <a:cs typeface="Times New Roman" panose="02020603050405020304" pitchFamily="18" charset="0"/>
              </a:rPr>
              <a:t>F </a:t>
            </a:r>
            <a:r>
              <a:rPr lang="zh-CN" altLang="en-US" dirty="0" smtClean="0"/>
              <a:t>统计量：</a:t>
            </a:r>
            <a:endParaRPr lang="en-US" altLang="zh-CN" dirty="0" smtClean="0"/>
          </a:p>
          <a:p>
            <a:endParaRPr lang="en-US" altLang="zh-CN" dirty="0"/>
          </a:p>
          <a:p>
            <a:endParaRPr lang="en-US" altLang="zh-CN" dirty="0" smtClean="0"/>
          </a:p>
          <a:p>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131</a:t>
            </a:fld>
            <a:endParaRPr lang="en-US" altLang="zh-CN">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959554851"/>
              </p:ext>
            </p:extLst>
          </p:nvPr>
        </p:nvGraphicFramePr>
        <p:xfrm>
          <a:off x="1676400" y="3048000"/>
          <a:ext cx="4625975" cy="985837"/>
        </p:xfrm>
        <a:graphic>
          <a:graphicData uri="http://schemas.openxmlformats.org/presentationml/2006/ole">
            <mc:AlternateContent xmlns:mc="http://schemas.openxmlformats.org/markup-compatibility/2006">
              <mc:Choice xmlns:v="urn:schemas-microsoft-com:vml" Requires="v">
                <p:oleObj spid="_x0000_s349416" name="Equation" r:id="rId3" imgW="2628900" imgH="520700" progId="Equation.DSMT4">
                  <p:embed/>
                </p:oleObj>
              </mc:Choice>
              <mc:Fallback>
                <p:oleObj name="Equation" r:id="rId3" imgW="2628900" imgH="5207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048000"/>
                        <a:ext cx="4625975"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741235625"/>
              </p:ext>
            </p:extLst>
          </p:nvPr>
        </p:nvGraphicFramePr>
        <p:xfrm>
          <a:off x="1720850" y="4808537"/>
          <a:ext cx="4392613" cy="815975"/>
        </p:xfrm>
        <a:graphic>
          <a:graphicData uri="http://schemas.openxmlformats.org/presentationml/2006/ole">
            <mc:AlternateContent xmlns:mc="http://schemas.openxmlformats.org/markup-compatibility/2006">
              <mc:Choice xmlns:v="urn:schemas-microsoft-com:vml" Requires="v">
                <p:oleObj spid="_x0000_s349417" name="Equation" r:id="rId5" imgW="1765300" imgH="431800" progId="Equation.DSMT4">
                  <p:embed/>
                </p:oleObj>
              </mc:Choice>
              <mc:Fallback>
                <p:oleObj name="Equation" r:id="rId5" imgW="1765300" imgH="4318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0850" y="4808537"/>
                        <a:ext cx="4392613"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8342733"/>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非嵌套模型的比较</a:t>
            </a:r>
            <a:endParaRPr lang="zh-CN" altLang="en-US" dirty="0"/>
          </a:p>
        </p:txBody>
      </p:sp>
      <p:sp>
        <p:nvSpPr>
          <p:cNvPr id="3" name="内容占位符 2"/>
          <p:cNvSpPr>
            <a:spLocks noGrp="1"/>
          </p:cNvSpPr>
          <p:nvPr>
            <p:ph idx="1"/>
          </p:nvPr>
        </p:nvSpPr>
        <p:spPr/>
        <p:txBody>
          <a:bodyPr/>
          <a:lstStyle/>
          <a:p>
            <a:r>
              <a:rPr lang="en-US" altLang="zh-CN" dirty="0" smtClean="0"/>
              <a:t>AIC</a:t>
            </a:r>
            <a:r>
              <a:rPr lang="zh-CN" altLang="en-US" dirty="0" smtClean="0"/>
              <a:t>：</a:t>
            </a:r>
            <a:endParaRPr lang="en-US" altLang="zh-CN" dirty="0" smtClean="0"/>
          </a:p>
          <a:p>
            <a:r>
              <a:rPr lang="zh-CN" altLang="en-US" dirty="0" smtClean="0"/>
              <a:t>样本量调整的</a:t>
            </a:r>
            <a:r>
              <a:rPr lang="en-US" altLang="zh-CN" dirty="0" smtClean="0"/>
              <a:t>AIC</a:t>
            </a:r>
            <a:r>
              <a:rPr lang="zh-CN" altLang="en-US" dirty="0" smtClean="0"/>
              <a:t>：</a:t>
            </a:r>
            <a:endParaRPr lang="en-US" altLang="zh-CN" dirty="0" smtClean="0"/>
          </a:p>
          <a:p>
            <a:r>
              <a:rPr lang="en-US" altLang="zh-CN" dirty="0" smtClean="0"/>
              <a:t>AICC </a:t>
            </a:r>
            <a:r>
              <a:rPr lang="zh-CN" altLang="en-US" dirty="0" smtClean="0"/>
              <a:t>和 </a:t>
            </a:r>
            <a:r>
              <a:rPr lang="en-US" altLang="zh-CN" dirty="0" err="1" smtClean="0"/>
              <a:t>AIChq</a:t>
            </a:r>
            <a:r>
              <a:rPr lang="zh-CN" altLang="en-US" dirty="0" smtClean="0"/>
              <a:t>：</a:t>
            </a:r>
            <a:endParaRPr lang="en-US" altLang="zh-CN" dirty="0" smtClean="0"/>
          </a:p>
          <a:p>
            <a:endParaRPr lang="en-US" altLang="zh-CN" dirty="0"/>
          </a:p>
          <a:p>
            <a:endParaRPr lang="en-US" altLang="zh-CN" dirty="0" smtClean="0"/>
          </a:p>
          <a:p>
            <a:endParaRPr lang="en-US" altLang="zh-CN" dirty="0" smtClean="0"/>
          </a:p>
          <a:p>
            <a:endParaRPr lang="en-US" altLang="zh-CN" dirty="0" smtClean="0"/>
          </a:p>
          <a:p>
            <a:r>
              <a:rPr lang="en-US" altLang="zh-CN" dirty="0" smtClean="0"/>
              <a:t>BIC</a:t>
            </a:r>
            <a:r>
              <a:rPr lang="zh-CN" altLang="en-US" dirty="0" smtClean="0"/>
              <a:t>：</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132</a:t>
            </a:fld>
            <a:endParaRPr lang="en-US" altLang="zh-CN">
              <a:solidFill>
                <a:srgbClr val="00000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183588553"/>
              </p:ext>
            </p:extLst>
          </p:nvPr>
        </p:nvGraphicFramePr>
        <p:xfrm>
          <a:off x="1841500" y="1752600"/>
          <a:ext cx="2033588" cy="412750"/>
        </p:xfrm>
        <a:graphic>
          <a:graphicData uri="http://schemas.openxmlformats.org/presentationml/2006/ole">
            <mc:AlternateContent xmlns:mc="http://schemas.openxmlformats.org/markup-compatibility/2006">
              <mc:Choice xmlns:v="urn:schemas-microsoft-com:vml" Requires="v">
                <p:oleObj spid="_x0000_s364926" name="Equation" r:id="rId3" imgW="1002960" imgH="203040" progId="Equation.DSMT4">
                  <p:embed/>
                </p:oleObj>
              </mc:Choice>
              <mc:Fallback>
                <p:oleObj name="Equation" r:id="rId3" imgW="1002960" imgH="203040" progId="Equation.DSMT4">
                  <p:embed/>
                  <p:pic>
                    <p:nvPicPr>
                      <p:cNvPr id="0" name=""/>
                      <p:cNvPicPr/>
                      <p:nvPr/>
                    </p:nvPicPr>
                    <p:blipFill>
                      <a:blip r:embed="rId4"/>
                      <a:stretch>
                        <a:fillRect/>
                      </a:stretch>
                    </p:blipFill>
                    <p:spPr>
                      <a:xfrm>
                        <a:off x="1841500" y="1752600"/>
                        <a:ext cx="2033588" cy="41275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302072357"/>
              </p:ext>
            </p:extLst>
          </p:nvPr>
        </p:nvGraphicFramePr>
        <p:xfrm>
          <a:off x="4495800" y="2286000"/>
          <a:ext cx="2087563" cy="800100"/>
        </p:xfrm>
        <a:graphic>
          <a:graphicData uri="http://schemas.openxmlformats.org/presentationml/2006/ole">
            <mc:AlternateContent xmlns:mc="http://schemas.openxmlformats.org/markup-compatibility/2006">
              <mc:Choice xmlns:v="urn:schemas-microsoft-com:vml" Requires="v">
                <p:oleObj spid="_x0000_s364927" name="Equation" r:id="rId5" imgW="1028520" imgH="393480" progId="Equation.DSMT4">
                  <p:embed/>
                </p:oleObj>
              </mc:Choice>
              <mc:Fallback>
                <p:oleObj name="Equation" r:id="rId5" imgW="1028520" imgH="393480" progId="Equation.DSMT4">
                  <p:embed/>
                  <p:pic>
                    <p:nvPicPr>
                      <p:cNvPr id="0" name=""/>
                      <p:cNvPicPr/>
                      <p:nvPr/>
                    </p:nvPicPr>
                    <p:blipFill>
                      <a:blip r:embed="rId6"/>
                      <a:stretch>
                        <a:fillRect/>
                      </a:stretch>
                    </p:blipFill>
                    <p:spPr>
                      <a:xfrm>
                        <a:off x="4495800" y="2286000"/>
                        <a:ext cx="2087563" cy="80010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730938887"/>
              </p:ext>
            </p:extLst>
          </p:nvPr>
        </p:nvGraphicFramePr>
        <p:xfrm>
          <a:off x="4495800" y="3276600"/>
          <a:ext cx="3598862" cy="1327150"/>
        </p:xfrm>
        <a:graphic>
          <a:graphicData uri="http://schemas.openxmlformats.org/presentationml/2006/ole">
            <mc:AlternateContent xmlns:mc="http://schemas.openxmlformats.org/markup-compatibility/2006">
              <mc:Choice xmlns:v="urn:schemas-microsoft-com:vml" Requires="v">
                <p:oleObj spid="_x0000_s364928" name="Equation" r:id="rId7" imgW="1854000" imgH="685800" progId="Equation.DSMT4">
                  <p:embed/>
                </p:oleObj>
              </mc:Choice>
              <mc:Fallback>
                <p:oleObj name="Equation" r:id="rId7" imgW="1854000" imgH="685800" progId="Equation.DSMT4">
                  <p:embed/>
                  <p:pic>
                    <p:nvPicPr>
                      <p:cNvPr id="0" name=""/>
                      <p:cNvPicPr/>
                      <p:nvPr/>
                    </p:nvPicPr>
                    <p:blipFill>
                      <a:blip r:embed="rId8"/>
                      <a:stretch>
                        <a:fillRect/>
                      </a:stretch>
                    </p:blipFill>
                    <p:spPr>
                      <a:xfrm>
                        <a:off x="4495800" y="3276600"/>
                        <a:ext cx="3598862" cy="132715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04643489"/>
              </p:ext>
            </p:extLst>
          </p:nvPr>
        </p:nvGraphicFramePr>
        <p:xfrm>
          <a:off x="1778000" y="5562600"/>
          <a:ext cx="2676525" cy="514350"/>
        </p:xfrm>
        <a:graphic>
          <a:graphicData uri="http://schemas.openxmlformats.org/presentationml/2006/ole">
            <mc:AlternateContent xmlns:mc="http://schemas.openxmlformats.org/markup-compatibility/2006">
              <mc:Choice xmlns:v="urn:schemas-microsoft-com:vml" Requires="v">
                <p:oleObj spid="_x0000_s364929" name="Equation" r:id="rId9" imgW="1320480" imgH="253800" progId="Equation.DSMT4">
                  <p:embed/>
                </p:oleObj>
              </mc:Choice>
              <mc:Fallback>
                <p:oleObj name="Equation" r:id="rId9" imgW="1320480" imgH="253800" progId="Equation.DSMT4">
                  <p:embed/>
                  <p:pic>
                    <p:nvPicPr>
                      <p:cNvPr id="0" name=""/>
                      <p:cNvPicPr/>
                      <p:nvPr/>
                    </p:nvPicPr>
                    <p:blipFill>
                      <a:blip r:embed="rId10"/>
                      <a:stretch>
                        <a:fillRect/>
                      </a:stretch>
                    </p:blipFill>
                    <p:spPr>
                      <a:xfrm>
                        <a:off x="1778000" y="5562600"/>
                        <a:ext cx="2676525" cy="514350"/>
                      </a:xfrm>
                      <a:prstGeom prst="rect">
                        <a:avLst/>
                      </a:prstGeom>
                    </p:spPr>
                  </p:pic>
                </p:oleObj>
              </mc:Fallback>
            </mc:AlternateContent>
          </a:graphicData>
        </a:graphic>
      </p:graphicFrame>
    </p:spTree>
    <p:extLst>
      <p:ext uri="{BB962C8B-B14F-4D97-AF65-F5344CB8AC3E}">
        <p14:creationId xmlns:p14="http://schemas.microsoft.com/office/powerpoint/2010/main" val="1102363101"/>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spcBef>
                <a:spcPts val="0"/>
              </a:spcBef>
            </a:pPr>
            <a:r>
              <a:rPr lang="zh-CN" altLang="en-US" b="1" dirty="0" smtClean="0"/>
              <a:t>应用</a:t>
            </a:r>
            <a:r>
              <a:rPr lang="en-US" altLang="zh-CN" b="1" dirty="0" smtClean="0"/>
              <a:t>AIC</a:t>
            </a:r>
            <a:r>
              <a:rPr lang="zh-CN" altLang="en-US" b="1" dirty="0" smtClean="0"/>
              <a:t>的经验规则</a:t>
            </a:r>
            <a:r>
              <a:rPr lang="zh-CN" altLang="en-US" dirty="0" smtClean="0"/>
              <a:t>：</a:t>
            </a:r>
            <a:endParaRPr lang="en-US" altLang="zh-CN" dirty="0" smtClean="0"/>
          </a:p>
          <a:p>
            <a:pPr marL="349250" lvl="1" indent="0">
              <a:lnSpc>
                <a:spcPct val="150000"/>
              </a:lnSpc>
              <a:spcBef>
                <a:spcPts val="0"/>
              </a:spcBef>
              <a:buNone/>
            </a:pPr>
            <a:r>
              <a:rPr lang="zh-CN" altLang="en-US" dirty="0" smtClean="0"/>
              <a:t>（</a:t>
            </a:r>
            <a:r>
              <a:rPr lang="en-US" altLang="zh-CN" dirty="0" smtClean="0"/>
              <a:t>1</a:t>
            </a:r>
            <a:r>
              <a:rPr lang="zh-CN" altLang="en-US" dirty="0" smtClean="0"/>
              <a:t>）</a:t>
            </a:r>
            <a:r>
              <a:rPr lang="en-US" altLang="zh-CN" dirty="0" smtClean="0"/>
              <a:t>AIC</a:t>
            </a:r>
            <a:r>
              <a:rPr lang="zh-CN" altLang="en-US" dirty="0" smtClean="0"/>
              <a:t>之</a:t>
            </a:r>
            <a:r>
              <a:rPr lang="zh-CN" altLang="en-US" dirty="0"/>
              <a:t>差</a:t>
            </a:r>
            <a:r>
              <a:rPr lang="zh-CN" altLang="en-US" dirty="0" smtClean="0"/>
              <a:t>小于</a:t>
            </a:r>
            <a:r>
              <a:rPr lang="en-US" altLang="zh-CN" dirty="0" smtClean="0"/>
              <a:t>2.5</a:t>
            </a:r>
            <a:r>
              <a:rPr lang="zh-CN" altLang="en-US" dirty="0" smtClean="0"/>
              <a:t>时</a:t>
            </a:r>
            <a:r>
              <a:rPr lang="zh-CN" altLang="en-US" dirty="0"/>
              <a:t>，</a:t>
            </a:r>
            <a:r>
              <a:rPr lang="zh-CN" altLang="en-US" dirty="0" smtClean="0"/>
              <a:t>表明两</a:t>
            </a:r>
            <a:r>
              <a:rPr lang="zh-CN" altLang="en-US" dirty="0"/>
              <a:t>个模型没有明显</a:t>
            </a:r>
            <a:r>
              <a:rPr lang="zh-CN" altLang="en-US" dirty="0" smtClean="0"/>
              <a:t>差异</a:t>
            </a:r>
            <a:r>
              <a:rPr lang="zh-CN" altLang="en-US" dirty="0"/>
              <a:t>。</a:t>
            </a:r>
            <a:endParaRPr lang="en-US" altLang="zh-CN" dirty="0"/>
          </a:p>
          <a:p>
            <a:pPr marL="349250" lvl="1" indent="0">
              <a:lnSpc>
                <a:spcPct val="150000"/>
              </a:lnSpc>
              <a:spcBef>
                <a:spcPts val="0"/>
              </a:spcBef>
              <a:buNone/>
            </a:pPr>
            <a:r>
              <a:rPr lang="zh-CN" altLang="en-US" dirty="0" smtClean="0"/>
              <a:t>（</a:t>
            </a:r>
            <a:r>
              <a:rPr lang="en-US" altLang="zh-CN" dirty="0" smtClean="0"/>
              <a:t>2</a:t>
            </a:r>
            <a:r>
              <a:rPr lang="zh-CN" altLang="en-US" dirty="0" smtClean="0"/>
              <a:t>）</a:t>
            </a:r>
            <a:r>
              <a:rPr lang="en-US" altLang="zh-CN" dirty="0" smtClean="0"/>
              <a:t>AIC</a:t>
            </a:r>
            <a:r>
              <a:rPr lang="zh-CN" altLang="en-US" dirty="0" smtClean="0"/>
              <a:t>之</a:t>
            </a:r>
            <a:r>
              <a:rPr lang="zh-CN" altLang="en-US" dirty="0"/>
              <a:t>差</a:t>
            </a:r>
            <a:r>
              <a:rPr lang="zh-CN" altLang="en-US" dirty="0" smtClean="0"/>
              <a:t>大于</a:t>
            </a:r>
            <a:r>
              <a:rPr lang="en-US" altLang="zh-CN" dirty="0" smtClean="0"/>
              <a:t>10</a:t>
            </a:r>
            <a:r>
              <a:rPr lang="zh-CN" altLang="en-US" dirty="0" smtClean="0"/>
              <a:t>时，</a:t>
            </a:r>
            <a:r>
              <a:rPr lang="en-US" altLang="zh-CN" dirty="0" smtClean="0"/>
              <a:t>AIC</a:t>
            </a:r>
            <a:r>
              <a:rPr lang="zh-CN" altLang="en-US" dirty="0" smtClean="0"/>
              <a:t>较小</a:t>
            </a:r>
            <a:r>
              <a:rPr lang="zh-CN" altLang="en-US" dirty="0"/>
              <a:t>的模型明显较</a:t>
            </a:r>
            <a:r>
              <a:rPr lang="zh-CN" altLang="en-US" dirty="0" smtClean="0"/>
              <a:t>优</a:t>
            </a:r>
            <a:endParaRPr lang="en-US" altLang="zh-CN" dirty="0"/>
          </a:p>
          <a:p>
            <a:pPr marL="349250" lvl="1" indent="0">
              <a:lnSpc>
                <a:spcPct val="150000"/>
              </a:lnSpc>
              <a:spcBef>
                <a:spcPts val="0"/>
              </a:spcBef>
              <a:buNone/>
            </a:pPr>
            <a:r>
              <a:rPr lang="zh-CN" altLang="en-US" dirty="0" smtClean="0"/>
              <a:t>（</a:t>
            </a:r>
            <a:r>
              <a:rPr lang="en-US" altLang="zh-CN" dirty="0" smtClean="0"/>
              <a:t>3</a:t>
            </a:r>
            <a:r>
              <a:rPr lang="zh-CN" altLang="en-US" dirty="0" smtClean="0"/>
              <a:t>）样本量大于</a:t>
            </a:r>
            <a:r>
              <a:rPr lang="en-US" altLang="zh-CN" dirty="0" smtClean="0"/>
              <a:t>256</a:t>
            </a:r>
            <a:r>
              <a:rPr lang="zh-CN" altLang="en-US" dirty="0" smtClean="0"/>
              <a:t>且</a:t>
            </a:r>
            <a:r>
              <a:rPr lang="en-US" altLang="zh-CN" dirty="0" smtClean="0"/>
              <a:t>AIC</a:t>
            </a:r>
            <a:r>
              <a:rPr lang="zh-CN" altLang="en-US" dirty="0" smtClean="0"/>
              <a:t>之</a:t>
            </a:r>
            <a:r>
              <a:rPr lang="zh-CN" altLang="en-US" dirty="0"/>
              <a:t>差</a:t>
            </a:r>
            <a:r>
              <a:rPr lang="zh-CN" altLang="en-US" dirty="0" smtClean="0"/>
              <a:t>大于</a:t>
            </a:r>
            <a:r>
              <a:rPr lang="en-US" altLang="zh-CN" dirty="0" smtClean="0"/>
              <a:t>2.5</a:t>
            </a:r>
            <a:r>
              <a:rPr lang="zh-CN" altLang="en-US" dirty="0" smtClean="0"/>
              <a:t>小于</a:t>
            </a:r>
            <a:r>
              <a:rPr lang="en-US" altLang="zh-CN" dirty="0" smtClean="0"/>
              <a:t>6</a:t>
            </a:r>
            <a:r>
              <a:rPr lang="zh-CN" altLang="en-US" dirty="0" smtClean="0"/>
              <a:t>，则</a:t>
            </a:r>
            <a:r>
              <a:rPr lang="en-US" altLang="zh-CN" dirty="0" smtClean="0"/>
              <a:t>AIC</a:t>
            </a:r>
            <a:r>
              <a:rPr lang="zh-CN" altLang="en-US" dirty="0" smtClean="0"/>
              <a:t>较小</a:t>
            </a:r>
            <a:r>
              <a:rPr lang="zh-CN" altLang="en-US" dirty="0"/>
              <a:t>的模型</a:t>
            </a:r>
            <a:r>
              <a:rPr lang="zh-CN" altLang="en-US" dirty="0" smtClean="0"/>
              <a:t>较优</a:t>
            </a:r>
            <a:r>
              <a:rPr lang="zh-CN" altLang="en-US" dirty="0"/>
              <a:t>。</a:t>
            </a:r>
            <a:endParaRPr lang="en-US" altLang="zh-CN" dirty="0"/>
          </a:p>
          <a:p>
            <a:pPr marL="349250" lvl="1" indent="0">
              <a:lnSpc>
                <a:spcPct val="150000"/>
              </a:lnSpc>
              <a:spcBef>
                <a:spcPts val="0"/>
              </a:spcBef>
              <a:buNone/>
            </a:pPr>
            <a:r>
              <a:rPr lang="zh-CN" altLang="en-US" dirty="0" smtClean="0"/>
              <a:t>（</a:t>
            </a:r>
            <a:r>
              <a:rPr lang="en-US" altLang="zh-CN" dirty="0" smtClean="0"/>
              <a:t>4</a:t>
            </a:r>
            <a:r>
              <a:rPr lang="zh-CN" altLang="en-US" dirty="0" smtClean="0"/>
              <a:t>）样本量大于</a:t>
            </a:r>
            <a:r>
              <a:rPr lang="en-US" altLang="zh-CN" dirty="0" smtClean="0"/>
              <a:t>64</a:t>
            </a:r>
            <a:r>
              <a:rPr lang="zh-CN" altLang="en-US" dirty="0" smtClean="0"/>
              <a:t>且</a:t>
            </a:r>
            <a:r>
              <a:rPr lang="en-US" altLang="zh-CN" dirty="0" smtClean="0"/>
              <a:t>AIC</a:t>
            </a:r>
            <a:r>
              <a:rPr lang="zh-CN" altLang="en-US" dirty="0" smtClean="0"/>
              <a:t>之</a:t>
            </a:r>
            <a:r>
              <a:rPr lang="zh-CN" altLang="en-US" dirty="0"/>
              <a:t>差</a:t>
            </a:r>
            <a:r>
              <a:rPr lang="zh-CN" altLang="en-US" dirty="0" smtClean="0"/>
              <a:t>大于</a:t>
            </a:r>
            <a:r>
              <a:rPr lang="en-US" altLang="zh-CN" dirty="0"/>
              <a:t>6</a:t>
            </a:r>
            <a:r>
              <a:rPr lang="zh-CN" altLang="en-US" dirty="0" smtClean="0"/>
              <a:t>小于</a:t>
            </a:r>
            <a:r>
              <a:rPr lang="en-US" altLang="zh-CN" dirty="0" smtClean="0"/>
              <a:t>9</a:t>
            </a:r>
            <a:r>
              <a:rPr lang="zh-CN" altLang="en-US" dirty="0" smtClean="0"/>
              <a:t>，则</a:t>
            </a:r>
            <a:r>
              <a:rPr lang="en-US" altLang="zh-CN" dirty="0" smtClean="0"/>
              <a:t>AIC</a:t>
            </a:r>
            <a:r>
              <a:rPr lang="zh-CN" altLang="en-US" dirty="0" smtClean="0"/>
              <a:t>较小</a:t>
            </a:r>
            <a:r>
              <a:rPr lang="zh-CN" altLang="en-US" dirty="0"/>
              <a:t>的模型较优</a:t>
            </a:r>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133</a:t>
            </a:fld>
            <a:endParaRPr lang="en-US" altLang="zh-CN">
              <a:solidFill>
                <a:srgbClr val="000000"/>
              </a:solidFill>
            </a:endParaRPr>
          </a:p>
        </p:txBody>
      </p:sp>
    </p:spTree>
    <p:extLst>
      <p:ext uri="{BB962C8B-B14F-4D97-AF65-F5344CB8AC3E}">
        <p14:creationId xmlns:p14="http://schemas.microsoft.com/office/powerpoint/2010/main" val="303081449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pPr>
            <a:r>
              <a:rPr lang="zh-CN" altLang="en-US" b="1" dirty="0" smtClean="0"/>
              <a:t>应用</a:t>
            </a:r>
            <a:r>
              <a:rPr lang="en-US" altLang="zh-CN" b="1" dirty="0" smtClean="0"/>
              <a:t>BIC</a:t>
            </a:r>
            <a:r>
              <a:rPr lang="zh-CN" altLang="en-US" b="1" dirty="0" smtClean="0"/>
              <a:t>的经验规则</a:t>
            </a:r>
            <a:r>
              <a:rPr lang="zh-CN" altLang="en-US" dirty="0" smtClean="0"/>
              <a:t>：</a:t>
            </a:r>
            <a:endParaRPr lang="en-US" altLang="zh-CN" dirty="0" smtClean="0"/>
          </a:p>
          <a:p>
            <a:pPr marL="349250" lvl="1" indent="0">
              <a:lnSpc>
                <a:spcPct val="150000"/>
              </a:lnSpc>
              <a:buNone/>
            </a:pPr>
            <a:r>
              <a:rPr lang="zh-CN" altLang="en-US" dirty="0" smtClean="0"/>
              <a:t>（</a:t>
            </a:r>
            <a:r>
              <a:rPr lang="en-US" altLang="zh-CN" dirty="0" smtClean="0"/>
              <a:t>1</a:t>
            </a:r>
            <a:r>
              <a:rPr lang="zh-CN" altLang="en-US" dirty="0" smtClean="0"/>
              <a:t>）</a:t>
            </a:r>
            <a:r>
              <a:rPr lang="en-US" altLang="zh-CN" dirty="0" smtClean="0"/>
              <a:t>BIC</a:t>
            </a:r>
            <a:r>
              <a:rPr lang="zh-CN" altLang="en-US" dirty="0" smtClean="0"/>
              <a:t>之</a:t>
            </a:r>
            <a:r>
              <a:rPr lang="zh-CN" altLang="en-US" dirty="0"/>
              <a:t>差</a:t>
            </a:r>
            <a:r>
              <a:rPr lang="zh-CN" altLang="en-US" dirty="0" smtClean="0"/>
              <a:t>在</a:t>
            </a:r>
            <a:r>
              <a:rPr lang="en-US" altLang="zh-CN" dirty="0" smtClean="0"/>
              <a:t>0~2</a:t>
            </a:r>
            <a:r>
              <a:rPr lang="zh-CN" altLang="en-US" dirty="0" smtClean="0"/>
              <a:t>之间</a:t>
            </a:r>
            <a:r>
              <a:rPr lang="zh-CN" altLang="en-US" dirty="0"/>
              <a:t>，</a:t>
            </a:r>
            <a:r>
              <a:rPr lang="zh-CN" altLang="en-US" dirty="0" smtClean="0"/>
              <a:t>表明</a:t>
            </a:r>
            <a:r>
              <a:rPr lang="zh-CN" altLang="en-US" dirty="0"/>
              <a:t>两个模型存在微弱</a:t>
            </a:r>
            <a:r>
              <a:rPr lang="zh-CN" altLang="en-US" dirty="0" smtClean="0"/>
              <a:t>差异</a:t>
            </a:r>
            <a:r>
              <a:rPr lang="zh-CN" altLang="en-US" dirty="0"/>
              <a:t>。</a:t>
            </a:r>
            <a:endParaRPr lang="en-US" altLang="zh-CN" dirty="0"/>
          </a:p>
          <a:p>
            <a:pPr marL="349250" lvl="1" indent="0">
              <a:lnSpc>
                <a:spcPct val="150000"/>
              </a:lnSpc>
              <a:buNone/>
            </a:pPr>
            <a:r>
              <a:rPr lang="zh-CN" altLang="en-US" dirty="0" smtClean="0"/>
              <a:t>（</a:t>
            </a:r>
            <a:r>
              <a:rPr lang="en-US" altLang="zh-CN" dirty="0" smtClean="0"/>
              <a:t>2</a:t>
            </a:r>
            <a:r>
              <a:rPr lang="zh-CN" altLang="en-US" dirty="0" smtClean="0"/>
              <a:t>）</a:t>
            </a:r>
            <a:r>
              <a:rPr lang="en-US" altLang="zh-CN" dirty="0" smtClean="0"/>
              <a:t>BIC</a:t>
            </a:r>
            <a:r>
              <a:rPr lang="zh-CN" altLang="en-US" dirty="0" smtClean="0"/>
              <a:t>之</a:t>
            </a:r>
            <a:r>
              <a:rPr lang="zh-CN" altLang="en-US" dirty="0"/>
              <a:t>差</a:t>
            </a:r>
            <a:r>
              <a:rPr lang="zh-CN" altLang="en-US" dirty="0" smtClean="0"/>
              <a:t>在</a:t>
            </a:r>
            <a:r>
              <a:rPr lang="en-US" altLang="zh-CN" dirty="0" smtClean="0"/>
              <a:t>2~6</a:t>
            </a:r>
            <a:r>
              <a:rPr lang="zh-CN" altLang="en-US" dirty="0" smtClean="0"/>
              <a:t>之间</a:t>
            </a:r>
            <a:r>
              <a:rPr lang="zh-CN" altLang="en-US" dirty="0"/>
              <a:t>，</a:t>
            </a:r>
            <a:r>
              <a:rPr lang="zh-CN" altLang="en-US" dirty="0" smtClean="0"/>
              <a:t>表明</a:t>
            </a:r>
            <a:r>
              <a:rPr lang="zh-CN" altLang="en-US" dirty="0"/>
              <a:t>两个模型存在一定</a:t>
            </a:r>
            <a:r>
              <a:rPr lang="zh-CN" altLang="en-US" dirty="0" smtClean="0"/>
              <a:t>差异</a:t>
            </a:r>
            <a:r>
              <a:rPr lang="zh-CN" altLang="en-US" dirty="0"/>
              <a:t>。</a:t>
            </a:r>
            <a:endParaRPr lang="en-US" altLang="zh-CN" dirty="0"/>
          </a:p>
          <a:p>
            <a:pPr marL="349250" lvl="1" indent="0">
              <a:lnSpc>
                <a:spcPct val="150000"/>
              </a:lnSpc>
              <a:buNone/>
            </a:pPr>
            <a:r>
              <a:rPr lang="zh-CN" altLang="en-US" dirty="0" smtClean="0"/>
              <a:t>（</a:t>
            </a:r>
            <a:r>
              <a:rPr lang="en-US" altLang="zh-CN" dirty="0" smtClean="0"/>
              <a:t>3</a:t>
            </a:r>
            <a:r>
              <a:rPr lang="zh-CN" altLang="en-US" dirty="0" smtClean="0"/>
              <a:t>）</a:t>
            </a:r>
            <a:r>
              <a:rPr lang="en-US" altLang="zh-CN" dirty="0" smtClean="0"/>
              <a:t>BIC</a:t>
            </a:r>
            <a:r>
              <a:rPr lang="zh-CN" altLang="en-US" dirty="0" smtClean="0"/>
              <a:t>之</a:t>
            </a:r>
            <a:r>
              <a:rPr lang="zh-CN" altLang="en-US" dirty="0"/>
              <a:t>差</a:t>
            </a:r>
            <a:r>
              <a:rPr lang="zh-CN" altLang="en-US" dirty="0" smtClean="0"/>
              <a:t>在</a:t>
            </a:r>
            <a:r>
              <a:rPr lang="en-US" altLang="zh-CN" dirty="0" smtClean="0"/>
              <a:t>6~10</a:t>
            </a:r>
            <a:r>
              <a:rPr lang="zh-CN" altLang="en-US" dirty="0" smtClean="0"/>
              <a:t>之间</a:t>
            </a:r>
            <a:r>
              <a:rPr lang="zh-CN" altLang="en-US" dirty="0"/>
              <a:t>，</a:t>
            </a:r>
            <a:r>
              <a:rPr lang="zh-CN" altLang="en-US" dirty="0" smtClean="0"/>
              <a:t>表明</a:t>
            </a:r>
            <a:r>
              <a:rPr lang="zh-CN" altLang="en-US" dirty="0"/>
              <a:t>两个模型存在显著</a:t>
            </a:r>
            <a:r>
              <a:rPr lang="zh-CN" altLang="en-US" dirty="0" smtClean="0"/>
              <a:t>差异</a:t>
            </a:r>
            <a:endParaRPr lang="en-US" altLang="zh-CN" dirty="0"/>
          </a:p>
          <a:p>
            <a:pPr marL="349250" lvl="1" indent="0">
              <a:lnSpc>
                <a:spcPct val="150000"/>
              </a:lnSpc>
              <a:buNone/>
            </a:pPr>
            <a:r>
              <a:rPr lang="zh-CN" altLang="en-US" dirty="0" smtClean="0"/>
              <a:t>（</a:t>
            </a:r>
            <a:r>
              <a:rPr lang="en-US" altLang="zh-CN" dirty="0" smtClean="0"/>
              <a:t>4</a:t>
            </a:r>
            <a:r>
              <a:rPr lang="zh-CN" altLang="en-US" dirty="0" smtClean="0"/>
              <a:t>）</a:t>
            </a:r>
            <a:r>
              <a:rPr lang="en-US" altLang="zh-CN" dirty="0" smtClean="0"/>
              <a:t>BIC</a:t>
            </a:r>
            <a:r>
              <a:rPr lang="zh-CN" altLang="en-US" dirty="0" smtClean="0"/>
              <a:t>之</a:t>
            </a:r>
            <a:r>
              <a:rPr lang="zh-CN" altLang="en-US" dirty="0"/>
              <a:t>差</a:t>
            </a:r>
            <a:r>
              <a:rPr lang="zh-CN" altLang="en-US" dirty="0" smtClean="0"/>
              <a:t>大于</a:t>
            </a:r>
            <a:r>
              <a:rPr lang="en-US" altLang="zh-CN" dirty="0" smtClean="0"/>
              <a:t>10</a:t>
            </a:r>
            <a:r>
              <a:rPr lang="zh-CN" altLang="en-US" dirty="0" smtClean="0"/>
              <a:t>，表明</a:t>
            </a:r>
            <a:r>
              <a:rPr lang="zh-CN" altLang="en-US" dirty="0"/>
              <a:t>两个模型存在非常显著的</a:t>
            </a:r>
            <a:r>
              <a:rPr lang="zh-CN" altLang="en-US" dirty="0" smtClean="0"/>
              <a:t>差异</a:t>
            </a:r>
            <a:r>
              <a:rPr lang="zh-CN" altLang="en-US" dirty="0"/>
              <a:t>。</a:t>
            </a:r>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134</a:t>
            </a:fld>
            <a:endParaRPr lang="en-US" altLang="zh-CN">
              <a:solidFill>
                <a:srgbClr val="000000"/>
              </a:solidFill>
            </a:endParaRPr>
          </a:p>
        </p:txBody>
      </p:sp>
    </p:spTree>
    <p:extLst>
      <p:ext uri="{BB962C8B-B14F-4D97-AF65-F5344CB8AC3E}">
        <p14:creationId xmlns:p14="http://schemas.microsoft.com/office/powerpoint/2010/main" val="71383838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残差</a:t>
            </a:r>
            <a:endParaRPr lang="zh-CN" altLang="en-US" dirty="0"/>
          </a:p>
        </p:txBody>
      </p:sp>
      <p:sp>
        <p:nvSpPr>
          <p:cNvPr id="3" name="内容占位符 2"/>
          <p:cNvSpPr>
            <a:spLocks noGrp="1"/>
          </p:cNvSpPr>
          <p:nvPr>
            <p:ph idx="1"/>
          </p:nvPr>
        </p:nvSpPr>
        <p:spPr>
          <a:xfrm>
            <a:off x="457200" y="1719263"/>
            <a:ext cx="8382000" cy="4411662"/>
          </a:xfrm>
        </p:spPr>
        <p:txBody>
          <a:bodyPr/>
          <a:lstStyle/>
          <a:p>
            <a:r>
              <a:rPr lang="zh-CN" altLang="en-US" b="1" dirty="0" smtClean="0"/>
              <a:t>原始残差 </a:t>
            </a:r>
            <a:r>
              <a:rPr lang="zh-CN" altLang="en-US" dirty="0" smtClean="0"/>
              <a:t>：</a:t>
            </a:r>
            <a:endParaRPr lang="en-US" altLang="zh-CN" dirty="0" smtClean="0"/>
          </a:p>
          <a:p>
            <a:r>
              <a:rPr lang="en-US" altLang="zh-CN" b="1" dirty="0" smtClean="0"/>
              <a:t>Pearson</a:t>
            </a:r>
            <a:r>
              <a:rPr lang="zh-CN" altLang="en-US" b="1" dirty="0" smtClean="0"/>
              <a:t>残差</a:t>
            </a:r>
            <a:r>
              <a:rPr lang="zh-CN" altLang="en-US" dirty="0" smtClean="0"/>
              <a:t>：</a:t>
            </a:r>
            <a:endParaRPr lang="en-US" altLang="zh-CN" dirty="0" smtClean="0"/>
          </a:p>
          <a:p>
            <a:endParaRPr lang="en-US" altLang="zh-CN" dirty="0" smtClean="0"/>
          </a:p>
          <a:p>
            <a:endParaRPr lang="en-US" altLang="zh-CN" dirty="0" smtClean="0"/>
          </a:p>
          <a:p>
            <a:pPr lvl="1"/>
            <a:r>
              <a:rPr lang="en-US" altLang="zh-CN" dirty="0" smtClean="0"/>
              <a:t>Pearson</a:t>
            </a:r>
            <a:r>
              <a:rPr lang="zh-CN" altLang="en-US" dirty="0" smtClean="0"/>
              <a:t>残差</a:t>
            </a:r>
            <a:r>
              <a:rPr lang="zh-CN" altLang="en-US" dirty="0"/>
              <a:t>使得不同方差的观测值具有可比</a:t>
            </a:r>
            <a:r>
              <a:rPr lang="zh-CN" altLang="en-US" dirty="0" smtClean="0"/>
              <a:t>性。</a:t>
            </a:r>
            <a:endParaRPr lang="en-US" altLang="zh-CN" dirty="0" smtClean="0"/>
          </a:p>
          <a:p>
            <a:pPr lvl="1"/>
            <a:r>
              <a:rPr lang="en-US" altLang="zh-CN" dirty="0" smtClean="0"/>
              <a:t>Pearson</a:t>
            </a:r>
            <a:r>
              <a:rPr lang="zh-CN" altLang="en-US" dirty="0" smtClean="0"/>
              <a:t>残差的绝对值越大，模型对观测值的拟合越差</a:t>
            </a:r>
            <a:endParaRPr lang="en-US" altLang="zh-CN" dirty="0" smtClean="0"/>
          </a:p>
          <a:p>
            <a:pPr lvl="1"/>
            <a:r>
              <a:rPr lang="en-US" altLang="zh-CN" dirty="0" smtClean="0"/>
              <a:t>Pearson</a:t>
            </a:r>
            <a:r>
              <a:rPr lang="zh-CN" altLang="en-US" dirty="0" smtClean="0"/>
              <a:t>残差的散点图可以揭示数据中存在的异常值。</a:t>
            </a:r>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135</a:t>
            </a:fld>
            <a:endParaRPr lang="en-US" altLang="zh-CN">
              <a:solidFill>
                <a:srgbClr val="00000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462703582"/>
              </p:ext>
            </p:extLst>
          </p:nvPr>
        </p:nvGraphicFramePr>
        <p:xfrm>
          <a:off x="3581400" y="1676400"/>
          <a:ext cx="1447800" cy="501162"/>
        </p:xfrm>
        <a:graphic>
          <a:graphicData uri="http://schemas.openxmlformats.org/presentationml/2006/ole">
            <mc:AlternateContent xmlns:mc="http://schemas.openxmlformats.org/markup-compatibility/2006">
              <mc:Choice xmlns:v="urn:schemas-microsoft-com:vml" Requires="v">
                <p:oleObj spid="_x0000_s367796" name="Equation" r:id="rId3" imgW="660240" imgH="228600" progId="Equation.DSMT4">
                  <p:embed/>
                </p:oleObj>
              </mc:Choice>
              <mc:Fallback>
                <p:oleObj name="Equation" r:id="rId3" imgW="660240" imgH="228600" progId="Equation.DSMT4">
                  <p:embed/>
                  <p:pic>
                    <p:nvPicPr>
                      <p:cNvPr id="0" name=""/>
                      <p:cNvPicPr/>
                      <p:nvPr/>
                    </p:nvPicPr>
                    <p:blipFill>
                      <a:blip r:embed="rId4"/>
                      <a:stretch>
                        <a:fillRect/>
                      </a:stretch>
                    </p:blipFill>
                    <p:spPr>
                      <a:xfrm>
                        <a:off x="3581400" y="1676400"/>
                        <a:ext cx="1447800" cy="50116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92935654"/>
              </p:ext>
            </p:extLst>
          </p:nvPr>
        </p:nvGraphicFramePr>
        <p:xfrm>
          <a:off x="3581400" y="2895600"/>
          <a:ext cx="1371600" cy="771525"/>
        </p:xfrm>
        <a:graphic>
          <a:graphicData uri="http://schemas.openxmlformats.org/presentationml/2006/ole">
            <mc:AlternateContent xmlns:mc="http://schemas.openxmlformats.org/markup-compatibility/2006">
              <mc:Choice xmlns:v="urn:schemas-microsoft-com:vml" Requires="v">
                <p:oleObj spid="_x0000_s367797" name="Equation" r:id="rId5" imgW="812520" imgH="457200" progId="Equation.DSMT4">
                  <p:embed/>
                </p:oleObj>
              </mc:Choice>
              <mc:Fallback>
                <p:oleObj name="Equation" r:id="rId5" imgW="812520" imgH="457200" progId="Equation.DSMT4">
                  <p:embed/>
                  <p:pic>
                    <p:nvPicPr>
                      <p:cNvPr id="0" name=""/>
                      <p:cNvPicPr/>
                      <p:nvPr/>
                    </p:nvPicPr>
                    <p:blipFill>
                      <a:blip r:embed="rId6"/>
                      <a:stretch>
                        <a:fillRect/>
                      </a:stretch>
                    </p:blipFill>
                    <p:spPr>
                      <a:xfrm>
                        <a:off x="3581400" y="2895600"/>
                        <a:ext cx="1371600" cy="771525"/>
                      </a:xfrm>
                      <a:prstGeom prst="rect">
                        <a:avLst/>
                      </a:prstGeom>
                    </p:spPr>
                  </p:pic>
                </p:oleObj>
              </mc:Fallback>
            </mc:AlternateContent>
          </a:graphicData>
        </a:graphic>
      </p:graphicFrame>
    </p:spTree>
    <p:extLst>
      <p:ext uri="{BB962C8B-B14F-4D97-AF65-F5344CB8AC3E}">
        <p14:creationId xmlns:p14="http://schemas.microsoft.com/office/powerpoint/2010/main" val="2550658999"/>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smtClean="0"/>
              <a:t>标准化</a:t>
            </a:r>
            <a:r>
              <a:rPr lang="en-US" altLang="zh-CN" b="1" dirty="0" smtClean="0"/>
              <a:t>Pearson</a:t>
            </a:r>
            <a:r>
              <a:rPr lang="zh-CN" altLang="en-US" b="1" dirty="0" smtClean="0"/>
              <a:t>残差</a:t>
            </a:r>
            <a:endParaRPr lang="en-US" altLang="zh-CN" b="1" dirty="0" smtClean="0"/>
          </a:p>
          <a:p>
            <a:endParaRPr lang="en-US" altLang="zh-CN" dirty="0" smtClean="0"/>
          </a:p>
          <a:p>
            <a:endParaRPr lang="en-US" altLang="zh-CN" dirty="0"/>
          </a:p>
          <a:p>
            <a:pPr marL="0" indent="0">
              <a:buNone/>
            </a:pPr>
            <a:r>
              <a:rPr lang="en-US" altLang="zh-CN" dirty="0" smtClean="0"/>
              <a:t>        </a:t>
            </a:r>
            <a:r>
              <a:rPr lang="zh-CN" altLang="en-US" dirty="0" smtClean="0"/>
              <a:t>是第</a:t>
            </a:r>
            <a:r>
              <a:rPr lang="en-US" altLang="zh-CN" i="1" dirty="0" err="1" smtClean="0">
                <a:latin typeface="Times New Roman" panose="02020603050405020304" pitchFamily="18" charset="0"/>
                <a:cs typeface="Times New Roman" panose="02020603050405020304" pitchFamily="18" charset="0"/>
              </a:rPr>
              <a:t>i</a:t>
            </a:r>
            <a:r>
              <a:rPr lang="zh-CN" altLang="en-US" dirty="0" smtClean="0"/>
              <a:t>个观测值的杠杆值，是帽子矩阵对角线上的第</a:t>
            </a:r>
            <a:r>
              <a:rPr lang="en-US" altLang="zh-CN" i="1" dirty="0" err="1" smtClean="0">
                <a:latin typeface="Times New Roman" panose="02020603050405020304" pitchFamily="18" charset="0"/>
                <a:cs typeface="Times New Roman" panose="02020603050405020304" pitchFamily="18" charset="0"/>
              </a:rPr>
              <a:t>i</a:t>
            </a:r>
            <a:r>
              <a:rPr lang="zh-CN" altLang="en-US" dirty="0" smtClean="0"/>
              <a:t>个元素：</a:t>
            </a:r>
            <a:endParaRPr lang="en-US" altLang="zh-CN" dirty="0" smtClean="0"/>
          </a:p>
          <a:p>
            <a:pPr marL="0" indent="0">
              <a:buNone/>
            </a:pPr>
            <a:endParaRPr lang="en-US" altLang="zh-CN"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136</a:t>
            </a:fld>
            <a:endParaRPr lang="en-US" altLang="zh-CN">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105176454"/>
              </p:ext>
            </p:extLst>
          </p:nvPr>
        </p:nvGraphicFramePr>
        <p:xfrm>
          <a:off x="2667000" y="4267200"/>
          <a:ext cx="3429000" cy="455602"/>
        </p:xfrm>
        <a:graphic>
          <a:graphicData uri="http://schemas.openxmlformats.org/presentationml/2006/ole">
            <mc:AlternateContent xmlns:mc="http://schemas.openxmlformats.org/markup-compatibility/2006">
              <mc:Choice xmlns:v="urn:schemas-microsoft-com:vml" Requires="v">
                <p:oleObj spid="_x0000_s350590" name="Equation" r:id="rId3" imgW="1815840" imgH="241200" progId="Equation.DSMT4">
                  <p:embed/>
                </p:oleObj>
              </mc:Choice>
              <mc:Fallback>
                <p:oleObj name="Equation" r:id="rId3" imgW="1815840" imgH="241200" progId="Equation.DSMT4">
                  <p:embed/>
                  <p:pic>
                    <p:nvPicPr>
                      <p:cNvPr id="0" name=""/>
                      <p:cNvPicPr/>
                      <p:nvPr/>
                    </p:nvPicPr>
                    <p:blipFill>
                      <a:blip r:embed="rId4"/>
                      <a:stretch>
                        <a:fillRect/>
                      </a:stretch>
                    </p:blipFill>
                    <p:spPr>
                      <a:xfrm>
                        <a:off x="2667000" y="4267200"/>
                        <a:ext cx="3429000" cy="45560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042289776"/>
              </p:ext>
            </p:extLst>
          </p:nvPr>
        </p:nvGraphicFramePr>
        <p:xfrm>
          <a:off x="2667000" y="5257800"/>
          <a:ext cx="3255963" cy="850900"/>
        </p:xfrm>
        <a:graphic>
          <a:graphicData uri="http://schemas.openxmlformats.org/presentationml/2006/ole">
            <mc:AlternateContent xmlns:mc="http://schemas.openxmlformats.org/markup-compatibility/2006">
              <mc:Choice xmlns:v="urn:schemas-microsoft-com:vml" Requires="v">
                <p:oleObj spid="_x0000_s350591" name="Equation" r:id="rId5" imgW="1942920" imgH="507960" progId="Equation.DSMT4">
                  <p:embed/>
                </p:oleObj>
              </mc:Choice>
              <mc:Fallback>
                <p:oleObj name="Equation" r:id="rId5" imgW="1942920" imgH="507960" progId="Equation.DSMT4">
                  <p:embed/>
                  <p:pic>
                    <p:nvPicPr>
                      <p:cNvPr id="0" name=""/>
                      <p:cNvPicPr/>
                      <p:nvPr/>
                    </p:nvPicPr>
                    <p:blipFill>
                      <a:blip r:embed="rId6"/>
                      <a:stretch>
                        <a:fillRect/>
                      </a:stretch>
                    </p:blipFill>
                    <p:spPr>
                      <a:xfrm>
                        <a:off x="2667000" y="5257800"/>
                        <a:ext cx="3255963" cy="8509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94590299"/>
              </p:ext>
            </p:extLst>
          </p:nvPr>
        </p:nvGraphicFramePr>
        <p:xfrm>
          <a:off x="914400" y="3321538"/>
          <a:ext cx="317500" cy="488462"/>
        </p:xfrm>
        <a:graphic>
          <a:graphicData uri="http://schemas.openxmlformats.org/presentationml/2006/ole">
            <mc:AlternateContent xmlns:mc="http://schemas.openxmlformats.org/markup-compatibility/2006">
              <mc:Choice xmlns:v="urn:schemas-microsoft-com:vml" Requires="v">
                <p:oleObj spid="_x0000_s350592" name="Equation" r:id="rId7" imgW="164880" imgH="253800" progId="Equation.DSMT4">
                  <p:embed/>
                </p:oleObj>
              </mc:Choice>
              <mc:Fallback>
                <p:oleObj name="Equation" r:id="rId7" imgW="164880" imgH="253800" progId="Equation.DSMT4">
                  <p:embed/>
                  <p:pic>
                    <p:nvPicPr>
                      <p:cNvPr id="0" name=""/>
                      <p:cNvPicPr/>
                      <p:nvPr/>
                    </p:nvPicPr>
                    <p:blipFill>
                      <a:blip r:embed="rId8"/>
                      <a:stretch>
                        <a:fillRect/>
                      </a:stretch>
                    </p:blipFill>
                    <p:spPr>
                      <a:xfrm>
                        <a:off x="914400" y="3321538"/>
                        <a:ext cx="317500" cy="48846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678159138"/>
              </p:ext>
            </p:extLst>
          </p:nvPr>
        </p:nvGraphicFramePr>
        <p:xfrm>
          <a:off x="3657600" y="2209800"/>
          <a:ext cx="1849359" cy="871537"/>
        </p:xfrm>
        <a:graphic>
          <a:graphicData uri="http://schemas.openxmlformats.org/presentationml/2006/ole">
            <mc:AlternateContent xmlns:mc="http://schemas.openxmlformats.org/markup-compatibility/2006">
              <mc:Choice xmlns:v="urn:schemas-microsoft-com:vml" Requires="v">
                <p:oleObj spid="_x0000_s350593" name="Equation" r:id="rId9" imgW="1104840" imgH="520560" progId="Equation.DSMT4">
                  <p:embed/>
                </p:oleObj>
              </mc:Choice>
              <mc:Fallback>
                <p:oleObj name="Equation" r:id="rId9" imgW="1104840" imgH="520560" progId="Equation.DSMT4">
                  <p:embed/>
                  <p:pic>
                    <p:nvPicPr>
                      <p:cNvPr id="0" name=""/>
                      <p:cNvPicPr/>
                      <p:nvPr/>
                    </p:nvPicPr>
                    <p:blipFill>
                      <a:blip r:embed="rId10"/>
                      <a:stretch>
                        <a:fillRect/>
                      </a:stretch>
                    </p:blipFill>
                    <p:spPr>
                      <a:xfrm>
                        <a:off x="3657600" y="2209800"/>
                        <a:ext cx="1849359" cy="871537"/>
                      </a:xfrm>
                      <a:prstGeom prst="rect">
                        <a:avLst/>
                      </a:prstGeom>
                    </p:spPr>
                  </p:pic>
                </p:oleObj>
              </mc:Fallback>
            </mc:AlternateContent>
          </a:graphicData>
        </a:graphic>
      </p:graphicFrame>
    </p:spTree>
    <p:extLst>
      <p:ext uri="{BB962C8B-B14F-4D97-AF65-F5344CB8AC3E}">
        <p14:creationId xmlns:p14="http://schemas.microsoft.com/office/powerpoint/2010/main" val="160725020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1" dirty="0" smtClean="0"/>
              <a:t>Deviance</a:t>
            </a:r>
            <a:r>
              <a:rPr lang="zh-CN" altLang="en-US" b="1" dirty="0" smtClean="0"/>
              <a:t>残差</a:t>
            </a:r>
            <a:endParaRPr lang="en-US" altLang="zh-CN" b="1" dirty="0" smtClean="0"/>
          </a:p>
          <a:p>
            <a:endParaRPr lang="en-US" altLang="zh-CN" dirty="0" smtClean="0"/>
          </a:p>
          <a:p>
            <a:endParaRPr lang="en-US" altLang="zh-CN" dirty="0"/>
          </a:p>
          <a:p>
            <a:endParaRPr lang="en-US" altLang="zh-CN" dirty="0"/>
          </a:p>
          <a:p>
            <a:r>
              <a:rPr lang="en-US" altLang="zh-CN" dirty="0" smtClean="0"/>
              <a:t>Deviance</a:t>
            </a:r>
            <a:r>
              <a:rPr lang="zh-CN" altLang="en-US" dirty="0" smtClean="0"/>
              <a:t>残差近似服从正态分布</a:t>
            </a:r>
            <a:endParaRPr lang="en-US" altLang="zh-CN"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137</a:t>
            </a:fld>
            <a:endParaRPr lang="en-US" altLang="zh-CN">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595012741"/>
              </p:ext>
            </p:extLst>
          </p:nvPr>
        </p:nvGraphicFramePr>
        <p:xfrm>
          <a:off x="2667000" y="2667000"/>
          <a:ext cx="3454394" cy="609599"/>
        </p:xfrm>
        <a:graphic>
          <a:graphicData uri="http://schemas.openxmlformats.org/presentationml/2006/ole">
            <mc:AlternateContent xmlns:mc="http://schemas.openxmlformats.org/markup-compatibility/2006">
              <mc:Choice xmlns:v="urn:schemas-microsoft-com:vml" Requires="v">
                <p:oleObj spid="_x0000_s368776" name="Equation" r:id="rId3" imgW="1511280" imgH="266400" progId="Equation.DSMT4">
                  <p:embed/>
                </p:oleObj>
              </mc:Choice>
              <mc:Fallback>
                <p:oleObj name="Equation" r:id="rId3" imgW="1511280" imgH="266400" progId="Equation.DSMT4">
                  <p:embed/>
                  <p:pic>
                    <p:nvPicPr>
                      <p:cNvPr id="0" name=""/>
                      <p:cNvPicPr/>
                      <p:nvPr/>
                    </p:nvPicPr>
                    <p:blipFill>
                      <a:blip r:embed="rId4"/>
                      <a:stretch>
                        <a:fillRect/>
                      </a:stretch>
                    </p:blipFill>
                    <p:spPr>
                      <a:xfrm>
                        <a:off x="2667000" y="2667000"/>
                        <a:ext cx="3454394" cy="609599"/>
                      </a:xfrm>
                      <a:prstGeom prst="rect">
                        <a:avLst/>
                      </a:prstGeom>
                    </p:spPr>
                  </p:pic>
                </p:oleObj>
              </mc:Fallback>
            </mc:AlternateContent>
          </a:graphicData>
        </a:graphic>
      </p:graphicFrame>
    </p:spTree>
    <p:extLst>
      <p:ext uri="{BB962C8B-B14F-4D97-AF65-F5344CB8AC3E}">
        <p14:creationId xmlns:p14="http://schemas.microsoft.com/office/powerpoint/2010/main" val="422443031"/>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smtClean="0"/>
              <a:t>标准化</a:t>
            </a:r>
            <a:r>
              <a:rPr lang="en-US" altLang="zh-CN" b="1" dirty="0" smtClean="0"/>
              <a:t>Deviance</a:t>
            </a:r>
            <a:r>
              <a:rPr lang="zh-CN" altLang="en-US" b="1" dirty="0" smtClean="0"/>
              <a:t>残差</a:t>
            </a:r>
            <a:endParaRPr lang="en-US" altLang="zh-CN" b="1" dirty="0" smtClean="0"/>
          </a:p>
          <a:p>
            <a:endParaRPr lang="en-US" altLang="zh-CN" dirty="0" smtClean="0"/>
          </a:p>
          <a:p>
            <a:endParaRPr lang="en-US" altLang="zh-CN" dirty="0"/>
          </a:p>
          <a:p>
            <a:endParaRPr lang="en-US" altLang="zh-CN" dirty="0" smtClean="0"/>
          </a:p>
          <a:p>
            <a:endParaRPr lang="en-US" altLang="zh-CN" dirty="0" smtClean="0"/>
          </a:p>
          <a:p>
            <a:r>
              <a:rPr lang="zh-CN" altLang="en-US" dirty="0" smtClean="0"/>
              <a:t>标准化</a:t>
            </a:r>
            <a:r>
              <a:rPr lang="en-US" altLang="zh-CN" dirty="0" smtClean="0"/>
              <a:t>Deviance</a:t>
            </a:r>
            <a:r>
              <a:rPr lang="zh-CN" altLang="en-US" dirty="0" smtClean="0"/>
              <a:t>残差的均值为</a:t>
            </a:r>
            <a:r>
              <a:rPr lang="en-US" altLang="zh-CN" dirty="0" smtClean="0"/>
              <a:t>0</a:t>
            </a:r>
            <a:r>
              <a:rPr lang="zh-CN" altLang="en-US" dirty="0" smtClean="0"/>
              <a:t>，方差为</a:t>
            </a:r>
            <a:r>
              <a:rPr lang="en-US" altLang="zh-CN" dirty="0" smtClean="0"/>
              <a:t>1.</a:t>
            </a:r>
          </a:p>
          <a:p>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138</a:t>
            </a:fld>
            <a:endParaRPr lang="en-US" altLang="zh-CN">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3706667"/>
              </p:ext>
            </p:extLst>
          </p:nvPr>
        </p:nvGraphicFramePr>
        <p:xfrm>
          <a:off x="2895600" y="2819400"/>
          <a:ext cx="1981200" cy="933669"/>
        </p:xfrm>
        <a:graphic>
          <a:graphicData uri="http://schemas.openxmlformats.org/presentationml/2006/ole">
            <mc:AlternateContent xmlns:mc="http://schemas.openxmlformats.org/markup-compatibility/2006">
              <mc:Choice xmlns:v="urn:schemas-microsoft-com:vml" Requires="v">
                <p:oleObj spid="_x0000_s351351" name="Equation" r:id="rId3" imgW="1104840" imgH="520560" progId="Equation.DSMT4">
                  <p:embed/>
                </p:oleObj>
              </mc:Choice>
              <mc:Fallback>
                <p:oleObj name="Equation" r:id="rId3" imgW="1104840" imgH="520560" progId="Equation.DSMT4">
                  <p:embed/>
                  <p:pic>
                    <p:nvPicPr>
                      <p:cNvPr id="0" name=""/>
                      <p:cNvPicPr/>
                      <p:nvPr/>
                    </p:nvPicPr>
                    <p:blipFill>
                      <a:blip r:embed="rId4"/>
                      <a:stretch>
                        <a:fillRect/>
                      </a:stretch>
                    </p:blipFill>
                    <p:spPr>
                      <a:xfrm>
                        <a:off x="2895600" y="2819400"/>
                        <a:ext cx="1981200" cy="933669"/>
                      </a:xfrm>
                      <a:prstGeom prst="rect">
                        <a:avLst/>
                      </a:prstGeom>
                    </p:spPr>
                  </p:pic>
                </p:oleObj>
              </mc:Fallback>
            </mc:AlternateContent>
          </a:graphicData>
        </a:graphic>
      </p:graphicFrame>
    </p:spTree>
    <p:extLst>
      <p:ext uri="{BB962C8B-B14F-4D97-AF65-F5344CB8AC3E}">
        <p14:creationId xmlns:p14="http://schemas.microsoft.com/office/powerpoint/2010/main" val="2877512863"/>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smtClean="0"/>
              <a:t>调整的</a:t>
            </a:r>
            <a:r>
              <a:rPr lang="en-US" altLang="zh-CN" b="1" dirty="0" smtClean="0"/>
              <a:t>Deviance</a:t>
            </a:r>
            <a:r>
              <a:rPr lang="zh-CN" altLang="en-US" b="1" dirty="0" smtClean="0"/>
              <a:t>残差</a:t>
            </a:r>
            <a:endParaRPr lang="en-US" altLang="zh-CN" b="1" dirty="0" smtClean="0"/>
          </a:p>
          <a:p>
            <a:r>
              <a:rPr lang="zh-CN" altLang="en-US" dirty="0" smtClean="0"/>
              <a:t>对</a:t>
            </a:r>
            <a:r>
              <a:rPr lang="en-US" altLang="zh-CN" dirty="0" smtClean="0"/>
              <a:t>Deviance</a:t>
            </a:r>
            <a:r>
              <a:rPr lang="zh-CN" altLang="en-US" dirty="0" smtClean="0"/>
              <a:t>残差进行调整，可以使其更加近似服从正态分布：</a:t>
            </a:r>
            <a:endParaRPr lang="en-US" altLang="zh-CN" dirty="0" smtClean="0"/>
          </a:p>
          <a:p>
            <a:endParaRPr lang="en-US" altLang="zh-CN" dirty="0" smtClean="0"/>
          </a:p>
          <a:p>
            <a:endParaRPr lang="en-US" altLang="zh-CN" dirty="0" smtClean="0"/>
          </a:p>
          <a:p>
            <a:pPr>
              <a:lnSpc>
                <a:spcPct val="150000"/>
              </a:lnSpc>
              <a:spcBef>
                <a:spcPts val="0"/>
              </a:spcBef>
            </a:pPr>
            <a:r>
              <a:rPr lang="zh-CN" altLang="en-US" dirty="0" smtClean="0"/>
              <a:t>上式右边第二项是对</a:t>
            </a:r>
            <a:r>
              <a:rPr lang="en-US" altLang="zh-CN" dirty="0" smtClean="0"/>
              <a:t>Deviance</a:t>
            </a:r>
            <a:r>
              <a:rPr lang="zh-CN" altLang="en-US" dirty="0" smtClean="0"/>
              <a:t>残差的调整项。譬如，泊松分布的调整项为         ，伽马分布的调整项为        ，逆高斯分布的调整项为          </a:t>
            </a:r>
            <a:endParaRPr lang="zh-CN" altLang="en-US"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139</a:t>
            </a:fld>
            <a:endParaRPr lang="en-US" altLang="zh-CN">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182073124"/>
              </p:ext>
            </p:extLst>
          </p:nvPr>
        </p:nvGraphicFramePr>
        <p:xfrm>
          <a:off x="2590800" y="2895600"/>
          <a:ext cx="3603625" cy="1143000"/>
        </p:xfrm>
        <a:graphic>
          <a:graphicData uri="http://schemas.openxmlformats.org/presentationml/2006/ole">
            <mc:AlternateContent xmlns:mc="http://schemas.openxmlformats.org/markup-compatibility/2006">
              <mc:Choice xmlns:v="urn:schemas-microsoft-com:vml" Requires="v">
                <p:oleObj spid="_x0000_s352635" name="Equation" r:id="rId3" imgW="1841400" imgH="583920" progId="Equation.DSMT4">
                  <p:embed/>
                </p:oleObj>
              </mc:Choice>
              <mc:Fallback>
                <p:oleObj name="Equation" r:id="rId3" imgW="1841400" imgH="583920" progId="Equation.DSMT4">
                  <p:embed/>
                  <p:pic>
                    <p:nvPicPr>
                      <p:cNvPr id="0" name=""/>
                      <p:cNvPicPr/>
                      <p:nvPr/>
                    </p:nvPicPr>
                    <p:blipFill>
                      <a:blip r:embed="rId4"/>
                      <a:stretch>
                        <a:fillRect/>
                      </a:stretch>
                    </p:blipFill>
                    <p:spPr>
                      <a:xfrm>
                        <a:off x="2590800" y="2895600"/>
                        <a:ext cx="3603625" cy="11430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47833912"/>
              </p:ext>
            </p:extLst>
          </p:nvPr>
        </p:nvGraphicFramePr>
        <p:xfrm>
          <a:off x="3048000" y="4724400"/>
          <a:ext cx="838200" cy="533400"/>
        </p:xfrm>
        <a:graphic>
          <a:graphicData uri="http://schemas.openxmlformats.org/presentationml/2006/ole">
            <mc:AlternateContent xmlns:mc="http://schemas.openxmlformats.org/markup-compatibility/2006">
              <mc:Choice xmlns:v="urn:schemas-microsoft-com:vml" Requires="v">
                <p:oleObj spid="_x0000_s352636" name="Equation" r:id="rId5" imgW="419040" imgH="266400" progId="Equation.DSMT4">
                  <p:embed/>
                </p:oleObj>
              </mc:Choice>
              <mc:Fallback>
                <p:oleObj name="Equation" r:id="rId5" imgW="419040" imgH="266400" progId="Equation.DSMT4">
                  <p:embed/>
                  <p:pic>
                    <p:nvPicPr>
                      <p:cNvPr id="0" name=""/>
                      <p:cNvPicPr/>
                      <p:nvPr/>
                    </p:nvPicPr>
                    <p:blipFill>
                      <a:blip r:embed="rId6"/>
                      <a:stretch>
                        <a:fillRect/>
                      </a:stretch>
                    </p:blipFill>
                    <p:spPr>
                      <a:xfrm>
                        <a:off x="3048000" y="4724400"/>
                        <a:ext cx="838200" cy="5334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11251318"/>
              </p:ext>
            </p:extLst>
          </p:nvPr>
        </p:nvGraphicFramePr>
        <p:xfrm>
          <a:off x="6781800" y="4710112"/>
          <a:ext cx="762000" cy="547688"/>
        </p:xfrm>
        <a:graphic>
          <a:graphicData uri="http://schemas.openxmlformats.org/presentationml/2006/ole">
            <mc:AlternateContent xmlns:mc="http://schemas.openxmlformats.org/markup-compatibility/2006">
              <mc:Choice xmlns:v="urn:schemas-microsoft-com:vml" Requires="v">
                <p:oleObj spid="_x0000_s352637" name="Equation" r:id="rId7" imgW="406080" imgH="291960" progId="Equation.DSMT4">
                  <p:embed/>
                </p:oleObj>
              </mc:Choice>
              <mc:Fallback>
                <p:oleObj name="Equation" r:id="rId7" imgW="406080" imgH="291960" progId="Equation.DSMT4">
                  <p:embed/>
                  <p:pic>
                    <p:nvPicPr>
                      <p:cNvPr id="0" name=""/>
                      <p:cNvPicPr/>
                      <p:nvPr/>
                    </p:nvPicPr>
                    <p:blipFill>
                      <a:blip r:embed="rId8"/>
                      <a:stretch>
                        <a:fillRect/>
                      </a:stretch>
                    </p:blipFill>
                    <p:spPr>
                      <a:xfrm>
                        <a:off x="6781800" y="4710112"/>
                        <a:ext cx="762000" cy="54768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354493071"/>
              </p:ext>
            </p:extLst>
          </p:nvPr>
        </p:nvGraphicFramePr>
        <p:xfrm>
          <a:off x="3352800" y="5306291"/>
          <a:ext cx="1066800" cy="484909"/>
        </p:xfrm>
        <a:graphic>
          <a:graphicData uri="http://schemas.openxmlformats.org/presentationml/2006/ole">
            <mc:AlternateContent xmlns:mc="http://schemas.openxmlformats.org/markup-compatibility/2006">
              <mc:Choice xmlns:v="urn:schemas-microsoft-com:vml" Requires="v">
                <p:oleObj spid="_x0000_s352638" name="Equation" r:id="rId9" imgW="558720" imgH="253800" progId="Equation.DSMT4">
                  <p:embed/>
                </p:oleObj>
              </mc:Choice>
              <mc:Fallback>
                <p:oleObj name="Equation" r:id="rId9" imgW="558720" imgH="253800" progId="Equation.DSMT4">
                  <p:embed/>
                  <p:pic>
                    <p:nvPicPr>
                      <p:cNvPr id="0" name=""/>
                      <p:cNvPicPr/>
                      <p:nvPr/>
                    </p:nvPicPr>
                    <p:blipFill>
                      <a:blip r:embed="rId10"/>
                      <a:stretch>
                        <a:fillRect/>
                      </a:stretch>
                    </p:blipFill>
                    <p:spPr>
                      <a:xfrm>
                        <a:off x="3352800" y="5306291"/>
                        <a:ext cx="1066800" cy="484909"/>
                      </a:xfrm>
                      <a:prstGeom prst="rect">
                        <a:avLst/>
                      </a:prstGeom>
                    </p:spPr>
                  </p:pic>
                </p:oleObj>
              </mc:Fallback>
            </mc:AlternateContent>
          </a:graphicData>
        </a:graphic>
      </p:graphicFrame>
    </p:spTree>
    <p:extLst>
      <p:ext uri="{BB962C8B-B14F-4D97-AF65-F5344CB8AC3E}">
        <p14:creationId xmlns:p14="http://schemas.microsoft.com/office/powerpoint/2010/main" val="14087537"/>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smtClean="0"/>
              <a:t>分位残差</a:t>
            </a:r>
            <a:endParaRPr lang="en-US" altLang="zh-CN" b="1" dirty="0" smtClean="0"/>
          </a:p>
          <a:p>
            <a:r>
              <a:rPr lang="zh-CN" altLang="en-US" sz="2000" dirty="0" smtClean="0"/>
              <a:t>如果因变量     是连续变量，则分位残差定义为：</a:t>
            </a:r>
            <a:endParaRPr lang="en-US" altLang="zh-CN" sz="2000" dirty="0" smtClean="0"/>
          </a:p>
          <a:p>
            <a:r>
              <a:rPr lang="zh-CN" altLang="en-US" sz="2000" dirty="0" smtClean="0"/>
              <a:t>如果因变量     是离散变量，则分位残差是随机的，定义为：</a:t>
            </a:r>
            <a:endParaRPr lang="en-US" altLang="zh-CN" sz="2000" dirty="0" smtClean="0"/>
          </a:p>
          <a:p>
            <a:endParaRPr lang="en-US" altLang="zh-CN" sz="2000" dirty="0"/>
          </a:p>
          <a:p>
            <a:r>
              <a:rPr lang="zh-CN" altLang="en-US" sz="2000" dirty="0" smtClean="0"/>
              <a:t>其中：  </a:t>
            </a:r>
            <a:endParaRPr lang="zh-CN" altLang="en-US" sz="2000" dirty="0"/>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140</a:t>
            </a:fld>
            <a:endParaRPr lang="en-US" altLang="zh-CN">
              <a:solidFill>
                <a:srgbClr val="00000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422841160"/>
              </p:ext>
            </p:extLst>
          </p:nvPr>
        </p:nvGraphicFramePr>
        <p:xfrm>
          <a:off x="6372225" y="2114550"/>
          <a:ext cx="2160588" cy="522288"/>
        </p:xfrm>
        <a:graphic>
          <a:graphicData uri="http://schemas.openxmlformats.org/presentationml/2006/ole">
            <mc:AlternateContent xmlns:mc="http://schemas.openxmlformats.org/markup-compatibility/2006">
              <mc:Choice xmlns:v="urn:schemas-microsoft-com:vml" Requires="v">
                <p:oleObj spid="_x0000_s353770" name="Equation" r:id="rId3" imgW="1371600" imgH="342720" progId="Equation.DSMT4">
                  <p:embed/>
                </p:oleObj>
              </mc:Choice>
              <mc:Fallback>
                <p:oleObj name="Equation" r:id="rId3" imgW="1371600" imgH="342720" progId="Equation.DSMT4">
                  <p:embed/>
                  <p:pic>
                    <p:nvPicPr>
                      <p:cNvPr id="0" name=""/>
                      <p:cNvPicPr/>
                      <p:nvPr/>
                    </p:nvPicPr>
                    <p:blipFill>
                      <a:blip r:embed="rId4"/>
                      <a:stretch>
                        <a:fillRect/>
                      </a:stretch>
                    </p:blipFill>
                    <p:spPr>
                      <a:xfrm>
                        <a:off x="6372225" y="2114550"/>
                        <a:ext cx="2160588" cy="52228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684001950"/>
              </p:ext>
            </p:extLst>
          </p:nvPr>
        </p:nvGraphicFramePr>
        <p:xfrm>
          <a:off x="2895600" y="4343400"/>
          <a:ext cx="2717800" cy="1878012"/>
        </p:xfrm>
        <a:graphic>
          <a:graphicData uri="http://schemas.openxmlformats.org/presentationml/2006/ole">
            <mc:AlternateContent xmlns:mc="http://schemas.openxmlformats.org/markup-compatibility/2006">
              <mc:Choice xmlns:v="urn:schemas-microsoft-com:vml" Requires="v">
                <p:oleObj spid="_x0000_s353771" name="Equation" r:id="rId5" imgW="1193760" imgH="1002960" progId="Equation.DSMT4">
                  <p:embed/>
                </p:oleObj>
              </mc:Choice>
              <mc:Fallback>
                <p:oleObj name="Equation" r:id="rId5" imgW="1193760" imgH="1002960" progId="Equation.DSMT4">
                  <p:embed/>
                  <p:pic>
                    <p:nvPicPr>
                      <p:cNvPr id="0" name=""/>
                      <p:cNvPicPr/>
                      <p:nvPr/>
                    </p:nvPicPr>
                    <p:blipFill>
                      <a:blip r:embed="rId6"/>
                      <a:stretch>
                        <a:fillRect/>
                      </a:stretch>
                    </p:blipFill>
                    <p:spPr>
                      <a:xfrm>
                        <a:off x="2895600" y="4343400"/>
                        <a:ext cx="2717800" cy="1878012"/>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867566138"/>
              </p:ext>
            </p:extLst>
          </p:nvPr>
        </p:nvGraphicFramePr>
        <p:xfrm>
          <a:off x="3124200" y="3276600"/>
          <a:ext cx="1524000" cy="459619"/>
        </p:xfrm>
        <a:graphic>
          <a:graphicData uri="http://schemas.openxmlformats.org/presentationml/2006/ole">
            <mc:AlternateContent xmlns:mc="http://schemas.openxmlformats.org/markup-compatibility/2006">
              <mc:Choice xmlns:v="urn:schemas-microsoft-com:vml" Requires="v">
                <p:oleObj spid="_x0000_s353772" name="Equation" r:id="rId7" imgW="799920" imgH="241200" progId="Equation.DSMT4">
                  <p:embed/>
                </p:oleObj>
              </mc:Choice>
              <mc:Fallback>
                <p:oleObj name="Equation" r:id="rId7" imgW="799920" imgH="241200" progId="Equation.DSMT4">
                  <p:embed/>
                  <p:pic>
                    <p:nvPicPr>
                      <p:cNvPr id="0" name=""/>
                      <p:cNvPicPr/>
                      <p:nvPr/>
                    </p:nvPicPr>
                    <p:blipFill>
                      <a:blip r:embed="rId8"/>
                      <a:stretch>
                        <a:fillRect/>
                      </a:stretch>
                    </p:blipFill>
                    <p:spPr>
                      <a:xfrm>
                        <a:off x="3124200" y="3276600"/>
                        <a:ext cx="1524000" cy="459619"/>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07506367"/>
              </p:ext>
            </p:extLst>
          </p:nvPr>
        </p:nvGraphicFramePr>
        <p:xfrm>
          <a:off x="2133600" y="2590800"/>
          <a:ext cx="381000" cy="571500"/>
        </p:xfrm>
        <a:graphic>
          <a:graphicData uri="http://schemas.openxmlformats.org/presentationml/2006/ole">
            <mc:AlternateContent xmlns:mc="http://schemas.openxmlformats.org/markup-compatibility/2006">
              <mc:Choice xmlns:v="urn:schemas-microsoft-com:vml" Requires="v">
                <p:oleObj spid="_x0000_s353773" name="Equation" r:id="rId9" imgW="152280" imgH="228600" progId="Equation.DSMT4">
                  <p:embed/>
                </p:oleObj>
              </mc:Choice>
              <mc:Fallback>
                <p:oleObj name="Equation" r:id="rId9" imgW="152280" imgH="228600" progId="Equation.DSMT4">
                  <p:embed/>
                  <p:pic>
                    <p:nvPicPr>
                      <p:cNvPr id="0" name=""/>
                      <p:cNvPicPr/>
                      <p:nvPr/>
                    </p:nvPicPr>
                    <p:blipFill>
                      <a:blip r:embed="rId10"/>
                      <a:stretch>
                        <a:fillRect/>
                      </a:stretch>
                    </p:blipFill>
                    <p:spPr>
                      <a:xfrm>
                        <a:off x="2133600" y="2590800"/>
                        <a:ext cx="381000" cy="5715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546785190"/>
              </p:ext>
            </p:extLst>
          </p:nvPr>
        </p:nvGraphicFramePr>
        <p:xfrm>
          <a:off x="2133600" y="2133600"/>
          <a:ext cx="381000" cy="571500"/>
        </p:xfrm>
        <a:graphic>
          <a:graphicData uri="http://schemas.openxmlformats.org/presentationml/2006/ole">
            <mc:AlternateContent xmlns:mc="http://schemas.openxmlformats.org/markup-compatibility/2006">
              <mc:Choice xmlns:v="urn:schemas-microsoft-com:vml" Requires="v">
                <p:oleObj spid="_x0000_s353774" name="Equation" r:id="rId11" imgW="152280" imgH="228600" progId="Equation.DSMT4">
                  <p:embed/>
                </p:oleObj>
              </mc:Choice>
              <mc:Fallback>
                <p:oleObj name="Equation" r:id="rId11" imgW="152280" imgH="228600" progId="Equation.DSMT4">
                  <p:embed/>
                  <p:pic>
                    <p:nvPicPr>
                      <p:cNvPr id="0" name=""/>
                      <p:cNvPicPr/>
                      <p:nvPr/>
                    </p:nvPicPr>
                    <p:blipFill>
                      <a:blip r:embed="rId10"/>
                      <a:stretch>
                        <a:fillRect/>
                      </a:stretch>
                    </p:blipFill>
                    <p:spPr>
                      <a:xfrm>
                        <a:off x="2133600" y="2133600"/>
                        <a:ext cx="381000" cy="571500"/>
                      </a:xfrm>
                      <a:prstGeom prst="rect">
                        <a:avLst/>
                      </a:prstGeom>
                    </p:spPr>
                  </p:pic>
                </p:oleObj>
              </mc:Fallback>
            </mc:AlternateContent>
          </a:graphicData>
        </a:graphic>
      </p:graphicFrame>
    </p:spTree>
    <p:extLst>
      <p:ext uri="{BB962C8B-B14F-4D97-AF65-F5344CB8AC3E}">
        <p14:creationId xmlns:p14="http://schemas.microsoft.com/office/powerpoint/2010/main" val="364719023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pPr>
            <a:r>
              <a:rPr lang="zh-CN" altLang="en-US" dirty="0"/>
              <a:t>分位残差和随机化分位残差近似服从</a:t>
            </a:r>
            <a:r>
              <a:rPr lang="zh-CN" altLang="en-US" dirty="0" smtClean="0"/>
              <a:t>标准正态分布</a:t>
            </a:r>
            <a:endParaRPr lang="en-US" altLang="zh-CN" dirty="0" smtClean="0"/>
          </a:p>
          <a:p>
            <a:pPr>
              <a:lnSpc>
                <a:spcPct val="150000"/>
              </a:lnSpc>
            </a:pPr>
            <a:r>
              <a:rPr lang="zh-CN" altLang="en-US" dirty="0" smtClean="0"/>
              <a:t>随机化</a:t>
            </a:r>
            <a:r>
              <a:rPr lang="zh-CN" altLang="en-US" dirty="0"/>
              <a:t>分位残差不是唯一</a:t>
            </a:r>
            <a:r>
              <a:rPr lang="zh-CN" altLang="en-US" dirty="0" smtClean="0"/>
              <a:t>的。基于</a:t>
            </a:r>
            <a:r>
              <a:rPr lang="zh-CN" altLang="en-US" dirty="0"/>
              <a:t>随机化分位残差绘制散点图</a:t>
            </a:r>
            <a:r>
              <a:rPr lang="zh-CN" altLang="en-US" dirty="0" smtClean="0"/>
              <a:t>时</a:t>
            </a:r>
            <a:r>
              <a:rPr lang="zh-CN" altLang="en-US" dirty="0"/>
              <a:t>，</a:t>
            </a:r>
            <a:r>
              <a:rPr lang="zh-CN" altLang="en-US" dirty="0" smtClean="0"/>
              <a:t>最好生成多</a:t>
            </a:r>
            <a:r>
              <a:rPr lang="zh-CN" altLang="en-US" dirty="0"/>
              <a:t>幅散点图来观测它们与正态分布的贴合</a:t>
            </a:r>
            <a:r>
              <a:rPr lang="zh-CN" altLang="en-US" dirty="0" smtClean="0"/>
              <a:t>程度</a:t>
            </a:r>
            <a:r>
              <a:rPr lang="zh-CN" altLang="en-US" dirty="0"/>
              <a:t>。</a:t>
            </a:r>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141</a:t>
            </a:fld>
            <a:endParaRPr lang="en-US" altLang="zh-CN">
              <a:solidFill>
                <a:srgbClr val="000000"/>
              </a:solidFill>
            </a:endParaRPr>
          </a:p>
        </p:txBody>
      </p:sp>
    </p:spTree>
    <p:extLst>
      <p:ext uri="{BB962C8B-B14F-4D97-AF65-F5344CB8AC3E}">
        <p14:creationId xmlns:p14="http://schemas.microsoft.com/office/powerpoint/2010/main" val="1611239741"/>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Cook</a:t>
            </a:r>
            <a:r>
              <a:rPr lang="zh-CN" altLang="en-US" dirty="0" smtClean="0"/>
              <a:t>距离</a:t>
            </a:r>
            <a:endParaRPr lang="zh-CN" altLang="en-US" dirty="0"/>
          </a:p>
        </p:txBody>
      </p:sp>
      <p:sp>
        <p:nvSpPr>
          <p:cNvPr id="3" name="内容占位符 2"/>
          <p:cNvSpPr>
            <a:spLocks noGrp="1"/>
          </p:cNvSpPr>
          <p:nvPr>
            <p:ph idx="1"/>
          </p:nvPr>
        </p:nvSpPr>
        <p:spPr/>
        <p:txBody>
          <a:bodyPr/>
          <a:lstStyle/>
          <a:p>
            <a:r>
              <a:rPr lang="zh-CN" altLang="en-US" dirty="0" smtClean="0">
                <a:latin typeface="Times New Roman" panose="02020603050405020304" pitchFamily="18" charset="0"/>
                <a:cs typeface="Times New Roman" panose="02020603050405020304" pitchFamily="18" charset="0"/>
              </a:rPr>
              <a:t>在广义线性模型中也可以用</a:t>
            </a:r>
            <a:r>
              <a:rPr lang="en-US" altLang="zh-CN" dirty="0" smtClean="0">
                <a:latin typeface="Times New Roman" panose="02020603050405020304" pitchFamily="18" charset="0"/>
                <a:cs typeface="Times New Roman" panose="02020603050405020304" pitchFamily="18" charset="0"/>
              </a:rPr>
              <a:t>Cook</a:t>
            </a:r>
            <a:r>
              <a:rPr lang="zh-CN" altLang="en-US" dirty="0" smtClean="0">
                <a:latin typeface="Times New Roman" panose="02020603050405020304" pitchFamily="18" charset="0"/>
                <a:cs typeface="Times New Roman" panose="02020603050405020304" pitchFamily="18" charset="0"/>
              </a:rPr>
              <a:t>距离来识别强影响点。</a:t>
            </a:r>
            <a:endParaRPr lang="en-US" altLang="zh-CN" dirty="0" smtClean="0">
              <a:latin typeface="Times New Roman" panose="02020603050405020304" pitchFamily="18" charset="0"/>
              <a:cs typeface="Times New Roman" panose="02020603050405020304" pitchFamily="18" charset="0"/>
            </a:endParaRPr>
          </a:p>
          <a:p>
            <a:r>
              <a:rPr lang="zh-CN" altLang="en-US" dirty="0" smtClean="0">
                <a:latin typeface="Times New Roman" panose="02020603050405020304" pitchFamily="18" charset="0"/>
                <a:cs typeface="Times New Roman" panose="02020603050405020304" pitchFamily="18" charset="0"/>
              </a:rPr>
              <a:t>定义为：                             </a:t>
            </a:r>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endParaRPr lang="en-US" altLang="zh-CN" dirty="0" smtClean="0">
              <a:latin typeface="Times New Roman" panose="02020603050405020304" pitchFamily="18" charset="0"/>
              <a:cs typeface="Times New Roman" panose="02020603050405020304" pitchFamily="18" charset="0"/>
            </a:endParaRPr>
          </a:p>
          <a:p>
            <a:r>
              <a:rPr lang="en-US" altLang="zh-CN" i="1" dirty="0" err="1" smtClean="0">
                <a:latin typeface="Times New Roman" panose="02020603050405020304" pitchFamily="18" charset="0"/>
                <a:cs typeface="Times New Roman" panose="02020603050405020304" pitchFamily="18" charset="0"/>
              </a:rPr>
              <a:t>k</a:t>
            </a:r>
            <a:r>
              <a:rPr lang="en-US" altLang="zh-CN" dirty="0" err="1"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是回归参数的个数，    是杠杆值，      是标准化</a:t>
            </a:r>
            <a:r>
              <a:rPr lang="en-US" altLang="zh-CN" dirty="0" smtClean="0">
                <a:latin typeface="Times New Roman" panose="02020603050405020304" pitchFamily="18" charset="0"/>
                <a:cs typeface="Times New Roman" panose="02020603050405020304" pitchFamily="18" charset="0"/>
              </a:rPr>
              <a:t>Pearson</a:t>
            </a:r>
            <a:r>
              <a:rPr lang="zh-CN" altLang="en-US" dirty="0" smtClean="0">
                <a:latin typeface="Times New Roman" panose="02020603050405020304" pitchFamily="18" charset="0"/>
                <a:cs typeface="Times New Roman" panose="02020603050405020304" pitchFamily="18" charset="0"/>
              </a:rPr>
              <a:t>残差。</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BCA0709D-4CC0-4FBA-A89A-99BF3E30A50B}" type="slidenum">
              <a:rPr lang="en-US" altLang="zh-CN" smtClean="0">
                <a:solidFill>
                  <a:srgbClr val="000000"/>
                </a:solidFill>
              </a:rPr>
              <a:pPr>
                <a:defRPr/>
              </a:pPr>
              <a:t>142</a:t>
            </a:fld>
            <a:endParaRPr lang="en-US" altLang="zh-CN">
              <a:solidFill>
                <a:srgbClr val="000000"/>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744166369"/>
              </p:ext>
            </p:extLst>
          </p:nvPr>
        </p:nvGraphicFramePr>
        <p:xfrm>
          <a:off x="2743200" y="2971800"/>
          <a:ext cx="2922587" cy="917575"/>
        </p:xfrm>
        <a:graphic>
          <a:graphicData uri="http://schemas.openxmlformats.org/presentationml/2006/ole">
            <mc:AlternateContent xmlns:mc="http://schemas.openxmlformats.org/markup-compatibility/2006">
              <mc:Choice xmlns:v="urn:schemas-microsoft-com:vml" Requires="v">
                <p:oleObj spid="_x0000_s369936" name="Equation" r:id="rId3" imgW="1536480" imgH="482400" progId="Equation.DSMT4">
                  <p:embed/>
                </p:oleObj>
              </mc:Choice>
              <mc:Fallback>
                <p:oleObj name="Equation" r:id="rId3" imgW="1536480" imgH="482400" progId="Equation.DSMT4">
                  <p:embed/>
                  <p:pic>
                    <p:nvPicPr>
                      <p:cNvPr id="0" name=""/>
                      <p:cNvPicPr/>
                      <p:nvPr/>
                    </p:nvPicPr>
                    <p:blipFill>
                      <a:blip r:embed="rId4"/>
                      <a:stretch>
                        <a:fillRect/>
                      </a:stretch>
                    </p:blipFill>
                    <p:spPr>
                      <a:xfrm>
                        <a:off x="2743200" y="2971800"/>
                        <a:ext cx="2922587" cy="91757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466554555"/>
              </p:ext>
            </p:extLst>
          </p:nvPr>
        </p:nvGraphicFramePr>
        <p:xfrm>
          <a:off x="4038600" y="4419600"/>
          <a:ext cx="346710" cy="533400"/>
        </p:xfrm>
        <a:graphic>
          <a:graphicData uri="http://schemas.openxmlformats.org/presentationml/2006/ole">
            <mc:AlternateContent xmlns:mc="http://schemas.openxmlformats.org/markup-compatibility/2006">
              <mc:Choice xmlns:v="urn:schemas-microsoft-com:vml" Requires="v">
                <p:oleObj spid="_x0000_s369937" name="Equation" r:id="rId5" imgW="164880" imgH="253800" progId="Equation.DSMT4">
                  <p:embed/>
                </p:oleObj>
              </mc:Choice>
              <mc:Fallback>
                <p:oleObj name="Equation" r:id="rId5" imgW="164880" imgH="253800" progId="Equation.DSMT4">
                  <p:embed/>
                  <p:pic>
                    <p:nvPicPr>
                      <p:cNvPr id="0" name=""/>
                      <p:cNvPicPr/>
                      <p:nvPr/>
                    </p:nvPicPr>
                    <p:blipFill>
                      <a:blip r:embed="rId6"/>
                      <a:stretch>
                        <a:fillRect/>
                      </a:stretch>
                    </p:blipFill>
                    <p:spPr>
                      <a:xfrm>
                        <a:off x="4038600" y="4419600"/>
                        <a:ext cx="346710" cy="5334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843941008"/>
              </p:ext>
            </p:extLst>
          </p:nvPr>
        </p:nvGraphicFramePr>
        <p:xfrm>
          <a:off x="5867400" y="4495800"/>
          <a:ext cx="553453" cy="457200"/>
        </p:xfrm>
        <a:graphic>
          <a:graphicData uri="http://schemas.openxmlformats.org/presentationml/2006/ole">
            <mc:AlternateContent xmlns:mc="http://schemas.openxmlformats.org/markup-compatibility/2006">
              <mc:Choice xmlns:v="urn:schemas-microsoft-com:vml" Requires="v">
                <p:oleObj spid="_x0000_s369938" name="Equation" r:id="rId7" imgW="291960" imgH="241200" progId="Equation.DSMT4">
                  <p:embed/>
                </p:oleObj>
              </mc:Choice>
              <mc:Fallback>
                <p:oleObj name="Equation" r:id="rId7" imgW="291960" imgH="241200" progId="Equation.DSMT4">
                  <p:embed/>
                  <p:pic>
                    <p:nvPicPr>
                      <p:cNvPr id="0" name=""/>
                      <p:cNvPicPr/>
                      <p:nvPr/>
                    </p:nvPicPr>
                    <p:blipFill>
                      <a:blip r:embed="rId8"/>
                      <a:stretch>
                        <a:fillRect/>
                      </a:stretch>
                    </p:blipFill>
                    <p:spPr>
                      <a:xfrm>
                        <a:off x="5867400" y="4495800"/>
                        <a:ext cx="553453" cy="457200"/>
                      </a:xfrm>
                      <a:prstGeom prst="rect">
                        <a:avLst/>
                      </a:prstGeom>
                    </p:spPr>
                  </p:pic>
                </p:oleObj>
              </mc:Fallback>
            </mc:AlternateContent>
          </a:graphicData>
        </a:graphic>
      </p:graphicFrame>
    </p:spTree>
    <p:extLst>
      <p:ext uri="{BB962C8B-B14F-4D97-AF65-F5344CB8AC3E}">
        <p14:creationId xmlns:p14="http://schemas.microsoft.com/office/powerpoint/2010/main" val="1540461376"/>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00EC4EC-0075-43C7-8D10-96E842AE773B}" type="slidenum">
              <a:rPr lang="en-US" altLang="zh-CN" b="0" smtClean="0"/>
              <a:pPr/>
              <a:t>143</a:t>
            </a:fld>
            <a:endParaRPr lang="en-US" altLang="zh-CN" b="0" smtClean="0"/>
          </a:p>
        </p:txBody>
      </p:sp>
      <p:sp>
        <p:nvSpPr>
          <p:cNvPr id="60419" name="Rectangle 4"/>
          <p:cNvSpPr>
            <a:spLocks noChangeArrowheads="1"/>
          </p:cNvSpPr>
          <p:nvPr/>
        </p:nvSpPr>
        <p:spPr bwMode="auto">
          <a:xfrm>
            <a:off x="323850" y="404813"/>
            <a:ext cx="75596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例：平安保险</a:t>
            </a:r>
            <a:r>
              <a:rPr lang="en-US" altLang="zh-CN" sz="2400">
                <a:latin typeface="Times New Roman" panose="02020603050405020304" pitchFamily="18" charset="0"/>
              </a:rPr>
              <a:t>2006</a:t>
            </a:r>
            <a:r>
              <a:rPr lang="zh-CN" altLang="en-US" sz="2400">
                <a:latin typeface="Times New Roman" panose="02020603050405020304" pitchFamily="18" charset="0"/>
              </a:rPr>
              <a:t>机动车辆保险的费率因子和相对费率（非营业个人）</a:t>
            </a:r>
            <a:endParaRPr lang="zh-CN" altLang="en-US" sz="2400" b="0">
              <a:latin typeface="Times New Roman" panose="02020603050405020304" pitchFamily="18" charset="0"/>
            </a:endParaRPr>
          </a:p>
        </p:txBody>
      </p:sp>
      <p:graphicFrame>
        <p:nvGraphicFramePr>
          <p:cNvPr id="241869" name="Group 205"/>
          <p:cNvGraphicFramePr>
            <a:graphicFrameLocks noGrp="1"/>
          </p:cNvGraphicFramePr>
          <p:nvPr/>
        </p:nvGraphicFramePr>
        <p:xfrm>
          <a:off x="827088" y="1557338"/>
          <a:ext cx="7561262" cy="4745035"/>
        </p:xfrm>
        <a:graphic>
          <a:graphicData uri="http://schemas.openxmlformats.org/drawingml/2006/table">
            <a:tbl>
              <a:tblPr/>
              <a:tblGrid>
                <a:gridCol w="1395412">
                  <a:extLst>
                    <a:ext uri="{9D8B030D-6E8A-4147-A177-3AD203B41FA5}">
                      <a16:colId xmlns:a16="http://schemas.microsoft.com/office/drawing/2014/main" val="3267240632"/>
                    </a:ext>
                  </a:extLst>
                </a:gridCol>
                <a:gridCol w="1135063">
                  <a:extLst>
                    <a:ext uri="{9D8B030D-6E8A-4147-A177-3AD203B41FA5}">
                      <a16:colId xmlns:a16="http://schemas.microsoft.com/office/drawing/2014/main" val="2187048118"/>
                    </a:ext>
                  </a:extLst>
                </a:gridCol>
                <a:gridCol w="1460500">
                  <a:extLst>
                    <a:ext uri="{9D8B030D-6E8A-4147-A177-3AD203B41FA5}">
                      <a16:colId xmlns:a16="http://schemas.microsoft.com/office/drawing/2014/main" val="1801741924"/>
                    </a:ext>
                  </a:extLst>
                </a:gridCol>
                <a:gridCol w="3570287">
                  <a:extLst>
                    <a:ext uri="{9D8B030D-6E8A-4147-A177-3AD203B41FA5}">
                      <a16:colId xmlns:a16="http://schemas.microsoft.com/office/drawing/2014/main" val="2496580102"/>
                    </a:ext>
                  </a:extLst>
                </a:gridCol>
              </a:tblGrid>
              <a:tr h="1005974">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费率因子</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车辆损失险系数</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商业第三者责任险系数</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说明</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81646577"/>
                  </a:ext>
                </a:extLst>
              </a:tr>
              <a:tr h="533471">
                <a:tc rowSpan="3">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投保方式</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代理</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19376366"/>
                  </a:ext>
                </a:extLst>
              </a:tr>
              <a:tr h="535059">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直接业务</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15178793"/>
                  </a:ext>
                </a:extLst>
              </a:tr>
              <a:tr h="533471">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电话销售、网络销售</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8267333"/>
                  </a:ext>
                </a:extLst>
              </a:tr>
              <a:tr h="535059">
                <a:tc rowSpan="4">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承保数量</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承保车辆数</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5</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台</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8609569"/>
                  </a:ext>
                </a:extLst>
              </a:tr>
              <a:tr h="533471">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0.96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0.96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5</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台＜承保车辆数</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20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台</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8567650"/>
                  </a:ext>
                </a:extLst>
              </a:tr>
              <a:tr h="535059">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0.92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0.92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20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台＜承保车辆数</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50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台</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93701406"/>
                  </a:ext>
                </a:extLst>
              </a:tr>
              <a:tr h="533471">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承保车辆数＞</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50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台</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7387959"/>
                  </a:ext>
                </a:extLst>
              </a:tr>
            </a:tbl>
          </a:graphicData>
        </a:graphic>
      </p:graphicFrame>
    </p:spTree>
    <p:extLst>
      <p:ext uri="{BB962C8B-B14F-4D97-AF65-F5344CB8AC3E}">
        <p14:creationId xmlns:p14="http://schemas.microsoft.com/office/powerpoint/2010/main" val="420320782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6D5BCE3-9025-4058-B3A2-6EF54D1533E4}" type="slidenum">
              <a:rPr lang="en-US" altLang="zh-CN" b="0" smtClean="0"/>
              <a:pPr/>
              <a:t>144</a:t>
            </a:fld>
            <a:endParaRPr lang="en-US" altLang="zh-CN" b="0" smtClean="0"/>
          </a:p>
        </p:txBody>
      </p:sp>
      <p:graphicFrame>
        <p:nvGraphicFramePr>
          <p:cNvPr id="243133" name="Group 445"/>
          <p:cNvGraphicFramePr>
            <a:graphicFrameLocks noGrp="1"/>
          </p:cNvGraphicFramePr>
          <p:nvPr/>
        </p:nvGraphicFramePr>
        <p:xfrm>
          <a:off x="468313" y="1628775"/>
          <a:ext cx="8207375" cy="4319588"/>
        </p:xfrm>
        <a:graphic>
          <a:graphicData uri="http://schemas.openxmlformats.org/drawingml/2006/table">
            <a:tbl>
              <a:tblPr/>
              <a:tblGrid>
                <a:gridCol w="1514475">
                  <a:extLst>
                    <a:ext uri="{9D8B030D-6E8A-4147-A177-3AD203B41FA5}">
                      <a16:colId xmlns:a16="http://schemas.microsoft.com/office/drawing/2014/main" val="685280219"/>
                    </a:ext>
                  </a:extLst>
                </a:gridCol>
                <a:gridCol w="1233487">
                  <a:extLst>
                    <a:ext uri="{9D8B030D-6E8A-4147-A177-3AD203B41FA5}">
                      <a16:colId xmlns:a16="http://schemas.microsoft.com/office/drawing/2014/main" val="3009639491"/>
                    </a:ext>
                  </a:extLst>
                </a:gridCol>
                <a:gridCol w="1584325">
                  <a:extLst>
                    <a:ext uri="{9D8B030D-6E8A-4147-A177-3AD203B41FA5}">
                      <a16:colId xmlns:a16="http://schemas.microsoft.com/office/drawing/2014/main" val="718956279"/>
                    </a:ext>
                  </a:extLst>
                </a:gridCol>
                <a:gridCol w="3875088">
                  <a:extLst>
                    <a:ext uri="{9D8B030D-6E8A-4147-A177-3AD203B41FA5}">
                      <a16:colId xmlns:a16="http://schemas.microsoft.com/office/drawing/2014/main" val="1386528045"/>
                    </a:ext>
                  </a:extLst>
                </a:gridCol>
              </a:tblGrid>
              <a:tr h="431800">
                <a:tc rowSpan="3">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指定驾驶人</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0.92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0.92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指定一名驾驶员</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8941552"/>
                  </a:ext>
                </a:extLst>
              </a:tr>
              <a:tr h="4318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指定两名驾驶员</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00346443"/>
                  </a:ext>
                </a:extLst>
              </a:tr>
              <a:tr h="4318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未指定驾驶人</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79346760"/>
                  </a:ext>
                </a:extLst>
              </a:tr>
              <a:tr h="431800">
                <a:tc rowSpan="5">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驾驶人年龄</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年龄</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&lt;25</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76971927"/>
                  </a:ext>
                </a:extLst>
              </a:tr>
              <a:tr h="433388">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25</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年龄</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&lt;30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48966901"/>
                  </a:ext>
                </a:extLst>
              </a:tr>
              <a:tr h="4318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30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年龄</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&lt;40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8881204"/>
                  </a:ext>
                </a:extLst>
              </a:tr>
              <a:tr h="4318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40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年龄</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&lt;60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41018099"/>
                  </a:ext>
                </a:extLst>
              </a:tr>
              <a:tr h="4318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1.10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1.10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年龄</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60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岁</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9390931"/>
                  </a:ext>
                </a:extLst>
              </a:tr>
              <a:tr h="431800">
                <a:tc row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驾驶人性别</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 </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男</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8140675"/>
                  </a:ext>
                </a:extLst>
              </a:tr>
              <a:tr h="4318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0.96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0.96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女</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57712017"/>
                  </a:ext>
                </a:extLst>
              </a:tr>
            </a:tbl>
          </a:graphicData>
        </a:graphic>
      </p:graphicFrame>
    </p:spTree>
    <p:extLst>
      <p:ext uri="{BB962C8B-B14F-4D97-AF65-F5344CB8AC3E}">
        <p14:creationId xmlns:p14="http://schemas.microsoft.com/office/powerpoint/2010/main" val="92553123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DD3F425-8F56-4059-86A7-DF037EE393F3}" type="slidenum">
              <a:rPr lang="en-US" altLang="zh-CN" b="0" smtClean="0"/>
              <a:pPr/>
              <a:t>145</a:t>
            </a:fld>
            <a:endParaRPr lang="en-US" altLang="zh-CN" b="0" smtClean="0"/>
          </a:p>
        </p:txBody>
      </p:sp>
      <p:graphicFrame>
        <p:nvGraphicFramePr>
          <p:cNvPr id="243985" name="Group 273"/>
          <p:cNvGraphicFramePr>
            <a:graphicFrameLocks noGrp="1"/>
          </p:cNvGraphicFramePr>
          <p:nvPr/>
        </p:nvGraphicFramePr>
        <p:xfrm>
          <a:off x="468313" y="1484313"/>
          <a:ext cx="8064500" cy="4608513"/>
        </p:xfrm>
        <a:graphic>
          <a:graphicData uri="http://schemas.openxmlformats.org/drawingml/2006/table">
            <a:tbl>
              <a:tblPr/>
              <a:tblGrid>
                <a:gridCol w="1487487">
                  <a:extLst>
                    <a:ext uri="{9D8B030D-6E8A-4147-A177-3AD203B41FA5}">
                      <a16:colId xmlns:a16="http://schemas.microsoft.com/office/drawing/2014/main" val="821309293"/>
                    </a:ext>
                  </a:extLst>
                </a:gridCol>
                <a:gridCol w="1211263">
                  <a:extLst>
                    <a:ext uri="{9D8B030D-6E8A-4147-A177-3AD203B41FA5}">
                      <a16:colId xmlns:a16="http://schemas.microsoft.com/office/drawing/2014/main" val="913854707"/>
                    </a:ext>
                  </a:extLst>
                </a:gridCol>
                <a:gridCol w="1558925">
                  <a:extLst>
                    <a:ext uri="{9D8B030D-6E8A-4147-A177-3AD203B41FA5}">
                      <a16:colId xmlns:a16="http://schemas.microsoft.com/office/drawing/2014/main" val="1230795453"/>
                    </a:ext>
                  </a:extLst>
                </a:gridCol>
                <a:gridCol w="3806825">
                  <a:extLst>
                    <a:ext uri="{9D8B030D-6E8A-4147-A177-3AD203B41FA5}">
                      <a16:colId xmlns:a16="http://schemas.microsoft.com/office/drawing/2014/main" val="66313650"/>
                    </a:ext>
                  </a:extLst>
                </a:gridCol>
              </a:tblGrid>
              <a:tr h="419100">
                <a:tc rowSpan="3">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驾驶人驾龄</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驾龄</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1</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82307262"/>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1.02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1.02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&lt;</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驾龄</a:t>
                      </a:r>
                      <a:r>
                        <a:rPr kumimoji="0" lang="zh-CN" altLang="en-US" sz="2000" b="0" i="0" u="none" strike="noStrike" cap="none" normalizeH="0" baseline="0" smtClean="0">
                          <a:ln>
                            <a:noFill/>
                          </a:ln>
                          <a:solidFill>
                            <a:srgbClr val="000000"/>
                          </a:solidFill>
                          <a:effectLst/>
                          <a:latin typeface="Arial" panose="020B0604020202020204" pitchFamily="34" charset="0"/>
                          <a:ea typeface="楷体_GB2312" pitchFamily="49" charset="-122"/>
                        </a:rPr>
                        <a:t>≤</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3</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0593740"/>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驾龄</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&gt;3</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9059178"/>
                  </a:ext>
                </a:extLst>
              </a:tr>
              <a:tr h="419100">
                <a:tc row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投保年度</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首年投保</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42788331"/>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0.85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0.85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续保</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84328809"/>
                  </a:ext>
                </a:extLst>
              </a:tr>
              <a:tr h="417513">
                <a:tc rowSpan="6">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车型</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0.85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1</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1381426"/>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2</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35695483"/>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3</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2584821"/>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4</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47070598"/>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1.10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5</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7234526"/>
                  </a:ext>
                </a:extLst>
              </a:tr>
              <a:tr h="4191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1.30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车型</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6</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5720058"/>
                  </a:ext>
                </a:extLst>
              </a:tr>
            </a:tbl>
          </a:graphicData>
        </a:graphic>
      </p:graphicFrame>
    </p:spTree>
    <p:extLst>
      <p:ext uri="{BB962C8B-B14F-4D97-AF65-F5344CB8AC3E}">
        <p14:creationId xmlns:p14="http://schemas.microsoft.com/office/powerpoint/2010/main" val="370510434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EACAE59-E521-445F-8CFA-717A2AEF1AD8}" type="slidenum">
              <a:rPr lang="en-US" altLang="zh-CN" b="0" smtClean="0"/>
              <a:pPr/>
              <a:t>146</a:t>
            </a:fld>
            <a:endParaRPr lang="en-US" altLang="zh-CN" b="0" smtClean="0"/>
          </a:p>
        </p:txBody>
      </p:sp>
      <p:graphicFrame>
        <p:nvGraphicFramePr>
          <p:cNvPr id="244908" name="Group 172"/>
          <p:cNvGraphicFramePr>
            <a:graphicFrameLocks noGrp="1"/>
          </p:cNvGraphicFramePr>
          <p:nvPr/>
        </p:nvGraphicFramePr>
        <p:xfrm>
          <a:off x="684213" y="1628775"/>
          <a:ext cx="7488237" cy="3078186"/>
        </p:xfrm>
        <a:graphic>
          <a:graphicData uri="http://schemas.openxmlformats.org/drawingml/2006/table">
            <a:tbl>
              <a:tblPr/>
              <a:tblGrid>
                <a:gridCol w="1381125">
                  <a:extLst>
                    <a:ext uri="{9D8B030D-6E8A-4147-A177-3AD203B41FA5}">
                      <a16:colId xmlns:a16="http://schemas.microsoft.com/office/drawing/2014/main" val="1907468266"/>
                    </a:ext>
                  </a:extLst>
                </a:gridCol>
                <a:gridCol w="1125537">
                  <a:extLst>
                    <a:ext uri="{9D8B030D-6E8A-4147-A177-3AD203B41FA5}">
                      <a16:colId xmlns:a16="http://schemas.microsoft.com/office/drawing/2014/main" val="585340878"/>
                    </a:ext>
                  </a:extLst>
                </a:gridCol>
                <a:gridCol w="1446213">
                  <a:extLst>
                    <a:ext uri="{9D8B030D-6E8A-4147-A177-3AD203B41FA5}">
                      <a16:colId xmlns:a16="http://schemas.microsoft.com/office/drawing/2014/main" val="2960912035"/>
                    </a:ext>
                  </a:extLst>
                </a:gridCol>
                <a:gridCol w="3535362">
                  <a:extLst>
                    <a:ext uri="{9D8B030D-6E8A-4147-A177-3AD203B41FA5}">
                      <a16:colId xmlns:a16="http://schemas.microsoft.com/office/drawing/2014/main" val="989552170"/>
                    </a:ext>
                  </a:extLst>
                </a:gridCol>
              </a:tblGrid>
              <a:tr h="396195">
                <a:tc rowSpan="6">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r>
                      <a:br>
                        <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br>
                      <a:endParaRPr kumimoji="0" lang="zh-CN" altLang="en-US"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绝对免赔率</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rPr>
                        <a:t>1</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7</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0007137"/>
                  </a:ext>
                </a:extLst>
              </a:tr>
              <a:tr h="396195">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rPr>
                        <a:t>1.08</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2000" b="0" i="0" u="none" strike="noStrike" cap="none" normalizeH="0" baseline="0" smtClean="0">
                          <a:ln>
                            <a:noFill/>
                          </a:ln>
                          <a:solidFill>
                            <a:schemeClr val="tx1"/>
                          </a:solidFill>
                          <a:effectLst/>
                          <a:latin typeface="Arial" panose="020B0604020202020204" pitchFamily="34" charset="0"/>
                          <a:ea typeface="楷体_GB2312" pitchFamily="49" charset="-122"/>
                        </a:rPr>
                        <a:t>8</a:t>
                      </a:r>
                      <a:r>
                        <a:rPr kumimoji="0"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6327462"/>
                  </a:ext>
                </a:extLst>
              </a:tr>
              <a:tr h="396195">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1.15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9</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95157843"/>
                  </a:ext>
                </a:extLst>
              </a:tr>
              <a:tr h="396195">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10</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2125622"/>
                  </a:ext>
                </a:extLst>
              </a:tr>
              <a:tr h="396195">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1.10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11</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59124778"/>
                  </a:ext>
                </a:extLst>
              </a:tr>
              <a:tr h="396195">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1.20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12</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96506398"/>
                  </a:ext>
                </a:extLst>
              </a:tr>
              <a:tr h="700993">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多险别投保优惠</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itchFamily="49" charset="-122"/>
                        </a:rPr>
                        <a:t>0.92 </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参见注（</a:t>
                      </a:r>
                      <a:r>
                        <a:rPr kumimoji="0" lang="en-US" altLang="zh-CN" sz="2000" b="0" i="0" u="none" strike="noStrike" cap="none" normalizeH="0" baseline="0" smtClean="0">
                          <a:ln>
                            <a:noFill/>
                          </a:ln>
                          <a:solidFill>
                            <a:srgbClr val="000000"/>
                          </a:solidFill>
                          <a:effectLst/>
                          <a:latin typeface="Arial" panose="020B0604020202020204" pitchFamily="34" charset="0"/>
                          <a:ea typeface="楷体_GB2312" pitchFamily="49" charset="-122"/>
                        </a:rPr>
                        <a:t>13</a:t>
                      </a:r>
                      <a:r>
                        <a:rPr kumimoji="0" lang="zh-CN" altLang="en-US" sz="20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99" marB="4569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1828181"/>
                  </a:ext>
                </a:extLst>
              </a:tr>
            </a:tbl>
          </a:graphicData>
        </a:graphic>
      </p:graphicFrame>
      <p:sp>
        <p:nvSpPr>
          <p:cNvPr id="63527" name="Rectangle 173"/>
          <p:cNvSpPr>
            <a:spLocks noChangeArrowheads="1"/>
          </p:cNvSpPr>
          <p:nvPr/>
        </p:nvSpPr>
        <p:spPr bwMode="auto">
          <a:xfrm>
            <a:off x="971550" y="5270500"/>
            <a:ext cx="75453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228600" algn="l"/>
              </a:tabLst>
              <a:defRPr b="1">
                <a:solidFill>
                  <a:schemeClr val="tx1"/>
                </a:solidFill>
                <a:latin typeface="Arial" panose="020B0604020202020204" pitchFamily="34" charset="0"/>
                <a:ea typeface="宋体" panose="02010600030101010101" pitchFamily="2" charset="-122"/>
              </a:defRPr>
            </a:lvl1pPr>
            <a:lvl2pPr marL="742950" indent="-285750">
              <a:tabLst>
                <a:tab pos="228600" algn="l"/>
              </a:tabLst>
              <a:defRPr b="1">
                <a:solidFill>
                  <a:schemeClr val="tx1"/>
                </a:solidFill>
                <a:latin typeface="Arial" panose="020B0604020202020204" pitchFamily="34" charset="0"/>
                <a:ea typeface="宋体" panose="02010600030101010101" pitchFamily="2" charset="-122"/>
              </a:defRPr>
            </a:lvl2pPr>
            <a:lvl3pPr marL="1143000" indent="-228600">
              <a:tabLst>
                <a:tab pos="228600" algn="l"/>
              </a:tabLst>
              <a:defRPr b="1">
                <a:solidFill>
                  <a:schemeClr val="tx1"/>
                </a:solidFill>
                <a:latin typeface="Arial" panose="020B0604020202020204" pitchFamily="34" charset="0"/>
                <a:ea typeface="宋体" panose="02010600030101010101" pitchFamily="2" charset="-122"/>
              </a:defRPr>
            </a:lvl3pPr>
            <a:lvl4pPr marL="1600200" indent="-228600">
              <a:tabLst>
                <a:tab pos="228600" algn="l"/>
              </a:tabLst>
              <a:defRPr b="1">
                <a:solidFill>
                  <a:schemeClr val="tx1"/>
                </a:solidFill>
                <a:latin typeface="Arial" panose="020B0604020202020204" pitchFamily="34" charset="0"/>
                <a:ea typeface="宋体" panose="02010600030101010101" pitchFamily="2" charset="-122"/>
              </a:defRPr>
            </a:lvl4pPr>
            <a:lvl5pPr marL="2057400" indent="-228600">
              <a:tabLst>
                <a:tab pos="228600" algn="l"/>
              </a:tabLst>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28600" algn="l"/>
              </a:tabLst>
              <a:defRPr b="1">
                <a:solidFill>
                  <a:schemeClr val="tx1"/>
                </a:solidFill>
                <a:latin typeface="Arial" panose="020B0604020202020204" pitchFamily="34" charset="0"/>
                <a:ea typeface="宋体" panose="02010600030101010101" pitchFamily="2" charset="-122"/>
              </a:defRPr>
            </a:lvl9pPr>
          </a:lstStyle>
          <a:p>
            <a:pPr eaLnBrk="1" hangingPunct="1">
              <a:buSzPct val="100000"/>
            </a:pPr>
            <a:r>
              <a:rPr lang="zh-CN" altLang="en-US" sz="2000" b="0"/>
              <a:t>注（</a:t>
            </a:r>
            <a:r>
              <a:rPr lang="en-US" altLang="zh-CN" sz="2000" b="0"/>
              <a:t>13</a:t>
            </a:r>
            <a:r>
              <a:rPr lang="zh-CN" altLang="en-US" sz="2000" b="0"/>
              <a:t>）：同时投保车辆损失险及商业第三者责任险的，车辆损失险及商业第三者责任险保费优惠</a:t>
            </a:r>
            <a:r>
              <a:rPr lang="en-US" altLang="zh-CN" sz="2000" b="0"/>
              <a:t>8</a:t>
            </a:r>
            <a:r>
              <a:rPr lang="zh-CN" altLang="en-US" sz="2000" b="0"/>
              <a:t>％。</a:t>
            </a:r>
          </a:p>
        </p:txBody>
      </p:sp>
    </p:spTree>
    <p:extLst>
      <p:ext uri="{BB962C8B-B14F-4D97-AF65-F5344CB8AC3E}">
        <p14:creationId xmlns:p14="http://schemas.microsoft.com/office/powerpoint/2010/main" val="3052197740"/>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1847225-23B6-4D32-8FC0-49C488CD3DDA}" type="slidenum">
              <a:rPr lang="en-US" altLang="zh-CN" b="0" smtClean="0"/>
              <a:pPr/>
              <a:t>147</a:t>
            </a:fld>
            <a:endParaRPr lang="en-US" altLang="zh-CN" b="0" smtClean="0"/>
          </a:p>
        </p:txBody>
      </p:sp>
      <p:sp>
        <p:nvSpPr>
          <p:cNvPr id="64515" name="Rectangle 4"/>
          <p:cNvSpPr>
            <a:spLocks noChangeArrowheads="1"/>
          </p:cNvSpPr>
          <p:nvPr/>
        </p:nvSpPr>
        <p:spPr bwMode="auto">
          <a:xfrm>
            <a:off x="1331913" y="792163"/>
            <a:ext cx="6173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2400"/>
              <a:t> 机动车辆保险的基准费率表（非营业个人） </a:t>
            </a:r>
          </a:p>
        </p:txBody>
      </p:sp>
      <p:sp>
        <p:nvSpPr>
          <p:cNvPr id="64516" name="Line 176"/>
          <p:cNvSpPr>
            <a:spLocks noChangeShapeType="1"/>
          </p:cNvSpPr>
          <p:nvPr/>
        </p:nvSpPr>
        <p:spPr bwMode="auto">
          <a:xfrm>
            <a:off x="3856038" y="2647950"/>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1421" name="Group 541"/>
          <p:cNvGraphicFramePr>
            <a:graphicFrameLocks noGrp="1"/>
          </p:cNvGraphicFramePr>
          <p:nvPr/>
        </p:nvGraphicFramePr>
        <p:xfrm>
          <a:off x="684213" y="1844675"/>
          <a:ext cx="7775575" cy="4619626"/>
        </p:xfrm>
        <a:graphic>
          <a:graphicData uri="http://schemas.openxmlformats.org/drawingml/2006/table">
            <a:tbl>
              <a:tblPr/>
              <a:tblGrid>
                <a:gridCol w="1560512">
                  <a:extLst>
                    <a:ext uri="{9D8B030D-6E8A-4147-A177-3AD203B41FA5}">
                      <a16:colId xmlns:a16="http://schemas.microsoft.com/office/drawing/2014/main" val="2796487147"/>
                    </a:ext>
                  </a:extLst>
                </a:gridCol>
                <a:gridCol w="581025">
                  <a:extLst>
                    <a:ext uri="{9D8B030D-6E8A-4147-A177-3AD203B41FA5}">
                      <a16:colId xmlns:a16="http://schemas.microsoft.com/office/drawing/2014/main" val="3277710079"/>
                    </a:ext>
                  </a:extLst>
                </a:gridCol>
                <a:gridCol w="642938">
                  <a:extLst>
                    <a:ext uri="{9D8B030D-6E8A-4147-A177-3AD203B41FA5}">
                      <a16:colId xmlns:a16="http://schemas.microsoft.com/office/drawing/2014/main" val="3230909593"/>
                    </a:ext>
                  </a:extLst>
                </a:gridCol>
                <a:gridCol w="581025">
                  <a:extLst>
                    <a:ext uri="{9D8B030D-6E8A-4147-A177-3AD203B41FA5}">
                      <a16:colId xmlns:a16="http://schemas.microsoft.com/office/drawing/2014/main" val="3303022498"/>
                    </a:ext>
                  </a:extLst>
                </a:gridCol>
                <a:gridCol w="642937">
                  <a:extLst>
                    <a:ext uri="{9D8B030D-6E8A-4147-A177-3AD203B41FA5}">
                      <a16:colId xmlns:a16="http://schemas.microsoft.com/office/drawing/2014/main" val="3793072294"/>
                    </a:ext>
                  </a:extLst>
                </a:gridCol>
                <a:gridCol w="654050">
                  <a:extLst>
                    <a:ext uri="{9D8B030D-6E8A-4147-A177-3AD203B41FA5}">
                      <a16:colId xmlns:a16="http://schemas.microsoft.com/office/drawing/2014/main" val="2798081853"/>
                    </a:ext>
                  </a:extLst>
                </a:gridCol>
                <a:gridCol w="650875">
                  <a:extLst>
                    <a:ext uri="{9D8B030D-6E8A-4147-A177-3AD203B41FA5}">
                      <a16:colId xmlns:a16="http://schemas.microsoft.com/office/drawing/2014/main" val="4183219839"/>
                    </a:ext>
                  </a:extLst>
                </a:gridCol>
                <a:gridCol w="681038">
                  <a:extLst>
                    <a:ext uri="{9D8B030D-6E8A-4147-A177-3AD203B41FA5}">
                      <a16:colId xmlns:a16="http://schemas.microsoft.com/office/drawing/2014/main" val="906161888"/>
                    </a:ext>
                  </a:extLst>
                </a:gridCol>
                <a:gridCol w="549275">
                  <a:extLst>
                    <a:ext uri="{9D8B030D-6E8A-4147-A177-3AD203B41FA5}">
                      <a16:colId xmlns:a16="http://schemas.microsoft.com/office/drawing/2014/main" val="3292334992"/>
                    </a:ext>
                  </a:extLst>
                </a:gridCol>
                <a:gridCol w="588962">
                  <a:extLst>
                    <a:ext uri="{9D8B030D-6E8A-4147-A177-3AD203B41FA5}">
                      <a16:colId xmlns:a16="http://schemas.microsoft.com/office/drawing/2014/main" val="1289287038"/>
                    </a:ext>
                  </a:extLst>
                </a:gridCol>
                <a:gridCol w="642938">
                  <a:extLst>
                    <a:ext uri="{9D8B030D-6E8A-4147-A177-3AD203B41FA5}">
                      <a16:colId xmlns:a16="http://schemas.microsoft.com/office/drawing/2014/main" val="3774278056"/>
                    </a:ext>
                  </a:extLst>
                </a:gridCol>
              </a:tblGrid>
              <a:tr h="335280">
                <a:tc rowSpan="3">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10">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a:t>
                      </a:r>
                      <a:r>
                        <a:rPr kumimoji="0" lang="zh-CN" altLang="en-US" sz="1600" b="0" i="0" u="none" strike="noStrike" cap="none" normalizeH="0" baseline="0" smtClean="0">
                          <a:ln>
                            <a:noFill/>
                          </a:ln>
                          <a:solidFill>
                            <a:srgbClr val="000000"/>
                          </a:solidFill>
                          <a:effectLst/>
                          <a:latin typeface="Arial" panose="020B0604020202020204" pitchFamily="34" charset="0"/>
                          <a:ea typeface="楷体_GB2312" pitchFamily="49" charset="-122"/>
                        </a:rPr>
                        <a:t> </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辆</a:t>
                      </a:r>
                      <a:r>
                        <a:rPr kumimoji="0" lang="zh-CN" altLang="en-US" sz="1600" b="0" i="0" u="none" strike="noStrike" cap="none" normalizeH="0" baseline="0" smtClean="0">
                          <a:ln>
                            <a:noFill/>
                          </a:ln>
                          <a:solidFill>
                            <a:srgbClr val="000000"/>
                          </a:solidFill>
                          <a:effectLst/>
                          <a:latin typeface="Arial" panose="020B0604020202020204" pitchFamily="34" charset="0"/>
                          <a:ea typeface="楷体_GB2312" pitchFamily="49" charset="-122"/>
                        </a:rPr>
                        <a:t> </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损</a:t>
                      </a:r>
                      <a:r>
                        <a:rPr kumimoji="0" lang="zh-CN" altLang="en-US" sz="1600" b="0" i="0" u="none" strike="noStrike" cap="none" normalizeH="0" baseline="0" smtClean="0">
                          <a:ln>
                            <a:noFill/>
                          </a:ln>
                          <a:solidFill>
                            <a:srgbClr val="000000"/>
                          </a:solidFill>
                          <a:effectLst/>
                          <a:latin typeface="Arial" panose="020B0604020202020204" pitchFamily="34" charset="0"/>
                          <a:ea typeface="楷体_GB2312" pitchFamily="49" charset="-122"/>
                        </a:rPr>
                        <a:t> </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失</a:t>
                      </a:r>
                      <a:r>
                        <a:rPr kumimoji="0" lang="zh-CN" altLang="en-US" sz="1600" b="0" i="0" u="none" strike="noStrike" cap="none" normalizeH="0" baseline="0" smtClean="0">
                          <a:ln>
                            <a:noFill/>
                          </a:ln>
                          <a:solidFill>
                            <a:srgbClr val="000000"/>
                          </a:solidFill>
                          <a:effectLst/>
                          <a:latin typeface="Arial" panose="020B0604020202020204" pitchFamily="34" charset="0"/>
                          <a:ea typeface="楷体_GB2312" pitchFamily="49" charset="-122"/>
                        </a:rPr>
                        <a:t> </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险</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3947298"/>
                  </a:ext>
                </a:extLst>
              </a:tr>
              <a:tr h="579120">
                <a:tc vMerge="1">
                  <a:txBody>
                    <a:bodyPr/>
                    <a:lstStyle/>
                    <a:p>
                      <a:endParaRPr lang="zh-CN" altLang="en-US"/>
                    </a:p>
                  </a:txBody>
                  <a:tcPr/>
                </a:tc>
                <a:tc grid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车龄</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&lt;1</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年≦车龄</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&lt;3</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3</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年≦车龄</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&lt;5</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年≦车龄</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&lt;8</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车龄≧</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8</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年</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4602359"/>
                  </a:ext>
                </a:extLst>
              </a:tr>
              <a:tr h="1066800">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固定保费</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费率</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固定保费</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费率</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固定保费</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费率</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固定保费</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费率</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固定保费</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费率</a:t>
                      </a:r>
                      <a:r>
                        <a:rPr kumimoji="0" lang="en-US" altLang="zh-CN" sz="1600" b="0" i="0" u="none" strike="noStrike" cap="none" normalizeH="0" baseline="0" smtClean="0">
                          <a:ln>
                            <a:noFill/>
                          </a:ln>
                          <a:solidFill>
                            <a:srgbClr val="000000"/>
                          </a:solidFill>
                          <a:effectLst/>
                          <a:latin typeface="Arial" panose="020B0604020202020204" pitchFamily="34" charset="0"/>
                          <a:ea typeface="楷体_GB2312" pitchFamily="49" charset="-122"/>
                        </a:rPr>
                        <a:t>(%)</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307254"/>
                  </a:ext>
                </a:extLst>
              </a:tr>
              <a:tr h="52705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座以下客车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539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513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508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513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523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1.24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8057067"/>
                  </a:ext>
                </a:extLst>
              </a:tr>
              <a:tr h="528638">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6-10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座客车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646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616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609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616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628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1.24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0961413"/>
                  </a:ext>
                </a:extLst>
              </a:tr>
              <a:tr h="52705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座以上客车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646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616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609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616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628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1.24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8108887"/>
                  </a:ext>
                </a:extLst>
              </a:tr>
              <a:tr h="528638">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吨以下货车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250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0.96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238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0.92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236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0.91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238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0.92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243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0.93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4616766"/>
                  </a:ext>
                </a:extLst>
              </a:tr>
              <a:tr h="52705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低速载货汽车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213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0.82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203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0.78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201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0.77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203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0.78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207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0.79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2504583"/>
                  </a:ext>
                </a:extLst>
              </a:tr>
            </a:tbl>
          </a:graphicData>
        </a:graphic>
      </p:graphicFrame>
    </p:spTree>
    <p:extLst>
      <p:ext uri="{BB962C8B-B14F-4D97-AF65-F5344CB8AC3E}">
        <p14:creationId xmlns:p14="http://schemas.microsoft.com/office/powerpoint/2010/main" val="783416330"/>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D9D1115F-4DA4-4746-BDEF-1BE8AAF296E2}" type="slidenum">
              <a:rPr lang="en-US" altLang="zh-CN" b="0" smtClean="0"/>
              <a:pPr/>
              <a:t>148</a:t>
            </a:fld>
            <a:endParaRPr lang="en-US" altLang="zh-CN" b="0" smtClean="0"/>
          </a:p>
        </p:txBody>
      </p:sp>
      <p:sp>
        <p:nvSpPr>
          <p:cNvPr id="65539" name="Line 274"/>
          <p:cNvSpPr>
            <a:spLocks noChangeShapeType="1"/>
          </p:cNvSpPr>
          <p:nvPr/>
        </p:nvSpPr>
        <p:spPr bwMode="auto">
          <a:xfrm>
            <a:off x="2790825" y="2647950"/>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2765" name="Group 861"/>
          <p:cNvGraphicFramePr>
            <a:graphicFrameLocks noGrp="1"/>
          </p:cNvGraphicFramePr>
          <p:nvPr/>
        </p:nvGraphicFramePr>
        <p:xfrm>
          <a:off x="395288" y="1773238"/>
          <a:ext cx="8137525" cy="3392487"/>
        </p:xfrm>
        <a:graphic>
          <a:graphicData uri="http://schemas.openxmlformats.org/drawingml/2006/table">
            <a:tbl>
              <a:tblPr/>
              <a:tblGrid>
                <a:gridCol w="1878012">
                  <a:extLst>
                    <a:ext uri="{9D8B030D-6E8A-4147-A177-3AD203B41FA5}">
                      <a16:colId xmlns:a16="http://schemas.microsoft.com/office/drawing/2014/main" val="1813843842"/>
                    </a:ext>
                  </a:extLst>
                </a:gridCol>
                <a:gridCol w="706438">
                  <a:extLst>
                    <a:ext uri="{9D8B030D-6E8A-4147-A177-3AD203B41FA5}">
                      <a16:colId xmlns:a16="http://schemas.microsoft.com/office/drawing/2014/main" val="1268586329"/>
                    </a:ext>
                  </a:extLst>
                </a:gridCol>
                <a:gridCol w="700087">
                  <a:extLst>
                    <a:ext uri="{9D8B030D-6E8A-4147-A177-3AD203B41FA5}">
                      <a16:colId xmlns:a16="http://schemas.microsoft.com/office/drawing/2014/main" val="57799469"/>
                    </a:ext>
                  </a:extLst>
                </a:gridCol>
                <a:gridCol w="700088">
                  <a:extLst>
                    <a:ext uri="{9D8B030D-6E8A-4147-A177-3AD203B41FA5}">
                      <a16:colId xmlns:a16="http://schemas.microsoft.com/office/drawing/2014/main" val="1144026987"/>
                    </a:ext>
                  </a:extLst>
                </a:gridCol>
                <a:gridCol w="698500">
                  <a:extLst>
                    <a:ext uri="{9D8B030D-6E8A-4147-A177-3AD203B41FA5}">
                      <a16:colId xmlns:a16="http://schemas.microsoft.com/office/drawing/2014/main" val="4144477823"/>
                    </a:ext>
                  </a:extLst>
                </a:gridCol>
                <a:gridCol w="700087">
                  <a:extLst>
                    <a:ext uri="{9D8B030D-6E8A-4147-A177-3AD203B41FA5}">
                      <a16:colId xmlns:a16="http://schemas.microsoft.com/office/drawing/2014/main" val="1601495385"/>
                    </a:ext>
                  </a:extLst>
                </a:gridCol>
                <a:gridCol w="1074738">
                  <a:extLst>
                    <a:ext uri="{9D8B030D-6E8A-4147-A177-3AD203B41FA5}">
                      <a16:colId xmlns:a16="http://schemas.microsoft.com/office/drawing/2014/main" val="3736463456"/>
                    </a:ext>
                  </a:extLst>
                </a:gridCol>
                <a:gridCol w="1679575">
                  <a:extLst>
                    <a:ext uri="{9D8B030D-6E8A-4147-A177-3AD203B41FA5}">
                      <a16:colId xmlns:a16="http://schemas.microsoft.com/office/drawing/2014/main" val="2003035176"/>
                    </a:ext>
                  </a:extLst>
                </a:gridCol>
              </a:tblGrid>
              <a:tr h="335270">
                <a:tc rowSpan="2">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marL="344488">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693738">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989013">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1282700">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17399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1971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26543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111500"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30000"/>
                        </a:spcBef>
                        <a:spcAft>
                          <a:spcPct val="0"/>
                        </a:spcAft>
                        <a:buClr>
                          <a:schemeClr val="tx2"/>
                        </a:buClr>
                        <a:buSzPct val="70000"/>
                        <a:buFont typeface="Wingdings" panose="05000000000000000000" pitchFamily="2" charset="2"/>
                        <a:buNone/>
                        <a:tabLst/>
                      </a:pP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7">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商业第三者责任险</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38925767"/>
                  </a:ext>
                </a:extLst>
              </a:tr>
              <a:tr h="1027009">
                <a:tc vMerge="1">
                  <a:txBody>
                    <a:bodyPr/>
                    <a:lstStyle/>
                    <a:p>
                      <a:endParaRPr lang="zh-CN" altLang="en-US"/>
                    </a:p>
                  </a:txBody>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万</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万</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15</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万</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万</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30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万</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万</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万</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8275889"/>
                  </a:ext>
                </a:extLst>
              </a:tr>
              <a:tr h="400009">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座以下客车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671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940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1060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1141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1275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1443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1644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0290153"/>
                  </a:ext>
                </a:extLst>
              </a:tr>
              <a:tr h="400009">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6-10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座客车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573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803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906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975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1090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1233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1405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1110985"/>
                  </a:ext>
                </a:extLst>
              </a:tr>
              <a:tr h="430170">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座以上客车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573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803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906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975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1090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1233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1405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48904822"/>
                  </a:ext>
                </a:extLst>
              </a:tr>
              <a:tr h="400009">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2</a:t>
                      </a: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吨以下货车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791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1108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1250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1345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1503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1701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1939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96583093"/>
                  </a:ext>
                </a:extLst>
              </a:tr>
              <a:tr h="400009">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低速载货汽车</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673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942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1063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1143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1278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1446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30000"/>
                        </a:spcBef>
                        <a:buClr>
                          <a:schemeClr val="tx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1pPr>
                      <a:lvl2pPr>
                        <a:lnSpc>
                          <a:spcPct val="120000"/>
                        </a:lnSpc>
                        <a:spcBef>
                          <a:spcPct val="3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nSpc>
                          <a:spcPct val="120000"/>
                        </a:lnSpc>
                        <a:spcBef>
                          <a:spcPct val="30000"/>
                        </a:spcBef>
                        <a:buClr>
                          <a:schemeClr val="accent1"/>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nSpc>
                          <a:spcPct val="12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a:lnSpc>
                          <a:spcPct val="120000"/>
                        </a:lnSpc>
                        <a:spcBef>
                          <a:spcPct val="30000"/>
                        </a:spcBef>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fontAlgn="base">
                        <a:lnSpc>
                          <a:spcPct val="120000"/>
                        </a:lnSpc>
                        <a:spcBef>
                          <a:spcPct val="30000"/>
                        </a:spcBef>
                        <a:spcAft>
                          <a:spcPct val="0"/>
                        </a:spcAft>
                        <a:buClr>
                          <a:schemeClr val="fo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Times New Roman" panose="02020603050405020304" pitchFamily="18" charset="0"/>
                          <a:ea typeface="楷体_GB2312" pitchFamily="49" charset="-122"/>
                        </a:rPr>
                        <a:t>1648 </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5017808"/>
                  </a:ext>
                </a:extLst>
              </a:tr>
            </a:tbl>
          </a:graphicData>
        </a:graphic>
      </p:graphicFrame>
      <p:sp>
        <p:nvSpPr>
          <p:cNvPr id="65607" name="Rectangle 862"/>
          <p:cNvSpPr>
            <a:spLocks noChangeArrowheads="1"/>
          </p:cNvSpPr>
          <p:nvPr/>
        </p:nvSpPr>
        <p:spPr bwMode="auto">
          <a:xfrm>
            <a:off x="1331913" y="792163"/>
            <a:ext cx="6173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2400"/>
              <a:t> 机动车辆保险的基准费率表（非营业个人） </a:t>
            </a:r>
          </a:p>
        </p:txBody>
      </p:sp>
    </p:spTree>
    <p:extLst>
      <p:ext uri="{BB962C8B-B14F-4D97-AF65-F5344CB8AC3E}">
        <p14:creationId xmlns:p14="http://schemas.microsoft.com/office/powerpoint/2010/main" val="127078057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FD498E8B-5FE4-4390-B2AE-2C16661D10A7}" type="slidenum">
              <a:rPr lang="en-US" altLang="zh-CN" sz="1000" smtClean="0"/>
              <a:pPr>
                <a:lnSpc>
                  <a:spcPct val="100000"/>
                </a:lnSpc>
                <a:spcBef>
                  <a:spcPct val="0"/>
                </a:spcBef>
                <a:buClrTx/>
                <a:buSzTx/>
                <a:buFontTx/>
                <a:buNone/>
              </a:pPr>
              <a:t>149</a:t>
            </a:fld>
            <a:endParaRPr lang="en-US" altLang="zh-CN" sz="1000" smtClean="0"/>
          </a:p>
        </p:txBody>
      </p:sp>
      <p:sp>
        <p:nvSpPr>
          <p:cNvPr id="17411" name="Rectangle 2"/>
          <p:cNvSpPr>
            <a:spLocks noGrp="1" noChangeArrowheads="1"/>
          </p:cNvSpPr>
          <p:nvPr>
            <p:ph type="title"/>
          </p:nvPr>
        </p:nvSpPr>
        <p:spPr>
          <a:xfrm>
            <a:off x="2051050" y="2636838"/>
            <a:ext cx="7543800" cy="508000"/>
          </a:xfrm>
        </p:spPr>
        <p:txBody>
          <a:bodyPr/>
          <a:lstStyle/>
          <a:p>
            <a:pPr eaLnBrk="1" hangingPunct="1"/>
            <a:r>
              <a:rPr lang="zh-CN" altLang="en-US" dirty="0" smtClean="0"/>
              <a:t>三、在分类费率厘定中的应用</a:t>
            </a:r>
          </a:p>
        </p:txBody>
      </p:sp>
    </p:spTree>
    <p:extLst>
      <p:ext uri="{BB962C8B-B14F-4D97-AF65-F5344CB8AC3E}">
        <p14:creationId xmlns:p14="http://schemas.microsoft.com/office/powerpoint/2010/main" val="3542284614"/>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92367353-96B0-4F3E-AB0C-8060999EA032}" type="slidenum">
              <a:rPr lang="en-US" altLang="zh-CN" sz="1000" smtClean="0"/>
              <a:pPr>
                <a:lnSpc>
                  <a:spcPct val="100000"/>
                </a:lnSpc>
                <a:spcBef>
                  <a:spcPct val="0"/>
                </a:spcBef>
                <a:buClrTx/>
                <a:buSzTx/>
                <a:buFontTx/>
                <a:buNone/>
              </a:pPr>
              <a:t>150</a:t>
            </a:fld>
            <a:endParaRPr lang="en-US" altLang="zh-CN" sz="1000" smtClean="0"/>
          </a:p>
        </p:txBody>
      </p:sp>
      <p:sp>
        <p:nvSpPr>
          <p:cNvPr id="18435" name="Rectangle 2"/>
          <p:cNvSpPr>
            <a:spLocks noGrp="1" noChangeArrowheads="1"/>
          </p:cNvSpPr>
          <p:nvPr>
            <p:ph type="title"/>
          </p:nvPr>
        </p:nvSpPr>
        <p:spPr>
          <a:xfrm>
            <a:off x="323850" y="414338"/>
            <a:ext cx="7543800" cy="508000"/>
          </a:xfrm>
        </p:spPr>
        <p:txBody>
          <a:bodyPr/>
          <a:lstStyle/>
          <a:p>
            <a:pPr eaLnBrk="1" hangingPunct="1"/>
            <a:r>
              <a:rPr lang="zh-CN" altLang="en-US" smtClean="0"/>
              <a:t>权重 、分布、连接函数的选择</a:t>
            </a:r>
          </a:p>
        </p:txBody>
      </p:sp>
      <p:sp>
        <p:nvSpPr>
          <p:cNvPr id="3" name="矩形 2"/>
          <p:cNvSpPr/>
          <p:nvPr/>
        </p:nvSpPr>
        <p:spPr>
          <a:xfrm>
            <a:off x="179388" y="892175"/>
            <a:ext cx="8353425" cy="5602288"/>
          </a:xfrm>
          <a:prstGeom prst="rect">
            <a:avLst/>
          </a:prstGeom>
        </p:spPr>
        <p:txBody>
          <a:bodyPr>
            <a:spAutoFit/>
          </a:bodyPr>
          <a:lstStyle/>
          <a:p>
            <a:pPr>
              <a:defRPr/>
            </a:pPr>
            <a:endParaRPr lang="zh-CN" altLang="en-US" sz="1000" dirty="0">
              <a:solidFill>
                <a:srgbClr val="000000"/>
              </a:solidFill>
              <a:latin typeface="宋体" panose="02010600030101010101" pitchFamily="2" charset="-122"/>
            </a:endParaRPr>
          </a:p>
          <a:p>
            <a:pPr marL="342900" indent="-342900" eaLnBrk="1" hangingPunct="1">
              <a:spcBef>
                <a:spcPct val="50000"/>
              </a:spcBef>
              <a:buClr>
                <a:schemeClr val="tx2"/>
              </a:buClr>
              <a:buSzPct val="70000"/>
              <a:buFont typeface="Wingdings" panose="05000000000000000000" pitchFamily="2" charset="2"/>
              <a:buChar char="l"/>
              <a:defRPr/>
            </a:pPr>
            <a:r>
              <a:rPr lang="zh-CN" altLang="en-US" sz="2200" b="1" kern="0" dirty="0">
                <a:solidFill>
                  <a:srgbClr val="000099"/>
                </a:solidFill>
                <a:latin typeface="Times New Roman" panose="02020603050405020304" pitchFamily="18" charset="0"/>
                <a:ea typeface="+mn-ea"/>
              </a:rPr>
              <a:t>（</a:t>
            </a:r>
            <a:r>
              <a:rPr lang="en-US" altLang="zh-CN" sz="2200" b="1" kern="0" dirty="0">
                <a:solidFill>
                  <a:srgbClr val="000099"/>
                </a:solidFill>
                <a:latin typeface="Times New Roman" panose="02020603050405020304" pitchFamily="18" charset="0"/>
                <a:ea typeface="+mn-ea"/>
              </a:rPr>
              <a:t>1</a:t>
            </a:r>
            <a:r>
              <a:rPr lang="zh-CN" altLang="en-US" sz="2200" b="1" kern="0" dirty="0">
                <a:solidFill>
                  <a:srgbClr val="000099"/>
                </a:solidFill>
                <a:latin typeface="Times New Roman" panose="02020603050405020304" pitchFamily="18" charset="0"/>
                <a:ea typeface="+mn-ea"/>
              </a:rPr>
              <a:t>）权重选择</a:t>
            </a:r>
            <a:endParaRPr lang="en-US" altLang="zh-CN" sz="2200" b="1" kern="0" dirty="0">
              <a:solidFill>
                <a:srgbClr val="000099"/>
              </a:solidFill>
              <a:latin typeface="Times New Roman" panose="02020603050405020304" pitchFamily="18" charset="0"/>
              <a:ea typeface="+mn-ea"/>
            </a:endParaRP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索赔次数：权重为</a:t>
            </a:r>
            <a:r>
              <a:rPr lang="en-US" altLang="zh-CN" sz="2200" kern="0" dirty="0">
                <a:latin typeface="Times New Roman" panose="02020603050405020304" pitchFamily="18" charset="0"/>
                <a:ea typeface="+mn-ea"/>
              </a:rPr>
              <a:t>1</a:t>
            </a:r>
            <a:endParaRPr lang="zh-CN" altLang="en-US" sz="2200" kern="0" dirty="0">
              <a:latin typeface="Times New Roman" panose="02020603050405020304" pitchFamily="18" charset="0"/>
              <a:ea typeface="+mn-ea"/>
            </a:endParaRP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索赔频率：权重为风险单位数，车险（车年数）</a:t>
            </a: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索赔强度：权重为索赔次数</a:t>
            </a:r>
            <a:endParaRPr lang="en-US" altLang="zh-CN" sz="2200" kern="0" dirty="0">
              <a:latin typeface="Times New Roman" panose="02020603050405020304" pitchFamily="18" charset="0"/>
              <a:ea typeface="+mn-ea"/>
            </a:endParaRP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纯保费：权重为风险单位数</a:t>
            </a:r>
          </a:p>
          <a:p>
            <a:pPr marL="342900" indent="-342900" eaLnBrk="1" hangingPunct="1">
              <a:spcBef>
                <a:spcPct val="50000"/>
              </a:spcBef>
              <a:buClr>
                <a:schemeClr val="tx2"/>
              </a:buClr>
              <a:buSzPct val="70000"/>
              <a:buFont typeface="Wingdings" panose="05000000000000000000" pitchFamily="2" charset="2"/>
              <a:buChar char="l"/>
              <a:defRPr/>
            </a:pPr>
            <a:r>
              <a:rPr lang="zh-CN" altLang="en-US" sz="2200" b="1" kern="0" dirty="0">
                <a:solidFill>
                  <a:srgbClr val="000099"/>
                </a:solidFill>
                <a:latin typeface="Times New Roman" panose="02020603050405020304" pitchFamily="18" charset="0"/>
                <a:ea typeface="+mn-ea"/>
              </a:rPr>
              <a:t>（</a:t>
            </a:r>
            <a:r>
              <a:rPr lang="en-US" altLang="zh-CN" sz="2200" b="1" kern="0" dirty="0">
                <a:solidFill>
                  <a:srgbClr val="000099"/>
                </a:solidFill>
                <a:latin typeface="Times New Roman" panose="02020603050405020304" pitchFamily="18" charset="0"/>
                <a:ea typeface="+mn-ea"/>
              </a:rPr>
              <a:t>2</a:t>
            </a:r>
            <a:r>
              <a:rPr lang="zh-CN" altLang="en-US" sz="2200" b="1" kern="0" dirty="0">
                <a:solidFill>
                  <a:srgbClr val="000099"/>
                </a:solidFill>
                <a:latin typeface="Times New Roman" panose="02020603050405020304" pitchFamily="18" charset="0"/>
                <a:ea typeface="+mn-ea"/>
              </a:rPr>
              <a:t>）分布的选择：</a:t>
            </a:r>
            <a:endParaRPr lang="en-US" altLang="zh-CN" sz="2200" kern="0" dirty="0">
              <a:latin typeface="Times New Roman" panose="02020603050405020304" pitchFamily="18" charset="0"/>
              <a:ea typeface="+mn-ea"/>
            </a:endParaRP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因变量方差为常数，选择正态分布；</a:t>
            </a: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方差等于均值，选择泊松分布（索赔次数</a:t>
            </a:r>
            <a:r>
              <a:rPr lang="en-US" altLang="zh-CN" sz="2200" kern="0" dirty="0">
                <a:latin typeface="Times New Roman" panose="02020603050405020304" pitchFamily="18" charset="0"/>
                <a:ea typeface="+mn-ea"/>
              </a:rPr>
              <a:t>/</a:t>
            </a:r>
            <a:r>
              <a:rPr lang="zh-CN" altLang="en-US" sz="2200" kern="0" dirty="0">
                <a:latin typeface="Times New Roman" panose="02020603050405020304" pitchFamily="18" charset="0"/>
                <a:ea typeface="+mn-ea"/>
              </a:rPr>
              <a:t>频率）</a:t>
            </a: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方差与均值平方成比例，选择伽马分布（索赔金额</a:t>
            </a:r>
            <a:r>
              <a:rPr lang="en-US" altLang="zh-CN" sz="2200" kern="0" dirty="0">
                <a:latin typeface="Times New Roman" panose="02020603050405020304" pitchFamily="18" charset="0"/>
                <a:ea typeface="+mn-ea"/>
              </a:rPr>
              <a:t>/</a:t>
            </a:r>
            <a:r>
              <a:rPr lang="zh-CN" altLang="en-US" sz="2200" kern="0" dirty="0">
                <a:latin typeface="Times New Roman" panose="02020603050405020304" pitchFamily="18" charset="0"/>
                <a:ea typeface="+mn-ea"/>
              </a:rPr>
              <a:t>强度）</a:t>
            </a: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方差与均值立方成比例，选择逆高斯分布（索赔</a:t>
            </a:r>
            <a:r>
              <a:rPr lang="zh-CN" altLang="en-US" sz="2200" kern="0" dirty="0">
                <a:latin typeface="Times New Roman" panose="02020603050405020304" pitchFamily="18" charset="0"/>
              </a:rPr>
              <a:t>金额</a:t>
            </a:r>
            <a:r>
              <a:rPr lang="en-US" altLang="zh-CN" sz="2200" kern="0" dirty="0">
                <a:latin typeface="Times New Roman" panose="02020603050405020304" pitchFamily="18" charset="0"/>
              </a:rPr>
              <a:t>/</a:t>
            </a:r>
            <a:r>
              <a:rPr lang="zh-CN" altLang="en-US" sz="2200" kern="0" dirty="0">
                <a:latin typeface="Times New Roman" panose="02020603050405020304" pitchFamily="18" charset="0"/>
              </a:rPr>
              <a:t>强度</a:t>
            </a:r>
            <a:r>
              <a:rPr lang="zh-CN" altLang="en-US" sz="2200" kern="0" dirty="0">
                <a:latin typeface="Times New Roman" panose="02020603050405020304" pitchFamily="18" charset="0"/>
                <a:ea typeface="+mn-ea"/>
              </a:rPr>
              <a:t>）</a:t>
            </a:r>
          </a:p>
          <a:p>
            <a:pPr>
              <a:defRPr/>
            </a:pPr>
            <a:endParaRPr lang="zh-CN" altLang="en-US" dirty="0">
              <a:solidFill>
                <a:srgbClr val="000000"/>
              </a:solidFill>
              <a:latin typeface="宋体" panose="02010600030101010101" pitchFamily="2" charset="-122"/>
            </a:endParaRPr>
          </a:p>
        </p:txBody>
      </p:sp>
    </p:spTree>
    <p:extLst>
      <p:ext uri="{BB962C8B-B14F-4D97-AF65-F5344CB8AC3E}">
        <p14:creationId xmlns:p14="http://schemas.microsoft.com/office/powerpoint/2010/main" val="429827954"/>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DF177C55-0822-404E-88BA-F9602C38F3B4}" type="slidenum">
              <a:rPr lang="en-US" altLang="zh-CN" sz="1000" smtClean="0"/>
              <a:pPr>
                <a:lnSpc>
                  <a:spcPct val="100000"/>
                </a:lnSpc>
                <a:spcBef>
                  <a:spcPct val="0"/>
                </a:spcBef>
                <a:buClrTx/>
                <a:buSzTx/>
                <a:buFontTx/>
                <a:buNone/>
              </a:pPr>
              <a:t>151</a:t>
            </a:fld>
            <a:endParaRPr lang="en-US" altLang="zh-CN" sz="1000" smtClean="0"/>
          </a:p>
        </p:txBody>
      </p:sp>
      <p:sp>
        <p:nvSpPr>
          <p:cNvPr id="19459" name="Rectangle 2"/>
          <p:cNvSpPr>
            <a:spLocks noGrp="1" noChangeArrowheads="1"/>
          </p:cNvSpPr>
          <p:nvPr>
            <p:ph type="title"/>
          </p:nvPr>
        </p:nvSpPr>
        <p:spPr>
          <a:xfrm>
            <a:off x="323850" y="414338"/>
            <a:ext cx="7543800" cy="508000"/>
          </a:xfrm>
        </p:spPr>
        <p:txBody>
          <a:bodyPr/>
          <a:lstStyle/>
          <a:p>
            <a:pPr eaLnBrk="1" hangingPunct="1"/>
            <a:r>
              <a:rPr lang="zh-CN" altLang="en-US" smtClean="0"/>
              <a:t>权重 、分布、连接函数的选择</a:t>
            </a:r>
          </a:p>
        </p:txBody>
      </p:sp>
      <p:sp>
        <p:nvSpPr>
          <p:cNvPr id="3" name="矩形 2"/>
          <p:cNvSpPr/>
          <p:nvPr/>
        </p:nvSpPr>
        <p:spPr>
          <a:xfrm>
            <a:off x="539750" y="1125538"/>
            <a:ext cx="7993063" cy="4308475"/>
          </a:xfrm>
          <a:prstGeom prst="rect">
            <a:avLst/>
          </a:prstGeom>
        </p:spPr>
        <p:txBody>
          <a:bodyPr>
            <a:spAutoFit/>
          </a:bodyPr>
          <a:lstStyle/>
          <a:p>
            <a:pPr>
              <a:defRPr/>
            </a:pPr>
            <a:endParaRPr lang="zh-CN" altLang="en-US" sz="1000" dirty="0">
              <a:solidFill>
                <a:srgbClr val="000000"/>
              </a:solidFill>
              <a:latin typeface="宋体" panose="02010600030101010101" pitchFamily="2" charset="-122"/>
            </a:endParaRPr>
          </a:p>
          <a:p>
            <a:pPr marL="342900" indent="-342900" eaLnBrk="1" hangingPunct="1">
              <a:spcBef>
                <a:spcPct val="50000"/>
              </a:spcBef>
              <a:buClr>
                <a:schemeClr val="tx2"/>
              </a:buClr>
              <a:buSzPct val="70000"/>
              <a:buFont typeface="Wingdings" panose="05000000000000000000" pitchFamily="2" charset="2"/>
              <a:buChar char="l"/>
              <a:defRPr/>
            </a:pPr>
            <a:r>
              <a:rPr lang="zh-CN" altLang="en-US" sz="2200" b="1" kern="0" dirty="0">
                <a:solidFill>
                  <a:srgbClr val="000099"/>
                </a:solidFill>
                <a:latin typeface="Times New Roman" panose="02020603050405020304" pitchFamily="18" charset="0"/>
                <a:ea typeface="+mn-ea"/>
              </a:rPr>
              <a:t>（</a:t>
            </a:r>
            <a:r>
              <a:rPr lang="en-US" altLang="zh-CN" sz="2200" b="1" kern="0" dirty="0">
                <a:solidFill>
                  <a:srgbClr val="000099"/>
                </a:solidFill>
                <a:latin typeface="Times New Roman" panose="02020603050405020304" pitchFamily="18" charset="0"/>
                <a:ea typeface="+mn-ea"/>
              </a:rPr>
              <a:t>3</a:t>
            </a:r>
            <a:r>
              <a:rPr lang="zh-CN" altLang="en-US" sz="2200" b="1" kern="0" dirty="0">
                <a:solidFill>
                  <a:srgbClr val="000099"/>
                </a:solidFill>
                <a:latin typeface="Times New Roman" panose="02020603050405020304" pitchFamily="18" charset="0"/>
                <a:ea typeface="+mn-ea"/>
              </a:rPr>
              <a:t>）连接函数的选择</a:t>
            </a:r>
            <a:endParaRPr lang="en-US" altLang="zh-CN" sz="2200" b="1" kern="0" dirty="0">
              <a:solidFill>
                <a:srgbClr val="000099"/>
              </a:solidFill>
              <a:latin typeface="Times New Roman" panose="02020603050405020304" pitchFamily="18" charset="0"/>
              <a:ea typeface="+mn-ea"/>
            </a:endParaRPr>
          </a:p>
          <a:p>
            <a:pPr marL="800100" lvl="1" indent="-342900" eaLnBrk="1" hangingPunct="1">
              <a:lnSpc>
                <a:spcPct val="150000"/>
              </a:lnSpc>
              <a:spcBef>
                <a:spcPct val="50000"/>
              </a:spcBef>
              <a:buClr>
                <a:schemeClr val="tx2"/>
              </a:buClr>
              <a:buSzPct val="70000"/>
              <a:buFont typeface="Wingdings" panose="05000000000000000000" pitchFamily="2" charset="2"/>
              <a:buChar char="l"/>
              <a:defRPr/>
            </a:pPr>
            <a:r>
              <a:rPr lang="zh-CN" altLang="en-US" sz="2200" b="1" kern="0" dirty="0">
                <a:solidFill>
                  <a:srgbClr val="FF0000"/>
                </a:solidFill>
                <a:latin typeface="Times New Roman" panose="02020603050405020304" pitchFamily="18" charset="0"/>
                <a:ea typeface="+mn-ea"/>
              </a:rPr>
              <a:t>对数连接函数</a:t>
            </a:r>
            <a:r>
              <a:rPr lang="zh-CN" altLang="en-US" sz="2200" kern="0" dirty="0">
                <a:latin typeface="Times New Roman" panose="02020603050405020304" pitchFamily="18" charset="0"/>
                <a:ea typeface="+mn-ea"/>
              </a:rPr>
              <a:t>：解释变量对因变量的影响是相乘关系；因变量的预测值不会为负值</a:t>
            </a:r>
            <a:endParaRPr lang="en-US" altLang="zh-CN" sz="2200" kern="0" dirty="0">
              <a:latin typeface="Times New Roman" panose="02020603050405020304" pitchFamily="18" charset="0"/>
              <a:ea typeface="+mn-ea"/>
            </a:endParaRPr>
          </a:p>
          <a:p>
            <a:pPr marL="800100" lvl="1" indent="-342900" eaLnBrk="1" hangingPunct="1">
              <a:lnSpc>
                <a:spcPct val="150000"/>
              </a:lnSpc>
              <a:spcBef>
                <a:spcPct val="50000"/>
              </a:spcBef>
              <a:buClr>
                <a:schemeClr val="tx2"/>
              </a:buClr>
              <a:buSzPct val="70000"/>
              <a:buFont typeface="Wingdings" panose="05000000000000000000" pitchFamily="2" charset="2"/>
              <a:buChar char="l"/>
              <a:defRPr/>
            </a:pPr>
            <a:r>
              <a:rPr lang="en-US" altLang="zh-CN" sz="2200" kern="0" dirty="0">
                <a:latin typeface="Times New Roman" panose="02020603050405020304" pitchFamily="18" charset="0"/>
                <a:ea typeface="+mn-ea"/>
              </a:rPr>
              <a:t>Logit </a:t>
            </a:r>
            <a:r>
              <a:rPr lang="zh-CN" altLang="en-US" sz="2200" kern="0" dirty="0">
                <a:latin typeface="Times New Roman" panose="02020603050405020304" pitchFamily="18" charset="0"/>
                <a:ea typeface="+mn-ea"/>
              </a:rPr>
              <a:t>连接函数：因变量预测值在 </a:t>
            </a:r>
            <a:r>
              <a:rPr lang="en-US" altLang="zh-CN" sz="2200" kern="0" dirty="0">
                <a:latin typeface="Times New Roman" panose="02020603050405020304" pitchFamily="18" charset="0"/>
                <a:ea typeface="+mn-ea"/>
              </a:rPr>
              <a:t>0-1</a:t>
            </a:r>
            <a:r>
              <a:rPr lang="zh-CN" altLang="en-US" sz="2200" kern="0" dirty="0">
                <a:latin typeface="Times New Roman" panose="02020603050405020304" pitchFamily="18" charset="0"/>
                <a:ea typeface="+mn-ea"/>
              </a:rPr>
              <a:t>；如续保率，签约率，保单是否发生索赔</a:t>
            </a:r>
            <a:endParaRPr lang="en-US" altLang="zh-CN" sz="2200" kern="0" dirty="0">
              <a:latin typeface="Times New Roman" panose="02020603050405020304" pitchFamily="18" charset="0"/>
              <a:ea typeface="+mn-ea"/>
            </a:endParaRPr>
          </a:p>
          <a:p>
            <a:pPr marL="800100" lvl="1" indent="-342900" eaLnBrk="1" hangingPunct="1">
              <a:lnSpc>
                <a:spcPct val="150000"/>
              </a:lnSpc>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倒数连接函</a:t>
            </a:r>
            <a:r>
              <a:rPr lang="zh-CN" altLang="en-US" sz="2200" kern="0" dirty="0">
                <a:latin typeface="Times New Roman" panose="02020603050405020304" pitchFamily="18" charset="0"/>
              </a:rPr>
              <a:t>数</a:t>
            </a:r>
            <a:r>
              <a:rPr lang="zh-CN" altLang="en-US" sz="2200" kern="0" dirty="0">
                <a:latin typeface="Times New Roman" panose="02020603050405020304" pitchFamily="18" charset="0"/>
                <a:ea typeface="+mn-ea"/>
              </a:rPr>
              <a:t>：保费通常表示为每年多少元；倒数的含义为每一元保费可以承保多长时间</a:t>
            </a:r>
            <a:endParaRPr lang="en-US" altLang="zh-CN" sz="2200" kern="0" dirty="0">
              <a:latin typeface="Times New Roman" panose="02020603050405020304" pitchFamily="18" charset="0"/>
              <a:ea typeface="+mn-ea"/>
            </a:endParaRPr>
          </a:p>
        </p:txBody>
      </p:sp>
    </p:spTree>
    <p:extLst>
      <p:ext uri="{BB962C8B-B14F-4D97-AF65-F5344CB8AC3E}">
        <p14:creationId xmlns:p14="http://schemas.microsoft.com/office/powerpoint/2010/main" val="651840289"/>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0F708D84-E134-442A-88EF-97A4C442110B}" type="slidenum">
              <a:rPr lang="en-US" altLang="zh-CN" sz="1000" smtClean="0"/>
              <a:pPr>
                <a:lnSpc>
                  <a:spcPct val="100000"/>
                </a:lnSpc>
                <a:spcBef>
                  <a:spcPct val="0"/>
                </a:spcBef>
                <a:buClrTx/>
                <a:buSzTx/>
                <a:buFontTx/>
                <a:buNone/>
              </a:pPr>
              <a:t>152</a:t>
            </a:fld>
            <a:endParaRPr lang="en-US" altLang="zh-CN" sz="1000" smtClean="0"/>
          </a:p>
        </p:txBody>
      </p:sp>
      <p:sp>
        <p:nvSpPr>
          <p:cNvPr id="20483" name="Rectangle 2"/>
          <p:cNvSpPr>
            <a:spLocks noGrp="1" noChangeArrowheads="1"/>
          </p:cNvSpPr>
          <p:nvPr>
            <p:ph type="title"/>
          </p:nvPr>
        </p:nvSpPr>
        <p:spPr>
          <a:xfrm>
            <a:off x="323850" y="414338"/>
            <a:ext cx="7543800" cy="508000"/>
          </a:xfrm>
        </p:spPr>
        <p:txBody>
          <a:bodyPr/>
          <a:lstStyle/>
          <a:p>
            <a:pPr eaLnBrk="1" hangingPunct="1"/>
            <a:r>
              <a:rPr lang="zh-CN" altLang="en-US" smtClean="0"/>
              <a:t>广义线性模型在分类费率中的应用</a:t>
            </a:r>
          </a:p>
        </p:txBody>
      </p:sp>
      <p:sp>
        <p:nvSpPr>
          <p:cNvPr id="3" name="矩形 2"/>
          <p:cNvSpPr/>
          <p:nvPr/>
        </p:nvSpPr>
        <p:spPr>
          <a:xfrm>
            <a:off x="323850" y="1341438"/>
            <a:ext cx="8208963" cy="3970337"/>
          </a:xfrm>
          <a:prstGeom prst="rect">
            <a:avLst/>
          </a:prstGeom>
        </p:spPr>
        <p:txBody>
          <a:bodyPr>
            <a:spAutoFit/>
          </a:bodyPr>
          <a:lstStyle/>
          <a:p>
            <a:pPr>
              <a:defRPr/>
            </a:pPr>
            <a:endParaRPr lang="zh-CN" altLang="en-US" sz="1000" dirty="0">
              <a:solidFill>
                <a:srgbClr val="000000"/>
              </a:solidFill>
              <a:latin typeface="宋体" panose="02010600030101010101" pitchFamily="2" charset="-122"/>
            </a:endParaRPr>
          </a:p>
          <a:p>
            <a:pPr marL="342900" indent="-342900" eaLnBrk="1" hangingPunct="1">
              <a:spcBef>
                <a:spcPct val="50000"/>
              </a:spcBef>
              <a:buClr>
                <a:schemeClr val="tx2"/>
              </a:buClr>
              <a:buSzPct val="70000"/>
              <a:buFont typeface="Wingdings" panose="05000000000000000000" pitchFamily="2" charset="2"/>
              <a:buChar char="l"/>
              <a:defRPr/>
            </a:pPr>
            <a:r>
              <a:rPr lang="zh-CN" altLang="en-US" sz="2200" b="1" kern="0" dirty="0">
                <a:solidFill>
                  <a:srgbClr val="000099"/>
                </a:solidFill>
                <a:latin typeface="Times New Roman" panose="02020603050405020304" pitchFamily="18" charset="0"/>
                <a:ea typeface="+mn-ea"/>
              </a:rPr>
              <a:t>常见的广义线性模型</a:t>
            </a:r>
            <a:endParaRPr lang="en-US" altLang="zh-CN" sz="2200" b="1" kern="0" dirty="0">
              <a:solidFill>
                <a:srgbClr val="000099"/>
              </a:solidFill>
              <a:latin typeface="Times New Roman" panose="02020603050405020304" pitchFamily="18" charset="0"/>
              <a:ea typeface="+mn-ea"/>
            </a:endParaRP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solidFill>
                  <a:srgbClr val="FF0000"/>
                </a:solidFill>
                <a:latin typeface="Times New Roman" panose="02020603050405020304" pitchFamily="18" charset="0"/>
                <a:ea typeface="+mn-ea"/>
              </a:rPr>
              <a:t>索赔次数</a:t>
            </a:r>
            <a:r>
              <a:rPr lang="zh-CN" altLang="en-US" sz="2200" kern="0" dirty="0">
                <a:latin typeface="Times New Roman" panose="02020603050405020304" pitchFamily="18" charset="0"/>
                <a:ea typeface="+mn-ea"/>
              </a:rPr>
              <a:t>： </a:t>
            </a:r>
            <a:r>
              <a:rPr lang="zh-CN" altLang="en-US" sz="2200" kern="0" dirty="0">
                <a:solidFill>
                  <a:srgbClr val="000099"/>
                </a:solidFill>
                <a:latin typeface="Times New Roman" panose="02020603050405020304" pitchFamily="18" charset="0"/>
                <a:ea typeface="+mn-ea"/>
              </a:rPr>
              <a:t>抵销项</a:t>
            </a:r>
            <a:r>
              <a:rPr lang="en-US" altLang="zh-CN" sz="2200" kern="0" dirty="0">
                <a:solidFill>
                  <a:srgbClr val="000099"/>
                </a:solidFill>
                <a:latin typeface="Times New Roman" panose="02020603050405020304" pitchFamily="18" charset="0"/>
                <a:ea typeface="+mn-ea"/>
              </a:rPr>
              <a:t>(offset)</a:t>
            </a:r>
            <a:r>
              <a:rPr lang="zh-CN" altLang="en-US" sz="2200" kern="0" dirty="0">
                <a:solidFill>
                  <a:srgbClr val="000099"/>
                </a:solidFill>
                <a:latin typeface="Times New Roman" panose="02020603050405020304" pitchFamily="18" charset="0"/>
                <a:ea typeface="+mn-ea"/>
              </a:rPr>
              <a:t> </a:t>
            </a:r>
            <a:r>
              <a:rPr lang="en-US" altLang="zh-CN" sz="2200" kern="0" dirty="0">
                <a:latin typeface="Times New Roman" panose="02020603050405020304" pitchFamily="18" charset="0"/>
                <a:ea typeface="+mn-ea"/>
              </a:rPr>
              <a:t>+ </a:t>
            </a:r>
            <a:r>
              <a:rPr lang="zh-CN" altLang="en-US" sz="2200" kern="0" dirty="0">
                <a:latin typeface="Times New Roman" panose="02020603050405020304" pitchFamily="18" charset="0"/>
                <a:ea typeface="+mn-ea"/>
              </a:rPr>
              <a:t>泊松 分布 </a:t>
            </a:r>
            <a:r>
              <a:rPr lang="en-US" altLang="zh-CN" sz="2200" kern="0" dirty="0">
                <a:latin typeface="Times New Roman" panose="02020603050405020304" pitchFamily="18" charset="0"/>
                <a:ea typeface="+mn-ea"/>
              </a:rPr>
              <a:t>+ </a:t>
            </a:r>
            <a:r>
              <a:rPr lang="zh-CN" altLang="en-US" sz="2200" kern="0" dirty="0">
                <a:latin typeface="Times New Roman" panose="02020603050405020304" pitchFamily="18" charset="0"/>
                <a:ea typeface="+mn-ea"/>
              </a:rPr>
              <a:t>对数连接函对数</a:t>
            </a: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solidFill>
                  <a:srgbClr val="FF0000"/>
                </a:solidFill>
                <a:latin typeface="Times New Roman" panose="02020603050405020304" pitchFamily="18" charset="0"/>
                <a:ea typeface="+mn-ea"/>
              </a:rPr>
              <a:t>索赔频率 </a:t>
            </a:r>
            <a:r>
              <a:rPr lang="zh-CN" altLang="en-US" sz="2200" kern="0" dirty="0">
                <a:latin typeface="Times New Roman" panose="02020603050405020304" pitchFamily="18" charset="0"/>
                <a:ea typeface="+mn-ea"/>
              </a:rPr>
              <a:t>：风险单位数权重</a:t>
            </a:r>
            <a:r>
              <a:rPr lang="en-US" altLang="zh-CN" sz="2200" kern="0" dirty="0">
                <a:latin typeface="Times New Roman" panose="02020603050405020304" pitchFamily="18" charset="0"/>
                <a:ea typeface="+mn-ea"/>
              </a:rPr>
              <a:t>(weight)</a:t>
            </a:r>
            <a:r>
              <a:rPr lang="zh-CN" altLang="en-US" sz="2200" kern="0" dirty="0">
                <a:latin typeface="Times New Roman" panose="02020603050405020304" pitchFamily="18" charset="0"/>
                <a:ea typeface="+mn-ea"/>
              </a:rPr>
              <a:t> </a:t>
            </a:r>
            <a:r>
              <a:rPr lang="en-US" altLang="zh-CN" sz="2200" kern="0" dirty="0">
                <a:latin typeface="Times New Roman" panose="02020603050405020304" pitchFamily="18" charset="0"/>
                <a:ea typeface="+mn-ea"/>
              </a:rPr>
              <a:t>+ </a:t>
            </a:r>
            <a:r>
              <a:rPr lang="zh-CN" altLang="en-US" sz="2200" kern="0" dirty="0">
                <a:latin typeface="Times New Roman" panose="02020603050405020304" pitchFamily="18" charset="0"/>
                <a:ea typeface="+mn-ea"/>
              </a:rPr>
              <a:t>泊松分布 </a:t>
            </a:r>
            <a:r>
              <a:rPr lang="en-US" altLang="zh-CN" sz="2200" kern="0" dirty="0">
                <a:latin typeface="Times New Roman" panose="02020603050405020304" pitchFamily="18" charset="0"/>
                <a:ea typeface="+mn-ea"/>
              </a:rPr>
              <a:t>+ </a:t>
            </a:r>
            <a:r>
              <a:rPr lang="zh-CN" altLang="en-US" sz="2200" kern="0" dirty="0">
                <a:latin typeface="Times New Roman" panose="02020603050405020304" pitchFamily="18" charset="0"/>
                <a:ea typeface="+mn-ea"/>
              </a:rPr>
              <a:t>对数连接函对数</a:t>
            </a: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solidFill>
                  <a:srgbClr val="FF0000"/>
                </a:solidFill>
                <a:latin typeface="Times New Roman" panose="02020603050405020304" pitchFamily="18" charset="0"/>
                <a:ea typeface="+mn-ea"/>
              </a:rPr>
              <a:t>索赔强度 </a:t>
            </a:r>
            <a:r>
              <a:rPr lang="zh-CN" altLang="en-US" sz="2200" kern="0" dirty="0">
                <a:latin typeface="Times New Roman" panose="02020603050405020304" pitchFamily="18" charset="0"/>
                <a:ea typeface="+mn-ea"/>
              </a:rPr>
              <a:t>：索赔次数权重</a:t>
            </a:r>
            <a:r>
              <a:rPr lang="en-US" altLang="zh-CN" sz="2200" kern="0" dirty="0">
                <a:latin typeface="Times New Roman" panose="02020603050405020304" pitchFamily="18" charset="0"/>
                <a:ea typeface="+mn-ea"/>
              </a:rPr>
              <a:t>(weight)</a:t>
            </a:r>
            <a:r>
              <a:rPr lang="zh-CN" altLang="en-US" sz="2200" kern="0" dirty="0">
                <a:latin typeface="Times New Roman" panose="02020603050405020304" pitchFamily="18" charset="0"/>
                <a:ea typeface="+mn-ea"/>
              </a:rPr>
              <a:t> </a:t>
            </a:r>
            <a:r>
              <a:rPr lang="en-US" altLang="zh-CN" sz="2200" kern="0" dirty="0">
                <a:latin typeface="Times New Roman" panose="02020603050405020304" pitchFamily="18" charset="0"/>
                <a:ea typeface="+mn-ea"/>
              </a:rPr>
              <a:t>+ </a:t>
            </a:r>
            <a:r>
              <a:rPr lang="zh-CN" altLang="en-US" sz="2200" kern="0" dirty="0">
                <a:latin typeface="Times New Roman" panose="02020603050405020304" pitchFamily="18" charset="0"/>
                <a:ea typeface="+mn-ea"/>
              </a:rPr>
              <a:t>伽马分布 </a:t>
            </a:r>
            <a:r>
              <a:rPr lang="en-US" altLang="zh-CN" sz="2200" kern="0" dirty="0">
                <a:latin typeface="Times New Roman" panose="02020603050405020304" pitchFamily="18" charset="0"/>
                <a:ea typeface="+mn-ea"/>
              </a:rPr>
              <a:t>+</a:t>
            </a:r>
            <a:r>
              <a:rPr lang="zh-CN" altLang="en-US" sz="2200" kern="0" dirty="0">
                <a:latin typeface="Times New Roman" panose="02020603050405020304" pitchFamily="18" charset="0"/>
                <a:ea typeface="+mn-ea"/>
              </a:rPr>
              <a:t>对数连接函</a:t>
            </a:r>
            <a:endParaRPr lang="en-US" altLang="zh-CN" sz="2200" kern="0" dirty="0">
              <a:latin typeface="Times New Roman" panose="02020603050405020304" pitchFamily="18" charset="0"/>
              <a:ea typeface="+mn-ea"/>
            </a:endParaRP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solidFill>
                  <a:srgbClr val="FF0000"/>
                </a:solidFill>
                <a:latin typeface="Times New Roman" panose="02020603050405020304" pitchFamily="18" charset="0"/>
                <a:ea typeface="+mn-ea"/>
              </a:rPr>
              <a:t>纯保费</a:t>
            </a:r>
            <a:r>
              <a:rPr lang="zh-CN" altLang="en-US" sz="2200" kern="0" dirty="0">
                <a:latin typeface="Times New Roman" panose="02020603050405020304" pitchFamily="18" charset="0"/>
                <a:ea typeface="+mn-ea"/>
              </a:rPr>
              <a:t>：索赔次数权重</a:t>
            </a:r>
            <a:r>
              <a:rPr lang="en-US" altLang="zh-CN" sz="2200" kern="0" dirty="0">
                <a:latin typeface="Times New Roman" panose="02020603050405020304" pitchFamily="18" charset="0"/>
                <a:ea typeface="+mn-ea"/>
              </a:rPr>
              <a:t>(weight) + Tweedie</a:t>
            </a:r>
            <a:r>
              <a:rPr lang="zh-CN" altLang="en-US" sz="2200" kern="0" dirty="0">
                <a:latin typeface="Times New Roman" panose="02020603050405020304" pitchFamily="18" charset="0"/>
                <a:ea typeface="+mn-ea"/>
              </a:rPr>
              <a:t>分布 </a:t>
            </a:r>
            <a:r>
              <a:rPr lang="en-US" altLang="zh-CN" sz="2200" kern="0" dirty="0">
                <a:latin typeface="Times New Roman" panose="02020603050405020304" pitchFamily="18" charset="0"/>
                <a:ea typeface="+mn-ea"/>
              </a:rPr>
              <a:t>+ </a:t>
            </a:r>
            <a:r>
              <a:rPr lang="zh-CN" altLang="en-US" sz="2200" kern="0" dirty="0">
                <a:latin typeface="Times New Roman" panose="02020603050405020304" pitchFamily="18" charset="0"/>
                <a:ea typeface="+mn-ea"/>
              </a:rPr>
              <a:t>对数链接函数</a:t>
            </a:r>
            <a:endParaRPr lang="en-US" altLang="zh-CN" sz="2200" kern="0" dirty="0">
              <a:latin typeface="Times New Roman" panose="02020603050405020304" pitchFamily="18" charset="0"/>
              <a:ea typeface="+mn-ea"/>
            </a:endParaRPr>
          </a:p>
          <a:p>
            <a:pPr marL="800100" lvl="1" indent="-342900" eaLnBrk="1" hangingPunct="1">
              <a:spcBef>
                <a:spcPct val="50000"/>
              </a:spcBef>
              <a:buClr>
                <a:schemeClr val="tx2"/>
              </a:buClr>
              <a:buSzPct val="70000"/>
              <a:buFont typeface="Wingdings" panose="05000000000000000000" pitchFamily="2" charset="2"/>
              <a:buChar char="l"/>
              <a:defRPr/>
            </a:pPr>
            <a:r>
              <a:rPr lang="zh-CN" altLang="en-US" sz="2200" kern="0" dirty="0">
                <a:latin typeface="Times New Roman" panose="02020603050405020304" pitchFamily="18" charset="0"/>
                <a:ea typeface="+mn-ea"/>
              </a:rPr>
              <a:t>续保率，是否索赔：</a:t>
            </a:r>
            <a:r>
              <a:rPr lang="en-US" altLang="zh-CN" sz="2200" kern="0" dirty="0">
                <a:latin typeface="Times New Roman" panose="02020603050405020304" pitchFamily="18" charset="0"/>
                <a:ea typeface="+mn-ea"/>
              </a:rPr>
              <a:t>1 </a:t>
            </a:r>
            <a:r>
              <a:rPr lang="zh-CN" altLang="en-US" sz="2200" kern="0" dirty="0">
                <a:latin typeface="Times New Roman" panose="02020603050405020304" pitchFamily="18" charset="0"/>
                <a:ea typeface="+mn-ea"/>
              </a:rPr>
              <a:t>权重 </a:t>
            </a:r>
            <a:r>
              <a:rPr lang="en-US" altLang="zh-CN" sz="2200" kern="0" dirty="0">
                <a:latin typeface="Times New Roman" panose="02020603050405020304" pitchFamily="18" charset="0"/>
                <a:ea typeface="+mn-ea"/>
              </a:rPr>
              <a:t>+ Logit </a:t>
            </a:r>
            <a:r>
              <a:rPr lang="zh-CN" altLang="en-US" sz="2200" kern="0" dirty="0">
                <a:latin typeface="Times New Roman" panose="02020603050405020304" pitchFamily="18" charset="0"/>
                <a:ea typeface="+mn-ea"/>
              </a:rPr>
              <a:t>连接函数 </a:t>
            </a:r>
            <a:r>
              <a:rPr lang="en-US" altLang="zh-CN" sz="2200" kern="0" dirty="0">
                <a:latin typeface="Times New Roman" panose="02020603050405020304" pitchFamily="18" charset="0"/>
                <a:ea typeface="+mn-ea"/>
              </a:rPr>
              <a:t>= Logistic</a:t>
            </a:r>
            <a:r>
              <a:rPr lang="zh-CN" altLang="en-US" sz="2200" kern="0" dirty="0">
                <a:latin typeface="Times New Roman" panose="02020603050405020304" pitchFamily="18" charset="0"/>
                <a:ea typeface="+mn-ea"/>
              </a:rPr>
              <a:t>模型</a:t>
            </a:r>
            <a:endParaRPr lang="en-US" altLang="zh-CN" sz="2200" kern="0" dirty="0">
              <a:latin typeface="Times New Roman" panose="02020603050405020304" pitchFamily="18" charset="0"/>
              <a:ea typeface="+mn-ea"/>
            </a:endParaRPr>
          </a:p>
        </p:txBody>
      </p:sp>
    </p:spTree>
    <p:extLst>
      <p:ext uri="{BB962C8B-B14F-4D97-AF65-F5344CB8AC3E}">
        <p14:creationId xmlns:p14="http://schemas.microsoft.com/office/powerpoint/2010/main" val="2182196783"/>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C23168A5-6E7F-49C0-B2C0-846BDD097C21}" type="slidenum">
              <a:rPr lang="en-US" altLang="zh-CN" sz="1000" smtClean="0"/>
              <a:pPr>
                <a:lnSpc>
                  <a:spcPct val="100000"/>
                </a:lnSpc>
                <a:spcBef>
                  <a:spcPct val="0"/>
                </a:spcBef>
                <a:buClrTx/>
                <a:buSzTx/>
                <a:buFontTx/>
                <a:buNone/>
              </a:pPr>
              <a:t>153</a:t>
            </a:fld>
            <a:endParaRPr lang="en-US" altLang="zh-CN" sz="1000" smtClean="0"/>
          </a:p>
        </p:txBody>
      </p:sp>
      <p:sp>
        <p:nvSpPr>
          <p:cNvPr id="27651" name="Rectangle 2"/>
          <p:cNvSpPr>
            <a:spLocks noGrp="1" noChangeArrowheads="1"/>
          </p:cNvSpPr>
          <p:nvPr>
            <p:ph type="title"/>
          </p:nvPr>
        </p:nvSpPr>
        <p:spPr>
          <a:xfrm>
            <a:off x="323850" y="414338"/>
            <a:ext cx="7543800" cy="508000"/>
          </a:xfrm>
        </p:spPr>
        <p:txBody>
          <a:bodyPr/>
          <a:lstStyle/>
          <a:p>
            <a:pPr eaLnBrk="1" hangingPunct="1"/>
            <a:r>
              <a:rPr lang="zh-CN" altLang="en-US" dirty="0" smtClean="0"/>
              <a:t>课后练习</a:t>
            </a:r>
          </a:p>
        </p:txBody>
      </p:sp>
      <p:sp>
        <p:nvSpPr>
          <p:cNvPr id="8" name="Rectangle 3"/>
          <p:cNvSpPr txBox="1">
            <a:spLocks noChangeArrowheads="1"/>
          </p:cNvSpPr>
          <p:nvPr/>
        </p:nvSpPr>
        <p:spPr bwMode="auto">
          <a:xfrm>
            <a:off x="457200" y="1700213"/>
            <a:ext cx="8229600" cy="264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lnSpc>
                <a:spcPct val="120000"/>
              </a:lnSpc>
              <a:spcBef>
                <a:spcPct val="50000"/>
              </a:spcBef>
              <a:spcAft>
                <a:spcPct val="0"/>
              </a:spcAft>
              <a:buClr>
                <a:schemeClr val="tx2"/>
              </a:buClr>
              <a:buSzPct val="70000"/>
              <a:buFont typeface="Wingdings" panose="05000000000000000000" pitchFamily="2" charset="2"/>
              <a:buChar char="l"/>
              <a:defRPr sz="2400">
                <a:solidFill>
                  <a:schemeClr val="tx1"/>
                </a:solidFill>
                <a:latin typeface="+mn-lt"/>
                <a:ea typeface="+mn-ea"/>
                <a:cs typeface="+mn-cs"/>
              </a:defRPr>
            </a:lvl1pPr>
            <a:lvl2pPr marL="692150" indent="-347663" algn="l" rtl="0" eaLnBrk="0" fontAlgn="base" hangingPunct="0">
              <a:lnSpc>
                <a:spcPct val="120000"/>
              </a:lnSpc>
              <a:spcBef>
                <a:spcPct val="50000"/>
              </a:spcBef>
              <a:spcAft>
                <a:spcPct val="0"/>
              </a:spcAft>
              <a:buClr>
                <a:schemeClr val="accent2"/>
              </a:buClr>
              <a:buSzPct val="70000"/>
              <a:buFont typeface="Wingdings" panose="05000000000000000000" pitchFamily="2" charset="2"/>
              <a:buChar char="l"/>
              <a:defRPr sz="2400">
                <a:solidFill>
                  <a:schemeClr val="tx1"/>
                </a:solidFill>
                <a:latin typeface="+mn-lt"/>
                <a:ea typeface="+mn-ea"/>
              </a:defRPr>
            </a:lvl2pPr>
            <a:lvl3pPr marL="987425" indent="-293688" algn="l" rtl="0" eaLnBrk="0" fontAlgn="base" hangingPunct="0">
              <a:lnSpc>
                <a:spcPct val="120000"/>
              </a:lnSpc>
              <a:spcBef>
                <a:spcPct val="50000"/>
              </a:spcBef>
              <a:spcAft>
                <a:spcPct val="0"/>
              </a:spcAft>
              <a:buClr>
                <a:schemeClr val="accent1"/>
              </a:buClr>
              <a:buSzPct val="70000"/>
              <a:buFont typeface="Wingdings" panose="05000000000000000000" pitchFamily="2" charset="2"/>
              <a:buChar char="l"/>
              <a:defRPr sz="2400">
                <a:solidFill>
                  <a:schemeClr val="tx1"/>
                </a:solidFill>
                <a:latin typeface="+mn-lt"/>
                <a:ea typeface="+mn-ea"/>
              </a:defRPr>
            </a:lvl3pPr>
            <a:lvl4pPr marL="1281113" indent="-292100" algn="l" rtl="0" eaLnBrk="0" fontAlgn="base" hangingPunct="0">
              <a:lnSpc>
                <a:spcPct val="120000"/>
              </a:lnSpc>
              <a:spcBef>
                <a:spcPct val="50000"/>
              </a:spcBef>
              <a:spcAft>
                <a:spcPct val="0"/>
              </a:spcAft>
              <a:buClr>
                <a:schemeClr val="tx2"/>
              </a:buClr>
              <a:buSzPct val="75000"/>
              <a:buFont typeface="Wingdings" panose="05000000000000000000" pitchFamily="2" charset="2"/>
              <a:buChar char="§"/>
              <a:defRPr sz="2400">
                <a:solidFill>
                  <a:schemeClr val="tx1"/>
                </a:solidFill>
                <a:latin typeface="+mn-lt"/>
                <a:ea typeface="+mn-ea"/>
              </a:defRPr>
            </a:lvl4pPr>
            <a:lvl5pPr marL="1598613" indent="-315913" algn="l" rtl="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mn-lt"/>
                <a:ea typeface="+mn-ea"/>
              </a:defRPr>
            </a:lvl5pPr>
            <a:lvl6pPr marL="20558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6pPr>
            <a:lvl7pPr marL="25130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7pPr>
            <a:lvl8pPr marL="29702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8pPr>
            <a:lvl9pPr marL="34274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9pPr>
          </a:lstStyle>
          <a:p>
            <a:pPr eaLnBrk="1" hangingPunct="1">
              <a:defRPr/>
            </a:pPr>
            <a:r>
              <a:rPr lang="zh-CN" altLang="en-US" kern="0" dirty="0" smtClean="0">
                <a:latin typeface="Times New Roman" panose="02020603050405020304" pitchFamily="18" charset="0"/>
              </a:rPr>
              <a:t>数据包含我国一家财产保险公司在一个完整的保单年度的共 </a:t>
            </a:r>
            <a:r>
              <a:rPr lang="en-US" altLang="zh-CN" kern="0" dirty="0" smtClean="0">
                <a:latin typeface="Times New Roman" panose="02020603050405020304" pitchFamily="18" charset="0"/>
              </a:rPr>
              <a:t>71784 </a:t>
            </a:r>
            <a:r>
              <a:rPr lang="zh-CN" altLang="en-US" kern="0" dirty="0" smtClean="0">
                <a:latin typeface="Times New Roman" panose="02020603050405020304" pitchFamily="18" charset="0"/>
              </a:rPr>
              <a:t>份保单的索赔数据</a:t>
            </a:r>
            <a:endParaRPr lang="en-US" altLang="zh-CN" kern="0" dirty="0" smtClean="0">
              <a:latin typeface="Times New Roman" panose="02020603050405020304" pitchFamily="18" charset="0"/>
            </a:endParaRPr>
          </a:p>
          <a:p>
            <a:pPr lvl="1" eaLnBrk="1" hangingPunct="1">
              <a:defRPr/>
            </a:pPr>
            <a:r>
              <a:rPr lang="zh-CN" altLang="en-US" kern="0" dirty="0" smtClean="0">
                <a:latin typeface="Times New Roman" panose="02020603050405020304" pitchFamily="18" charset="0"/>
              </a:rPr>
              <a:t>因变量：索赔次数、案均赔款以及累积赔款</a:t>
            </a:r>
            <a:endParaRPr lang="en-US" altLang="zh-CN" kern="0" dirty="0" smtClean="0">
              <a:latin typeface="Times New Roman" panose="02020603050405020304" pitchFamily="18" charset="0"/>
            </a:endParaRPr>
          </a:p>
          <a:p>
            <a:pPr lvl="1" eaLnBrk="1" hangingPunct="1">
              <a:defRPr/>
            </a:pPr>
            <a:r>
              <a:rPr lang="zh-CN" altLang="en-US" kern="0" dirty="0" smtClean="0">
                <a:latin typeface="Times New Roman" panose="02020603050405020304" pitchFamily="18" charset="0"/>
              </a:rPr>
              <a:t>解释变量：保单类型、车主性别、车主年龄、车龄和居住地区</a:t>
            </a:r>
          </a:p>
        </p:txBody>
      </p:sp>
    </p:spTree>
    <p:extLst>
      <p:ext uri="{BB962C8B-B14F-4D97-AF65-F5344CB8AC3E}">
        <p14:creationId xmlns:p14="http://schemas.microsoft.com/office/powerpoint/2010/main" val="2974342951"/>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4685D0A5-3614-4A67-B2F3-DB5253D2F5DF}" type="slidenum">
              <a:rPr lang="en-US" altLang="zh-CN" sz="1000" smtClean="0"/>
              <a:pPr>
                <a:lnSpc>
                  <a:spcPct val="100000"/>
                </a:lnSpc>
                <a:spcBef>
                  <a:spcPct val="0"/>
                </a:spcBef>
                <a:buClrTx/>
                <a:buSzTx/>
                <a:buFontTx/>
                <a:buNone/>
              </a:pPr>
              <a:t>154</a:t>
            </a:fld>
            <a:endParaRPr lang="en-US" altLang="zh-CN" sz="1000" smtClean="0"/>
          </a:p>
        </p:txBody>
      </p:sp>
      <p:graphicFrame>
        <p:nvGraphicFramePr>
          <p:cNvPr id="2" name="表格 1"/>
          <p:cNvGraphicFramePr>
            <a:graphicFrameLocks noGrp="1"/>
          </p:cNvGraphicFramePr>
          <p:nvPr/>
        </p:nvGraphicFramePr>
        <p:xfrm>
          <a:off x="261938" y="765175"/>
          <a:ext cx="8424863" cy="5805483"/>
        </p:xfrm>
        <a:graphic>
          <a:graphicData uri="http://schemas.openxmlformats.org/drawingml/2006/table">
            <a:tbl>
              <a:tblPr firstRow="1" firstCol="1" bandRow="1">
                <a:tableStyleId>{5C22544A-7EE6-4342-B048-85BDC9FD1C3A}</a:tableStyleId>
              </a:tblPr>
              <a:tblGrid>
                <a:gridCol w="1295838">
                  <a:extLst>
                    <a:ext uri="{9D8B030D-6E8A-4147-A177-3AD203B41FA5}">
                      <a16:colId xmlns:a16="http://schemas.microsoft.com/office/drawing/2014/main" val="885477026"/>
                    </a:ext>
                  </a:extLst>
                </a:gridCol>
                <a:gridCol w="1295838">
                  <a:extLst>
                    <a:ext uri="{9D8B030D-6E8A-4147-A177-3AD203B41FA5}">
                      <a16:colId xmlns:a16="http://schemas.microsoft.com/office/drawing/2014/main" val="3958917914"/>
                    </a:ext>
                  </a:extLst>
                </a:gridCol>
                <a:gridCol w="1295838">
                  <a:extLst>
                    <a:ext uri="{9D8B030D-6E8A-4147-A177-3AD203B41FA5}">
                      <a16:colId xmlns:a16="http://schemas.microsoft.com/office/drawing/2014/main" val="251487527"/>
                    </a:ext>
                  </a:extLst>
                </a:gridCol>
                <a:gridCol w="1295838">
                  <a:extLst>
                    <a:ext uri="{9D8B030D-6E8A-4147-A177-3AD203B41FA5}">
                      <a16:colId xmlns:a16="http://schemas.microsoft.com/office/drawing/2014/main" val="2720749847"/>
                    </a:ext>
                  </a:extLst>
                </a:gridCol>
                <a:gridCol w="1084071">
                  <a:extLst>
                    <a:ext uri="{9D8B030D-6E8A-4147-A177-3AD203B41FA5}">
                      <a16:colId xmlns:a16="http://schemas.microsoft.com/office/drawing/2014/main" val="2318571165"/>
                    </a:ext>
                  </a:extLst>
                </a:gridCol>
                <a:gridCol w="1078720">
                  <a:extLst>
                    <a:ext uri="{9D8B030D-6E8A-4147-A177-3AD203B41FA5}">
                      <a16:colId xmlns:a16="http://schemas.microsoft.com/office/drawing/2014/main" val="2113695071"/>
                    </a:ext>
                  </a:extLst>
                </a:gridCol>
                <a:gridCol w="1078720">
                  <a:extLst>
                    <a:ext uri="{9D8B030D-6E8A-4147-A177-3AD203B41FA5}">
                      <a16:colId xmlns:a16="http://schemas.microsoft.com/office/drawing/2014/main" val="71108629"/>
                    </a:ext>
                  </a:extLst>
                </a:gridCol>
              </a:tblGrid>
              <a:tr h="537709">
                <a:tc>
                  <a:txBody>
                    <a:bodyPr/>
                    <a:lstStyle/>
                    <a:p>
                      <a:pPr marL="0" algn="ctr" defTabSz="914400" rtl="0" eaLnBrk="1" fontAlgn="base" latinLnBrk="0" hangingPunct="1">
                        <a:lnSpc>
                          <a:spcPts val="1800"/>
                        </a:lnSpc>
                        <a:spcBef>
                          <a:spcPct val="0"/>
                        </a:spcBef>
                        <a:spcAft>
                          <a:spcPct val="0"/>
                        </a:spcAft>
                      </a:pPr>
                      <a:r>
                        <a:rPr lang="zh-CN" sz="1600" b="1" kern="1200" dirty="0">
                          <a:solidFill>
                            <a:schemeClr val="tx2"/>
                          </a:solidFill>
                          <a:latin typeface="+mj-lt"/>
                          <a:ea typeface="+mj-ea"/>
                          <a:cs typeface="+mj-cs"/>
                        </a:rPr>
                        <a:t>变量</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eaLnBrk="1" fontAlgn="base" hangingPunct="1">
                        <a:lnSpc>
                          <a:spcPts val="1800"/>
                        </a:lnSpc>
                        <a:spcBef>
                          <a:spcPct val="0"/>
                        </a:spcBef>
                        <a:spcAft>
                          <a:spcPct val="0"/>
                        </a:spcAft>
                      </a:pPr>
                      <a:r>
                        <a:rPr lang="zh-CN" sz="1600" b="1" dirty="0">
                          <a:solidFill>
                            <a:schemeClr val="tx2"/>
                          </a:solidFill>
                          <a:latin typeface="+mj-lt"/>
                          <a:ea typeface="+mj-ea"/>
                          <a:cs typeface="+mj-cs"/>
                        </a:rPr>
                        <a:t>变量水平</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eaLnBrk="1" fontAlgn="base" hangingPunct="1">
                        <a:lnSpc>
                          <a:spcPts val="1800"/>
                        </a:lnSpc>
                        <a:spcBef>
                          <a:spcPct val="0"/>
                        </a:spcBef>
                        <a:spcAft>
                          <a:spcPct val="0"/>
                        </a:spcAft>
                      </a:pPr>
                      <a:r>
                        <a:rPr lang="zh-CN" sz="1600" b="1" dirty="0">
                          <a:solidFill>
                            <a:schemeClr val="tx2"/>
                          </a:solidFill>
                          <a:latin typeface="+mj-lt"/>
                          <a:ea typeface="+mj-ea"/>
                          <a:cs typeface="+mj-cs"/>
                        </a:rPr>
                        <a:t>车年数占比</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eaLnBrk="1" fontAlgn="base" hangingPunct="1">
                        <a:lnSpc>
                          <a:spcPts val="1800"/>
                        </a:lnSpc>
                        <a:spcBef>
                          <a:spcPct val="0"/>
                        </a:spcBef>
                        <a:spcAft>
                          <a:spcPct val="0"/>
                        </a:spcAft>
                      </a:pPr>
                      <a:r>
                        <a:rPr lang="zh-CN" sz="1600" b="1" dirty="0">
                          <a:solidFill>
                            <a:schemeClr val="tx2"/>
                          </a:solidFill>
                          <a:latin typeface="+mj-lt"/>
                          <a:ea typeface="+mj-ea"/>
                          <a:cs typeface="+mj-cs"/>
                        </a:rPr>
                        <a:t>车年数</a:t>
                      </a: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eaLnBrk="1" fontAlgn="base" hangingPunct="1">
                        <a:lnSpc>
                          <a:spcPts val="1800"/>
                        </a:lnSpc>
                        <a:spcBef>
                          <a:spcPct val="0"/>
                        </a:spcBef>
                        <a:spcAft>
                          <a:spcPct val="0"/>
                        </a:spcAft>
                      </a:pPr>
                      <a:r>
                        <a:rPr lang="zh-CN" sz="1600" b="1" dirty="0">
                          <a:solidFill>
                            <a:schemeClr val="tx2"/>
                          </a:solidFill>
                          <a:latin typeface="+mj-lt"/>
                          <a:ea typeface="+mj-ea"/>
                          <a:cs typeface="+mj-cs"/>
                        </a:rPr>
                        <a:t>经验索赔频率</a:t>
                      </a: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eaLnBrk="1" fontAlgn="base" hangingPunct="1">
                        <a:lnSpc>
                          <a:spcPts val="1800"/>
                        </a:lnSpc>
                        <a:spcBef>
                          <a:spcPct val="0"/>
                        </a:spcBef>
                        <a:spcAft>
                          <a:spcPct val="0"/>
                        </a:spcAft>
                      </a:pPr>
                      <a:r>
                        <a:rPr lang="zh-CN" sz="1600" b="1" dirty="0">
                          <a:solidFill>
                            <a:schemeClr val="tx2"/>
                          </a:solidFill>
                          <a:latin typeface="+mj-lt"/>
                          <a:ea typeface="+mj-ea"/>
                          <a:cs typeface="+mj-cs"/>
                        </a:rPr>
                        <a:t>经验案均赔款</a:t>
                      </a: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eaLnBrk="1" fontAlgn="base" hangingPunct="1">
                        <a:lnSpc>
                          <a:spcPts val="1800"/>
                        </a:lnSpc>
                        <a:spcBef>
                          <a:spcPct val="0"/>
                        </a:spcBef>
                        <a:spcAft>
                          <a:spcPct val="0"/>
                        </a:spcAft>
                      </a:pPr>
                      <a:r>
                        <a:rPr lang="zh-CN" sz="1600" b="1" dirty="0">
                          <a:solidFill>
                            <a:schemeClr val="tx2"/>
                          </a:solidFill>
                          <a:latin typeface="+mj-lt"/>
                          <a:ea typeface="+mj-ea"/>
                          <a:cs typeface="+mj-cs"/>
                        </a:rPr>
                        <a:t>经验纯保费</a:t>
                      </a: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1216414"/>
                  </a:ext>
                </a:extLst>
              </a:tr>
              <a:tr h="265826">
                <a:tc rowSpan="5">
                  <a:txBody>
                    <a:bodyPr/>
                    <a:lstStyle/>
                    <a:p>
                      <a:pPr marL="0" algn="ctr" defTabSz="914400" rtl="0" eaLnBrk="1" fontAlgn="base" latinLnBrk="0" hangingPunct="1">
                        <a:lnSpc>
                          <a:spcPts val="1800"/>
                        </a:lnSpc>
                        <a:spcBef>
                          <a:spcPct val="0"/>
                        </a:spcBef>
                        <a:spcAft>
                          <a:spcPct val="0"/>
                        </a:spcAft>
                      </a:pPr>
                      <a:r>
                        <a:rPr lang="zh-CN" sz="1600" b="1" kern="1200" dirty="0">
                          <a:solidFill>
                            <a:schemeClr val="tx2"/>
                          </a:solidFill>
                          <a:latin typeface="+mj-lt"/>
                          <a:ea typeface="+mj-ea"/>
                          <a:cs typeface="+mj-cs"/>
                        </a:rPr>
                        <a:t>年龄</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18 - 25</a:t>
                      </a: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岁</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4458</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0.752</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1382</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983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75228197"/>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25 - 30</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岁</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9957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0.739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1360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950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33641"/>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30 - 50</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岁</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63%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45192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0.679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1351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859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1637340"/>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50 - 60</a:t>
                      </a: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岁</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10057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0.661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1261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788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7031222"/>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60 - 100 </a:t>
                      </a: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岁</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2120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0.651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1196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747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96254"/>
                  </a:ext>
                </a:extLst>
              </a:tr>
              <a:tr h="265826">
                <a:tc rowSpan="3">
                  <a:txBody>
                    <a:bodyPr/>
                    <a:lstStyle/>
                    <a:p>
                      <a:pPr marL="0" algn="ctr" defTabSz="914400" rtl="0" eaLnBrk="1" fontAlgn="base" latinLnBrk="0" hangingPunct="1">
                        <a:lnSpc>
                          <a:spcPts val="1800"/>
                        </a:lnSpc>
                        <a:spcBef>
                          <a:spcPct val="0"/>
                        </a:spcBef>
                        <a:spcAft>
                          <a:spcPct val="0"/>
                        </a:spcAft>
                      </a:pPr>
                      <a:r>
                        <a:rPr lang="zh-CN" sz="1600" b="1" kern="1200" dirty="0">
                          <a:solidFill>
                            <a:schemeClr val="tx2"/>
                          </a:solidFill>
                          <a:latin typeface="+mj-lt"/>
                          <a:ea typeface="+mj-ea"/>
                          <a:cs typeface="+mj-cs"/>
                        </a:rPr>
                        <a:t>车龄</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0 - 1</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18143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0.662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1386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862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9815382"/>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2 - 7</a:t>
                      </a: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年</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67%</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47997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0.702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1326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876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2261487"/>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年以及以上</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8%</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5644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0.659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1281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798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240732"/>
                  </a:ext>
                </a:extLst>
              </a:tr>
              <a:tr h="265826">
                <a:tc rowSpan="2">
                  <a:txBody>
                    <a:bodyPr/>
                    <a:lstStyle/>
                    <a:p>
                      <a:pPr marL="0" algn="ctr" defTabSz="914400" rtl="0" eaLnBrk="1" fontAlgn="base" latinLnBrk="0" hangingPunct="1">
                        <a:lnSpc>
                          <a:spcPts val="1800"/>
                        </a:lnSpc>
                        <a:spcBef>
                          <a:spcPct val="0"/>
                        </a:spcBef>
                        <a:spcAft>
                          <a:spcPct val="0"/>
                        </a:spcAft>
                      </a:pPr>
                      <a:r>
                        <a:rPr lang="zh-CN" sz="1600" b="1" kern="1200" dirty="0">
                          <a:solidFill>
                            <a:schemeClr val="tx2"/>
                          </a:solidFill>
                          <a:latin typeface="+mj-lt"/>
                          <a:ea typeface="+mj-ea"/>
                          <a:cs typeface="+mj-cs"/>
                        </a:rPr>
                        <a:t>性别</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男性</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67%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23714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0.694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1337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872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8668585"/>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女性</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33%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48070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0.686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1338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863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172604"/>
                  </a:ext>
                </a:extLst>
              </a:tr>
              <a:tr h="265826">
                <a:tc rowSpan="4">
                  <a:txBody>
                    <a:bodyPr/>
                    <a:lstStyle/>
                    <a:p>
                      <a:pPr marL="0" algn="ctr" defTabSz="914400" rtl="0" eaLnBrk="1" fontAlgn="base" latinLnBrk="0" hangingPunct="1">
                        <a:lnSpc>
                          <a:spcPts val="1800"/>
                        </a:lnSpc>
                        <a:spcBef>
                          <a:spcPct val="0"/>
                        </a:spcBef>
                        <a:spcAft>
                          <a:spcPct val="0"/>
                        </a:spcAft>
                      </a:pPr>
                      <a:r>
                        <a:rPr lang="zh-CN" sz="1600" b="1" kern="1200" dirty="0">
                          <a:solidFill>
                            <a:schemeClr val="tx2"/>
                          </a:solidFill>
                          <a:latin typeface="+mj-lt"/>
                          <a:ea typeface="+mj-ea"/>
                          <a:cs typeface="+mj-cs"/>
                        </a:rPr>
                        <a:t>地区</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北京</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73%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52453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0.739</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1339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925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2690221"/>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上海</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10616</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0.569</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1369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758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4896208"/>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天津</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7%</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3997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0.543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1315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630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464687"/>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重庆</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4718</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0.524</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1263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658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4304068"/>
                  </a:ext>
                </a:extLst>
              </a:tr>
              <a:tr h="265826">
                <a:tc rowSpan="5">
                  <a:txBody>
                    <a:bodyPr/>
                    <a:lstStyle/>
                    <a:p>
                      <a:pPr marL="0" algn="ctr" defTabSz="914400" rtl="0" eaLnBrk="1" fontAlgn="base" latinLnBrk="0" hangingPunct="1">
                        <a:lnSpc>
                          <a:spcPts val="1800"/>
                        </a:lnSpc>
                        <a:spcBef>
                          <a:spcPct val="0"/>
                        </a:spcBef>
                        <a:spcAft>
                          <a:spcPct val="0"/>
                        </a:spcAft>
                      </a:pPr>
                      <a:r>
                        <a:rPr lang="zh-CN" sz="1600" b="1" kern="1200" dirty="0">
                          <a:solidFill>
                            <a:schemeClr val="tx2"/>
                          </a:solidFill>
                          <a:latin typeface="+mj-lt"/>
                          <a:ea typeface="+mj-ea"/>
                          <a:cs typeface="+mj-cs"/>
                        </a:rPr>
                        <a:t>保单类型</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新车</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5251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0.661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1403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867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7959876"/>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续保</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17611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0.671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1345</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848</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1023314"/>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续保</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10944</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0.651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1317</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806</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98597428"/>
                  </a:ext>
                </a:extLst>
              </a:tr>
              <a:tr h="48290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续保</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年及以上</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10341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0.628</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1239</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738</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6798339"/>
                  </a:ext>
                </a:extLst>
              </a:tr>
              <a:tr h="265826">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转入</a:t>
                      </a: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27637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0.743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1362</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949</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3023" marR="6302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0162128"/>
                  </a:ext>
                </a:extLst>
              </a:tr>
            </a:tbl>
          </a:graphicData>
        </a:graphic>
      </p:graphicFrame>
      <p:sp>
        <p:nvSpPr>
          <p:cNvPr id="28831" name="Rectangle 2"/>
          <p:cNvSpPr>
            <a:spLocks noGrp="1" noChangeArrowheads="1"/>
          </p:cNvSpPr>
          <p:nvPr>
            <p:ph type="title"/>
          </p:nvPr>
        </p:nvSpPr>
        <p:spPr>
          <a:xfrm>
            <a:off x="323850" y="122238"/>
            <a:ext cx="7543800" cy="508000"/>
          </a:xfrm>
        </p:spPr>
        <p:txBody>
          <a:bodyPr/>
          <a:lstStyle/>
          <a:p>
            <a:pPr eaLnBrk="1" hangingPunct="1"/>
            <a:r>
              <a:rPr lang="zh-CN" altLang="en-US" smtClean="0"/>
              <a:t>描述性分析</a:t>
            </a:r>
          </a:p>
        </p:txBody>
      </p:sp>
    </p:spTree>
    <p:extLst>
      <p:ext uri="{BB962C8B-B14F-4D97-AF65-F5344CB8AC3E}">
        <p14:creationId xmlns:p14="http://schemas.microsoft.com/office/powerpoint/2010/main" val="929545053"/>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BF67A347-6EBF-4636-ACBB-60FAFA603C39}" type="slidenum">
              <a:rPr lang="en-US" altLang="zh-CN" sz="1000" smtClean="0"/>
              <a:pPr>
                <a:lnSpc>
                  <a:spcPct val="100000"/>
                </a:lnSpc>
                <a:spcBef>
                  <a:spcPct val="0"/>
                </a:spcBef>
                <a:buClrTx/>
                <a:buSzTx/>
                <a:buFontTx/>
                <a:buNone/>
              </a:pPr>
              <a:t>155</a:t>
            </a:fld>
            <a:endParaRPr lang="en-US" altLang="zh-CN" sz="1000" smtClean="0"/>
          </a:p>
        </p:txBody>
      </p:sp>
      <p:sp>
        <p:nvSpPr>
          <p:cNvPr id="4" name="Rectangle 3"/>
          <p:cNvSpPr txBox="1">
            <a:spLocks noChangeArrowheads="1"/>
          </p:cNvSpPr>
          <p:nvPr/>
        </p:nvSpPr>
        <p:spPr bwMode="auto">
          <a:xfrm>
            <a:off x="323850" y="1125538"/>
            <a:ext cx="8229600"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lnSpc>
                <a:spcPct val="120000"/>
              </a:lnSpc>
              <a:spcBef>
                <a:spcPct val="50000"/>
              </a:spcBef>
              <a:spcAft>
                <a:spcPct val="0"/>
              </a:spcAft>
              <a:buClr>
                <a:schemeClr val="tx2"/>
              </a:buClr>
              <a:buSzPct val="70000"/>
              <a:buFont typeface="Wingdings" panose="05000000000000000000" pitchFamily="2" charset="2"/>
              <a:buChar char="l"/>
              <a:defRPr sz="2400">
                <a:solidFill>
                  <a:schemeClr val="tx1"/>
                </a:solidFill>
                <a:latin typeface="+mn-lt"/>
                <a:ea typeface="+mn-ea"/>
                <a:cs typeface="+mn-cs"/>
              </a:defRPr>
            </a:lvl1pPr>
            <a:lvl2pPr marL="692150" indent="-347663" algn="l" rtl="0" eaLnBrk="0" fontAlgn="base" hangingPunct="0">
              <a:lnSpc>
                <a:spcPct val="120000"/>
              </a:lnSpc>
              <a:spcBef>
                <a:spcPct val="50000"/>
              </a:spcBef>
              <a:spcAft>
                <a:spcPct val="0"/>
              </a:spcAft>
              <a:buClr>
                <a:schemeClr val="accent2"/>
              </a:buClr>
              <a:buSzPct val="70000"/>
              <a:buFont typeface="Wingdings" panose="05000000000000000000" pitchFamily="2" charset="2"/>
              <a:buChar char="l"/>
              <a:defRPr sz="2400">
                <a:solidFill>
                  <a:schemeClr val="tx1"/>
                </a:solidFill>
                <a:latin typeface="+mn-lt"/>
                <a:ea typeface="+mn-ea"/>
              </a:defRPr>
            </a:lvl2pPr>
            <a:lvl3pPr marL="987425" indent="-293688" algn="l" rtl="0" eaLnBrk="0" fontAlgn="base" hangingPunct="0">
              <a:lnSpc>
                <a:spcPct val="120000"/>
              </a:lnSpc>
              <a:spcBef>
                <a:spcPct val="50000"/>
              </a:spcBef>
              <a:spcAft>
                <a:spcPct val="0"/>
              </a:spcAft>
              <a:buClr>
                <a:schemeClr val="accent1"/>
              </a:buClr>
              <a:buSzPct val="70000"/>
              <a:buFont typeface="Wingdings" panose="05000000000000000000" pitchFamily="2" charset="2"/>
              <a:buChar char="l"/>
              <a:defRPr sz="2400">
                <a:solidFill>
                  <a:schemeClr val="tx1"/>
                </a:solidFill>
                <a:latin typeface="+mn-lt"/>
                <a:ea typeface="+mn-ea"/>
              </a:defRPr>
            </a:lvl3pPr>
            <a:lvl4pPr marL="1281113" indent="-292100" algn="l" rtl="0" eaLnBrk="0" fontAlgn="base" hangingPunct="0">
              <a:lnSpc>
                <a:spcPct val="120000"/>
              </a:lnSpc>
              <a:spcBef>
                <a:spcPct val="50000"/>
              </a:spcBef>
              <a:spcAft>
                <a:spcPct val="0"/>
              </a:spcAft>
              <a:buClr>
                <a:schemeClr val="tx2"/>
              </a:buClr>
              <a:buSzPct val="75000"/>
              <a:buFont typeface="Wingdings" panose="05000000000000000000" pitchFamily="2" charset="2"/>
              <a:buChar char="§"/>
              <a:defRPr sz="2400">
                <a:solidFill>
                  <a:schemeClr val="tx1"/>
                </a:solidFill>
                <a:latin typeface="+mn-lt"/>
                <a:ea typeface="+mn-ea"/>
              </a:defRPr>
            </a:lvl4pPr>
            <a:lvl5pPr marL="1598613" indent="-315913" algn="l" rtl="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mn-lt"/>
                <a:ea typeface="+mn-ea"/>
              </a:defRPr>
            </a:lvl5pPr>
            <a:lvl6pPr marL="20558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6pPr>
            <a:lvl7pPr marL="25130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7pPr>
            <a:lvl8pPr marL="29702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8pPr>
            <a:lvl9pPr marL="34274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9pPr>
          </a:lstStyle>
          <a:p>
            <a:pPr eaLnBrk="1" hangingPunct="1">
              <a:defRPr/>
            </a:pPr>
            <a:r>
              <a:rPr lang="en-US" altLang="zh-CN" kern="0" dirty="0" smtClean="0">
                <a:latin typeface="Times New Roman" panose="02020603050405020304" pitchFamily="18" charset="0"/>
                <a:cs typeface="Times New Roman" panose="02020603050405020304" pitchFamily="18" charset="0"/>
              </a:rPr>
              <a:t>(1) </a:t>
            </a:r>
            <a:r>
              <a:rPr lang="zh-CN" altLang="en-US" kern="0" dirty="0" smtClean="0">
                <a:latin typeface="Times New Roman" panose="02020603050405020304" pitchFamily="18" charset="0"/>
                <a:cs typeface="Times New Roman" panose="02020603050405020304" pitchFamily="18" charset="0"/>
              </a:rPr>
              <a:t>选择变量的基准水平</a:t>
            </a:r>
            <a:endParaRPr lang="en-US" altLang="zh-CN" kern="0" dirty="0" smtClean="0">
              <a:latin typeface="Times New Roman" panose="02020603050405020304" pitchFamily="18" charset="0"/>
              <a:cs typeface="Times New Roman" panose="02020603050405020304" pitchFamily="18" charset="0"/>
            </a:endParaRPr>
          </a:p>
          <a:p>
            <a:pPr lvl="1" eaLnBrk="1" hangingPunct="1">
              <a:defRPr/>
            </a:pPr>
            <a:r>
              <a:rPr lang="zh-CN" altLang="zh-CN" dirty="0">
                <a:latin typeface="Times New Roman" panose="02020603050405020304" pitchFamily="18" charset="0"/>
                <a:cs typeface="Times New Roman" panose="02020603050405020304" pitchFamily="18" charset="0"/>
              </a:rPr>
              <a:t>使得风险分类后的基准水平中包含的车年数</a:t>
            </a:r>
            <a:r>
              <a:rPr lang="zh-CN" altLang="zh-CN" dirty="0" smtClean="0">
                <a:latin typeface="Times New Roman" panose="02020603050405020304" pitchFamily="18" charset="0"/>
                <a:cs typeface="Times New Roman" panose="02020603050405020304" pitchFamily="18" charset="0"/>
              </a:rPr>
              <a:t>最多</a:t>
            </a:r>
            <a:endParaRPr lang="en-US" altLang="zh-CN" dirty="0" smtClean="0">
              <a:latin typeface="Times New Roman" panose="02020603050405020304" pitchFamily="18" charset="0"/>
              <a:cs typeface="Times New Roman" panose="02020603050405020304" pitchFamily="18" charset="0"/>
            </a:endParaRPr>
          </a:p>
          <a:p>
            <a:pPr lvl="1" eaLnBrk="1" hangingPunct="1">
              <a:defRPr/>
            </a:pPr>
            <a:r>
              <a:rPr lang="zh-CN" altLang="zh-CN" dirty="0">
                <a:latin typeface="Times New Roman" panose="02020603050405020304" pitchFamily="18" charset="0"/>
                <a:cs typeface="Times New Roman" panose="02020603050405020304" pitchFamily="18" charset="0"/>
              </a:rPr>
              <a:t>保单类型中的“转入”、年龄中的“</a:t>
            </a:r>
            <a:r>
              <a:rPr lang="en-US" altLang="zh-CN" dirty="0">
                <a:latin typeface="Times New Roman" panose="02020603050405020304" pitchFamily="18" charset="0"/>
                <a:cs typeface="Times New Roman" panose="02020603050405020304" pitchFamily="18" charset="0"/>
              </a:rPr>
              <a:t>60-100</a:t>
            </a:r>
            <a:r>
              <a:rPr lang="zh-CN" altLang="zh-CN" dirty="0">
                <a:latin typeface="Times New Roman" panose="02020603050405020304" pitchFamily="18" charset="0"/>
                <a:cs typeface="Times New Roman" panose="02020603050405020304" pitchFamily="18" charset="0"/>
              </a:rPr>
              <a:t>”岁、车龄中的“</a:t>
            </a:r>
            <a:r>
              <a:rPr lang="en-US" altLang="zh-CN" dirty="0" smtClean="0">
                <a:latin typeface="Times New Roman" panose="02020603050405020304" pitchFamily="18" charset="0"/>
                <a:cs typeface="Times New Roman" panose="02020603050405020304" pitchFamily="18" charset="0"/>
              </a:rPr>
              <a:t>2 - 7</a:t>
            </a:r>
            <a:r>
              <a:rPr lang="zh-CN" altLang="zh-CN" dirty="0">
                <a:latin typeface="Times New Roman" panose="02020603050405020304" pitchFamily="18" charset="0"/>
                <a:cs typeface="Times New Roman" panose="02020603050405020304" pitchFamily="18" charset="0"/>
              </a:rPr>
              <a:t>年”、地区中的“北京”以及性别中的“男性”作为基准</a:t>
            </a:r>
            <a:r>
              <a:rPr lang="zh-CN" altLang="zh-CN" dirty="0" smtClean="0">
                <a:latin typeface="Times New Roman" panose="02020603050405020304" pitchFamily="18" charset="0"/>
                <a:cs typeface="Times New Roman" panose="02020603050405020304" pitchFamily="18" charset="0"/>
              </a:rPr>
              <a:t>水平</a:t>
            </a:r>
            <a:endParaRPr lang="en-US" altLang="zh-CN" dirty="0" smtClean="0">
              <a:latin typeface="Times New Roman" panose="02020603050405020304" pitchFamily="18" charset="0"/>
              <a:cs typeface="Times New Roman" panose="02020603050405020304" pitchFamily="18" charset="0"/>
            </a:endParaRPr>
          </a:p>
          <a:p>
            <a:pPr marL="342900" lvl="1" indent="-342900" eaLnBrk="1" hangingPunct="1">
              <a:buClr>
                <a:schemeClr val="tx2"/>
              </a:buClr>
              <a:defRPr/>
            </a:pPr>
            <a:r>
              <a:rPr lang="en-US" altLang="zh-CN" kern="0" dirty="0">
                <a:latin typeface="Times New Roman" panose="02020603050405020304" pitchFamily="18" charset="0"/>
                <a:cs typeface="Times New Roman" panose="02020603050405020304" pitchFamily="18" charset="0"/>
              </a:rPr>
              <a:t>(2</a:t>
            </a:r>
            <a:r>
              <a:rPr lang="en-US" altLang="zh-CN" kern="0" dirty="0" smtClean="0">
                <a:latin typeface="Times New Roman" panose="02020603050405020304" pitchFamily="18" charset="0"/>
                <a:cs typeface="Times New Roman" panose="02020603050405020304" pitchFamily="18" charset="0"/>
              </a:rPr>
              <a:t>) </a:t>
            </a:r>
            <a:r>
              <a:rPr lang="zh-CN" altLang="en-US" kern="0" dirty="0" smtClean="0">
                <a:latin typeface="Times New Roman" panose="02020603050405020304" pitchFamily="18" charset="0"/>
                <a:cs typeface="Times New Roman" panose="02020603050405020304" pitchFamily="18" charset="0"/>
              </a:rPr>
              <a:t>建立广义线性模型 （</a:t>
            </a:r>
            <a:r>
              <a:rPr lang="en-US" altLang="zh-CN" b="1" kern="0" dirty="0" smtClean="0">
                <a:solidFill>
                  <a:srgbClr val="FF0000"/>
                </a:solidFill>
                <a:latin typeface="Times New Roman" panose="02020603050405020304" pitchFamily="18" charset="0"/>
                <a:cs typeface="Times New Roman" panose="02020603050405020304" pitchFamily="18" charset="0"/>
              </a:rPr>
              <a:t>R </a:t>
            </a:r>
            <a:r>
              <a:rPr lang="zh-CN" altLang="en-US" b="1" kern="0" dirty="0" smtClean="0">
                <a:solidFill>
                  <a:srgbClr val="FF0000"/>
                </a:solidFill>
                <a:latin typeface="Times New Roman" panose="02020603050405020304" pitchFamily="18" charset="0"/>
                <a:cs typeface="Times New Roman" panose="02020603050405020304" pitchFamily="18" charset="0"/>
              </a:rPr>
              <a:t>代码</a:t>
            </a:r>
            <a:r>
              <a:rPr lang="zh-CN" altLang="en-US" kern="0" dirty="0" smtClean="0">
                <a:latin typeface="Times New Roman" panose="02020603050405020304" pitchFamily="18" charset="0"/>
                <a:cs typeface="Times New Roman" panose="02020603050405020304" pitchFamily="18" charset="0"/>
              </a:rPr>
              <a:t>）</a:t>
            </a:r>
            <a:endParaRPr lang="en-US" altLang="zh-CN" kern="0" dirty="0">
              <a:latin typeface="Times New Roman" panose="02020603050405020304" pitchFamily="18" charset="0"/>
              <a:cs typeface="Times New Roman" panose="02020603050405020304" pitchFamily="18" charset="0"/>
            </a:endParaRPr>
          </a:p>
          <a:p>
            <a:pPr lvl="1" eaLnBrk="1" hangingPunct="1">
              <a:defRPr/>
            </a:pPr>
            <a:r>
              <a:rPr lang="zh-CN" altLang="en-US" dirty="0">
                <a:latin typeface="Times New Roman" panose="02020603050405020304" pitchFamily="18" charset="0"/>
                <a:cs typeface="Times New Roman" panose="02020603050405020304" pitchFamily="18" charset="0"/>
              </a:rPr>
              <a:t>索赔次数数据建立泊松回归模型</a:t>
            </a:r>
            <a:endParaRPr lang="en-US" altLang="zh-CN" dirty="0">
              <a:latin typeface="Times New Roman" panose="02020603050405020304" pitchFamily="18" charset="0"/>
              <a:cs typeface="Times New Roman" panose="02020603050405020304" pitchFamily="18" charset="0"/>
            </a:endParaRPr>
          </a:p>
          <a:p>
            <a:pPr lvl="1" eaLnBrk="1" hangingPunct="1">
              <a:defRPr/>
            </a:pPr>
            <a:r>
              <a:rPr lang="zh-CN" altLang="en-US" dirty="0">
                <a:latin typeface="Times New Roman" panose="02020603050405020304" pitchFamily="18" charset="0"/>
                <a:cs typeface="Times New Roman" panose="02020603050405020304" pitchFamily="18" charset="0"/>
              </a:rPr>
              <a:t>对案均赔款（索赔强度）数据建立伽马回归模型</a:t>
            </a:r>
            <a:endParaRPr lang="en-US" altLang="zh-CN" dirty="0">
              <a:latin typeface="Times New Roman" panose="02020603050405020304" pitchFamily="18" charset="0"/>
              <a:cs typeface="Times New Roman" panose="02020603050405020304" pitchFamily="18" charset="0"/>
            </a:endParaRPr>
          </a:p>
          <a:p>
            <a:pPr lvl="1" eaLnBrk="1" hangingPunct="1">
              <a:defRPr/>
            </a:pPr>
            <a:r>
              <a:rPr lang="zh-CN" altLang="en-US" dirty="0">
                <a:latin typeface="Times New Roman" panose="02020603050405020304" pitchFamily="18" charset="0"/>
                <a:cs typeface="Times New Roman" panose="02020603050405020304" pitchFamily="18" charset="0"/>
              </a:rPr>
              <a:t>对累积赔款（纯保费）建立</a:t>
            </a:r>
            <a:r>
              <a:rPr lang="en-US" altLang="zh-CN" dirty="0">
                <a:latin typeface="Times New Roman" panose="02020603050405020304" pitchFamily="18" charset="0"/>
                <a:cs typeface="Times New Roman" panose="02020603050405020304" pitchFamily="18" charset="0"/>
              </a:rPr>
              <a:t>Tweedie</a:t>
            </a:r>
            <a:r>
              <a:rPr lang="zh-CN" altLang="en-US" dirty="0">
                <a:latin typeface="Times New Roman" panose="02020603050405020304" pitchFamily="18" charset="0"/>
                <a:cs typeface="Times New Roman" panose="02020603050405020304" pitchFamily="18" charset="0"/>
              </a:rPr>
              <a:t>回归模型</a:t>
            </a:r>
          </a:p>
        </p:txBody>
      </p:sp>
      <p:sp>
        <p:nvSpPr>
          <p:cNvPr id="29700" name="Rectangle 2"/>
          <p:cNvSpPr>
            <a:spLocks noGrp="1" noChangeArrowheads="1"/>
          </p:cNvSpPr>
          <p:nvPr>
            <p:ph type="title"/>
          </p:nvPr>
        </p:nvSpPr>
        <p:spPr>
          <a:xfrm>
            <a:off x="323850" y="414338"/>
            <a:ext cx="7543800" cy="508000"/>
          </a:xfrm>
        </p:spPr>
        <p:txBody>
          <a:bodyPr/>
          <a:lstStyle/>
          <a:p>
            <a:pPr eaLnBrk="1" hangingPunct="1"/>
            <a:r>
              <a:rPr lang="zh-CN" altLang="en-US" smtClean="0"/>
              <a:t>建模步骤</a:t>
            </a:r>
          </a:p>
        </p:txBody>
      </p:sp>
    </p:spTree>
    <p:extLst>
      <p:ext uri="{BB962C8B-B14F-4D97-AF65-F5344CB8AC3E}">
        <p14:creationId xmlns:p14="http://schemas.microsoft.com/office/powerpoint/2010/main" val="1810098338"/>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2FC09A23-34CA-4A06-88A4-7DFF268ECF17}" type="slidenum">
              <a:rPr lang="en-US" altLang="zh-CN" sz="1000" smtClean="0"/>
              <a:pPr>
                <a:lnSpc>
                  <a:spcPct val="100000"/>
                </a:lnSpc>
                <a:spcBef>
                  <a:spcPct val="0"/>
                </a:spcBef>
                <a:buClrTx/>
                <a:buSzTx/>
                <a:buFontTx/>
                <a:buNone/>
              </a:pPr>
              <a:t>156</a:t>
            </a:fld>
            <a:endParaRPr lang="en-US" altLang="zh-CN" sz="1000" smtClean="0"/>
          </a:p>
        </p:txBody>
      </p:sp>
      <p:sp>
        <p:nvSpPr>
          <p:cNvPr id="4" name="Rectangle 3"/>
          <p:cNvSpPr txBox="1">
            <a:spLocks noChangeArrowheads="1"/>
          </p:cNvSpPr>
          <p:nvPr/>
        </p:nvSpPr>
        <p:spPr bwMode="auto">
          <a:xfrm>
            <a:off x="179388" y="44450"/>
            <a:ext cx="82296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lnSpc>
                <a:spcPct val="120000"/>
              </a:lnSpc>
              <a:spcBef>
                <a:spcPct val="50000"/>
              </a:spcBef>
              <a:spcAft>
                <a:spcPct val="0"/>
              </a:spcAft>
              <a:buClr>
                <a:schemeClr val="tx2"/>
              </a:buClr>
              <a:buSzPct val="70000"/>
              <a:buFont typeface="Wingdings" panose="05000000000000000000" pitchFamily="2" charset="2"/>
              <a:buChar char="l"/>
              <a:defRPr sz="2400">
                <a:solidFill>
                  <a:schemeClr val="tx1"/>
                </a:solidFill>
                <a:latin typeface="+mn-lt"/>
                <a:ea typeface="+mn-ea"/>
                <a:cs typeface="+mn-cs"/>
              </a:defRPr>
            </a:lvl1pPr>
            <a:lvl2pPr marL="692150" indent="-347663" algn="l" rtl="0" eaLnBrk="0" fontAlgn="base" hangingPunct="0">
              <a:lnSpc>
                <a:spcPct val="120000"/>
              </a:lnSpc>
              <a:spcBef>
                <a:spcPct val="50000"/>
              </a:spcBef>
              <a:spcAft>
                <a:spcPct val="0"/>
              </a:spcAft>
              <a:buClr>
                <a:schemeClr val="accent2"/>
              </a:buClr>
              <a:buSzPct val="70000"/>
              <a:buFont typeface="Wingdings" panose="05000000000000000000" pitchFamily="2" charset="2"/>
              <a:buChar char="l"/>
              <a:defRPr sz="2400">
                <a:solidFill>
                  <a:schemeClr val="tx1"/>
                </a:solidFill>
                <a:latin typeface="+mn-lt"/>
                <a:ea typeface="+mn-ea"/>
              </a:defRPr>
            </a:lvl2pPr>
            <a:lvl3pPr marL="987425" indent="-293688" algn="l" rtl="0" eaLnBrk="0" fontAlgn="base" hangingPunct="0">
              <a:lnSpc>
                <a:spcPct val="120000"/>
              </a:lnSpc>
              <a:spcBef>
                <a:spcPct val="50000"/>
              </a:spcBef>
              <a:spcAft>
                <a:spcPct val="0"/>
              </a:spcAft>
              <a:buClr>
                <a:schemeClr val="accent1"/>
              </a:buClr>
              <a:buSzPct val="70000"/>
              <a:buFont typeface="Wingdings" panose="05000000000000000000" pitchFamily="2" charset="2"/>
              <a:buChar char="l"/>
              <a:defRPr sz="2400">
                <a:solidFill>
                  <a:schemeClr val="tx1"/>
                </a:solidFill>
                <a:latin typeface="+mn-lt"/>
                <a:ea typeface="+mn-ea"/>
              </a:defRPr>
            </a:lvl3pPr>
            <a:lvl4pPr marL="1281113" indent="-292100" algn="l" rtl="0" eaLnBrk="0" fontAlgn="base" hangingPunct="0">
              <a:lnSpc>
                <a:spcPct val="120000"/>
              </a:lnSpc>
              <a:spcBef>
                <a:spcPct val="50000"/>
              </a:spcBef>
              <a:spcAft>
                <a:spcPct val="0"/>
              </a:spcAft>
              <a:buClr>
                <a:schemeClr val="tx2"/>
              </a:buClr>
              <a:buSzPct val="75000"/>
              <a:buFont typeface="Wingdings" panose="05000000000000000000" pitchFamily="2" charset="2"/>
              <a:buChar char="§"/>
              <a:defRPr sz="2400">
                <a:solidFill>
                  <a:schemeClr val="tx1"/>
                </a:solidFill>
                <a:latin typeface="+mn-lt"/>
                <a:ea typeface="+mn-ea"/>
              </a:defRPr>
            </a:lvl4pPr>
            <a:lvl5pPr marL="1598613" indent="-315913" algn="l" rtl="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mn-lt"/>
                <a:ea typeface="+mn-ea"/>
              </a:defRPr>
            </a:lvl5pPr>
            <a:lvl6pPr marL="20558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6pPr>
            <a:lvl7pPr marL="25130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7pPr>
            <a:lvl8pPr marL="29702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8pPr>
            <a:lvl9pPr marL="34274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9pPr>
          </a:lstStyle>
          <a:p>
            <a:pPr eaLnBrk="1" hangingPunct="1">
              <a:defRPr/>
            </a:pPr>
            <a:r>
              <a:rPr lang="en-US" altLang="zh-CN" kern="0" dirty="0" smtClean="0">
                <a:latin typeface="Times New Roman" panose="02020603050405020304" pitchFamily="18" charset="0"/>
                <a:cs typeface="Times New Roman" panose="02020603050405020304" pitchFamily="18" charset="0"/>
              </a:rPr>
              <a:t>(3) </a:t>
            </a:r>
            <a:r>
              <a:rPr lang="zh-CN" altLang="en-US" kern="0" dirty="0" smtClean="0">
                <a:latin typeface="Times New Roman" panose="02020603050405020304" pitchFamily="18" charset="0"/>
                <a:cs typeface="Times New Roman" panose="02020603050405020304" pitchFamily="18" charset="0"/>
              </a:rPr>
              <a:t>费率因子估计</a:t>
            </a:r>
            <a:endParaRPr lang="en-US" altLang="zh-CN" kern="0" dirty="0" smtClean="0">
              <a:latin typeface="Times New Roman" panose="02020603050405020304" pitchFamily="18" charset="0"/>
              <a:cs typeface="Times New Roman" panose="02020603050405020304" pitchFamily="18" charset="0"/>
            </a:endParaRPr>
          </a:p>
        </p:txBody>
      </p:sp>
      <p:graphicFrame>
        <p:nvGraphicFramePr>
          <p:cNvPr id="2" name="表格 1"/>
          <p:cNvGraphicFramePr>
            <a:graphicFrameLocks noGrp="1"/>
          </p:cNvGraphicFramePr>
          <p:nvPr/>
        </p:nvGraphicFramePr>
        <p:xfrm>
          <a:off x="6350" y="765175"/>
          <a:ext cx="8575674" cy="5910264"/>
        </p:xfrm>
        <a:graphic>
          <a:graphicData uri="http://schemas.openxmlformats.org/drawingml/2006/table">
            <a:tbl>
              <a:tblPr firstRow="1" firstCol="1" bandRow="1">
                <a:tableStyleId>{5C22544A-7EE6-4342-B048-85BDC9FD1C3A}</a:tableStyleId>
              </a:tblPr>
              <a:tblGrid>
                <a:gridCol w="1381818">
                  <a:extLst>
                    <a:ext uri="{9D8B030D-6E8A-4147-A177-3AD203B41FA5}">
                      <a16:colId xmlns:a16="http://schemas.microsoft.com/office/drawing/2014/main" val="1960951770"/>
                    </a:ext>
                  </a:extLst>
                </a:gridCol>
                <a:gridCol w="1381818">
                  <a:extLst>
                    <a:ext uri="{9D8B030D-6E8A-4147-A177-3AD203B41FA5}">
                      <a16:colId xmlns:a16="http://schemas.microsoft.com/office/drawing/2014/main" val="1140537720"/>
                    </a:ext>
                  </a:extLst>
                </a:gridCol>
                <a:gridCol w="1499304">
                  <a:extLst>
                    <a:ext uri="{9D8B030D-6E8A-4147-A177-3AD203B41FA5}">
                      <a16:colId xmlns:a16="http://schemas.microsoft.com/office/drawing/2014/main" val="4073344660"/>
                    </a:ext>
                  </a:extLst>
                </a:gridCol>
                <a:gridCol w="1499304">
                  <a:extLst>
                    <a:ext uri="{9D8B030D-6E8A-4147-A177-3AD203B41FA5}">
                      <a16:colId xmlns:a16="http://schemas.microsoft.com/office/drawing/2014/main" val="847583439"/>
                    </a:ext>
                  </a:extLst>
                </a:gridCol>
                <a:gridCol w="1406715">
                  <a:extLst>
                    <a:ext uri="{9D8B030D-6E8A-4147-A177-3AD203B41FA5}">
                      <a16:colId xmlns:a16="http://schemas.microsoft.com/office/drawing/2014/main" val="2988233925"/>
                    </a:ext>
                  </a:extLst>
                </a:gridCol>
                <a:gridCol w="1406715">
                  <a:extLst>
                    <a:ext uri="{9D8B030D-6E8A-4147-A177-3AD203B41FA5}">
                      <a16:colId xmlns:a16="http://schemas.microsoft.com/office/drawing/2014/main" val="14656847"/>
                    </a:ext>
                  </a:extLst>
                </a:gridCol>
              </a:tblGrid>
              <a:tr h="268729">
                <a:tc rowSpan="2">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变量</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变量水平</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1400" b="1" i="0" u="none" strike="noStrike" kern="1200" cap="none" normalizeH="0" baseline="0" dirty="0" smtClean="0">
                          <a:ln>
                            <a:noFill/>
                          </a:ln>
                          <a:solidFill>
                            <a:srgbClr val="FF0066"/>
                          </a:solidFill>
                          <a:effectLst/>
                          <a:latin typeface="Times New Roman" pitchFamily="18" charset="0"/>
                          <a:ea typeface="仿宋_GB2312" pitchFamily="49" charset="-122"/>
                          <a:cs typeface="Times New Roman" pitchFamily="18" charset="0"/>
                        </a:rPr>
                        <a:t>泊松回归和伽马回归模型</a:t>
                      </a:r>
                      <a:endParaRPr kumimoji="0" lang="zh-CN" sz="1400" b="1" i="0" u="none" strike="noStrike" kern="1200" cap="none" normalizeH="0" baseline="0" dirty="0">
                        <a:ln>
                          <a:noFill/>
                        </a:ln>
                        <a:solidFill>
                          <a:srgbClr val="FF0066"/>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1" i="0" u="none" strike="noStrike" kern="1200" cap="none" normalizeH="0" baseline="0" dirty="0">
                          <a:ln>
                            <a:noFill/>
                          </a:ln>
                          <a:solidFill>
                            <a:srgbClr val="FF0066"/>
                          </a:solidFill>
                          <a:effectLst/>
                          <a:latin typeface="Times New Roman" pitchFamily="18" charset="0"/>
                          <a:ea typeface="仿宋_GB2312" pitchFamily="49" charset="-122"/>
                          <a:cs typeface="Times New Roman" pitchFamily="18" charset="0"/>
                        </a:rPr>
                        <a:t>Tweedie</a:t>
                      </a:r>
                      <a:r>
                        <a:rPr kumimoji="0" lang="zh-CN" sz="1400" b="1" i="0" u="none" strike="noStrike" kern="1200" cap="none" normalizeH="0" baseline="0" dirty="0">
                          <a:ln>
                            <a:noFill/>
                          </a:ln>
                          <a:solidFill>
                            <a:srgbClr val="FF0066"/>
                          </a:solidFill>
                          <a:effectLst/>
                          <a:latin typeface="Times New Roman" pitchFamily="18" charset="0"/>
                          <a:ea typeface="仿宋_GB2312" pitchFamily="49" charset="-122"/>
                          <a:cs typeface="Times New Roman" pitchFamily="18" charset="0"/>
                        </a:rPr>
                        <a:t>模型</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047457"/>
                  </a:ext>
                </a:extLst>
              </a:tr>
              <a:tr h="810451">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索赔频率因子</a:t>
                      </a:r>
                    </a:p>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a:t>
                      </a: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案均赔款因子</a:t>
                      </a:r>
                    </a:p>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纯保费因子</a:t>
                      </a:r>
                    </a:p>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纯保费因子</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1072142"/>
                  </a:ext>
                </a:extLst>
              </a:tr>
              <a:tr h="268729">
                <a:tc rowSpan="5">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年龄</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18 - 25</a:t>
                      </a: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岁</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1.085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1.010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1.096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1.093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2570741"/>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25 - 30</a:t>
                      </a: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岁</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1.066***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1.009</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1.076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1.075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0048104"/>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30 - 50</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岁</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9433517"/>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50 - 60</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岁</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0.975*</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0.936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0.913</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0.913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7752074"/>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60 - 100 </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岁</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0.943*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0.896***</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0.845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0.847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5876857"/>
                  </a:ext>
                </a:extLst>
              </a:tr>
              <a:tr h="268729">
                <a:tc rowSpan="3">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车龄</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0 - 1</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0.902***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1.021*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0.921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0.922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6016210"/>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2 - 7</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1152197"/>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8</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年以及以上</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0.922***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0.967*</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0.892</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0.891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17675992"/>
                  </a:ext>
                </a:extLst>
              </a:tr>
              <a:tr h="268729">
                <a:tc rowSpan="4">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地区</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北京</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5686364"/>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上海</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0.748***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1.046***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0.782</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0.782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63299436"/>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天津</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0.687***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0.994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0.683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0.681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1934564"/>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重庆</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0.720***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0.912***</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0.657</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0.658 ***</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5854117"/>
                  </a:ext>
                </a:extLst>
              </a:tr>
              <a:tr h="268729">
                <a:tc rowSpan="5">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保单类型</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新车</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1.006</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1.044**</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1.050</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1.053</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4075249"/>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续保</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0.905***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1.007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0.911</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0.910 ***</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0569286"/>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续保</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2</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0.848***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0.9887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0.838</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0.837 ***</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8538063"/>
                  </a:ext>
                </a:extLst>
              </a:tr>
              <a:tr h="531420">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续保</a:t>
                      </a: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3</a:t>
                      </a:r>
                      <a:r>
                        <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年及以上</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0.840***</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0.947***</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rPr>
                        <a:t>0.795</a:t>
                      </a:r>
                      <a:endParaRPr kumimoji="0" lang="zh-CN" sz="1400" b="0" i="0" u="none" strike="noStrike" kern="1200" cap="none" normalizeH="0" baseline="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0.793 ***</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7229202"/>
                  </a:ext>
                </a:extLst>
              </a:tr>
              <a:tr h="268729">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转入</a:t>
                      </a: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rPr>
                        <a:t>1</a:t>
                      </a:r>
                      <a:endParaRPr kumimoji="0" lang="zh-CN" sz="1400" b="0" i="0" u="none" strike="noStrike" kern="1200" cap="none" normalizeH="0" baseline="0" dirty="0">
                        <a:ln>
                          <a:noFill/>
                        </a:ln>
                        <a:solidFill>
                          <a:schemeClr val="tx1"/>
                        </a:solidFill>
                        <a:effectLst/>
                        <a:latin typeface="Times New Roman" pitchFamily="18" charset="0"/>
                        <a:ea typeface="仿宋_GB2312" pitchFamily="49" charset="-122"/>
                        <a:cs typeface="Times New Roman" pitchFamily="18" charset="0"/>
                      </a:endParaRPr>
                    </a:p>
                  </a:txBody>
                  <a:tcPr marL="66169" marR="661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9058925"/>
                  </a:ext>
                </a:extLst>
              </a:tr>
            </a:tbl>
          </a:graphicData>
        </a:graphic>
      </p:graphicFrame>
    </p:spTree>
    <p:extLst>
      <p:ext uri="{BB962C8B-B14F-4D97-AF65-F5344CB8AC3E}">
        <p14:creationId xmlns:p14="http://schemas.microsoft.com/office/powerpoint/2010/main" val="648930909"/>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p:spPr>
        <p:txBody>
          <a:bodyPr/>
          <a:lstStyle>
            <a:lvl1pPr>
              <a:lnSpc>
                <a:spcPct val="120000"/>
              </a:lnSpc>
              <a:spcBef>
                <a:spcPct val="50000"/>
              </a:spcBef>
              <a:buClr>
                <a:schemeClr val="tx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50000"/>
              </a:spcBef>
              <a:buClr>
                <a:schemeClr val="accent2"/>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2pPr>
            <a:lvl3pPr marL="1143000" indent="-228600">
              <a:lnSpc>
                <a:spcPct val="120000"/>
              </a:lnSpc>
              <a:spcBef>
                <a:spcPct val="5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lnSpc>
                <a:spcPct val="120000"/>
              </a:lnSpc>
              <a:spcBef>
                <a:spcPct val="50000"/>
              </a:spcBef>
              <a:buClr>
                <a:schemeClr val="tx2"/>
              </a:buClr>
              <a:buSzPct val="7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4pPr>
            <a:lvl5pPr marL="2057400" indent="-228600">
              <a:lnSpc>
                <a:spcPct val="120000"/>
              </a:lnSpc>
              <a:spcBef>
                <a:spcPct val="50000"/>
              </a:spcBef>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9pPr>
          </a:lstStyle>
          <a:p>
            <a:pPr>
              <a:lnSpc>
                <a:spcPct val="100000"/>
              </a:lnSpc>
              <a:spcBef>
                <a:spcPct val="0"/>
              </a:spcBef>
              <a:buClrTx/>
              <a:buSzTx/>
              <a:buFontTx/>
              <a:buNone/>
            </a:pPr>
            <a:fld id="{904510E6-DEA8-4893-9ADD-D69AE2AE7210}" type="slidenum">
              <a:rPr lang="en-US" altLang="zh-CN" sz="1000" smtClean="0"/>
              <a:pPr>
                <a:lnSpc>
                  <a:spcPct val="100000"/>
                </a:lnSpc>
                <a:spcBef>
                  <a:spcPct val="0"/>
                </a:spcBef>
                <a:buClrTx/>
                <a:buSzTx/>
                <a:buFontTx/>
                <a:buNone/>
              </a:pPr>
              <a:t>157</a:t>
            </a:fld>
            <a:endParaRPr lang="en-US" altLang="zh-CN" sz="1000" smtClean="0"/>
          </a:p>
        </p:txBody>
      </p:sp>
      <p:sp>
        <p:nvSpPr>
          <p:cNvPr id="4" name="Rectangle 3"/>
          <p:cNvSpPr txBox="1">
            <a:spLocks noChangeArrowheads="1"/>
          </p:cNvSpPr>
          <p:nvPr/>
        </p:nvSpPr>
        <p:spPr bwMode="auto">
          <a:xfrm>
            <a:off x="250825" y="908050"/>
            <a:ext cx="82296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lnSpc>
                <a:spcPct val="120000"/>
              </a:lnSpc>
              <a:spcBef>
                <a:spcPct val="50000"/>
              </a:spcBef>
              <a:spcAft>
                <a:spcPct val="0"/>
              </a:spcAft>
              <a:buClr>
                <a:schemeClr val="tx2"/>
              </a:buClr>
              <a:buSzPct val="70000"/>
              <a:buFont typeface="Wingdings" panose="05000000000000000000" pitchFamily="2" charset="2"/>
              <a:buChar char="l"/>
              <a:defRPr sz="2400">
                <a:solidFill>
                  <a:schemeClr val="tx1"/>
                </a:solidFill>
                <a:latin typeface="+mn-lt"/>
                <a:ea typeface="+mn-ea"/>
                <a:cs typeface="+mn-cs"/>
              </a:defRPr>
            </a:lvl1pPr>
            <a:lvl2pPr marL="692150" indent="-347663" algn="l" rtl="0" eaLnBrk="0" fontAlgn="base" hangingPunct="0">
              <a:lnSpc>
                <a:spcPct val="120000"/>
              </a:lnSpc>
              <a:spcBef>
                <a:spcPct val="50000"/>
              </a:spcBef>
              <a:spcAft>
                <a:spcPct val="0"/>
              </a:spcAft>
              <a:buClr>
                <a:schemeClr val="accent2"/>
              </a:buClr>
              <a:buSzPct val="70000"/>
              <a:buFont typeface="Wingdings" panose="05000000000000000000" pitchFamily="2" charset="2"/>
              <a:buChar char="l"/>
              <a:defRPr sz="2400">
                <a:solidFill>
                  <a:schemeClr val="tx1"/>
                </a:solidFill>
                <a:latin typeface="+mn-lt"/>
                <a:ea typeface="+mn-ea"/>
              </a:defRPr>
            </a:lvl2pPr>
            <a:lvl3pPr marL="987425" indent="-293688" algn="l" rtl="0" eaLnBrk="0" fontAlgn="base" hangingPunct="0">
              <a:lnSpc>
                <a:spcPct val="120000"/>
              </a:lnSpc>
              <a:spcBef>
                <a:spcPct val="50000"/>
              </a:spcBef>
              <a:spcAft>
                <a:spcPct val="0"/>
              </a:spcAft>
              <a:buClr>
                <a:schemeClr val="accent1"/>
              </a:buClr>
              <a:buSzPct val="70000"/>
              <a:buFont typeface="Wingdings" panose="05000000000000000000" pitchFamily="2" charset="2"/>
              <a:buChar char="l"/>
              <a:defRPr sz="2400">
                <a:solidFill>
                  <a:schemeClr val="tx1"/>
                </a:solidFill>
                <a:latin typeface="+mn-lt"/>
                <a:ea typeface="+mn-ea"/>
              </a:defRPr>
            </a:lvl3pPr>
            <a:lvl4pPr marL="1281113" indent="-292100" algn="l" rtl="0" eaLnBrk="0" fontAlgn="base" hangingPunct="0">
              <a:lnSpc>
                <a:spcPct val="120000"/>
              </a:lnSpc>
              <a:spcBef>
                <a:spcPct val="50000"/>
              </a:spcBef>
              <a:spcAft>
                <a:spcPct val="0"/>
              </a:spcAft>
              <a:buClr>
                <a:schemeClr val="tx2"/>
              </a:buClr>
              <a:buSzPct val="75000"/>
              <a:buFont typeface="Wingdings" panose="05000000000000000000" pitchFamily="2" charset="2"/>
              <a:buChar char="§"/>
              <a:defRPr sz="2400">
                <a:solidFill>
                  <a:schemeClr val="tx1"/>
                </a:solidFill>
                <a:latin typeface="+mn-lt"/>
                <a:ea typeface="+mn-ea"/>
              </a:defRPr>
            </a:lvl4pPr>
            <a:lvl5pPr marL="1598613" indent="-315913" algn="l" rtl="0" eaLnBrk="0" fontAlgn="base" hangingPunct="0">
              <a:lnSpc>
                <a:spcPct val="120000"/>
              </a:lnSpc>
              <a:spcBef>
                <a:spcPct val="50000"/>
              </a:spcBef>
              <a:spcAft>
                <a:spcPct val="0"/>
              </a:spcAft>
              <a:buClr>
                <a:schemeClr val="folHlink"/>
              </a:buClr>
              <a:buSzPct val="80000"/>
              <a:buFont typeface="Wingdings" panose="05000000000000000000" pitchFamily="2" charset="2"/>
              <a:buChar char="§"/>
              <a:defRPr sz="2400">
                <a:solidFill>
                  <a:schemeClr val="tx1"/>
                </a:solidFill>
                <a:latin typeface="+mn-lt"/>
                <a:ea typeface="+mn-ea"/>
              </a:defRPr>
            </a:lvl5pPr>
            <a:lvl6pPr marL="20558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6pPr>
            <a:lvl7pPr marL="25130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7pPr>
            <a:lvl8pPr marL="29702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8pPr>
            <a:lvl9pPr marL="3427413" indent="-315913" algn="l" rtl="0" fontAlgn="base">
              <a:lnSpc>
                <a:spcPct val="120000"/>
              </a:lnSpc>
              <a:spcBef>
                <a:spcPct val="50000"/>
              </a:spcBef>
              <a:spcAft>
                <a:spcPct val="0"/>
              </a:spcAft>
              <a:buClr>
                <a:schemeClr val="folHlink"/>
              </a:buClr>
              <a:buSzPct val="80000"/>
              <a:buFont typeface="Wingdings" pitchFamily="2" charset="2"/>
              <a:buChar char="§"/>
              <a:defRPr sz="2400">
                <a:solidFill>
                  <a:schemeClr val="tx1"/>
                </a:solidFill>
                <a:latin typeface="+mn-lt"/>
                <a:ea typeface="+mn-ea"/>
              </a:defRPr>
            </a:lvl9pPr>
          </a:lstStyle>
          <a:p>
            <a:pPr eaLnBrk="1" hangingPunct="1">
              <a:defRPr/>
            </a:pPr>
            <a:r>
              <a:rPr lang="en-US" altLang="zh-CN" kern="0" dirty="0" smtClean="0">
                <a:latin typeface="Times New Roman" panose="02020603050405020304" pitchFamily="18" charset="0"/>
                <a:cs typeface="Times New Roman" panose="02020603050405020304" pitchFamily="18" charset="0"/>
              </a:rPr>
              <a:t>(4) </a:t>
            </a:r>
            <a:r>
              <a:rPr lang="zh-CN" altLang="en-US" kern="0" dirty="0" smtClean="0">
                <a:latin typeface="Times New Roman" panose="02020603050405020304" pitchFamily="18" charset="0"/>
                <a:cs typeface="Times New Roman" panose="02020603050405020304" pitchFamily="18" charset="0"/>
              </a:rPr>
              <a:t>模型拟合检验、费率因子选择</a:t>
            </a:r>
            <a:endParaRPr lang="en-US" altLang="zh-CN" kern="0" dirty="0" smtClean="0">
              <a:latin typeface="Times New Roman" panose="02020603050405020304" pitchFamily="18" charset="0"/>
              <a:cs typeface="Times New Roman" panose="02020603050405020304" pitchFamily="18" charset="0"/>
            </a:endParaRPr>
          </a:p>
          <a:p>
            <a:pPr lvl="1" eaLnBrk="1" hangingPunct="1">
              <a:defRPr/>
            </a:pPr>
            <a:r>
              <a:rPr lang="zh-CN" altLang="en-US" kern="0" dirty="0" smtClean="0">
                <a:latin typeface="Times New Roman" panose="02020603050405020304" pitchFamily="18" charset="0"/>
                <a:cs typeface="Times New Roman" panose="02020603050405020304" pitchFamily="18" charset="0"/>
              </a:rPr>
              <a:t>分布合理性检验、残差分析</a:t>
            </a:r>
            <a:endParaRPr lang="en-US" altLang="zh-CN" kern="0" dirty="0" smtClean="0">
              <a:latin typeface="Times New Roman" panose="02020603050405020304" pitchFamily="18" charset="0"/>
              <a:cs typeface="Times New Roman" panose="02020603050405020304" pitchFamily="18" charset="0"/>
            </a:endParaRPr>
          </a:p>
          <a:p>
            <a:pPr lvl="1" eaLnBrk="1" hangingPunct="1">
              <a:defRPr/>
            </a:pPr>
            <a:r>
              <a:rPr lang="zh-CN" altLang="en-US" kern="0" dirty="0" smtClean="0">
                <a:latin typeface="Times New Roman" panose="02020603050405020304" pitchFamily="18" charset="0"/>
                <a:cs typeface="Times New Roman" panose="02020603050405020304" pitchFamily="18" charset="0"/>
              </a:rPr>
              <a:t>拟合优度统计量：偏差、</a:t>
            </a:r>
            <a:r>
              <a:rPr lang="en-US" altLang="zh-CN" kern="0" dirty="0" smtClean="0">
                <a:latin typeface="Times New Roman" panose="02020603050405020304" pitchFamily="18" charset="0"/>
                <a:cs typeface="Times New Roman" panose="02020603050405020304" pitchFamily="18" charset="0"/>
              </a:rPr>
              <a:t>AIC</a:t>
            </a:r>
            <a:r>
              <a:rPr lang="zh-CN" altLang="en-US" kern="0" dirty="0" smtClean="0">
                <a:latin typeface="Times New Roman" panose="02020603050405020304" pitchFamily="18" charset="0"/>
                <a:cs typeface="Times New Roman" panose="02020603050405020304" pitchFamily="18" charset="0"/>
              </a:rPr>
              <a:t>、</a:t>
            </a:r>
            <a:r>
              <a:rPr lang="en-US" altLang="zh-CN" kern="0" dirty="0" smtClean="0">
                <a:latin typeface="Times New Roman" panose="02020603050405020304" pitchFamily="18" charset="0"/>
                <a:cs typeface="Times New Roman" panose="02020603050405020304" pitchFamily="18" charset="0"/>
              </a:rPr>
              <a:t>BIC</a:t>
            </a:r>
          </a:p>
          <a:p>
            <a:pPr lvl="1" eaLnBrk="1" hangingPunct="1">
              <a:defRPr/>
            </a:pPr>
            <a:r>
              <a:rPr lang="zh-CN" altLang="en-US" kern="0" dirty="0" smtClean="0">
                <a:latin typeface="Times New Roman" panose="02020603050405020304" pitchFamily="18" charset="0"/>
                <a:cs typeface="Times New Roman" panose="02020603050405020304" pitchFamily="18" charset="0"/>
              </a:rPr>
              <a:t>变量显著性，</a:t>
            </a:r>
            <a:r>
              <a:rPr lang="en-US" altLang="zh-CN" kern="0" dirty="0" smtClean="0">
                <a:latin typeface="Times New Roman" panose="02020603050405020304" pitchFamily="18" charset="0"/>
                <a:cs typeface="Times New Roman" panose="02020603050405020304" pitchFamily="18" charset="0"/>
              </a:rPr>
              <a:t>Type II </a:t>
            </a:r>
            <a:r>
              <a:rPr lang="zh-CN" altLang="en-US" kern="0" dirty="0" smtClean="0">
                <a:latin typeface="Times New Roman" panose="02020603050405020304" pitchFamily="18" charset="0"/>
                <a:cs typeface="Times New Roman" panose="02020603050405020304" pitchFamily="18" charset="0"/>
              </a:rPr>
              <a:t>和 </a:t>
            </a:r>
            <a:r>
              <a:rPr lang="en-US" altLang="zh-CN" kern="0" dirty="0" smtClean="0">
                <a:latin typeface="Times New Roman" panose="02020603050405020304" pitchFamily="18" charset="0"/>
                <a:cs typeface="Times New Roman" panose="02020603050405020304" pitchFamily="18" charset="0"/>
              </a:rPr>
              <a:t>Type III</a:t>
            </a:r>
            <a:r>
              <a:rPr lang="zh-CN" altLang="en-US" kern="0" dirty="0" smtClean="0">
                <a:latin typeface="Times New Roman" panose="02020603050405020304" pitchFamily="18" charset="0"/>
                <a:cs typeface="Times New Roman" panose="02020603050405020304" pitchFamily="18" charset="0"/>
              </a:rPr>
              <a:t>分析</a:t>
            </a:r>
            <a:endParaRPr lang="en-US" altLang="zh-CN" kern="0" dirty="0" smtClean="0">
              <a:latin typeface="Times New Roman" panose="02020603050405020304" pitchFamily="18" charset="0"/>
              <a:cs typeface="Times New Roman" panose="02020603050405020304" pitchFamily="18" charset="0"/>
            </a:endParaRPr>
          </a:p>
          <a:p>
            <a:pPr eaLnBrk="1" hangingPunct="1">
              <a:defRPr/>
            </a:pPr>
            <a:r>
              <a:rPr lang="en-US" altLang="zh-CN" kern="0" dirty="0" smtClean="0">
                <a:latin typeface="Times New Roman" panose="02020603050405020304" pitchFamily="18" charset="0"/>
                <a:cs typeface="Times New Roman" panose="02020603050405020304" pitchFamily="18" charset="0"/>
              </a:rPr>
              <a:t>(5) </a:t>
            </a:r>
            <a:r>
              <a:rPr lang="zh-CN" altLang="en-US" kern="0" dirty="0" smtClean="0">
                <a:latin typeface="Times New Roman" panose="02020603050405020304" pitchFamily="18" charset="0"/>
                <a:cs typeface="Times New Roman" panose="02020603050405020304" pitchFamily="18" charset="0"/>
              </a:rPr>
              <a:t>对保单组合每个风险类别进行预测</a:t>
            </a:r>
            <a:endParaRPr lang="en-US" altLang="zh-CN" kern="0" dirty="0" smtClean="0">
              <a:latin typeface="Times New Roman" panose="02020603050405020304" pitchFamily="18" charset="0"/>
              <a:cs typeface="Times New Roman" panose="02020603050405020304" pitchFamily="18" charset="0"/>
            </a:endParaRPr>
          </a:p>
          <a:p>
            <a:pPr lvl="1" eaLnBrk="1" hangingPunct="1">
              <a:defRPr/>
            </a:pPr>
            <a:r>
              <a:rPr lang="zh-CN" altLang="en-US" kern="0" dirty="0" smtClean="0">
                <a:latin typeface="Times New Roman" panose="02020603050405020304" pitchFamily="18" charset="0"/>
                <a:cs typeface="Times New Roman" panose="02020603050405020304" pitchFamily="18" charset="0"/>
              </a:rPr>
              <a:t>索赔频率预测值 * 索赔强度预测值</a:t>
            </a:r>
            <a:endParaRPr lang="en-US" altLang="zh-CN" kern="0" dirty="0" smtClean="0">
              <a:latin typeface="Times New Roman" panose="02020603050405020304" pitchFamily="18" charset="0"/>
              <a:cs typeface="Times New Roman" panose="02020603050405020304" pitchFamily="18" charset="0"/>
            </a:endParaRPr>
          </a:p>
          <a:p>
            <a:pPr lvl="1" eaLnBrk="1" hangingPunct="1">
              <a:defRPr/>
            </a:pPr>
            <a:r>
              <a:rPr lang="zh-CN" altLang="en-US" kern="0" dirty="0" smtClean="0">
                <a:latin typeface="Times New Roman" panose="02020603050405020304" pitchFamily="18" charset="0"/>
                <a:cs typeface="Times New Roman" panose="02020603050405020304" pitchFamily="18" charset="0"/>
              </a:rPr>
              <a:t>保单纯保费直接预测</a:t>
            </a:r>
            <a:endParaRPr lang="en-US" altLang="zh-CN" kern="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7760573"/>
      </p:ext>
    </p:extLst>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产线精算定价">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产线精算定价" id="{61B68ACB-516F-47B8-BA98-2AB8B18EF9C2}" vid="{DE78A694-AA7A-40BF-A9BA-1328DC3E8B9F}"/>
    </a:ext>
  </a:extLst>
</a:theme>
</file>

<file path=ppt/theme/theme4.xml><?xml version="1.0" encoding="utf-8"?>
<a:theme xmlns:a="http://schemas.openxmlformats.org/drawingml/2006/main" name="演示文稿9">
  <a:themeElements>
    <a:clrScheme name="演示文稿9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fontScheme name="演示文稿9">
      <a:majorFont>
        <a:latin typeface="Arial"/>
        <a:ea typeface="黑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演示文稿9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演示文稿9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演示文稿9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演示文稿9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演示文稿9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演示文稿9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演示文稿9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演示文稿9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演示文稿9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演示文稿9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演示文稿9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演示文稿9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演示文稿9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产线精算定价">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产线精算定价" id="{61B68ACB-516F-47B8-BA98-2AB8B18EF9C2}" vid="{DE78A694-AA7A-40BF-A9BA-1328DC3E8B9F}"/>
    </a:ext>
  </a:extLst>
</a:theme>
</file>

<file path=ppt/theme/theme6.xml><?xml version="1.0" encoding="utf-8"?>
<a:theme xmlns:a="http://schemas.openxmlformats.org/drawingml/2006/main" name="1_演示文稿9">
  <a:themeElements>
    <a:clrScheme name="演示文稿9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fontScheme name="演示文稿9">
      <a:majorFont>
        <a:latin typeface="Arial"/>
        <a:ea typeface="黑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演示文稿9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演示文稿9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演示文稿9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演示文稿9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演示文稿9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演示文稿9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演示文稿9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演示文稿9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演示文稿9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演示文稿9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演示文稿9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演示文稿9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演示文稿9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15208</TotalTime>
  <Words>7537</Words>
  <Application>Microsoft Office PowerPoint</Application>
  <PresentationFormat>全屏显示(4:3)</PresentationFormat>
  <Paragraphs>1739</Paragraphs>
  <Slides>157</Slides>
  <Notes>25</Notes>
  <HiddenSlides>0</HiddenSlides>
  <MMClips>0</MMClips>
  <ScaleCrop>false</ScaleCrop>
  <HeadingPairs>
    <vt:vector size="8" baseType="variant">
      <vt:variant>
        <vt:lpstr>已用的字体</vt:lpstr>
      </vt:variant>
      <vt:variant>
        <vt:i4>18</vt:i4>
      </vt:variant>
      <vt:variant>
        <vt:lpstr>主题</vt:lpstr>
      </vt:variant>
      <vt:variant>
        <vt:i4>8</vt:i4>
      </vt:variant>
      <vt:variant>
        <vt:lpstr>嵌入 OLE 服务器</vt:lpstr>
      </vt:variant>
      <vt:variant>
        <vt:i4>4</vt:i4>
      </vt:variant>
      <vt:variant>
        <vt:lpstr>幻灯片标题</vt:lpstr>
      </vt:variant>
      <vt:variant>
        <vt:i4>157</vt:i4>
      </vt:variant>
    </vt:vector>
  </HeadingPairs>
  <TitlesOfParts>
    <vt:vector size="187" baseType="lpstr">
      <vt:lpstr>Arial Unicode MS</vt:lpstr>
      <vt:lpstr>仿宋_GB2312</vt:lpstr>
      <vt:lpstr>黑体</vt:lpstr>
      <vt:lpstr>华文楷体</vt:lpstr>
      <vt:lpstr>华文新魏</vt:lpstr>
      <vt:lpstr>楷体</vt:lpstr>
      <vt:lpstr>楷体_GB2312</vt:lpstr>
      <vt:lpstr>宋体</vt:lpstr>
      <vt:lpstr>Arial</vt:lpstr>
      <vt:lpstr>Calibri</vt:lpstr>
      <vt:lpstr>Cambria Math</vt:lpstr>
      <vt:lpstr>Courier New</vt:lpstr>
      <vt:lpstr>Symbol</vt:lpstr>
      <vt:lpstr>Times New Roman</vt:lpstr>
      <vt:lpstr>Verdana</vt:lpstr>
      <vt:lpstr>Wingdings</vt:lpstr>
      <vt:lpstr>Wingdings 2</vt:lpstr>
      <vt:lpstr>ZWAdobeF</vt:lpstr>
      <vt:lpstr>Network</vt:lpstr>
      <vt:lpstr>1_Network</vt:lpstr>
      <vt:lpstr>产线精算定价</vt:lpstr>
      <vt:lpstr>演示文稿9</vt:lpstr>
      <vt:lpstr>1_产线精算定价</vt:lpstr>
      <vt:lpstr>1_演示文稿9</vt:lpstr>
      <vt:lpstr>2_Network</vt:lpstr>
      <vt:lpstr>3_Network</vt:lpstr>
      <vt:lpstr>Equation</vt:lpstr>
      <vt:lpstr>MathType 6.0 Equation</vt:lpstr>
      <vt:lpstr>文档</vt:lpstr>
      <vt:lpstr>MathType 5.0 Equation</vt:lpstr>
      <vt:lpstr>分类费率厘定与广义线性模型</vt:lpstr>
      <vt:lpstr>主要内容</vt:lpstr>
      <vt:lpstr>一、风险分类</vt:lpstr>
      <vt:lpstr>风险分类的作用</vt:lpstr>
      <vt:lpstr>风险分类的原理</vt:lpstr>
      <vt:lpstr>分类费率（相对费率）</vt:lpstr>
      <vt:lpstr>为何使用分类费率？</vt:lpstr>
      <vt:lpstr>对风险分类的限制（需要注意的问题）</vt:lpstr>
      <vt:lpstr>费率因子与风险因子</vt:lpstr>
      <vt:lpstr>分类变量（factor）</vt:lpstr>
      <vt:lpstr>分类变量的选择：精算</vt:lpstr>
      <vt:lpstr>分类变量的选择：经营</vt:lpstr>
      <vt:lpstr>分类变量的选择：例</vt:lpstr>
      <vt:lpstr>分类变量的选择：社会</vt:lpstr>
      <vt:lpstr>分类变量的选择：法律</vt:lpstr>
      <vt:lpstr>PowerPoint 演示文稿</vt:lpstr>
      <vt:lpstr>模型结构和假设</vt:lpstr>
      <vt:lpstr>PowerPoint 演示文稿</vt:lpstr>
      <vt:lpstr>基本假设</vt:lpstr>
      <vt:lpstr>解释变量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参数估计</vt:lpstr>
      <vt:lpstr>PowerPoint 演示文稿</vt:lpstr>
      <vt:lpstr>PowerPoint 演示文稿</vt:lpstr>
      <vt:lpstr>PowerPoint 演示文稿</vt:lpstr>
      <vt:lpstr>PowerPoint 演示文稿</vt:lpstr>
      <vt:lpstr>PowerPoint 演示文稿</vt:lpstr>
      <vt:lpstr>最小二乘法的应用</vt:lpstr>
      <vt:lpstr>加法模型</vt:lpstr>
      <vt:lpstr>上述参数估计可能存在的问题</vt:lpstr>
      <vt:lpstr>解决办法</vt:lpstr>
      <vt:lpstr>最小二乘法的应用：例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最小二乘法（线性回归）的缺陷</vt:lpstr>
      <vt:lpstr>最小二乘法：乘法模型（如何用 R 代码实现）</vt:lpstr>
      <vt:lpstr>PowerPoint 演示文稿</vt:lpstr>
      <vt:lpstr>三、广义线性模型</vt:lpstr>
      <vt:lpstr>线性回归的基本假设</vt:lpstr>
      <vt:lpstr>PowerPoint 演示文稿</vt:lpstr>
      <vt:lpstr>线性回归的局限性</vt:lpstr>
      <vt:lpstr>广义线性模型的三个基本构成部分</vt:lpstr>
      <vt:lpstr>广义线性模型的一般形式</vt:lpstr>
      <vt:lpstr>指数分布族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信息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连接函数</vt:lpstr>
      <vt:lpstr>PowerPoint 演示文稿</vt:lpstr>
      <vt:lpstr>PowerPoint 演示文稿</vt:lpstr>
      <vt:lpstr>PowerPoint 演示文稿</vt:lpstr>
      <vt:lpstr>GLM的参数估计</vt:lpstr>
      <vt:lpstr>极大似然估计 </vt:lpstr>
      <vt:lpstr>PowerPoint 演示文稿</vt:lpstr>
      <vt:lpstr>PowerPoint 演示文稿</vt:lpstr>
      <vt:lpstr>PowerPoint 演示文稿</vt:lpstr>
      <vt:lpstr>PowerPoint 演示文稿</vt:lpstr>
      <vt:lpstr>PowerPoint 演示文稿</vt:lpstr>
      <vt:lpstr>Newton迭代法 </vt:lpstr>
      <vt:lpstr>PowerPoint 演示文稿</vt:lpstr>
      <vt:lpstr>PowerPoint 演示文稿</vt:lpstr>
      <vt:lpstr>迭代加权最小二乘法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迭代法与迭代加权最小二乘法的比较</vt:lpstr>
      <vt:lpstr>PowerPoint 演示文稿</vt:lpstr>
      <vt:lpstr>PowerPoint 演示文稿</vt:lpstr>
      <vt:lpstr>PowerPoint 演示文稿</vt:lpstr>
      <vt:lpstr>PowerPoint 演示文稿</vt:lpstr>
      <vt:lpstr>离散参数的估计</vt:lpstr>
      <vt:lpstr>PowerPoint 演示文稿</vt:lpstr>
      <vt:lpstr>PowerPoint 演示文稿</vt:lpstr>
      <vt:lpstr>参数估计值的标准误</vt:lpstr>
      <vt:lpstr>偏差</vt:lpstr>
      <vt:lpstr>尺度化偏差</vt:lpstr>
      <vt:lpstr>PowerPoint 演示文稿</vt:lpstr>
      <vt:lpstr>各种分布假设下的尺度化偏差</vt:lpstr>
      <vt:lpstr>PowerPoint 演示文稿</vt:lpstr>
      <vt:lpstr>PowerPoint 演示文稿</vt:lpstr>
      <vt:lpstr>PowerPoint 演示文稿</vt:lpstr>
      <vt:lpstr>残差偏差</vt:lpstr>
      <vt:lpstr>基于残差偏差估计离散参数</vt:lpstr>
      <vt:lpstr>嵌套模型的比较</vt:lpstr>
      <vt:lpstr>PowerPoint 演示文稿</vt:lpstr>
      <vt:lpstr>PowerPoint 演示文稿</vt:lpstr>
      <vt:lpstr>非嵌套模型的比较</vt:lpstr>
      <vt:lpstr>PowerPoint 演示文稿</vt:lpstr>
      <vt:lpstr>PowerPoint 演示文稿</vt:lpstr>
      <vt:lpstr>残差</vt:lpstr>
      <vt:lpstr>PowerPoint 演示文稿</vt:lpstr>
      <vt:lpstr>PowerPoint 演示文稿</vt:lpstr>
      <vt:lpstr>PowerPoint 演示文稿</vt:lpstr>
      <vt:lpstr>PowerPoint 演示文稿</vt:lpstr>
      <vt:lpstr>PowerPoint 演示文稿</vt:lpstr>
      <vt:lpstr>PowerPoint 演示文稿</vt:lpstr>
      <vt:lpstr>Cook距离</vt:lpstr>
      <vt:lpstr>PowerPoint 演示文稿</vt:lpstr>
      <vt:lpstr>PowerPoint 演示文稿</vt:lpstr>
      <vt:lpstr>PowerPoint 演示文稿</vt:lpstr>
      <vt:lpstr>PowerPoint 演示文稿</vt:lpstr>
      <vt:lpstr>PowerPoint 演示文稿</vt:lpstr>
      <vt:lpstr>PowerPoint 演示文稿</vt:lpstr>
      <vt:lpstr>三、在分类费率厘定中的应用</vt:lpstr>
      <vt:lpstr>权重 、分布、连接函数的选择</vt:lpstr>
      <vt:lpstr>权重 、分布、连接函数的选择</vt:lpstr>
      <vt:lpstr>广义线性模型在分类费率中的应用</vt:lpstr>
      <vt:lpstr>课后练习</vt:lpstr>
      <vt:lpstr>描述性分析</vt:lpstr>
      <vt:lpstr>建模步骤</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meng</dc:creator>
  <cp:lastModifiedBy>李 政宵</cp:lastModifiedBy>
  <cp:revision>762</cp:revision>
  <cp:lastPrinted>2011-09-18T23:39:07Z</cp:lastPrinted>
  <dcterms:created xsi:type="dcterms:W3CDTF">1601-01-01T00:00:00Z</dcterms:created>
  <dcterms:modified xsi:type="dcterms:W3CDTF">2018-11-07T02:50:45Z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